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382f3ede254750" /><Relationship Type="http://schemas.openxmlformats.org/officeDocument/2006/relationships/extended-properties" Target="/docProps/app.xml" Id="R8ac45b75e0e24359" /><Relationship Type="http://schemas.openxmlformats.org/officeDocument/2006/relationships/officeDocument" Target="/ppt/presentation.xml" Id="Rdf728f9461e0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7b6dc719b4f11"/>
  </p:sldMasterIdLst>
  <p:notesMasterIdLst>
    <p:notesMasterId xmlns:r="http://schemas.openxmlformats.org/officeDocument/2006/relationships" r:id="R0ca78f0910b0476e"/>
  </p:notesMasterIdLst>
  <p:sldIdLst>
    <p:sldId xmlns:r="http://schemas.openxmlformats.org/officeDocument/2006/relationships" id="256" r:id="Rb5030935d4f240ae"/>
  </p:sldIdLst>
  <p:sldSz cx="30275975" cy="2138400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6c28371c934652" /><Relationship Type="http://schemas.openxmlformats.org/officeDocument/2006/relationships/slideMaster" Target="/ppt/slideMasters/slideMaster1.xml" Id="Rcf67b6dc719b4f11" /><Relationship Type="http://schemas.openxmlformats.org/officeDocument/2006/relationships/notesMaster" Target="/ppt/notesMasters/notesMaster1.xml" Id="R0ca78f0910b0476e" /><Relationship Type="http://schemas.openxmlformats.org/officeDocument/2006/relationships/presProps" Target="/ppt/presProps.xml" Id="Ra8f163e8511940cb" /><Relationship Type="http://schemas.openxmlformats.org/officeDocument/2006/relationships/tableStyles" Target="/ppt/tableStyles.xml" Id="R7cbaea4af6f9478c" /><Relationship Type="http://schemas.openxmlformats.org/officeDocument/2006/relationships/slide" Target="/ppt/slides/slide1.xml" Id="Rb5030935d4f2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932913752843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72a4948a94904" /><Relationship Type="http://schemas.openxmlformats.org/officeDocument/2006/relationships/notesMaster" Target="/ppt/notesMasters/notesMaster1.xml" Id="Rc461038b730642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/Users/steinv/Uni-Trier/Trends-In-ML-2/poster-narrative.md (research question, operational definitions, corpus, architecture, all reported estimates, intervals, limitations, and reproducibility paths)</a:t>
            </a:r>
          </a:p>
          <a:p xmlns:a="http://schemas.openxmlformats.org/drawingml/2006/main">
            <a:r>
              <a:t>- /Users/steinv/Uni-Trier/Trends-In-ML-2/poster-visual-concepts.md (Quiet Twin Track visual direction)</a:t>
            </a:r>
          </a:p>
          <a:p xmlns:a="http://schemas.openxmlformats.org/drawingml/2006/main">
            <a:r>
              <a:t>- /Users/steinv/Uni-Trier/Trends-In-ML-2/Poster-Examination-Guidelines.pdf (required sections, DIN A1 format, minimum 24 pt paragraph text, appendix and submission constraints)</a:t>
            </a:r>
          </a:p>
          <a:p xmlns:a="http://schemas.openxmlformats.org/drawingml/2006/main">
            <a:r>
              <a:t>- https://proceedings.neurips.cc/paper/2020/hash/6b493230-Abstract.html (Lewis et al., 2020)</a:t>
            </a:r>
          </a:p>
          <a:p xmlns:a="http://schemas.openxmlformats.org/drawingml/2006/main">
            <a:r>
              <a:t>- https://doi.org/10.1145/1571941.1572114 (Cormack et al., 2009)</a:t>
            </a:r>
          </a:p>
          <a:p xmlns:a="http://schemas.openxmlformats.org/drawingml/2006/main">
            <a:r>
              <a:t>- https://aclanthology.org/2023.emnlp-main.398/ (Gao et al., 2023)</a:t>
            </a:r>
          </a:p>
          <a:p xmlns:a="http://schemas.openxmlformats.org/drawingml/2006/main">
            <a:r>
              <a:t>- https://arxiv.org/abs/2408.10343 (Pipitone and Houir Alami, 2024)</a:t>
            </a:r>
          </a:p>
          <a:p xmlns:a="http://schemas.openxmlformats.org/drawingml/2006/main">
            <a:r>
              <a:t>- https://www.difc.ae/business/laws-and-regulations/legal-database (official corpus source)</a:t>
            </a:r>
          </a:p>
          <a:p xmlns:a="http://schemas.openxmlformats.org/drawingml/2006/main">
            <a:r>
              <a:t>- https://www.difccourts.ae/rules-decisions/judgments-orders (official corpus source)</a:t>
            </a:r>
          </a:p>
          <a:p xmlns:a="http://schemas.openxmlformats.org/drawingml/2006/main">
            <a:r>
              <a:t>- https://github.com/SteinVR/Agentic-RAG-Challenge (implementation and saved run artifacts)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666311f2a4c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745612fd349c8" /><Relationship Type="http://schemas.openxmlformats.org/officeDocument/2006/relationships/slideLayout" Target="/ppt/slideLayouts/slideLayout1.xml" Id="R054624e9a26747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4624e9a26747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3cbd0c34d4d6d" /><Relationship Type="http://schemas.openxmlformats.org/officeDocument/2006/relationships/notesSlide" Target="/ppt/notesSlides/notesSlide1.xml" Id="R9ddcf509b31748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eyebrow">
            <a:extLst xmlns:a="http://schemas.openxmlformats.org/drawingml/2006/main">
              <a:ext uri="{FF2B5EF4-FFF2-40B4-BE49-F238E27FC236}">
                <a16:creationId xmlns:a16="http://schemas.microsoft.com/office/drawing/2014/main" id="{70E8FFB0-09B4-43B9-9B63-FB2BB2ED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09600"/>
            <a:ext cx="1238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RESEARCH POSTER  /  LEGAL NLP  /  EVIDENCE-SHAPE ANALYSIS</a:t>
            </a:r>
          </a:p>
        </p:txBody>
      </p:sp>
      <p:sp>
        <p:nvSpPr>
          <p:cNvPr id="2" name="author-placeholder">
            <a:extLst xmlns:a="http://schemas.openxmlformats.org/drawingml/2006/main">
              <a:ext uri="{FF2B5EF4-FFF2-40B4-BE49-F238E27FC236}">
                <a16:creationId xmlns:a16="http://schemas.microsoft.com/office/drawing/2014/main" id="{C475BC8B-72A0-43F4-8E4E-6ED94FFC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0" y="609600"/>
            <a:ext cx="1160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AUTHOR NAME  ·  UNIVERSITY OF TRIER  ·  STUDENT ID: ______</a:t>
            </a:r>
          </a:p>
        </p:txBody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A078045F-A235-4067-B06D-53E3BF41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200150"/>
            <a:ext cx="277939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450" b="1" i="0">
                <a:solidFill>
                  <a:srgbClr val="172234"/>
                </a:solidFill>
                <a:latin typeface="Georgia"/>
                <a:ea typeface="Georgia"/>
                <a:cs typeface="Georgia"/>
              </a:defRPr>
            </a:pPr>
            <a:r>
              <a:rPr sz="6450" b="1" i="0">
                <a:solidFill>
                  <a:srgbClr val="172234"/>
                </a:solidFill>
                <a:latin typeface="Georgia"/>
                <a:ea typeface="Georgia"/>
                <a:cs typeface="Georgia"/>
              </a:rPr>
              <a:t>Correct Answers, Uneven Grounding: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6450" b="1" i="0">
                <a:solidFill>
                  <a:srgbClr val="172234"/>
                </a:solidFill>
                <a:latin typeface="Georgia"/>
                <a:ea typeface="Georgia"/>
                <a:cs typeface="Georgia"/>
              </a:defRPr>
            </a:pPr>
            <a:r>
              <a:rPr sz="6450" b="1" i="0">
                <a:solidFill>
                  <a:srgbClr val="172234"/>
                </a:solidFill>
                <a:latin typeface="Georgia"/>
                <a:ea typeface="Georgia"/>
                <a:cs typeface="Georgia"/>
              </a:rPr>
              <a:t>The Distributed-Evidence Gap in Legal RAG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56B941EC-D313-4BCD-94D1-7BB8F030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133725"/>
            <a:ext cx="2190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An evidence-shape analysis across a 100-question legal benchmark and 590 PDF pages</a:t>
            </a:r>
          </a:p>
        </p:txBody>
      </p:sp>
      <p:sp>
        <p:nvSpPr>
          <p:cNvPr id="5" name="takeaway-a">
            <a:extLst xmlns:a="http://schemas.openxmlformats.org/drawingml/2006/main">
              <a:ext uri="{FF2B5EF4-FFF2-40B4-BE49-F238E27FC236}">
                <a16:creationId xmlns:a16="http://schemas.microsoft.com/office/drawing/2014/main" id="{77CDD814-B74B-43F3-A8D6-98E4369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857625"/>
            <a:ext cx="652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Answers stay level.</a:t>
            </a:r>
          </a:p>
        </p:txBody>
      </p:sp>
      <p:sp>
        <p:nvSpPr>
          <p:cNvPr id="6" name="takeaway-b">
            <a:extLst xmlns:a="http://schemas.openxmlformats.org/drawingml/2006/main">
              <a:ext uri="{FF2B5EF4-FFF2-40B4-BE49-F238E27FC236}">
                <a16:creationId xmlns:a16="http://schemas.microsoft.com/office/drawing/2014/main" id="{3B10677F-F7D9-4616-8D4C-15B0F764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857625"/>
            <a:ext cx="1819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Grounding separates when evidence spans pages.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BD74F572-9153-4DEE-9DB0-8FD6F43E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8250" y="4914900"/>
            <a:ext cx="277939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2234"/>
            </a:solidFill>
            <a:prstDash val="solid"/>
          </a:ln>
        </p:spPr>
      </p:sp>
      <p:sp>
        <p:nvSpPr>
          <p:cNvPr id="8" name="left-rail-divider">
            <a:extLst xmlns:a="http://schemas.openxmlformats.org/drawingml/2006/main">
              <a:ext uri="{FF2B5EF4-FFF2-40B4-BE49-F238E27FC236}">
                <a16:creationId xmlns:a16="http://schemas.microsoft.com/office/drawing/2014/main" id="{D122C31F-518E-4337-AB8A-9F2E8EE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34250" y="5448300"/>
            <a:ext cx="4763" cy="1165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ED8CB"/>
            </a:solidFill>
            <a:prstDash val="solid"/>
          </a:ln>
        </p:spPr>
      </p:sp>
      <p:sp>
        <p:nvSpPr>
          <p:cNvPr id="9" name="method-result-divider">
            <a:extLst xmlns:a="http://schemas.openxmlformats.org/drawingml/2006/main">
              <a:ext uri="{FF2B5EF4-FFF2-40B4-BE49-F238E27FC236}">
                <a16:creationId xmlns:a16="http://schemas.microsoft.com/office/drawing/2014/main" id="{E52DE50A-6447-4D76-B2B7-32DDFA10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10500" y="8696325"/>
            <a:ext cx="212217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ED8CB"/>
            </a:solidFill>
            <a:prstDash val="solid"/>
          </a:ln>
        </p:spPr>
      </p:sp>
      <p:sp>
        <p:nvSpPr>
          <p:cNvPr id="10" name="results-right-divider">
            <a:extLst xmlns:a="http://schemas.openxmlformats.org/drawingml/2006/main">
              <a:ext uri="{FF2B5EF4-FFF2-40B4-BE49-F238E27FC236}">
                <a16:creationId xmlns:a16="http://schemas.microsoft.com/office/drawing/2014/main" id="{86971AA0-2868-446F-A2C3-ECC5E1A8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621750" y="9096375"/>
            <a:ext cx="4763" cy="787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ED8CB"/>
            </a:solidFill>
            <a:prstDash val="solid"/>
          </a:ln>
        </p:spPr>
      </p:sp>
      <p:sp>
        <p:nvSpPr>
          <p:cNvPr id="11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737298A-ADA8-4195-B070-894E006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8250" y="17468850"/>
            <a:ext cx="277939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2234"/>
            </a:solidFill>
            <a:prstDash val="solid"/>
          </a:ln>
        </p:spPr>
      </p:sp>
      <p:sp>
        <p:nvSpPr>
          <p:cNvPr id="12" name="section-01-number">
            <a:extLst xmlns:a="http://schemas.openxmlformats.org/drawingml/2006/main">
              <a:ext uri="{FF2B5EF4-FFF2-40B4-BE49-F238E27FC236}">
                <a16:creationId xmlns:a16="http://schemas.microsoft.com/office/drawing/2014/main" id="{CD223C01-F432-4F60-98E2-56B18016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476875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section-01-label">
            <a:extLst xmlns:a="http://schemas.openxmlformats.org/drawingml/2006/main">
              <a:ext uri="{FF2B5EF4-FFF2-40B4-BE49-F238E27FC236}">
                <a16:creationId xmlns:a16="http://schemas.microsoft.com/office/drawing/2014/main" id="{384B1871-F011-4948-B697-0F4B67D4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5514975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4" name="hypothesis-context">
            <a:extLst xmlns:a="http://schemas.openxmlformats.org/drawingml/2006/main">
              <a:ext uri="{FF2B5EF4-FFF2-40B4-BE49-F238E27FC236}">
                <a16:creationId xmlns:a16="http://schemas.microsoft.com/office/drawing/2014/main" id="{1A9FECE9-38CF-448C-BFAA-23309E8A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162675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RAG can find enough evidence to answer while still emitting an incomplete citation set [1,3]. In legal QA, one correct page is not the same as complete support.</a:t>
            </a:r>
          </a:p>
        </p:txBody>
      </p:sp>
      <p:sp>
        <p:nvSpPr>
          <p:cNvPr id="15" name="rq-label">
            <a:extLst xmlns:a="http://schemas.openxmlformats.org/drawingml/2006/main">
              <a:ext uri="{FF2B5EF4-FFF2-40B4-BE49-F238E27FC236}">
                <a16:creationId xmlns:a16="http://schemas.microsoft.com/office/drawing/2014/main" id="{E9B0C28E-DB4F-4480-856D-503CAFC2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78105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16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D1FD607B-09A1-4037-98D5-86B43528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8286750"/>
            <a:ext cx="5715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172234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172234"/>
                </a:solidFill>
                <a:latin typeface="Georgia"/>
                <a:ea typeface="Georgia"/>
                <a:cs typeface="Georgia"/>
              </a:rPr>
              <a:t>How does distributed evidence affect the relationship between answer quality and source grounding?</a:t>
            </a:r>
          </a:p>
        </p:txBody>
      </p:sp>
      <p:sp>
        <p:nvSpPr>
          <p:cNvPr id="17" name="h1-label">
            <a:extLst xmlns:a="http://schemas.openxmlformats.org/drawingml/2006/main">
              <a:ext uri="{FF2B5EF4-FFF2-40B4-BE49-F238E27FC236}">
                <a16:creationId xmlns:a16="http://schemas.microsoft.com/office/drawing/2014/main" id="{2EEB31ED-DB5F-4B22-82EA-B054A90E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01346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18" name="h1-copy">
            <a:extLst xmlns:a="http://schemas.openxmlformats.org/drawingml/2006/main">
              <a:ext uri="{FF2B5EF4-FFF2-40B4-BE49-F238E27FC236}">
                <a16:creationId xmlns:a16="http://schemas.microsoft.com/office/drawing/2014/main" id="{A14C4FFF-1890-4581-BD6E-08171FF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101346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Multi-page evidence will leave answer scores comparable but lower final page grounding; a uniform citation-narrowing policy may widen the gap.</a:t>
            </a:r>
          </a:p>
        </p:txBody>
      </p:sp>
      <p:sp>
        <p:nvSpPr>
          <p:cNvPr id="19" name="study-rule">
            <a:extLst xmlns:a="http://schemas.openxmlformats.org/drawingml/2006/main">
              <a:ext uri="{FF2B5EF4-FFF2-40B4-BE49-F238E27FC236}">
                <a16:creationId xmlns:a16="http://schemas.microsoft.com/office/drawing/2014/main" id="{99D171A5-4498-4DBB-86FC-E51F891C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8250" y="12192000"/>
            <a:ext cx="571500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ED8CB"/>
            </a:solidFill>
            <a:prstDash val="solid"/>
          </a:ln>
        </p:spPr>
      </p:sp>
      <p:sp>
        <p:nvSpPr>
          <p:cNvPr id="20" name="eligible-big">
            <a:extLst xmlns:a="http://schemas.openxmlformats.org/drawingml/2006/main">
              <a:ext uri="{FF2B5EF4-FFF2-40B4-BE49-F238E27FC236}">
                <a16:creationId xmlns:a16="http://schemas.microsoft.com/office/drawing/2014/main" id="{65E37498-59D5-4868-9CA8-62D14C0D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24015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72234"/>
                </a:solidFill>
                <a:latin typeface="Georgia"/>
                <a:ea typeface="Georgia"/>
                <a:cs typeface="Georgia"/>
              </a:defRPr>
            </a:pPr>
            <a:r>
              <a:rPr sz="5250" b="1" i="0">
                <a:solidFill>
                  <a:srgbClr val="172234"/>
                </a:solidFill>
                <a:latin typeface="Georgia"/>
                <a:ea typeface="Georgia"/>
                <a:cs typeface="Georgia"/>
              </a:rPr>
              <a:t>95 / 100</a:t>
            </a:r>
          </a:p>
        </p:txBody>
      </p:sp>
      <p:sp>
        <p:nvSpPr>
          <p:cNvPr id="21" name="eligible-caption">
            <a:extLst xmlns:a="http://schemas.openxmlformats.org/drawingml/2006/main">
              <a:ext uri="{FF2B5EF4-FFF2-40B4-BE49-F238E27FC236}">
                <a16:creationId xmlns:a16="http://schemas.microsoft.com/office/drawing/2014/main" id="{8C0682BD-C056-483C-8385-545AEC7F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32397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questions had annotated gold pages and were eligible for this analysis</a:t>
            </a:r>
          </a:p>
        </p:txBody>
      </p:sp>
      <p:sp>
        <p:nvSpPr>
          <p:cNvPr id="22" name="localized-key-circle">
            <a:extLst xmlns:a="http://schemas.openxmlformats.org/drawingml/2006/main">
              <a:ext uri="{FF2B5EF4-FFF2-40B4-BE49-F238E27FC236}">
                <a16:creationId xmlns:a16="http://schemas.microsoft.com/office/drawing/2014/main" id="{74F78A9E-D6C0-4C62-B8C3-CA949B9D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4297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9525">
            <a:solidFill>
              <a:srgbClr val="2F6F89"/>
            </a:solidFill>
            <a:prstDash val="solid"/>
          </a:ln>
        </p:spPr>
      </p:sp>
      <p:sp>
        <p:nvSpPr>
          <p:cNvPr id="23" name="localized-count">
            <a:extLst xmlns:a="http://schemas.openxmlformats.org/drawingml/2006/main">
              <a:ext uri="{FF2B5EF4-FFF2-40B4-BE49-F238E27FC236}">
                <a16:creationId xmlns:a16="http://schemas.microsoft.com/office/drawing/2014/main" id="{E0C4546B-C8CD-4DBA-8815-4A18B79D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14106525"/>
            <a:ext cx="100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24" name="localized-label">
            <a:extLst xmlns:a="http://schemas.openxmlformats.org/drawingml/2006/main">
              <a:ext uri="{FF2B5EF4-FFF2-40B4-BE49-F238E27FC236}">
                <a16:creationId xmlns:a16="http://schemas.microsoft.com/office/drawing/2014/main" id="{EB3698AA-FBAA-419B-80B5-CB79002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42017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localized - one gold page</a:t>
            </a:r>
          </a:p>
        </p:txBody>
      </p:sp>
      <p:sp>
        <p:nvSpPr>
          <p:cNvPr id="25" name="distributed-key-diamond">
            <a:extLst xmlns:a="http://schemas.openxmlformats.org/drawingml/2006/main">
              <a:ext uri="{FF2B5EF4-FFF2-40B4-BE49-F238E27FC236}">
                <a16:creationId xmlns:a16="http://schemas.microsoft.com/office/drawing/2014/main" id="{E5E47D88-7990-4991-8A6D-74A0F87F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14992350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64A3E"/>
          </a:solidFill>
          <a:ln xmlns:a="http://schemas.openxmlformats.org/drawingml/2006/main" w="9525">
            <a:solidFill>
              <a:srgbClr val="B64A3E"/>
            </a:solidFill>
            <a:prstDash val="solid"/>
          </a:ln>
        </p:spPr>
      </p:sp>
      <p:sp>
        <p:nvSpPr>
          <p:cNvPr id="26" name="distributed-count">
            <a:extLst xmlns:a="http://schemas.openxmlformats.org/drawingml/2006/main">
              <a:ext uri="{FF2B5EF4-FFF2-40B4-BE49-F238E27FC236}">
                <a16:creationId xmlns:a16="http://schemas.microsoft.com/office/drawing/2014/main" id="{DE1B5ABC-4791-43BE-9E55-C402513C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14830425"/>
            <a:ext cx="100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27" name="distributed-label">
            <a:extLst xmlns:a="http://schemas.openxmlformats.org/drawingml/2006/main">
              <a:ext uri="{FF2B5EF4-FFF2-40B4-BE49-F238E27FC236}">
                <a16:creationId xmlns:a16="http://schemas.microsoft.com/office/drawing/2014/main" id="{E17C6272-5F8D-49C6-8D1A-15217CD1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49256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distributed - multiple gold pages</a:t>
            </a:r>
          </a:p>
        </p:txBody>
      </p:sp>
      <p:sp>
        <p:nvSpPr>
          <p:cNvPr id="28" name="metric-definition">
            <a:extLst xmlns:a="http://schemas.openxmlformats.org/drawingml/2006/main">
              <a:ext uri="{FF2B5EF4-FFF2-40B4-BE49-F238E27FC236}">
                <a16:creationId xmlns:a16="http://schemas.microsoft.com/office/drawing/2014/main" id="{31C37036-1E66-4B64-8D3B-67524BB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571625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PAGE GROUNDING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Per-question Fβ over emitted vs gold (document, page) pairs; β = 2.5 weights recall more than precision.</a:t>
            </a:r>
          </a:p>
        </p:txBody>
      </p:sp>
      <p:sp>
        <p:nvSpPr>
          <p:cNvPr id="29" name="section-02-number">
            <a:extLst xmlns:a="http://schemas.openxmlformats.org/drawingml/2006/main">
              <a:ext uri="{FF2B5EF4-FFF2-40B4-BE49-F238E27FC236}">
                <a16:creationId xmlns:a16="http://schemas.microsoft.com/office/drawing/2014/main" id="{5F385BAD-9DB1-4E8D-BA7D-500D4C86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5476875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0" name="section-02-label">
            <a:extLst xmlns:a="http://schemas.openxmlformats.org/drawingml/2006/main">
              <a:ext uri="{FF2B5EF4-FFF2-40B4-BE49-F238E27FC236}">
                <a16:creationId xmlns:a16="http://schemas.microsoft.com/office/drawing/2014/main" id="{3A424774-908C-4AB1-A5D7-9AD79D08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5514975"/>
            <a:ext cx="2051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METHODOLOGY - PAGE-STABLE EVIDENCE FLOW</a:t>
            </a:r>
          </a:p>
        </p:txBody>
      </p:sp>
      <p:sp>
        <p:nvSpPr>
          <p:cNvPr id="31" name="flow-connector-1">
            <a:extLst xmlns:a="http://schemas.openxmlformats.org/drawingml/2006/main">
              <a:ext uri="{FF2B5EF4-FFF2-40B4-BE49-F238E27FC236}">
                <a16:creationId xmlns:a16="http://schemas.microsoft.com/office/drawing/2014/main" id="{D4C95A41-BCF3-4EEA-92A1-4D6036A2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20150" y="6762750"/>
            <a:ext cx="364807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A69C"/>
            </a:solidFill>
            <a:prstDash val="dot"/>
          </a:ln>
        </p:spPr>
      </p:sp>
      <p:sp>
        <p:nvSpPr>
          <p:cNvPr id="32" name="flow-arrowhead-1">
            <a:extLst xmlns:a="http://schemas.openxmlformats.org/drawingml/2006/main">
              <a:ext uri="{FF2B5EF4-FFF2-40B4-BE49-F238E27FC236}">
                <a16:creationId xmlns:a16="http://schemas.microsoft.com/office/drawing/2014/main" id="{1FEEFC75-8D6E-45DD-9494-A775A890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420600" y="6629400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A69C"/>
          </a:solidFill>
          <a:ln xmlns:a="http://schemas.openxmlformats.org/drawingml/2006/main" w="0">
            <a:solidFill>
              <a:srgbClr val="AAA69C"/>
            </a:solidFill>
            <a:prstDash val="solid"/>
          </a:ln>
        </p:spPr>
      </p:sp>
      <p:sp>
        <p:nvSpPr>
          <p:cNvPr id="33" name="flow-connector-2">
            <a:extLst xmlns:a="http://schemas.openxmlformats.org/drawingml/2006/main">
              <a:ext uri="{FF2B5EF4-FFF2-40B4-BE49-F238E27FC236}">
                <a16:creationId xmlns:a16="http://schemas.microsoft.com/office/drawing/2014/main" id="{19207038-AB83-43D9-9730-5B43D3F9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963525" y="6762750"/>
            <a:ext cx="364807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A69C"/>
            </a:solidFill>
            <a:prstDash val="dot"/>
          </a:ln>
        </p:spPr>
      </p:sp>
      <p:sp>
        <p:nvSpPr>
          <p:cNvPr id="34" name="flow-arrowhead-2">
            <a:extLst xmlns:a="http://schemas.openxmlformats.org/drawingml/2006/main">
              <a:ext uri="{FF2B5EF4-FFF2-40B4-BE49-F238E27FC236}">
                <a16:creationId xmlns:a16="http://schemas.microsoft.com/office/drawing/2014/main" id="{DE1F1DAE-A608-42C0-837F-3B165D2C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563975" y="6629400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A69C"/>
          </a:solidFill>
          <a:ln xmlns:a="http://schemas.openxmlformats.org/drawingml/2006/main" w="0">
            <a:solidFill>
              <a:srgbClr val="AAA69C"/>
            </a:solidFill>
            <a:prstDash val="solid"/>
          </a:ln>
        </p:spPr>
      </p:sp>
      <p:sp>
        <p:nvSpPr>
          <p:cNvPr id="35" name="flow-connector-3">
            <a:extLst xmlns:a="http://schemas.openxmlformats.org/drawingml/2006/main">
              <a:ext uri="{FF2B5EF4-FFF2-40B4-BE49-F238E27FC236}">
                <a16:creationId xmlns:a16="http://schemas.microsoft.com/office/drawing/2014/main" id="{5A74992A-DB1F-49D5-AC5C-7A502416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106900" y="6762750"/>
            <a:ext cx="364807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A69C"/>
            </a:solidFill>
            <a:prstDash val="dot"/>
          </a:ln>
        </p:spPr>
      </p:sp>
      <p:sp>
        <p:nvSpPr>
          <p:cNvPr id="36" name="flow-arrowhead-3">
            <a:extLst xmlns:a="http://schemas.openxmlformats.org/drawingml/2006/main">
              <a:ext uri="{FF2B5EF4-FFF2-40B4-BE49-F238E27FC236}">
                <a16:creationId xmlns:a16="http://schemas.microsoft.com/office/drawing/2014/main" id="{2BF66E6D-5E3A-4D77-94E1-8F502462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707350" y="6629400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A69C"/>
          </a:solidFill>
          <a:ln xmlns:a="http://schemas.openxmlformats.org/drawingml/2006/main" w="0">
            <a:solidFill>
              <a:srgbClr val="AAA69C"/>
            </a:solidFill>
            <a:prstDash val="solid"/>
          </a:ln>
        </p:spPr>
      </p:sp>
      <p:sp>
        <p:nvSpPr>
          <p:cNvPr id="37" name="flow-connector-4">
            <a:extLst xmlns:a="http://schemas.openxmlformats.org/drawingml/2006/main">
              <a:ext uri="{FF2B5EF4-FFF2-40B4-BE49-F238E27FC236}">
                <a16:creationId xmlns:a16="http://schemas.microsoft.com/office/drawing/2014/main" id="{4365DAB3-EB18-478F-97DF-C63536E3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1250275" y="6762750"/>
            <a:ext cx="364807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A69C"/>
            </a:solidFill>
            <a:prstDash val="dot"/>
          </a:ln>
        </p:spPr>
      </p:sp>
      <p:sp>
        <p:nvSpPr>
          <p:cNvPr id="38" name="flow-arrowhead-4">
            <a:extLst xmlns:a="http://schemas.openxmlformats.org/drawingml/2006/main">
              <a:ext uri="{FF2B5EF4-FFF2-40B4-BE49-F238E27FC236}">
                <a16:creationId xmlns:a16="http://schemas.microsoft.com/office/drawing/2014/main" id="{EC622035-C317-4169-AE9D-4B4939F0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850725" y="6629400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A69C"/>
          </a:solidFill>
          <a:ln xmlns:a="http://schemas.openxmlformats.org/drawingml/2006/main" w="0">
            <a:solidFill>
              <a:srgbClr val="AAA69C"/>
            </a:solidFill>
            <a:prstDash val="solid"/>
          </a:ln>
        </p:spPr>
      </p:sp>
      <p:sp>
        <p:nvSpPr>
          <p:cNvPr id="39" name="flow-node-1">
            <a:extLst xmlns:a="http://schemas.openxmlformats.org/drawingml/2006/main">
              <a:ext uri="{FF2B5EF4-FFF2-40B4-BE49-F238E27FC236}">
                <a16:creationId xmlns:a16="http://schemas.microsoft.com/office/drawing/2014/main" id="{32923CA7-9A95-436D-950F-21FCC0EE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6515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234"/>
          </a:solidFill>
          <a:ln xmlns:a="http://schemas.openxmlformats.org/drawingml/2006/main" w="38100">
            <a:solidFill>
              <a:srgbClr val="F3EFE6"/>
            </a:solidFill>
            <a:prstDash val="solid"/>
          </a:ln>
        </p:spPr>
      </p:sp>
      <p:sp>
        <p:nvSpPr>
          <p:cNvPr id="40" name="flow-node-number-1">
            <a:extLst xmlns:a="http://schemas.openxmlformats.org/drawingml/2006/main">
              <a:ext uri="{FF2B5EF4-FFF2-40B4-BE49-F238E27FC236}">
                <a16:creationId xmlns:a16="http://schemas.microsoft.com/office/drawing/2014/main" id="{7CA88233-4D11-45E3-9AE6-1937EDD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65627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" name="flow-node-title-1">
            <a:extLst xmlns:a="http://schemas.openxmlformats.org/drawingml/2006/main">
              <a:ext uri="{FF2B5EF4-FFF2-40B4-BE49-F238E27FC236}">
                <a16:creationId xmlns:a16="http://schemas.microsoft.com/office/drawing/2014/main" id="{CBF8A7EF-B019-4563-BCF3-C51BBAB5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71913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30 DIFC PDFs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590 pages</a:t>
            </a:r>
          </a:p>
        </p:txBody>
      </p:sp>
      <p:sp>
        <p:nvSpPr>
          <p:cNvPr id="42" name="flow-node-detail-1">
            <a:extLst xmlns:a="http://schemas.openxmlformats.org/drawingml/2006/main">
              <a:ext uri="{FF2B5EF4-FFF2-40B4-BE49-F238E27FC236}">
                <a16:creationId xmlns:a16="http://schemas.microsoft.com/office/drawing/2014/main" id="{E1455373-C554-4AEF-A90C-6EB2890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79819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public primary legal documents</a:t>
            </a:r>
          </a:p>
        </p:txBody>
      </p:sp>
      <p:sp>
        <p:nvSpPr>
          <p:cNvPr id="4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B1FD902E-6669-478D-B484-773802EA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8225" y="6515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234"/>
          </a:solidFill>
          <a:ln xmlns:a="http://schemas.openxmlformats.org/drawingml/2006/main" w="38100">
            <a:solidFill>
              <a:srgbClr val="F3EFE6"/>
            </a:solidFill>
            <a:prstDash val="solid"/>
          </a:ln>
        </p:spPr>
      </p:sp>
      <p:sp>
        <p:nvSpPr>
          <p:cNvPr id="44" name="flow-node-number-2">
            <a:extLst xmlns:a="http://schemas.openxmlformats.org/drawingml/2006/main">
              <a:ext uri="{FF2B5EF4-FFF2-40B4-BE49-F238E27FC236}">
                <a16:creationId xmlns:a16="http://schemas.microsoft.com/office/drawing/2014/main" id="{DF319B6C-E2B6-4AB3-91B0-D1E97BC9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5375" y="65627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flow-node-title-2">
            <a:extLst xmlns:a="http://schemas.openxmlformats.org/drawingml/2006/main">
              <a:ext uri="{FF2B5EF4-FFF2-40B4-BE49-F238E27FC236}">
                <a16:creationId xmlns:a16="http://schemas.microsoft.com/office/drawing/2014/main" id="{B00A1AEE-6F7E-4A04-AEA0-9D0E9BCE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71913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Page-stable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multi-view index</a:t>
            </a:r>
          </a:p>
        </p:txBody>
      </p:sp>
      <p:sp>
        <p:nvSpPr>
          <p:cNvPr id="46" name="flow-node-detail-2">
            <a:extLst xmlns:a="http://schemas.openxmlformats.org/drawingml/2006/main">
              <a:ext uri="{FF2B5EF4-FFF2-40B4-BE49-F238E27FC236}">
                <a16:creationId xmlns:a16="http://schemas.microsoft.com/office/drawing/2014/main" id="{43FBBC32-AEB9-418A-BCF4-0DD0D1F5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79819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page · section · clause · chunk · table</a:t>
            </a:r>
          </a:p>
        </p:txBody>
      </p:sp>
      <p:sp>
        <p:nvSpPr>
          <p:cNvPr id="47" name="flow-node-3">
            <a:extLst xmlns:a="http://schemas.openxmlformats.org/drawingml/2006/main">
              <a:ext uri="{FF2B5EF4-FFF2-40B4-BE49-F238E27FC236}">
                <a16:creationId xmlns:a16="http://schemas.microsoft.com/office/drawing/2014/main" id="{A05C8FDA-F7A5-4752-B6B4-51AF157D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11600" y="6515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234"/>
          </a:solidFill>
          <a:ln xmlns:a="http://schemas.openxmlformats.org/drawingml/2006/main" w="38100">
            <a:solidFill>
              <a:srgbClr val="F3EFE6"/>
            </a:solidFill>
            <a:prstDash val="solid"/>
          </a:ln>
        </p:spPr>
      </p:sp>
      <p:sp>
        <p:nvSpPr>
          <p:cNvPr id="48" name="flow-node-number-3">
            <a:extLst xmlns:a="http://schemas.openxmlformats.org/drawingml/2006/main">
              <a:ext uri="{FF2B5EF4-FFF2-40B4-BE49-F238E27FC236}">
                <a16:creationId xmlns:a16="http://schemas.microsoft.com/office/drawing/2014/main" id="{9791145A-B473-40EB-810D-77A637B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0" y="65627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9" name="flow-node-title-3">
            <a:extLst xmlns:a="http://schemas.openxmlformats.org/drawingml/2006/main">
              <a:ext uri="{FF2B5EF4-FFF2-40B4-BE49-F238E27FC236}">
                <a16:creationId xmlns:a16="http://schemas.microsoft.com/office/drawing/2014/main" id="{A415E59F-7239-43CB-A865-55CB9D3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7125" y="71913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Hybrid retrieval</a:t>
            </a:r>
          </a:p>
        </p:txBody>
      </p:sp>
      <p:sp>
        <p:nvSpPr>
          <p:cNvPr id="50" name="flow-node-detail-3">
            <a:extLst xmlns:a="http://schemas.openxmlformats.org/drawingml/2006/main">
              <a:ext uri="{FF2B5EF4-FFF2-40B4-BE49-F238E27FC236}">
                <a16:creationId xmlns:a16="http://schemas.microsoft.com/office/drawing/2014/main" id="{E974D554-3B84-41DE-9445-AAB60EAE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0" y="79819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BM25 + Qwen3 · RRF + rerank</a:t>
            </a:r>
          </a:p>
        </p:txBody>
      </p:sp>
      <p:sp>
        <p:nvSpPr>
          <p:cNvPr id="5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A63E7070-CFB2-4BCC-94C4-1D506C8E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54975" y="6515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234"/>
          </a:solidFill>
          <a:ln xmlns:a="http://schemas.openxmlformats.org/drawingml/2006/main" w="38100">
            <a:solidFill>
              <a:srgbClr val="F3EFE6"/>
            </a:solidFill>
            <a:prstDash val="solid"/>
          </a:ln>
        </p:spPr>
      </p:sp>
      <p:sp>
        <p:nvSpPr>
          <p:cNvPr id="52" name="flow-node-number-4">
            <a:extLst xmlns:a="http://schemas.openxmlformats.org/drawingml/2006/main">
              <a:ext uri="{FF2B5EF4-FFF2-40B4-BE49-F238E27FC236}">
                <a16:creationId xmlns:a16="http://schemas.microsoft.com/office/drawing/2014/main" id="{4E8C3DA9-3AFC-4915-9DF6-B69DEC79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2125" y="65627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3" name="flow-node-title-4">
            <a:extLst xmlns:a="http://schemas.openxmlformats.org/drawingml/2006/main">
              <a:ext uri="{FF2B5EF4-FFF2-40B4-BE49-F238E27FC236}">
                <a16:creationId xmlns:a16="http://schemas.microsoft.com/office/drawing/2014/main" id="{0455054D-D343-4CAA-A5A4-29F38B22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0" y="71913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Typed answer</a:t>
            </a:r>
          </a:p>
        </p:txBody>
      </p:sp>
      <p:sp>
        <p:nvSpPr>
          <p:cNvPr id="54" name="flow-node-detail-4">
            <a:extLst xmlns:a="http://schemas.openxmlformats.org/drawingml/2006/main">
              <a:ext uri="{FF2B5EF4-FFF2-40B4-BE49-F238E27FC236}">
                <a16:creationId xmlns:a16="http://schemas.microsoft.com/office/drawing/2014/main" id="{DDECB551-14E0-45F9-8726-C28CA672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92875" y="79819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GPT-5.4-mini · schema + evidence checks</a:t>
            </a:r>
          </a:p>
        </p:txBody>
      </p:sp>
      <p:sp>
        <p:nvSpPr>
          <p:cNvPr id="55" name="flow-node-5">
            <a:extLst xmlns:a="http://schemas.openxmlformats.org/drawingml/2006/main">
              <a:ext uri="{FF2B5EF4-FFF2-40B4-BE49-F238E27FC236}">
                <a16:creationId xmlns:a16="http://schemas.microsoft.com/office/drawing/2014/main" id="{366275C9-7413-4E6C-9656-351D7EA4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98350" y="6515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234"/>
          </a:solidFill>
          <a:ln xmlns:a="http://schemas.openxmlformats.org/drawingml/2006/main" w="38100">
            <a:solidFill>
              <a:srgbClr val="F3EFE6"/>
            </a:solidFill>
            <a:prstDash val="solid"/>
          </a:ln>
        </p:spPr>
      </p:sp>
      <p:sp>
        <p:nvSpPr>
          <p:cNvPr id="56" name="flow-node-number-5">
            <a:extLst xmlns:a="http://schemas.openxmlformats.org/drawingml/2006/main">
              <a:ext uri="{FF2B5EF4-FFF2-40B4-BE49-F238E27FC236}">
                <a16:creationId xmlns:a16="http://schemas.microsoft.com/office/drawing/2014/main" id="{5158BA26-04B5-43E4-B0A6-9AA6A7CE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0" y="65627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BF9F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BF9F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7" name="flow-node-title-5">
            <a:extLst xmlns:a="http://schemas.openxmlformats.org/drawingml/2006/main">
              <a:ext uri="{FF2B5EF4-FFF2-40B4-BE49-F238E27FC236}">
                <a16:creationId xmlns:a16="http://schemas.microsoft.com/office/drawing/2014/main" id="{69773C61-FDA4-4F48-A7AA-47BD9422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83875" y="719137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Final page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attribution</a:t>
            </a:r>
          </a:p>
        </p:txBody>
      </p:sp>
      <p:sp>
        <p:nvSpPr>
          <p:cNvPr id="58" name="flow-node-detail-5">
            <a:extLst xmlns:a="http://schemas.openxmlformats.org/drawingml/2006/main">
              <a:ext uri="{FF2B5EF4-FFF2-40B4-BE49-F238E27FC236}">
                <a16:creationId xmlns:a16="http://schemas.microsoft.com/office/drawing/2014/main" id="{C353CF1A-19EF-4551-9F6C-F4435C1A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0" y="798195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support validation + fallback</a:t>
            </a:r>
          </a:p>
        </p:txBody>
      </p:sp>
      <p:sp>
        <p:nvSpPr>
          <p:cNvPr id="59" name="provenance-invariant">
            <a:extLst xmlns:a="http://schemas.openxmlformats.org/drawingml/2006/main">
              <a:ext uri="{FF2B5EF4-FFF2-40B4-BE49-F238E27FC236}">
                <a16:creationId xmlns:a16="http://schemas.microsoft.com/office/drawing/2014/main" id="{8C3884ED-C6DB-4EEA-9DFB-7F719E6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0" y="5562600"/>
            <a:ext cx="1264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INVARIANT  Every evidence record retains document_id + page_number.</a:t>
            </a:r>
          </a:p>
        </p:txBody>
      </p:sp>
      <p:sp>
        <p:nvSpPr>
          <p:cNvPr id="60" name="section-03-number">
            <a:extLst xmlns:a="http://schemas.openxmlformats.org/drawingml/2006/main">
              <a:ext uri="{FF2B5EF4-FFF2-40B4-BE49-F238E27FC236}">
                <a16:creationId xmlns:a16="http://schemas.microsoft.com/office/drawing/2014/main" id="{BAD31C60-1606-46F8-B837-57AD443E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90487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1" name="section-03-label">
            <a:extLst xmlns:a="http://schemas.openxmlformats.org/drawingml/2006/main">
              <a:ext uri="{FF2B5EF4-FFF2-40B4-BE49-F238E27FC236}">
                <a16:creationId xmlns:a16="http://schemas.microsoft.com/office/drawing/2014/main" id="{1DDF281F-1E8E-436D-BEC6-144CEF3C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9086850"/>
            <a:ext cx="1272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62" name="results-claim">
            <a:extLst xmlns:a="http://schemas.openxmlformats.org/drawingml/2006/main">
              <a:ext uri="{FF2B5EF4-FFF2-40B4-BE49-F238E27FC236}">
                <a16:creationId xmlns:a16="http://schemas.microsoft.com/office/drawing/2014/main" id="{2E9D01C5-AE48-44F3-A5E7-62C09A3C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9677400"/>
            <a:ext cx="1314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72234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72234"/>
                </a:solidFill>
                <a:latin typeface="Georgia"/>
                <a:ea typeface="Georgia"/>
                <a:cs typeface="Georgia"/>
              </a:rPr>
              <a:t>Answer quality stays close; final page grounding does not.</a:t>
            </a:r>
          </a:p>
        </p:txBody>
      </p:sp>
      <p:sp>
        <p:nvSpPr>
          <p:cNvPr id="63" name="estimate-heading">
            <a:extLst xmlns:a="http://schemas.openxmlformats.org/drawingml/2006/main">
              <a:ext uri="{FF2B5EF4-FFF2-40B4-BE49-F238E27FC236}">
                <a16:creationId xmlns:a16="http://schemas.microsoft.com/office/drawing/2014/main" id="{01AFAE01-7ABA-4A0B-A074-FDAFF890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04013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GROUP MEANS (%)</a:t>
            </a:r>
          </a:p>
        </p:txBody>
      </p:sp>
      <p:sp>
        <p:nvSpPr>
          <p:cNvPr id="64" name="difference-heading">
            <a:extLst xmlns:a="http://schemas.openxmlformats.org/drawingml/2006/main">
              <a:ext uri="{FF2B5EF4-FFF2-40B4-BE49-F238E27FC236}">
                <a16:creationId xmlns:a16="http://schemas.microsoft.com/office/drawing/2014/main" id="{1E3010E6-3CED-4597-8FAC-DA4F0ABF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25875" y="10401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DISTRIBUTED - LOCALIZED (PP, 95% CI)</a:t>
            </a:r>
          </a:p>
        </p:txBody>
      </p:sp>
      <p:sp>
        <p:nvSpPr>
          <p:cNvPr id="65" name="answer-track-baseline">
            <a:extLst xmlns:a="http://schemas.openxmlformats.org/drawingml/2006/main">
              <a:ext uri="{FF2B5EF4-FFF2-40B4-BE49-F238E27FC236}">
                <a16:creationId xmlns:a16="http://schemas.microsoft.com/office/drawing/2014/main" id="{6DB6C755-1E59-4028-92E2-2EA582E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0" y="11601450"/>
            <a:ext cx="58102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AA69C"/>
            </a:solidFill>
            <a:prstDash val="solid"/>
          </a:ln>
        </p:spPr>
      </p:sp>
      <p:sp>
        <p:nvSpPr>
          <p:cNvPr id="66" name="answer-track-tick-75">
            <a:extLst xmlns:a="http://schemas.openxmlformats.org/drawingml/2006/main">
              <a:ext uri="{FF2B5EF4-FFF2-40B4-BE49-F238E27FC236}">
                <a16:creationId xmlns:a16="http://schemas.microsoft.com/office/drawing/2014/main" id="{6F9EB840-20BF-46AB-9E0E-041D805E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0" y="115062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67" name="answer-track-tick-80">
            <a:extLst xmlns:a="http://schemas.openxmlformats.org/drawingml/2006/main">
              <a:ext uri="{FF2B5EF4-FFF2-40B4-BE49-F238E27FC236}">
                <a16:creationId xmlns:a16="http://schemas.microsoft.com/office/drawing/2014/main" id="{BC521668-FA07-4BED-A4A2-E42C4E1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63300" y="115062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68" name="answer-track-tick-85">
            <a:extLst xmlns:a="http://schemas.openxmlformats.org/drawingml/2006/main">
              <a:ext uri="{FF2B5EF4-FFF2-40B4-BE49-F238E27FC236}">
                <a16:creationId xmlns:a16="http://schemas.microsoft.com/office/drawing/2014/main" id="{500D1EC0-7D54-44E3-8787-6D7BC4DC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25350" y="115062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69" name="answer-track-tick-90">
            <a:extLst xmlns:a="http://schemas.openxmlformats.org/drawingml/2006/main">
              <a:ext uri="{FF2B5EF4-FFF2-40B4-BE49-F238E27FC236}">
                <a16:creationId xmlns:a16="http://schemas.microsoft.com/office/drawing/2014/main" id="{61F2751B-6A5B-4762-B255-D5E1157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487400" y="115062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0" name="answer-track-tick-95">
            <a:extLst xmlns:a="http://schemas.openxmlformats.org/drawingml/2006/main">
              <a:ext uri="{FF2B5EF4-FFF2-40B4-BE49-F238E27FC236}">
                <a16:creationId xmlns:a16="http://schemas.microsoft.com/office/drawing/2014/main" id="{85B0581B-7AA0-44A4-ADA5-127AB812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649450" y="115062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1" name="answer-track-tick-100">
            <a:extLst xmlns:a="http://schemas.openxmlformats.org/drawingml/2006/main">
              <a:ext uri="{FF2B5EF4-FFF2-40B4-BE49-F238E27FC236}">
                <a16:creationId xmlns:a16="http://schemas.microsoft.com/office/drawing/2014/main" id="{7C5F9A4B-6B86-42CD-A82C-72C3FAEF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811500" y="115062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2" name="grounding-track-baseline">
            <a:extLst xmlns:a="http://schemas.openxmlformats.org/drawingml/2006/main">
              <a:ext uri="{FF2B5EF4-FFF2-40B4-BE49-F238E27FC236}">
                <a16:creationId xmlns:a16="http://schemas.microsoft.com/office/drawing/2014/main" id="{4C4C5746-6825-43D1-A31C-E93A6610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0" y="13392150"/>
            <a:ext cx="5810250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AA69C"/>
            </a:solidFill>
            <a:prstDash val="solid"/>
          </a:ln>
        </p:spPr>
      </p:sp>
      <p:sp>
        <p:nvSpPr>
          <p:cNvPr id="73" name="grounding-track-tick-75">
            <a:extLst xmlns:a="http://schemas.openxmlformats.org/drawingml/2006/main">
              <a:ext uri="{FF2B5EF4-FFF2-40B4-BE49-F238E27FC236}">
                <a16:creationId xmlns:a16="http://schemas.microsoft.com/office/drawing/2014/main" id="{C4FC71E9-5319-4E84-BD76-DA0F6372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0" y="132969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4" name="grounding-track-tick-80">
            <a:extLst xmlns:a="http://schemas.openxmlformats.org/drawingml/2006/main">
              <a:ext uri="{FF2B5EF4-FFF2-40B4-BE49-F238E27FC236}">
                <a16:creationId xmlns:a16="http://schemas.microsoft.com/office/drawing/2014/main" id="{297D532B-B14A-4335-9C4D-7D294AF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63300" y="132969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5" name="grounding-track-tick-85">
            <a:extLst xmlns:a="http://schemas.openxmlformats.org/drawingml/2006/main">
              <a:ext uri="{FF2B5EF4-FFF2-40B4-BE49-F238E27FC236}">
                <a16:creationId xmlns:a16="http://schemas.microsoft.com/office/drawing/2014/main" id="{A41FB265-4071-44DE-A0BD-F151A52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25350" y="132969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6" name="grounding-track-tick-90">
            <a:extLst xmlns:a="http://schemas.openxmlformats.org/drawingml/2006/main">
              <a:ext uri="{FF2B5EF4-FFF2-40B4-BE49-F238E27FC236}">
                <a16:creationId xmlns:a16="http://schemas.microsoft.com/office/drawing/2014/main" id="{995CDE65-8364-431E-A486-0460BCE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487400" y="132969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7" name="grounding-track-tick-95">
            <a:extLst xmlns:a="http://schemas.openxmlformats.org/drawingml/2006/main">
              <a:ext uri="{FF2B5EF4-FFF2-40B4-BE49-F238E27FC236}">
                <a16:creationId xmlns:a16="http://schemas.microsoft.com/office/drawing/2014/main" id="{469D3185-DAC6-4E9F-A45E-76765032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649450" y="132969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8" name="grounding-track-tick-100">
            <a:extLst xmlns:a="http://schemas.openxmlformats.org/drawingml/2006/main">
              <a:ext uri="{FF2B5EF4-FFF2-40B4-BE49-F238E27FC236}">
                <a16:creationId xmlns:a16="http://schemas.microsoft.com/office/drawing/2014/main" id="{B644CD3B-F438-438F-8682-84B4EF2E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811500" y="13296900"/>
            <a:ext cx="476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A69C"/>
            </a:solidFill>
            <a:prstDash val="solid"/>
          </a:ln>
        </p:spPr>
      </p:sp>
      <p:sp>
        <p:nvSpPr>
          <p:cNvPr id="79" name="answer-row-label">
            <a:extLst xmlns:a="http://schemas.openxmlformats.org/drawingml/2006/main">
              <a:ext uri="{FF2B5EF4-FFF2-40B4-BE49-F238E27FC236}">
                <a16:creationId xmlns:a16="http://schemas.microsoft.com/office/drawing/2014/main" id="{C8C89CAE-333F-432C-8F12-98E12C1A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10966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Answer</a:t>
            </a:r>
          </a:p>
          <a:p xmlns:a="http://schemas.openxmlformats.org/drawingml/2006/main">
            <a:pPr algn="l"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80" name="grounding-row-label">
            <a:extLst xmlns:a="http://schemas.openxmlformats.org/drawingml/2006/main">
              <a:ext uri="{FF2B5EF4-FFF2-40B4-BE49-F238E27FC236}">
                <a16:creationId xmlns:a16="http://schemas.microsoft.com/office/drawing/2014/main" id="{434FF368-832D-4FEE-9989-CE40D43D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28778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Final page</a:t>
            </a:r>
          </a:p>
          <a:p xmlns:a="http://schemas.openxmlformats.org/drawingml/2006/main">
            <a:pPr algn="l"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81" name="answer-localized-marker">
            <a:extLst xmlns:a="http://schemas.openxmlformats.org/drawingml/2006/main">
              <a:ext uri="{FF2B5EF4-FFF2-40B4-BE49-F238E27FC236}">
                <a16:creationId xmlns:a16="http://schemas.microsoft.com/office/drawing/2014/main" id="{D95CF1EB-5FA0-4EC4-82BA-D5696C4C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594" y="11172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82" name="answer-distributed-marker">
            <a:extLst xmlns:a="http://schemas.openxmlformats.org/drawingml/2006/main">
              <a:ext uri="{FF2B5EF4-FFF2-40B4-BE49-F238E27FC236}">
                <a16:creationId xmlns:a16="http://schemas.microsoft.com/office/drawing/2014/main" id="{D24953E3-8093-481B-9660-CF3083CC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0929" y="11620500"/>
            <a:ext cx="438150" cy="438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64A3E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83" name="grounding-localized-marker">
            <a:extLst xmlns:a="http://schemas.openxmlformats.org/drawingml/2006/main">
              <a:ext uri="{FF2B5EF4-FFF2-40B4-BE49-F238E27FC236}">
                <a16:creationId xmlns:a16="http://schemas.microsoft.com/office/drawing/2014/main" id="{E47881EA-6F99-46F7-888F-E32C9CA1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0533" y="129635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84" name="grounding-distributed-marker">
            <a:extLst xmlns:a="http://schemas.openxmlformats.org/drawingml/2006/main">
              <a:ext uri="{FF2B5EF4-FFF2-40B4-BE49-F238E27FC236}">
                <a16:creationId xmlns:a16="http://schemas.microsoft.com/office/drawing/2014/main" id="{70CC4179-064F-4D11-9BEB-A0B97BE4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6081" y="13411200"/>
            <a:ext cx="438150" cy="438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64A3E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85" name="answer-localized-value">
            <a:extLst xmlns:a="http://schemas.openxmlformats.org/drawingml/2006/main">
              <a:ext uri="{FF2B5EF4-FFF2-40B4-BE49-F238E27FC236}">
                <a16:creationId xmlns:a16="http://schemas.microsoft.com/office/drawing/2014/main" id="{91987D35-60B1-4CA1-A6BF-378D5C79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5669" y="10839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95.9</a:t>
            </a:r>
          </a:p>
        </p:txBody>
      </p:sp>
      <p:sp>
        <p:nvSpPr>
          <p:cNvPr id="86" name="answer-distributed-value">
            <a:extLst xmlns:a="http://schemas.openxmlformats.org/drawingml/2006/main">
              <a:ext uri="{FF2B5EF4-FFF2-40B4-BE49-F238E27FC236}">
                <a16:creationId xmlns:a16="http://schemas.microsoft.com/office/drawing/2014/main" id="{A21ABFA9-9471-462A-87F7-5B705A10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7054" y="120396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94.4</a:t>
            </a:r>
          </a:p>
        </p:txBody>
      </p:sp>
      <p:sp>
        <p:nvSpPr>
          <p:cNvPr id="87" name="grounding-localized-value">
            <a:extLst xmlns:a="http://schemas.openxmlformats.org/drawingml/2006/main">
              <a:ext uri="{FF2B5EF4-FFF2-40B4-BE49-F238E27FC236}">
                <a16:creationId xmlns:a16="http://schemas.microsoft.com/office/drawing/2014/main" id="{2A0E0E0E-04FF-4A8C-9BE8-9539F3FD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7608" y="126301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93.8</a:t>
            </a:r>
          </a:p>
        </p:txBody>
      </p:sp>
      <p:sp>
        <p:nvSpPr>
          <p:cNvPr id="88" name="grounding-distributed-value">
            <a:extLst xmlns:a="http://schemas.openxmlformats.org/drawingml/2006/main">
              <a:ext uri="{FF2B5EF4-FFF2-40B4-BE49-F238E27FC236}">
                <a16:creationId xmlns:a16="http://schemas.microsoft.com/office/drawing/2014/main" id="{40B0318A-4EEA-4402-8A82-E081F342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2206" y="1383030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81.6</a:t>
            </a:r>
          </a:p>
        </p:txBody>
      </p:sp>
      <p:sp>
        <p:nvSpPr>
          <p:cNvPr id="89" name="score-tick-label-75">
            <a:extLst xmlns:a="http://schemas.openxmlformats.org/drawingml/2006/main">
              <a:ext uri="{FF2B5EF4-FFF2-40B4-BE49-F238E27FC236}">
                <a16:creationId xmlns:a16="http://schemas.microsoft.com/office/drawing/2014/main" id="{02EA4B18-C7F7-4FB2-BB61-AC00EDE0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14211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90" name="score-tick-label-80">
            <a:extLst xmlns:a="http://schemas.openxmlformats.org/drawingml/2006/main">
              <a:ext uri="{FF2B5EF4-FFF2-40B4-BE49-F238E27FC236}">
                <a16:creationId xmlns:a16="http://schemas.microsoft.com/office/drawing/2014/main" id="{AC109AB6-4BB8-4A2C-8067-FAD56D63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14211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91" name="score-tick-label-85">
            <a:extLst xmlns:a="http://schemas.openxmlformats.org/drawingml/2006/main">
              <a:ext uri="{FF2B5EF4-FFF2-40B4-BE49-F238E27FC236}">
                <a16:creationId xmlns:a16="http://schemas.microsoft.com/office/drawing/2014/main" id="{2A6710D6-419D-4E32-8086-B8E7670F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3400" y="14211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92" name="score-tick-label-90">
            <a:extLst xmlns:a="http://schemas.openxmlformats.org/drawingml/2006/main">
              <a:ext uri="{FF2B5EF4-FFF2-40B4-BE49-F238E27FC236}">
                <a16:creationId xmlns:a16="http://schemas.microsoft.com/office/drawing/2014/main" id="{B2E48B6A-35AE-4CDC-90AC-B6BA3F8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5450" y="14211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93" name="score-tick-label-95">
            <a:extLst xmlns:a="http://schemas.openxmlformats.org/drawingml/2006/main">
              <a:ext uri="{FF2B5EF4-FFF2-40B4-BE49-F238E27FC236}">
                <a16:creationId xmlns:a16="http://schemas.microsoft.com/office/drawing/2014/main" id="{27FE7F92-872E-484D-9C07-4D961BE9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0" y="14211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94" name="score-tick-label-100">
            <a:extLst xmlns:a="http://schemas.openxmlformats.org/drawingml/2006/main">
              <a:ext uri="{FF2B5EF4-FFF2-40B4-BE49-F238E27FC236}">
                <a16:creationId xmlns:a16="http://schemas.microsoft.com/office/drawing/2014/main" id="{649520ED-000B-45DF-8AFE-126EEDA9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49550" y="142113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5" name="difference-zero-line">
            <a:extLst xmlns:a="http://schemas.openxmlformats.org/drawingml/2006/main">
              <a:ext uri="{FF2B5EF4-FFF2-40B4-BE49-F238E27FC236}">
                <a16:creationId xmlns:a16="http://schemas.microsoft.com/office/drawing/2014/main" id="{C4E4F688-4410-46C1-96DF-717E0BFC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15150" y="11049000"/>
            <a:ext cx="4763" cy="2924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AA69C"/>
            </a:solidFill>
            <a:prstDash val="dot"/>
          </a:ln>
        </p:spPr>
      </p:sp>
      <p:sp>
        <p:nvSpPr>
          <p:cNvPr id="96" name="answer-ci">
            <a:extLst xmlns:a="http://schemas.openxmlformats.org/drawingml/2006/main">
              <a:ext uri="{FF2B5EF4-FFF2-40B4-BE49-F238E27FC236}">
                <a16:creationId xmlns:a16="http://schemas.microsoft.com/office/drawing/2014/main" id="{01BF64FC-CD11-411C-8690-9896C9CA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219547" y="11601450"/>
            <a:ext cx="2261394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72234"/>
            </a:solidFill>
            <a:prstDash val="solid"/>
          </a:ln>
        </p:spPr>
      </p:sp>
      <p:sp>
        <p:nvSpPr>
          <p:cNvPr id="97" name="answer-ci-left-cap">
            <a:extLst xmlns:a="http://schemas.openxmlformats.org/drawingml/2006/main">
              <a:ext uri="{FF2B5EF4-FFF2-40B4-BE49-F238E27FC236}">
                <a16:creationId xmlns:a16="http://schemas.microsoft.com/office/drawing/2014/main" id="{A8E90170-693B-4742-BA9A-693232BD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219547" y="11449050"/>
            <a:ext cx="476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2234"/>
            </a:solidFill>
            <a:prstDash val="solid"/>
          </a:ln>
        </p:spPr>
      </p:sp>
      <p:sp>
        <p:nvSpPr>
          <p:cNvPr id="98" name="answer-ci-right-cap">
            <a:extLst xmlns:a="http://schemas.openxmlformats.org/drawingml/2006/main">
              <a:ext uri="{FF2B5EF4-FFF2-40B4-BE49-F238E27FC236}">
                <a16:creationId xmlns:a16="http://schemas.microsoft.com/office/drawing/2014/main" id="{D0C99EC8-1262-44E5-B7DE-B0D56E18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480941" y="11449050"/>
            <a:ext cx="476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2234"/>
            </a:solidFill>
            <a:prstDash val="solid"/>
          </a:ln>
        </p:spPr>
      </p:sp>
      <p:sp>
        <p:nvSpPr>
          <p:cNvPr id="99" name="answer-difference-marker">
            <a:extLst xmlns:a="http://schemas.openxmlformats.org/drawingml/2006/main">
              <a:ext uri="{FF2B5EF4-FFF2-40B4-BE49-F238E27FC236}">
                <a16:creationId xmlns:a16="http://schemas.microsoft.com/office/drawing/2014/main" id="{9FC34D5E-0A8B-4A29-94A6-8BE0A6FE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30816" y="11410950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64A3E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100" name="grounding-ci">
            <a:extLst xmlns:a="http://schemas.openxmlformats.org/drawingml/2006/main">
              <a:ext uri="{FF2B5EF4-FFF2-40B4-BE49-F238E27FC236}">
                <a16:creationId xmlns:a16="http://schemas.microsoft.com/office/drawing/2014/main" id="{F3197444-3ABC-4FDC-9177-BB4BE342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159923" y="13392150"/>
            <a:ext cx="169281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72234"/>
            </a:solidFill>
            <a:prstDash val="solid"/>
          </a:ln>
        </p:spPr>
      </p:sp>
      <p:sp>
        <p:nvSpPr>
          <p:cNvPr id="101" name="grounding-ci-left-cap">
            <a:extLst xmlns:a="http://schemas.openxmlformats.org/drawingml/2006/main">
              <a:ext uri="{FF2B5EF4-FFF2-40B4-BE49-F238E27FC236}">
                <a16:creationId xmlns:a16="http://schemas.microsoft.com/office/drawing/2014/main" id="{9026DC01-707A-46ED-B586-A5FE5C6F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159923" y="13239750"/>
            <a:ext cx="476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2234"/>
            </a:solidFill>
            <a:prstDash val="solid"/>
          </a:ln>
        </p:spPr>
      </p:sp>
      <p:sp>
        <p:nvSpPr>
          <p:cNvPr id="102" name="grounding-ci-right-cap">
            <a:extLst xmlns:a="http://schemas.openxmlformats.org/drawingml/2006/main">
              <a:ext uri="{FF2B5EF4-FFF2-40B4-BE49-F238E27FC236}">
                <a16:creationId xmlns:a16="http://schemas.microsoft.com/office/drawing/2014/main" id="{05C49192-F76D-4C11-A214-D2B8C348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852737" y="13239750"/>
            <a:ext cx="476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2234"/>
            </a:solidFill>
            <a:prstDash val="solid"/>
          </a:ln>
        </p:spPr>
      </p:sp>
      <p:sp>
        <p:nvSpPr>
          <p:cNvPr id="103" name="grounding-difference-marker">
            <a:extLst xmlns:a="http://schemas.openxmlformats.org/drawingml/2006/main">
              <a:ext uri="{FF2B5EF4-FFF2-40B4-BE49-F238E27FC236}">
                <a16:creationId xmlns:a16="http://schemas.microsoft.com/office/drawing/2014/main" id="{DEEBD813-23DB-4BD4-AB2D-66384C8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8136" y="13201650"/>
            <a:ext cx="381000" cy="381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64A3E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104" name="answer-difference-label">
            <a:extLst xmlns:a="http://schemas.openxmlformats.org/drawingml/2006/main">
              <a:ext uri="{FF2B5EF4-FFF2-40B4-BE49-F238E27FC236}">
                <a16:creationId xmlns:a16="http://schemas.microsoft.com/office/drawing/2014/main" id="{C5DF8C51-D255-4FE2-91BD-69A0E653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11972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-1.5  [-10.8, +6.7]</a:t>
            </a:r>
          </a:p>
        </p:txBody>
      </p:sp>
      <p:sp>
        <p:nvSpPr>
          <p:cNvPr id="105" name="grounding-difference-label">
            <a:extLst xmlns:a="http://schemas.openxmlformats.org/drawingml/2006/main">
              <a:ext uri="{FF2B5EF4-FFF2-40B4-BE49-F238E27FC236}">
                <a16:creationId xmlns:a16="http://schemas.microsoft.com/office/drawing/2014/main" id="{439563CF-297A-47EE-97D4-F40FE0FC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0" y="13763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-12.2  [-19.0, -5.9]</a:t>
            </a:r>
          </a:p>
        </p:txBody>
      </p:sp>
      <p:sp>
        <p:nvSpPr>
          <p:cNvPr id="106" name="difference-tick--20">
            <a:extLst xmlns:a="http://schemas.openxmlformats.org/drawingml/2006/main">
              <a:ext uri="{FF2B5EF4-FFF2-40B4-BE49-F238E27FC236}">
                <a16:creationId xmlns:a16="http://schemas.microsoft.com/office/drawing/2014/main" id="{AB3EBEE5-7C5C-4B72-A5BE-AB3B65F3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30650" y="1421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-20</a:t>
            </a:r>
          </a:p>
        </p:txBody>
      </p:sp>
      <p:sp>
        <p:nvSpPr>
          <p:cNvPr id="107" name="difference-tick--10">
            <a:extLst xmlns:a="http://schemas.openxmlformats.org/drawingml/2006/main">
              <a:ext uri="{FF2B5EF4-FFF2-40B4-BE49-F238E27FC236}">
                <a16:creationId xmlns:a16="http://schemas.microsoft.com/office/drawing/2014/main" id="{FFC58137-214D-44B7-A73B-F6D69DC7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22875" y="1421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-10</a:t>
            </a:r>
          </a:p>
        </p:txBody>
      </p:sp>
      <p:sp>
        <p:nvSpPr>
          <p:cNvPr id="108" name="difference-tick-0">
            <a:extLst xmlns:a="http://schemas.openxmlformats.org/drawingml/2006/main">
              <a:ext uri="{FF2B5EF4-FFF2-40B4-BE49-F238E27FC236}">
                <a16:creationId xmlns:a16="http://schemas.microsoft.com/office/drawing/2014/main" id="{95BCD584-70FD-4E87-85EC-63EDEA0B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15100" y="1421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9" name="difference-tick-10">
            <a:extLst xmlns:a="http://schemas.openxmlformats.org/drawingml/2006/main">
              <a:ext uri="{FF2B5EF4-FFF2-40B4-BE49-F238E27FC236}">
                <a16:creationId xmlns:a16="http://schemas.microsoft.com/office/drawing/2014/main" id="{0C452619-475E-4226-9520-58E0E10C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07325" y="1421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+10</a:t>
            </a:r>
          </a:p>
        </p:txBody>
      </p:sp>
      <p:sp>
        <p:nvSpPr>
          <p:cNvPr id="110" name="mismatch-title">
            <a:extLst xmlns:a="http://schemas.openxmlformats.org/drawingml/2006/main">
              <a:ext uri="{FF2B5EF4-FFF2-40B4-BE49-F238E27FC236}">
                <a16:creationId xmlns:a16="http://schemas.microsoft.com/office/drawing/2014/main" id="{161874C4-B41F-4F22-AD40-49FE0533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476375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PERFECT ANSWER, BUT PAGE GROUNDING &lt; 0.8</a:t>
            </a:r>
          </a:p>
        </p:txBody>
      </p:sp>
      <p:sp>
        <p:nvSpPr>
          <p:cNvPr id="111" name="mismatch-localized-label">
            <a:extLst xmlns:a="http://schemas.openxmlformats.org/drawingml/2006/main">
              <a:ext uri="{FF2B5EF4-FFF2-40B4-BE49-F238E27FC236}">
                <a16:creationId xmlns:a16="http://schemas.microsoft.com/office/drawing/2014/main" id="{02E3CE0E-BFF2-4E0B-8C74-492A3A0A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54114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Localized</a:t>
            </a:r>
          </a:p>
        </p:txBody>
      </p:sp>
      <p:sp>
        <p:nvSpPr>
          <p:cNvPr id="112" name="mismatch-distributed-label">
            <a:extLst xmlns:a="http://schemas.openxmlformats.org/drawingml/2006/main">
              <a:ext uri="{FF2B5EF4-FFF2-40B4-BE49-F238E27FC236}">
                <a16:creationId xmlns:a16="http://schemas.microsoft.com/office/drawing/2014/main" id="{805B2F6B-3990-43EB-8CB9-6BB2455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62972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Distributed</a:t>
            </a:r>
          </a:p>
        </p:txBody>
      </p:sp>
      <p:sp>
        <p:nvSpPr>
          <p:cNvPr id="113" name="mismatch-localized-base">
            <a:extLst xmlns:a="http://schemas.openxmlformats.org/drawingml/2006/main">
              <a:ext uri="{FF2B5EF4-FFF2-40B4-BE49-F238E27FC236}">
                <a16:creationId xmlns:a16="http://schemas.microsoft.com/office/drawing/2014/main" id="{81C57BAF-0396-4147-9754-2BDF91FB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154400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mismatch-localized-fill">
            <a:extLst xmlns:a="http://schemas.openxmlformats.org/drawingml/2006/main">
              <a:ext uri="{FF2B5EF4-FFF2-40B4-BE49-F238E27FC236}">
                <a16:creationId xmlns:a16="http://schemas.microsoft.com/office/drawing/2014/main" id="{2657CAB8-4343-4C16-A13E-5E471887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15440025"/>
            <a:ext cx="62579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mismatch-distributed-base">
            <a:extLst xmlns:a="http://schemas.openxmlformats.org/drawingml/2006/main">
              <a:ext uri="{FF2B5EF4-FFF2-40B4-BE49-F238E27FC236}">
                <a16:creationId xmlns:a16="http://schemas.microsoft.com/office/drawing/2014/main" id="{744738CC-85F4-4E28-A2DD-16C5D430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163258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mismatch-distributed-fill">
            <a:extLst xmlns:a="http://schemas.openxmlformats.org/drawingml/2006/main">
              <a:ext uri="{FF2B5EF4-FFF2-40B4-BE49-F238E27FC236}">
                <a16:creationId xmlns:a16="http://schemas.microsoft.com/office/drawing/2014/main" id="{9CD68868-A614-4619-88E4-05179F56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16325850"/>
            <a:ext cx="403764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mismatch-localized-value">
            <a:extLst xmlns:a="http://schemas.openxmlformats.org/drawingml/2006/main">
              <a:ext uri="{FF2B5EF4-FFF2-40B4-BE49-F238E27FC236}">
                <a16:creationId xmlns:a16="http://schemas.microsoft.com/office/drawing/2014/main" id="{FB465CEE-97FB-4876-92B0-AF8747F3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16625" y="15316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4 / 55  (7.3%)</a:t>
            </a:r>
          </a:p>
        </p:txBody>
      </p:sp>
      <p:sp>
        <p:nvSpPr>
          <p:cNvPr id="118" name="mismatch-distributed-value">
            <a:extLst xmlns:a="http://schemas.openxmlformats.org/drawingml/2006/main">
              <a:ext uri="{FF2B5EF4-FFF2-40B4-BE49-F238E27FC236}">
                <a16:creationId xmlns:a16="http://schemas.microsoft.com/office/drawing/2014/main" id="{A3DE3E98-DD9B-4090-8EC7-925BD14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0" y="16202025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16 / 34  (47.1%)</a:t>
            </a:r>
          </a:p>
        </p:txBody>
      </p:sp>
      <p:sp>
        <p:nvSpPr>
          <p:cNvPr id="119" name="mismatch-caption">
            <a:extLst xmlns:a="http://schemas.openxmlformats.org/drawingml/2006/main">
              <a:ext uri="{FF2B5EF4-FFF2-40B4-BE49-F238E27FC236}">
                <a16:creationId xmlns:a16="http://schemas.microsoft.com/office/drawing/2014/main" id="{8B3B4266-313A-41CE-9B9F-2082706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16792575"/>
            <a:ext cx="1128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Denominators are perfectly scored answers, not all questions.</a:t>
            </a:r>
          </a:p>
        </p:txBody>
      </p:sp>
      <p:sp>
        <p:nvSpPr>
          <p:cNvPr id="120" name="section-04-number">
            <a:extLst xmlns:a="http://schemas.openxmlformats.org/drawingml/2006/main">
              <a:ext uri="{FF2B5EF4-FFF2-40B4-BE49-F238E27FC236}">
                <a16:creationId xmlns:a16="http://schemas.microsoft.com/office/drawing/2014/main" id="{1AF38CD8-1A3D-4D1B-AD61-8108BF17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0" y="90487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1" name="section-04-label">
            <a:extLst xmlns:a="http://schemas.openxmlformats.org/drawingml/2006/main">
              <a:ext uri="{FF2B5EF4-FFF2-40B4-BE49-F238E27FC236}">
                <a16:creationId xmlns:a16="http://schemas.microsoft.com/office/drawing/2014/main" id="{76DD3B24-D354-43A6-A342-55F1A254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02850" y="9086850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WHERE THE GAP WIDENS</a:t>
            </a:r>
          </a:p>
        </p:txBody>
      </p:sp>
      <p:sp>
        <p:nvSpPr>
          <p:cNvPr id="122" name="diagnostic-subtitle">
            <a:extLst xmlns:a="http://schemas.openxmlformats.org/drawingml/2006/main">
              <a:ext uri="{FF2B5EF4-FFF2-40B4-BE49-F238E27FC236}">
                <a16:creationId xmlns:a16="http://schemas.microsoft.com/office/drawing/2014/main" id="{31A57B76-BFE2-4229-ADE4-55D8503C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0" y="9667875"/>
            <a:ext cx="693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Raw retrieval -&gt; final attribution</a:t>
            </a:r>
          </a:p>
        </p:txBody>
      </p:sp>
      <p:sp>
        <p:nvSpPr>
          <p:cNvPr id="123" name="slope-grid-80">
            <a:extLst xmlns:a="http://schemas.openxmlformats.org/drawingml/2006/main">
              <a:ext uri="{FF2B5EF4-FFF2-40B4-BE49-F238E27FC236}">
                <a16:creationId xmlns:a16="http://schemas.microsoft.com/office/drawing/2014/main" id="{10E7297C-7213-4A0A-BC80-59647113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764750" y="13430250"/>
            <a:ext cx="557212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8CB"/>
            </a:solidFill>
            <a:prstDash val="solid"/>
          </a:ln>
        </p:spPr>
      </p:sp>
      <p:sp>
        <p:nvSpPr>
          <p:cNvPr id="124" name="slope-y-80">
            <a:extLst xmlns:a="http://schemas.openxmlformats.org/drawingml/2006/main">
              <a:ext uri="{FF2B5EF4-FFF2-40B4-BE49-F238E27FC236}">
                <a16:creationId xmlns:a16="http://schemas.microsoft.com/office/drawing/2014/main" id="{CF9559F5-C282-4904-AAEC-DC10456B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40875" y="13239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5" name="slope-grid-85">
            <a:extLst xmlns:a="http://schemas.openxmlformats.org/drawingml/2006/main">
              <a:ext uri="{FF2B5EF4-FFF2-40B4-BE49-F238E27FC236}">
                <a16:creationId xmlns:a16="http://schemas.microsoft.com/office/drawing/2014/main" id="{C792F926-909F-473C-92EB-D118D3AF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764750" y="12477750"/>
            <a:ext cx="557212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8CB"/>
            </a:solidFill>
            <a:prstDash val="solid"/>
          </a:ln>
        </p:spPr>
      </p:sp>
      <p:sp>
        <p:nvSpPr>
          <p:cNvPr id="126" name="slope-y-85">
            <a:extLst xmlns:a="http://schemas.openxmlformats.org/drawingml/2006/main">
              <a:ext uri="{FF2B5EF4-FFF2-40B4-BE49-F238E27FC236}">
                <a16:creationId xmlns:a16="http://schemas.microsoft.com/office/drawing/2014/main" id="{9F017955-1AAF-48BB-8E67-43BBF8B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40875" y="12287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127" name="slope-grid-90">
            <a:extLst xmlns:a="http://schemas.openxmlformats.org/drawingml/2006/main">
              <a:ext uri="{FF2B5EF4-FFF2-40B4-BE49-F238E27FC236}">
                <a16:creationId xmlns:a16="http://schemas.microsoft.com/office/drawing/2014/main" id="{419CCC46-8484-4D81-8C07-901DE456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764750" y="11525250"/>
            <a:ext cx="557212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8CB"/>
            </a:solidFill>
            <a:prstDash val="solid"/>
          </a:ln>
        </p:spPr>
      </p:sp>
      <p:sp>
        <p:nvSpPr>
          <p:cNvPr id="128" name="slope-y-90">
            <a:extLst xmlns:a="http://schemas.openxmlformats.org/drawingml/2006/main">
              <a:ext uri="{FF2B5EF4-FFF2-40B4-BE49-F238E27FC236}">
                <a16:creationId xmlns:a16="http://schemas.microsoft.com/office/drawing/2014/main" id="{F98B5C4F-66A9-458E-A7BF-E130027A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40875" y="11334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29" name="slope-grid-95">
            <a:extLst xmlns:a="http://schemas.openxmlformats.org/drawingml/2006/main">
              <a:ext uri="{FF2B5EF4-FFF2-40B4-BE49-F238E27FC236}">
                <a16:creationId xmlns:a16="http://schemas.microsoft.com/office/drawing/2014/main" id="{F8F11502-653B-4584-8B66-D2B9D41A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764750" y="10572750"/>
            <a:ext cx="5572125" cy="4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8CB"/>
            </a:solidFill>
            <a:prstDash val="solid"/>
          </a:ln>
        </p:spPr>
      </p:sp>
      <p:sp>
        <p:nvSpPr>
          <p:cNvPr id="130" name="slope-y-95">
            <a:extLst xmlns:a="http://schemas.openxmlformats.org/drawingml/2006/main">
              <a:ext uri="{FF2B5EF4-FFF2-40B4-BE49-F238E27FC236}">
                <a16:creationId xmlns:a16="http://schemas.microsoft.com/office/drawing/2014/main" id="{71D29611-F490-4EC2-ACAB-33E3D6E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40875" y="10382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131" name="localized-slope">
            <a:extLst xmlns:a="http://schemas.openxmlformats.org/drawingml/2006/main">
              <a:ext uri="{FF2B5EF4-FFF2-40B4-BE49-F238E27FC236}">
                <a16:creationId xmlns:a16="http://schemas.microsoft.com/office/drawing/2014/main" id="{C664C304-CE47-4010-AAAB-5F9F0FF8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50500" y="10801350"/>
            <a:ext cx="50006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2F6F89"/>
            </a:solidFill>
            <a:prstDash val="solid"/>
          </a:ln>
        </p:spPr>
      </p:sp>
      <p:sp>
        <p:nvSpPr>
          <p:cNvPr id="132" name="distributed-slope">
            <a:extLst xmlns:a="http://schemas.openxmlformats.org/drawingml/2006/main">
              <a:ext uri="{FF2B5EF4-FFF2-40B4-BE49-F238E27FC236}">
                <a16:creationId xmlns:a16="http://schemas.microsoft.com/office/drawing/2014/main" id="{3E5EADC8-C85C-45CD-BC02-2A3DDB1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050500" y="12630150"/>
            <a:ext cx="5000625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B64A3E"/>
            </a:solidFill>
            <a:prstDash val="solid"/>
          </a:ln>
        </p:spPr>
      </p:sp>
      <p:sp>
        <p:nvSpPr>
          <p:cNvPr id="133" name="localized-raw-marker">
            <a:extLst xmlns:a="http://schemas.openxmlformats.org/drawingml/2006/main">
              <a:ext uri="{FF2B5EF4-FFF2-40B4-BE49-F238E27FC236}">
                <a16:creationId xmlns:a16="http://schemas.microsoft.com/office/drawing/2014/main" id="{CC01EE5B-C70A-4E19-B589-BE84544A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50475" y="11363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134" name="localized-final-marker">
            <a:extLst xmlns:a="http://schemas.openxmlformats.org/drawingml/2006/main">
              <a:ext uri="{FF2B5EF4-FFF2-40B4-BE49-F238E27FC236}">
                <a16:creationId xmlns:a16="http://schemas.microsoft.com/office/drawing/2014/main" id="{A51447CD-1293-48C4-AFF8-FDD6FE8E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51100" y="10601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9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135" name="distributed-raw-marker">
            <a:extLst xmlns:a="http://schemas.openxmlformats.org/drawingml/2006/main">
              <a:ext uri="{FF2B5EF4-FFF2-40B4-BE49-F238E27FC236}">
                <a16:creationId xmlns:a16="http://schemas.microsoft.com/office/drawing/2014/main" id="{2573F39C-B804-4F36-83C4-6EEB749A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31425" y="12411075"/>
            <a:ext cx="438150" cy="438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64A3E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136" name="distributed-final-marker">
            <a:extLst xmlns:a="http://schemas.openxmlformats.org/drawingml/2006/main">
              <a:ext uri="{FF2B5EF4-FFF2-40B4-BE49-F238E27FC236}">
                <a16:creationId xmlns:a16="http://schemas.microsoft.com/office/drawing/2014/main" id="{B9DFD845-704F-4373-97E0-76103414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32050" y="12906375"/>
            <a:ext cx="438150" cy="438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64A3E"/>
          </a:solidFill>
          <a:ln xmlns:a="http://schemas.openxmlformats.org/drawingml/2006/main" w="28575">
            <a:solidFill>
              <a:srgbClr val="F3EFE6"/>
            </a:solidFill>
            <a:prstDash val="solid"/>
          </a:ln>
        </p:spPr>
      </p:sp>
      <p:sp>
        <p:nvSpPr>
          <p:cNvPr id="137" name="localized-raw-value">
            <a:extLst xmlns:a="http://schemas.openxmlformats.org/drawingml/2006/main">
              <a:ext uri="{FF2B5EF4-FFF2-40B4-BE49-F238E27FC236}">
                <a16:creationId xmlns:a16="http://schemas.microsoft.com/office/drawing/2014/main" id="{208CAAD5-FD6B-4849-BCF0-03B97B08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5650" y="109918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89.8</a:t>
            </a:r>
          </a:p>
        </p:txBody>
      </p:sp>
      <p:sp>
        <p:nvSpPr>
          <p:cNvPr id="138" name="localized-final-value">
            <a:extLst xmlns:a="http://schemas.openxmlformats.org/drawingml/2006/main">
              <a:ext uri="{FF2B5EF4-FFF2-40B4-BE49-F238E27FC236}">
                <a16:creationId xmlns:a16="http://schemas.microsoft.com/office/drawing/2014/main" id="{983B6E7A-D6EC-4B9E-AF87-C3420F4D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46275" y="102298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93.8</a:t>
            </a:r>
          </a:p>
        </p:txBody>
      </p:sp>
      <p:sp>
        <p:nvSpPr>
          <p:cNvPr id="139" name="distributed-raw-value">
            <a:extLst xmlns:a="http://schemas.openxmlformats.org/drawingml/2006/main">
              <a:ext uri="{FF2B5EF4-FFF2-40B4-BE49-F238E27FC236}">
                <a16:creationId xmlns:a16="http://schemas.microsoft.com/office/drawing/2014/main" id="{DCD1EC01-A4F8-424A-9859-914BF303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5650" y="128968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84.2</a:t>
            </a:r>
          </a:p>
        </p:txBody>
      </p:sp>
      <p:sp>
        <p:nvSpPr>
          <p:cNvPr id="140" name="distributed-final-value">
            <a:extLst xmlns:a="http://schemas.openxmlformats.org/drawingml/2006/main">
              <a:ext uri="{FF2B5EF4-FFF2-40B4-BE49-F238E27FC236}">
                <a16:creationId xmlns:a16="http://schemas.microsoft.com/office/drawing/2014/main" id="{43A54852-B839-4FDC-A9C1-9262FBD6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46275" y="133921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81.6</a:t>
            </a:r>
          </a:p>
        </p:txBody>
      </p:sp>
      <p:sp>
        <p:nvSpPr>
          <p:cNvPr id="141" name="raw-label">
            <a:extLst xmlns:a="http://schemas.openxmlformats.org/drawingml/2006/main">
              <a:ext uri="{FF2B5EF4-FFF2-40B4-BE49-F238E27FC236}">
                <a16:creationId xmlns:a16="http://schemas.microsoft.com/office/drawing/2014/main" id="{DEAC96FE-2D24-489D-9DA3-8BBD2148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0" y="13744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142" name="final-label">
            <a:extLst xmlns:a="http://schemas.openxmlformats.org/drawingml/2006/main">
              <a:ext uri="{FF2B5EF4-FFF2-40B4-BE49-F238E27FC236}">
                <a16:creationId xmlns:a16="http://schemas.microsoft.com/office/drawing/2014/main" id="{9F8321F6-DC5A-44D1-B3B0-1BF359EC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03375" y="13744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676A6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676A6B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143" name="localized-change">
            <a:extLst xmlns:a="http://schemas.openxmlformats.org/drawingml/2006/main">
              <a:ext uri="{FF2B5EF4-FFF2-40B4-BE49-F238E27FC236}">
                <a16:creationId xmlns:a16="http://schemas.microsoft.com/office/drawing/2014/main" id="{22C2C217-BA79-40CB-8392-2F3F65A7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31625" y="10763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F6F8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F6F89"/>
                </a:solidFill>
                <a:latin typeface="Arial"/>
                <a:ea typeface="Arial"/>
                <a:cs typeface="Arial"/>
              </a:rPr>
              <a:t>+4.0 pp</a:t>
            </a:r>
          </a:p>
        </p:txBody>
      </p:sp>
      <p:sp>
        <p:nvSpPr>
          <p:cNvPr id="144" name="distributed-change">
            <a:extLst xmlns:a="http://schemas.openxmlformats.org/drawingml/2006/main">
              <a:ext uri="{FF2B5EF4-FFF2-40B4-BE49-F238E27FC236}">
                <a16:creationId xmlns:a16="http://schemas.microsoft.com/office/drawing/2014/main" id="{FDB93866-624C-4602-88F8-FF71DD32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31625" y="12668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-2.6 pp</a:t>
            </a:r>
          </a:p>
        </p:txBody>
      </p:sp>
      <p:sp>
        <p:nvSpPr>
          <p:cNvPr id="145" name="implication-label">
            <a:extLst xmlns:a="http://schemas.openxmlformats.org/drawingml/2006/main">
              <a:ext uri="{FF2B5EF4-FFF2-40B4-BE49-F238E27FC236}">
                <a16:creationId xmlns:a16="http://schemas.microsoft.com/office/drawing/2014/main" id="{7E2E65BD-EAC4-4DDC-8793-870AD38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0" y="14382750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DESIGN IMPLICATION</a:t>
            </a:r>
          </a:p>
        </p:txBody>
      </p:sp>
      <p:sp>
        <p:nvSpPr>
          <p:cNvPr id="146" name="implication-title">
            <a:extLst xmlns:a="http://schemas.openxmlformats.org/drawingml/2006/main">
              <a:ext uri="{FF2B5EF4-FFF2-40B4-BE49-F238E27FC236}">
                <a16:creationId xmlns:a16="http://schemas.microsoft.com/office/drawing/2014/main" id="{A8FCE3AE-03C2-41A1-B0AF-46EBEC82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0" y="14859000"/>
            <a:ext cx="6934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72234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72234"/>
                </a:solidFill>
                <a:latin typeface="Georgia"/>
                <a:ea typeface="Georgia"/>
                <a:cs typeface="Georgia"/>
              </a:rPr>
              <a:t>Treat evidence shape as a routing signal.</a:t>
            </a:r>
          </a:p>
        </p:txBody>
      </p:sp>
      <p:sp>
        <p:nvSpPr>
          <p:cNvPr id="147" name="implication-copy">
            <a:extLst xmlns:a="http://schemas.openxmlformats.org/drawingml/2006/main">
              <a:ext uri="{FF2B5EF4-FFF2-40B4-BE49-F238E27FC236}">
                <a16:creationId xmlns:a16="http://schemas.microsoft.com/office/drawing/2014/main" id="{DAFDAA67-5CEB-48A9-B259-B7E71673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0" y="15868650"/>
            <a:ext cx="693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Narrow localized support; preserve and aggregate distributed support. At inference time, route on observable evidence spread or claim-level support.</a:t>
            </a:r>
          </a:p>
        </p:txBody>
      </p:sp>
      <p:sp>
        <p:nvSpPr>
          <p:cNvPr id="148" name="diagnostic-boundary">
            <a:extLst xmlns:a="http://schemas.openxmlformats.org/drawingml/2006/main">
              <a:ext uri="{FF2B5EF4-FFF2-40B4-BE49-F238E27FC236}">
                <a16:creationId xmlns:a16="http://schemas.microsoft.com/office/drawing/2014/main" id="{95228785-2428-4303-8388-78554ED5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0" y="16859250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B64A3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B64A3E"/>
                </a:solidFill>
                <a:latin typeface="Arial"/>
                <a:ea typeface="Arial"/>
                <a:cs typeface="Arial"/>
              </a:rPr>
              <a:t>Observed association; not a causal ablation.</a:t>
            </a:r>
          </a:p>
        </p:txBody>
      </p:sp>
      <p:sp>
        <p:nvSpPr>
          <p:cNvPr id="149" name="section-05-number">
            <a:extLst xmlns:a="http://schemas.openxmlformats.org/drawingml/2006/main">
              <a:ext uri="{FF2B5EF4-FFF2-40B4-BE49-F238E27FC236}">
                <a16:creationId xmlns:a16="http://schemas.microsoft.com/office/drawing/2014/main" id="{7E2C837E-79F8-481C-915D-5D8766FB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7745075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0" name="section-05-label">
            <a:extLst xmlns:a="http://schemas.openxmlformats.org/drawingml/2006/main">
              <a:ext uri="{FF2B5EF4-FFF2-40B4-BE49-F238E27FC236}">
                <a16:creationId xmlns:a16="http://schemas.microsoft.com/office/drawing/2014/main" id="{330089E6-F617-4D1F-9263-D2682E98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17783175"/>
            <a:ext cx="1167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51" name="limitations-copy">
            <a:extLst xmlns:a="http://schemas.openxmlformats.org/drawingml/2006/main">
              <a:ext uri="{FF2B5EF4-FFF2-40B4-BE49-F238E27FC236}">
                <a16:creationId xmlns:a16="http://schemas.microsoft.com/office/drawing/2014/main" id="{D5487FB4-FDA2-4E01-8BC9-F5A0CB98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18383250"/>
            <a:ext cx="126206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• Single saved run; retrospective, non-preregistered hypothesis.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• Observational slice: page and document distribution are confounded (35/36 multi-page questions are also multi-document).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• Heterogeneous answer scoring and uneven answer-type composition.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• Raw-to-final comparison is diagnostic, not a causal ablation.</a:t>
            </a:r>
          </a:p>
        </p:txBody>
      </p:sp>
      <p:sp>
        <p:nvSpPr>
          <p:cNvPr id="152" name="section-06-number">
            <a:extLst xmlns:a="http://schemas.openxmlformats.org/drawingml/2006/main">
              <a:ext uri="{FF2B5EF4-FFF2-40B4-BE49-F238E27FC236}">
                <a16:creationId xmlns:a16="http://schemas.microsoft.com/office/drawing/2014/main" id="{291A70CF-B111-4320-A13A-477D870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0" y="17745075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C753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9C753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53" name="section-06-label">
            <a:extLst xmlns:a="http://schemas.openxmlformats.org/drawingml/2006/main">
              <a:ext uri="{FF2B5EF4-FFF2-40B4-BE49-F238E27FC236}">
                <a16:creationId xmlns:a16="http://schemas.microsoft.com/office/drawing/2014/main" id="{8FECA8F1-2552-4B0D-90FB-D8FA2958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78100" y="17783175"/>
            <a:ext cx="653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154" name="repro-copy">
            <a:extLst xmlns:a="http://schemas.openxmlformats.org/drawingml/2006/main">
              <a:ext uri="{FF2B5EF4-FFF2-40B4-BE49-F238E27FC236}">
                <a16:creationId xmlns:a16="http://schemas.microsoft.com/office/drawing/2014/main" id="{271D8229-920B-4704-A718-EB7DA9A4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0" y="1838325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github.com/SteinVR/Agentic-RAG-Challenge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Saved artifacts: config, manifest, answer-score checkpoint, page ledger.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20,000 stratified bootstrap resamples; seed 20260903.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Corpus: DIFC Legal Database + DIFC Courts.</a:t>
            </a:r>
          </a:p>
        </p:txBody>
      </p:sp>
      <p:sp>
        <p:nvSpPr>
          <p:cNvPr id="155" name="references-head">
            <a:extLst xmlns:a="http://schemas.openxmlformats.org/drawingml/2006/main">
              <a:ext uri="{FF2B5EF4-FFF2-40B4-BE49-F238E27FC236}">
                <a16:creationId xmlns:a16="http://schemas.microsoft.com/office/drawing/2014/main" id="{7F68F4A1-8508-4C94-A79A-0BF39AF9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0" y="17811750"/>
            <a:ext cx="636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SELECTED REFERENCES</a:t>
            </a:r>
          </a:p>
        </p:txBody>
      </p:sp>
      <p:sp>
        <p:nvSpPr>
          <p:cNvPr id="156" name="references-copy">
            <a:extLst xmlns:a="http://schemas.openxmlformats.org/drawingml/2006/main">
              <a:ext uri="{FF2B5EF4-FFF2-40B4-BE49-F238E27FC236}">
                <a16:creationId xmlns:a16="http://schemas.microsoft.com/office/drawing/2014/main" id="{1962D23B-5718-465D-A039-EAADDE8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0" y="18383250"/>
            <a:ext cx="63627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[1] Lewis et al., NeurIPS 2020.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[2] Cormack et al., SIGIR 2009.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[3] Gao et al., EMNLP 2023.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0" i="0">
                <a:solidFill>
                  <a:srgbClr val="17223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72234"/>
                </a:solidFill>
                <a:latin typeface="Arial"/>
                <a:ea typeface="Arial"/>
                <a:cs typeface="Arial"/>
              </a:rPr>
              <a:t>[4] Pipitone &amp; Houir Alami, 2024.</a:t>
            </a:r>
          </a:p>
        </p:txBody>
      </p:sp>
    </p:spTree>
    <p:extLst>
      <p:ext uri="{BB962C8B-B14F-4D97-AF65-F5344CB8AC3E}">
        <p14:creationId xmlns:p14="http://schemas.microsoft.com/office/powerpoint/2010/main" val="1246519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2026-09-03T23:27:18.2160000Z</dcterms:created>
  <dcterms:modified xsi:type="dcterms:W3CDTF">2026-09-03T23:27:18.2160000Z</dcterms:modified>
</coreProperties>
</file>