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86bb39667e45ba" /><Relationship Type="http://schemas.openxmlformats.org/officeDocument/2006/relationships/extended-properties" Target="/docProps/app.xml" Id="R2680bd0da831414e" /><Relationship Type="http://schemas.openxmlformats.org/officeDocument/2006/relationships/officeDocument" Target="/ppt/presentation.xml" Id="R4d345bbf1e6a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6960b089a47ee"/>
  </p:sldMasterIdLst>
  <p:notesMasterIdLst>
    <p:notesMasterId xmlns:r="http://schemas.openxmlformats.org/officeDocument/2006/relationships" r:id="R88088d9bff8f4335"/>
  </p:notesMasterIdLst>
  <p:sldIdLst>
    <p:sldId xmlns:r="http://schemas.openxmlformats.org/officeDocument/2006/relationships" id="256" r:id="Rf650a51235644f5f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02ddfac4fd483d" /><Relationship Type="http://schemas.openxmlformats.org/officeDocument/2006/relationships/slideMaster" Target="/ppt/slideMasters/slideMaster1.xml" Id="Rbeb6960b089a47ee" /><Relationship Type="http://schemas.openxmlformats.org/officeDocument/2006/relationships/notesMaster" Target="/ppt/notesMasters/notesMaster1.xml" Id="R88088d9bff8f4335" /><Relationship Type="http://schemas.openxmlformats.org/officeDocument/2006/relationships/presProps" Target="/ppt/presProps.xml" Id="R4d7cc079234d4c6b" /><Relationship Type="http://schemas.openxmlformats.org/officeDocument/2006/relationships/tableStyles" Target="/ppt/tableStyles.xml" Id="Rd1247c0af6de4fd3" /><Relationship Type="http://schemas.openxmlformats.org/officeDocument/2006/relationships/slide" Target="/ppt/slides/slide1.xml" Id="Rf650a51235644f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9cd8c29e5f4e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1c10c2c404934" /><Relationship Type="http://schemas.openxmlformats.org/officeDocument/2006/relationships/notesMaster" Target="/ppt/notesMasters/notesMaster1.xml" Id="R38ceb8024d5e4c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from the joint feedback dated 2026-09-23. H1 = retrieval (former H2-H4), H2 = OCR (former H1), H3 = citations (former H6). R5 is reported separately. Source measurements and protocol: https://github.com/SteinVR/Trends-in-NLP-Poster/tree/main/output/poster-narrative-3/results . Research hypothesis IDs in the original paper differ. Figures are preserved source SVGs; the surrounding text and pipeline stages are editable. Logo: https://www.uni-trier.de/typo3conf/ext/zimktheme_unitrier/Resources/Public/Logos/Logo_Universitaet.svg . References: https://arxiv.org/abs/2005.11401 ; https://arxiv.org/abs/2408.10343 ; https://doi.org/10.18653/v1/2023.emnlp-main.398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6e47622fd4c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cb1737da5a4a58" /><Relationship Type="http://schemas.openxmlformats.org/officeDocument/2006/relationships/slideLayout" Target="/ppt/slideLayouts/slideLayout1.xml" Id="R0485fd55f090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5fd55f090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b8b03ae78014ebd" /><ns0:Relationship Type="http://schemas.openxmlformats.org/officeDocument/2006/relationships/image" Target="/ppt/media/image.png" Id="R0534adecd1b242f3" /><ns0:Relationship Type="http://schemas.openxmlformats.org/officeDocument/2006/relationships/image" Target="/ppt/media/image.svg" Id="R92f092a850a34458" /><ns0:Relationship Type="http://schemas.openxmlformats.org/officeDocument/2006/relationships/image" Target="/ppt/media/image2.png" Id="Rac9eb81ca1a94d58" /><ns0:Relationship Type="http://schemas.openxmlformats.org/officeDocument/2006/relationships/image" Target="/ppt/media/image2.svg" Id="R67031e065bd24060" /><ns0:Relationship Type="http://schemas.openxmlformats.org/officeDocument/2006/relationships/image" Target="/ppt/media/image3.png" Id="R983723fbe8ad41ef" /><ns0:Relationship Type="http://schemas.openxmlformats.org/officeDocument/2006/relationships/image" Target="/ppt/media/image3.svg" Id="R0dc66ca7424d4289" /><ns0:Relationship Type="http://schemas.openxmlformats.org/officeDocument/2006/relationships/notesSlide" Target="/ppt/notesSlides/notesSlide1.xml" Id="R54e1b3de95474d4d" /><ns0:Relationship Id="rId1000" Type="http://schemas.openxmlformats.org/officeDocument/2006/relationships/hyperlink" Target="https://arxiv.org/abs/2005.11401" TargetMode="External" /><ns0:Relationship Id="rId1001" Type="http://schemas.openxmlformats.org/officeDocument/2006/relationships/hyperlink" Target="https://arxiv.org/abs/2408.10343" TargetMode="External" /><ns0:Relationship Id="rId1002" Type="http://schemas.openxmlformats.org/officeDocument/2006/relationships/hyperlink" Target="https://doi.org/10.18653/v1/2023.emnlp-main.398" TargetMode="External" /><ns0:Relationship Id="rId1003" Type="http://schemas.openxmlformats.org/officeDocument/2006/relationships/hyperlink" Target="https://github.com/SteinVR/Trends-in-NLP-Poster" TargetMode="Externa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6" name="Rule section-title" descr="s0">
            <a:extLst>
              <a:ext uri="{FF2B5EF4-FFF2-40B4-BE49-F238E27FC236}">
                <ns2:creationId id="{CC78602A-C3B8-4C8C-A905-E71907D028EB}"/>
              </a:ext>
            </a:extLst>
          </p:cNvPr>
          <p:cNvSpPr>
            <a:spLocks noGrp="1"/>
          </p:cNvSpPr>
          <p:nvPr/>
        </p:nvSpPr>
        <p:spPr>
          <a:xfrm>
            <a:off x="647998" y="2486918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2" name="Panel grid three hypotheses" descr="s1">
            <a:extLst>
              <a:ext uri="{FF2B5EF4-FFF2-40B4-BE49-F238E27FC236}">
                <ns2:creationId id="{49C022C6-C025-44AB-A693-19A6580A33ED}"/>
              </a:ext>
            </a:extLst>
          </p:cNvPr>
          <p:cNvSpPr>
            <a:spLocks noGrp="1"/>
          </p:cNvSpPr>
          <p:nvPr/>
        </p:nvSpPr>
        <p:spPr>
          <a:xfrm>
            <a:off x="647998" y="5365403"/>
            <a:ext cx="20087927" cy="1806625"/>
          </a:xfrm>
          <a:prstGeom prst="rect">
            <a:avLst/>
          </a:prstGeom>
          <a:solidFill>
            <a:srgbClr val="EFF6FA"/>
          </a:solidFill>
          <a:ln w="0">
            <a:noFill/>
          </a:ln>
        </p:spPr>
      </p:sp>
      <p:sp>
        <p:nvSpPr>
          <p:cNvPr id="3" name="Rule section-title" descr="s2">
            <a:extLst>
              <a:ext uri="{FF2B5EF4-FFF2-40B4-BE49-F238E27FC236}">
                <ns2:creationId id="{72658477-E5B9-4FB3-9961-78C08741C0CD}"/>
              </a:ext>
            </a:extLst>
          </p:cNvPr>
          <p:cNvSpPr>
            <a:spLocks noGrp="1"/>
          </p:cNvSpPr>
          <p:nvPr/>
        </p:nvSpPr>
        <p:spPr>
          <a:xfrm>
            <a:off x="647998" y="7279928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4" name="Panel baseline" descr="s3">
            <a:extLst>
              <a:ext uri="{FF2B5EF4-FFF2-40B4-BE49-F238E27FC236}">
                <ns2:creationId id="{A5E111F9-689A-4549-8A49-BF8F5532B20F}"/>
              </a:ext>
            </a:extLst>
          </p:cNvPr>
          <p:cNvSpPr>
            <a:spLocks noGrp="1"/>
          </p:cNvSpPr>
          <p:nvPr/>
        </p:nvSpPr>
        <p:spPr>
          <a:xfrm>
            <a:off x="647998" y="8815834"/>
            <a:ext cx="20087927" cy="934938"/>
          </a:xfrm>
          <a:prstGeom prst="rect">
            <a:avLst/>
          </a:prstGeom>
          <a:solidFill>
            <a:srgbClr val="EFF6FA"/>
          </a:solidFill>
          <a:ln w="0">
            <a:noFill/>
          </a:ln>
        </p:spPr>
      </p:sp>
      <p:sp>
        <p:nvSpPr>
          <p:cNvPr id="5" name="Rule stage-group processing" descr="s4">
            <a:extLst>
              <a:ext uri="{FF2B5EF4-FFF2-40B4-BE49-F238E27FC236}">
                <ns2:creationId id="{39FB583C-E6EC-422E-A5DF-EE61AED1F35F}"/>
              </a:ext>
            </a:extLst>
          </p:cNvPr>
          <p:cNvSpPr>
            <a:spLocks noGrp="1"/>
          </p:cNvSpPr>
          <p:nvPr/>
        </p:nvSpPr>
        <p:spPr>
          <a:xfrm>
            <a:off x="647998" y="10290125"/>
            <a:ext cx="6575971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6" name="Rule stage-group retrieval" descr="s5">
            <a:extLst>
              <a:ext uri="{FF2B5EF4-FFF2-40B4-BE49-F238E27FC236}">
                <ns2:creationId id="{863F257B-A7FB-4D11-8862-BD7CE275B562}"/>
              </a:ext>
            </a:extLst>
          </p:cNvPr>
          <p:cNvSpPr>
            <a:spLocks noGrp="1"/>
          </p:cNvSpPr>
          <p:nvPr/>
        </p:nvSpPr>
        <p:spPr>
          <a:xfrm>
            <a:off x="7403902" y="10290125"/>
            <a:ext cx="6575971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7" name="Rule stage-group" descr="s6">
            <a:extLst>
              <a:ext uri="{FF2B5EF4-FFF2-40B4-BE49-F238E27FC236}">
                <ns2:creationId id="{CE0146ED-6E12-4A8E-AF4F-EED6CF571F51}"/>
              </a:ext>
            </a:extLst>
          </p:cNvPr>
          <p:cNvSpPr>
            <a:spLocks noGrp="1"/>
          </p:cNvSpPr>
          <p:nvPr/>
        </p:nvSpPr>
        <p:spPr>
          <a:xfrm>
            <a:off x="14159805" y="10290125"/>
            <a:ext cx="3198019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8" name="Rule stage-group" descr="s7">
            <a:extLst>
              <a:ext uri="{FF2B5EF4-FFF2-40B4-BE49-F238E27FC236}">
                <ns2:creationId id="{8BAC4DC5-5E17-40F3-825C-B04DF07C30AD}"/>
              </a:ext>
            </a:extLst>
          </p:cNvPr>
          <p:cNvSpPr>
            <a:spLocks noGrp="1"/>
          </p:cNvSpPr>
          <p:nvPr/>
        </p:nvSpPr>
        <p:spPr>
          <a:xfrm>
            <a:off x="17537757" y="10290125"/>
            <a:ext cx="3198019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9" name="Rule step" descr="s8">
            <a:extLst>
              <a:ext uri="{FF2B5EF4-FFF2-40B4-BE49-F238E27FC236}">
                <ns2:creationId id="{A3DDF143-9EC1-4349-B632-3373CF81E9CB}"/>
              </a:ext>
            </a:extLst>
          </p:cNvPr>
          <p:cNvSpPr>
            <a:spLocks noGrp="1"/>
          </p:cNvSpPr>
          <p:nvPr/>
        </p:nvSpPr>
        <p:spPr>
          <a:xfrm>
            <a:off x="647998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0" name="Rule step" descr="s9">
            <a:extLst>
              <a:ext uri="{FF2B5EF4-FFF2-40B4-BE49-F238E27FC236}">
                <ns2:creationId id="{738298CD-DA31-41E4-AF78-00FD99569647}"/>
              </a:ext>
            </a:extLst>
          </p:cNvPr>
          <p:cNvSpPr>
            <a:spLocks noGrp="1"/>
          </p:cNvSpPr>
          <p:nvPr/>
        </p:nvSpPr>
        <p:spPr>
          <a:xfrm>
            <a:off x="4025950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1" name="Rule step" descr="s10">
            <a:extLst>
              <a:ext uri="{FF2B5EF4-FFF2-40B4-BE49-F238E27FC236}">
                <ns2:creationId id="{C534C0F6-D0EA-451F-8D8F-5BC6207CE906}"/>
              </a:ext>
            </a:extLst>
          </p:cNvPr>
          <p:cNvSpPr>
            <a:spLocks noGrp="1"/>
          </p:cNvSpPr>
          <p:nvPr/>
        </p:nvSpPr>
        <p:spPr>
          <a:xfrm>
            <a:off x="7403902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2" name="Rule step" descr="s11">
            <a:extLst>
              <a:ext uri="{FF2B5EF4-FFF2-40B4-BE49-F238E27FC236}">
                <ns2:creationId id="{C7CBB585-002D-4F31-9F53-92D4A3CA34C6}"/>
              </a:ext>
            </a:extLst>
          </p:cNvPr>
          <p:cNvSpPr>
            <a:spLocks noGrp="1"/>
          </p:cNvSpPr>
          <p:nvPr/>
        </p:nvSpPr>
        <p:spPr>
          <a:xfrm>
            <a:off x="10781854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3" name="Rule step" descr="s12">
            <a:extLst>
              <a:ext uri="{FF2B5EF4-FFF2-40B4-BE49-F238E27FC236}">
                <ns2:creationId id="{0EF91AE1-7EAC-4DCA-AAE1-1D82BF61B53C}"/>
              </a:ext>
            </a:extLst>
          </p:cNvPr>
          <p:cNvSpPr>
            <a:spLocks noGrp="1"/>
          </p:cNvSpPr>
          <p:nvPr/>
        </p:nvSpPr>
        <p:spPr>
          <a:xfrm>
            <a:off x="14159805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4" name="Rule step" descr="s13">
            <a:extLst>
              <a:ext uri="{FF2B5EF4-FFF2-40B4-BE49-F238E27FC236}">
                <ns2:creationId id="{1BD3E657-130C-4D81-9240-5A88B8159EDA}"/>
              </a:ext>
            </a:extLst>
          </p:cNvPr>
          <p:cNvSpPr>
            <a:spLocks noGrp="1"/>
          </p:cNvSpPr>
          <p:nvPr/>
        </p:nvSpPr>
        <p:spPr>
          <a:xfrm>
            <a:off x="17537757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5" name="Rule controls" descr="s14">
            <a:extLst>
              <a:ext uri="{FF2B5EF4-FFF2-40B4-BE49-F238E27FC236}">
                <ns2:creationId id="{002664D9-921D-4209-B7AE-E495E67CDC80}"/>
              </a:ext>
            </a:extLst>
          </p:cNvPr>
          <p:cNvSpPr>
            <a:spLocks noGrp="1"/>
          </p:cNvSpPr>
          <p:nvPr/>
        </p:nvSpPr>
        <p:spPr>
          <a:xfrm>
            <a:off x="647998" y="13275915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16" name="Rule section-title" descr="s15">
            <a:extLst>
              <a:ext uri="{FF2B5EF4-FFF2-40B4-BE49-F238E27FC236}">
                <ns2:creationId id="{0506F93F-272F-49F6-9213-6E019F625835}"/>
              </a:ext>
            </a:extLst>
          </p:cNvPr>
          <p:cNvSpPr>
            <a:spLocks noGrp="1"/>
          </p:cNvSpPr>
          <p:nvPr/>
        </p:nvSpPr>
        <p:spPr>
          <a:xfrm>
            <a:off x="647998" y="16036082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17" name="Rule " descr="s16">
            <a:extLst>
              <a:ext uri="{FF2B5EF4-FFF2-40B4-BE49-F238E27FC236}">
                <ns2:creationId id="{792D2B9F-5936-4FC0-960B-FDAC3F742902}"/>
              </a:ext>
            </a:extLst>
          </p:cNvPr>
          <p:cNvSpPr>
            <a:spLocks noGrp="1"/>
          </p:cNvSpPr>
          <p:nvPr/>
        </p:nvSpPr>
        <p:spPr>
          <a:xfrm>
            <a:off x="10340876" y="23100060"/>
            <a:ext cx="9525" cy="3326309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18" name="Panel conclusion" descr="s17">
            <a:extLst>
              <a:ext uri="{FF2B5EF4-FFF2-40B4-BE49-F238E27FC236}">
                <ns2:creationId id="{F7428D00-73DD-465B-80FA-BB4878093246}"/>
              </a:ext>
            </a:extLst>
          </p:cNvPr>
          <p:cNvSpPr>
            <a:spLocks noGrp="1"/>
          </p:cNvSpPr>
          <p:nvPr/>
        </p:nvSpPr>
        <p:spPr>
          <a:xfrm>
            <a:off x="647998" y="26570285"/>
            <a:ext cx="20087927" cy="1461939"/>
          </a:xfrm>
          <a:prstGeom prst="rect">
            <a:avLst/>
          </a:prstGeom>
          <a:solidFill>
            <a:srgbClr val="07568A"/>
          </a:solidFill>
          <a:ln w="0">
            <a:noFill/>
          </a:ln>
        </p:spPr>
      </p:sp>
      <p:sp>
        <p:nvSpPr>
          <p:cNvPr id="19" name="Rule " descr="s18">
            <a:extLst>
              <a:ext uri="{FF2B5EF4-FFF2-40B4-BE49-F238E27FC236}">
                <ns2:creationId id="{6BD79967-1396-49B1-A5AF-9BFF531F3AAA}"/>
              </a:ext>
            </a:extLst>
          </p:cNvPr>
          <p:cNvSpPr>
            <a:spLocks noGrp="1"/>
          </p:cNvSpPr>
          <p:nvPr/>
        </p:nvSpPr>
        <p:spPr>
          <a:xfrm>
            <a:off x="647998" y="28967162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20" name="TRENDS IN MACHINE LEARNING II" descr="s19">
            <a:extLst>
              <a:ext uri="{FF2B5EF4-FFF2-40B4-BE49-F238E27FC236}">
                <ns2:creationId id="{F567FF98-CE25-4D3E-958C-0762A9BD1F41}"/>
              </a:ext>
            </a:extLst>
          </p:cNvPr>
          <p:cNvSpPr>
            <a:spLocks noGrp="1"/>
          </p:cNvSpPr>
          <p:nvPr/>
        </p:nvSpPr>
        <p:spPr>
          <a:xfrm>
            <a:off x="648359" y="501933"/>
            <a:ext cx="51926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72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TRENDS IN MACHINE LEARNING II</a:t>
            </a:r>
            <a:endParaRPr lang="en-GB" sz="2400"/>
          </a:p>
        </p:txBody>
      </p:sp>
      <p:sp>
        <p:nvSpPr>
          <p:cNvPr id="21" name="Building Legal RAG:&#10;what each component contributes" descr="s20">
            <a:extLst>
              <a:ext uri="{FF2B5EF4-FFF2-40B4-BE49-F238E27FC236}">
                <ns2:creationId id="{71D907AD-C9EF-4B35-AAE4-D33BA9E7686D}"/>
              </a:ext>
            </a:extLst>
          </p:cNvPr>
          <p:cNvSpPr>
            <a:spLocks noGrp="1"/>
          </p:cNvSpPr>
          <p:nvPr/>
        </p:nvSpPr>
        <p:spPr>
          <a:xfrm>
            <a:off x="647991" y="993874"/>
            <a:ext cx="20116502" cy="1552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  <a:endParaRPr lang="en-GB" sz="5000"/>
          </a:p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  <a:endParaRPr lang="en-GB" sz="5000"/>
          </a:p>
        </p:txBody>
      </p:sp>
      <p:sp>
        <p:nvSpPr>
          <p:cNvPr id="22" name="01" descr="s21">
            <a:extLst>
              <a:ext uri="{FF2B5EF4-FFF2-40B4-BE49-F238E27FC236}">
                <ns2:creationId id="{5C3D722C-0E5C-4AA4-AD86-D62E24EAC73D}"/>
              </a:ext>
            </a:extLst>
          </p:cNvPr>
          <p:cNvSpPr>
            <a:spLocks noGrp="1"/>
          </p:cNvSpPr>
          <p:nvPr/>
        </p:nvSpPr>
        <p:spPr>
          <a:xfrm>
            <a:off x="647991" y="2648556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  <a:endParaRPr lang="en-GB" sz="2600"/>
          </a:p>
        </p:txBody>
      </p:sp>
      <p:sp>
        <p:nvSpPr>
          <p:cNvPr id="23" name="CONTEXT AND HYPOTHESIS" descr="s22">
            <a:extLst>
              <a:ext uri="{FF2B5EF4-FFF2-40B4-BE49-F238E27FC236}">
                <ns2:creationId id="{BE7EF1F8-959E-4283-A0EF-AFBDC30EC72C}"/>
              </a:ext>
            </a:extLst>
          </p:cNvPr>
          <p:cNvSpPr>
            <a:spLocks noGrp="1"/>
          </p:cNvSpPr>
          <p:nvPr/>
        </p:nvSpPr>
        <p:spPr>
          <a:xfrm>
            <a:off x="1169636" y="2615487"/>
            <a:ext cx="561573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93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CONTEXT AND HYPOTHESIS</a:t>
            </a:r>
            <a:endParaRPr lang="en-GB" sz="3100"/>
          </a:p>
        </p:txBody>
      </p:sp>
      <p:sp>
        <p:nvSpPr>
          <p:cNvPr id="24" name="Retrieval-augmented generation (RAG) grounds language-model answers in external " descr="s23">
            <a:extLst>
              <a:ext uri="{FF2B5EF4-FFF2-40B4-BE49-F238E27FC236}">
                <ns2:creationId id="{54AA96C2-D4A6-4DB1-87AF-9CED9B504C7D}"/>
              </a:ext>
            </a:extLst>
          </p:cNvPr>
          <p:cNvSpPr>
            <a:spLocks noGrp="1"/>
          </p:cNvSpPr>
          <p:nvPr/>
        </p:nvSpPr>
        <p:spPr>
          <a:xfrm>
            <a:off x="647991" y="3196925"/>
            <a:ext cx="20116502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Retrieval-augmented generation (RAG) grounds language-model answers in external documents [1]. Legal QA needs correct answers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source-page citations [2, 3]. PDFs may lack searchable text; evidence spans different text scales and may require exact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terms. Retrieving more passages can also introduce irrelevant pages.</a:t>
            </a:r>
            <a:endParaRPr lang="en-GB" sz="2400"/>
          </a:p>
        </p:txBody>
      </p:sp>
      <p:sp>
        <p:nvSpPr>
          <p:cNvPr id="25" name="How can a legal RAG pipeline improve answer quality&#10;while keeping source-page ci" descr="s24">
            <a:extLst>
              <a:ext uri="{FF2B5EF4-FFF2-40B4-BE49-F238E27FC236}">
                <ns2:creationId id="{EC868C98-DEF8-4F11-BA0B-BA4B9DAF64DE}"/>
              </a:ext>
            </a:extLst>
          </p:cNvPr>
          <p:cNvSpPr>
            <a:spLocks noGrp="1"/>
          </p:cNvSpPr>
          <p:nvPr/>
        </p:nvSpPr>
        <p:spPr>
          <a:xfrm>
            <a:off x="647991" y="4376210"/>
            <a:ext cx="20116502" cy="90532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spc="0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How can a legal RAG pipeline improve answer quality</a:t>
            </a:r>
            <a:endParaRPr lang="en-GB" sz="2800"/>
          </a:p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spc="0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while keeping source-page citations both precise and complete?</a:t>
            </a:r>
            <a:endParaRPr lang="en-GB" sz="2800"/>
          </a:p>
        </p:txBody>
      </p:sp>
      <p:sp>
        <p:nvSpPr>
          <p:cNvPr id="26" name="H1 · Retrieval" descr="s25">
            <a:extLst>
              <a:ext uri="{FF2B5EF4-FFF2-40B4-BE49-F238E27FC236}">
                <ns2:creationId id="{8C449317-CB53-47B8-9AC6-05ED6ADAD5CC}"/>
              </a:ext>
            </a:extLst>
          </p:cNvPr>
          <p:cNvSpPr>
            <a:spLocks noGrp="1"/>
          </p:cNvSpPr>
          <p:nvPr/>
        </p:nvSpPr>
        <p:spPr>
          <a:xfrm>
            <a:off x="827860" y="5505330"/>
            <a:ext cx="641255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Retrieval</a:t>
            </a:r>
            <a:endParaRPr lang="en-GB" sz="2500"/>
          </a:p>
        </p:txBody>
      </p:sp>
      <p:sp>
        <p:nvSpPr>
          <p:cNvPr id="27" name="Multiple text scales, hybrid search and reranking will improve answers and evide" descr="s26">
            <a:extLst>
              <a:ext uri="{FF2B5EF4-FFF2-40B4-BE49-F238E27FC236}">
                <ns2:creationId id="{136F47C1-EFC5-446F-B4F3-5AB2D97FD0A4}"/>
              </a:ext>
            </a:extLst>
          </p:cNvPr>
          <p:cNvSpPr>
            <a:spLocks noGrp="1"/>
          </p:cNvSpPr>
          <p:nvPr/>
        </p:nvSpPr>
        <p:spPr>
          <a:xfrm>
            <a:off x="827860" y="5949627"/>
            <a:ext cx="6412557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Multiple text scales, hybrid search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reranking will improve answers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evidence retrieval over R0.</a:t>
            </a:r>
            <a:endParaRPr lang="en-GB" sz="2400"/>
          </a:p>
        </p:txBody>
      </p:sp>
      <p:sp>
        <p:nvSpPr>
          <p:cNvPr id="28" name="H2 · Scan robustness" descr="s27">
            <a:extLst>
              <a:ext uri="{FF2B5EF4-FFF2-40B4-BE49-F238E27FC236}">
                <ns2:creationId id="{B6851B26-BEE8-4C98-A0CD-723D19B8952F}"/>
              </a:ext>
            </a:extLst>
          </p:cNvPr>
          <p:cNvSpPr>
            <a:spLocks noGrp="1"/>
          </p:cNvSpPr>
          <p:nvPr/>
        </p:nvSpPr>
        <p:spPr>
          <a:xfrm>
            <a:off x="7499908" y="5505330"/>
            <a:ext cx="641255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Scan robustness</a:t>
            </a:r>
            <a:endParaRPr lang="en-GB" sz="2500"/>
          </a:p>
        </p:txBody>
      </p:sp>
      <p:sp>
        <p:nvSpPr>
          <p:cNvPr id="29" name="Recovering text from scanned documents will reduce the performance loss caused b" descr="s28">
            <a:extLst>
              <a:ext uri="{FF2B5EF4-FFF2-40B4-BE49-F238E27FC236}">
                <ns2:creationId id="{2C0ECB36-E286-4A61-AB92-4A7C1E8133A1}"/>
              </a:ext>
            </a:extLst>
          </p:cNvPr>
          <p:cNvSpPr>
            <a:spLocks noGrp="1"/>
          </p:cNvSpPr>
          <p:nvPr/>
        </p:nvSpPr>
        <p:spPr>
          <a:xfrm>
            <a:off x="7499908" y="5949627"/>
            <a:ext cx="6412557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Recovering text from scanned documents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will reduce the performance loss caused by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the missing text layer.</a:t>
            </a:r>
            <a:endParaRPr lang="en-GB" sz="2400"/>
          </a:p>
        </p:txBody>
      </p:sp>
      <p:sp>
        <p:nvSpPr>
          <p:cNvPr id="30" name="H3 · Citation selection" descr="s29">
            <a:extLst>
              <a:ext uri="{FF2B5EF4-FFF2-40B4-BE49-F238E27FC236}">
                <ns2:creationId id="{BAF5E824-E4A3-42BE-B7C2-92DEA20F183F}"/>
              </a:ext>
            </a:extLst>
          </p:cNvPr>
          <p:cNvSpPr>
            <a:spLocks noGrp="1"/>
          </p:cNvSpPr>
          <p:nvPr/>
        </p:nvSpPr>
        <p:spPr>
          <a:xfrm>
            <a:off x="14171957" y="5505330"/>
            <a:ext cx="641255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Citation selection</a:t>
            </a:r>
            <a:endParaRPr lang="en-GB" sz="2500"/>
          </a:p>
        </p:txBody>
      </p:sp>
      <p:sp>
        <p:nvSpPr>
          <p:cNvPr id="31" name="Selecting pages after answer generation will improve citation precision while re" descr="s30">
            <a:extLst>
              <a:ext uri="{FF2B5EF4-FFF2-40B4-BE49-F238E27FC236}">
                <ns2:creationId id="{5A2B1287-BB81-4284-9174-49D2CCC115A4}"/>
              </a:ext>
            </a:extLst>
          </p:cNvPr>
          <p:cNvSpPr>
            <a:spLocks noGrp="1"/>
          </p:cNvSpPr>
          <p:nvPr/>
        </p:nvSpPr>
        <p:spPr>
          <a:xfrm>
            <a:off x="14171957" y="5949627"/>
            <a:ext cx="6412557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Selecting pages after answer generation will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improve citation precision while retaining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most of the relevant evidence.</a:t>
            </a:r>
            <a:endParaRPr lang="en-GB" sz="2400"/>
          </a:p>
        </p:txBody>
      </p:sp>
      <p:sp>
        <p:nvSpPr>
          <p:cNvPr id="32" name="02" descr="s31">
            <a:extLst>
              <a:ext uri="{FF2B5EF4-FFF2-40B4-BE49-F238E27FC236}">
                <ns2:creationId id="{12011DD9-BE03-4301-A0C5-871D941156DF}"/>
              </a:ext>
            </a:extLst>
          </p:cNvPr>
          <p:cNvSpPr>
            <a:spLocks noGrp="1"/>
          </p:cNvSpPr>
          <p:nvPr/>
        </p:nvSpPr>
        <p:spPr>
          <a:xfrm>
            <a:off x="647991" y="7449123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  <a:endParaRPr lang="en-GB" sz="2600"/>
          </a:p>
        </p:txBody>
      </p:sp>
      <p:sp>
        <p:nvSpPr>
          <p:cNvPr id="33" name="METHODOLOGY" descr="s32">
            <a:extLst>
              <a:ext uri="{FF2B5EF4-FFF2-40B4-BE49-F238E27FC236}">
                <ns2:creationId id="{E8D4F6BD-958C-4228-9714-C328F91DD5BD}"/>
              </a:ext>
            </a:extLst>
          </p:cNvPr>
          <p:cNvSpPr>
            <a:spLocks noGrp="1"/>
          </p:cNvSpPr>
          <p:nvPr/>
        </p:nvSpPr>
        <p:spPr>
          <a:xfrm>
            <a:off x="1170004" y="7416065"/>
            <a:ext cx="3244453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93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  <a:endParaRPr lang="en-GB" sz="3100"/>
          </a:p>
        </p:txBody>
      </p:sp>
      <p:sp>
        <p:nvSpPr>
          <p:cNvPr id="34" name="Data: 30 DIFC legal PDFs (590 pages), 100 questions: 70 structured-answer and 30" descr="s33">
            <a:extLst>
              <a:ext uri="{FF2B5EF4-FFF2-40B4-BE49-F238E27FC236}">
                <ns2:creationId id="{42E1077E-F5D0-4627-B971-274D00D8D225}"/>
              </a:ext>
            </a:extLst>
          </p:cNvPr>
          <p:cNvSpPr>
            <a:spLocks noGrp="1"/>
          </p:cNvSpPr>
          <p:nvPr/>
        </p:nvSpPr>
        <p:spPr>
          <a:xfrm>
            <a:off x="647991" y="7987979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Data: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30 DIFC legal PDFs (590 pages), 100 questions: 70 structured-answer and 30 free-text. Reference source pages are available for 95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 In the mixed corpus, 10 PDFs (107 pages) become synthetic scans: page images at 300 DPI with the text layer removed.</a:t>
            </a:r>
            <a:endParaRPr lang="en-GB" sz="2400"/>
          </a:p>
        </p:txBody>
      </p:sp>
      <p:sp>
        <p:nvSpPr>
          <p:cNvPr id="35" name="R0 · Baseline. R1–R6 each include all earlier additions. PDF text → 300-token pa" descr="s34">
            <a:extLst>
              <a:ext uri="{FF2B5EF4-FFF2-40B4-BE49-F238E27FC236}">
                <ns2:creationId id="{E8FBF91C-CF22-4CC3-A9FE-FFB816F65AEA}"/>
              </a:ext>
            </a:extLst>
          </p:cNvPr>
          <p:cNvSpPr>
            <a:spLocks noGrp="1"/>
          </p:cNvSpPr>
          <p:nvPr/>
        </p:nvSpPr>
        <p:spPr>
          <a:xfrm>
            <a:off x="791831" y="8921443"/>
            <a:ext cx="19828503" cy="93493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R0 · Baseline. R1–R6 each include all earlier additions.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PDF text → 300-token passages → semantic retrieval → GPT-5.4-mini → answer +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retrieved pages as citations. Semantic search uses Qwen3-Embedding-0.6B.</a:t>
            </a:r>
            <a:endParaRPr lang="en-GB" sz="2400"/>
          </a:p>
        </p:txBody>
      </p:sp>
      <p:sp>
        <p:nvSpPr>
          <p:cNvPr id="36" name="Document processing" descr="s35">
            <a:extLst>
              <a:ext uri="{FF2B5EF4-FFF2-40B4-BE49-F238E27FC236}">
                <ns2:creationId id="{BBCD4CA2-B5F5-4E15-99F3-8B38A1B7A937}"/>
              </a:ext>
            </a:extLst>
          </p:cNvPr>
          <p:cNvSpPr>
            <a:spLocks noGrp="1"/>
          </p:cNvSpPr>
          <p:nvPr/>
        </p:nvSpPr>
        <p:spPr>
          <a:xfrm>
            <a:off x="648359" y="9854909"/>
            <a:ext cx="6604546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Document processing</a:t>
            </a:r>
            <a:endParaRPr lang="en-GB" sz="2400"/>
          </a:p>
        </p:txBody>
      </p:sp>
      <p:sp>
        <p:nvSpPr>
          <p:cNvPr id="37" name="Retrieval" descr="s36">
            <a:extLst>
              <a:ext uri="{FF2B5EF4-FFF2-40B4-BE49-F238E27FC236}">
                <ns2:creationId id="{0222C009-009A-4116-A622-73CF453E6C18}"/>
              </a:ext>
            </a:extLst>
          </p:cNvPr>
          <p:cNvSpPr>
            <a:spLocks noGrp="1"/>
          </p:cNvSpPr>
          <p:nvPr/>
        </p:nvSpPr>
        <p:spPr>
          <a:xfrm>
            <a:off x="7404402" y="9854909"/>
            <a:ext cx="6604546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Retrieval</a:t>
            </a:r>
            <a:endParaRPr lang="en-GB" sz="2400"/>
          </a:p>
        </p:txBody>
      </p:sp>
      <p:sp>
        <p:nvSpPr>
          <p:cNvPr id="38" name="Answering" descr="s37">
            <a:extLst>
              <a:ext uri="{FF2B5EF4-FFF2-40B4-BE49-F238E27FC236}">
                <ns2:creationId id="{C9C3BB47-8EBC-4C36-8565-10C307537A75}"/>
              </a:ext>
            </a:extLst>
          </p:cNvPr>
          <p:cNvSpPr>
            <a:spLocks noGrp="1"/>
          </p:cNvSpPr>
          <p:nvPr/>
        </p:nvSpPr>
        <p:spPr>
          <a:xfrm>
            <a:off x="14159732" y="9854909"/>
            <a:ext cx="3226594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Answering</a:t>
            </a:r>
            <a:endParaRPr lang="en-GB" sz="2400"/>
          </a:p>
        </p:txBody>
      </p:sp>
      <p:sp>
        <p:nvSpPr>
          <p:cNvPr id="39" name="Citations" descr="s38">
            <a:extLst>
              <a:ext uri="{FF2B5EF4-FFF2-40B4-BE49-F238E27FC236}">
                <ns2:creationId id="{E7EA684E-FA81-4DCC-8D84-C6177785BF47}"/>
              </a:ext>
            </a:extLst>
          </p:cNvPr>
          <p:cNvSpPr>
            <a:spLocks noGrp="1"/>
          </p:cNvSpPr>
          <p:nvPr/>
        </p:nvSpPr>
        <p:spPr>
          <a:xfrm>
            <a:off x="17537754" y="9854909"/>
            <a:ext cx="3226594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Citations</a:t>
            </a:r>
            <a:endParaRPr lang="en-GB" sz="2400"/>
          </a:p>
        </p:txBody>
      </p:sp>
      <p:sp>
        <p:nvSpPr>
          <p:cNvPr id="40" name="R1 · Read&#10;scans" descr="s39">
            <a:extLst>
              <a:ext uri="{FF2B5EF4-FFF2-40B4-BE49-F238E27FC236}">
                <ns2:creationId id="{132103E6-6D3C-409D-8980-3AE2094E1616}"/>
              </a:ext>
            </a:extLst>
          </p:cNvPr>
          <p:cNvSpPr>
            <a:spLocks noGrp="1"/>
          </p:cNvSpPr>
          <p:nvPr/>
        </p:nvSpPr>
        <p:spPr>
          <a:xfrm>
            <a:off x="647991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R1 · Read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scans</a:t>
            </a:r>
            <a:endParaRPr lang="en-GB" sz="2500"/>
          </a:p>
        </p:txBody>
      </p:sp>
      <p:sp>
        <p:nvSpPr>
          <p:cNvPr id="41" name="Recover searchable text from page images." descr="s40">
            <a:extLst>
              <a:ext uri="{FF2B5EF4-FFF2-40B4-BE49-F238E27FC236}">
                <ns2:creationId id="{5BC48668-D55F-4671-8CE3-47028D9979FF}"/>
              </a:ext>
            </a:extLst>
          </p:cNvPr>
          <p:cNvSpPr>
            <a:spLocks noGrp="1"/>
          </p:cNvSpPr>
          <p:nvPr/>
        </p:nvSpPr>
        <p:spPr>
          <a:xfrm>
            <a:off x="647991" y="11293165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Recover searchable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from page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images.</a:t>
            </a:r>
            <a:endParaRPr lang="en-GB" sz="2400"/>
          </a:p>
        </p:txBody>
      </p:sp>
      <p:sp>
        <p:nvSpPr>
          <p:cNvPr id="42" name="OCR:&#10;PP-OCRv5" descr="s41">
            <a:extLst>
              <a:ext uri="{FF2B5EF4-FFF2-40B4-BE49-F238E27FC236}">
                <ns2:creationId id="{9D24F629-67BE-4DCE-9A51-F3DF7482D821}"/>
              </a:ext>
            </a:extLst>
          </p:cNvPr>
          <p:cNvSpPr>
            <a:spLocks noGrp="1"/>
          </p:cNvSpPr>
          <p:nvPr/>
        </p:nvSpPr>
        <p:spPr>
          <a:xfrm>
            <a:off x="647991" y="12445710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OCR: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PP-OCRv5</a:t>
            </a:r>
            <a:endParaRPr lang="en-GB" sz="2400"/>
          </a:p>
        </p:txBody>
      </p:sp>
      <p:sp>
        <p:nvSpPr>
          <p:cNvPr id="43" name="→" descr="s42">
            <a:extLst>
              <a:ext uri="{FF2B5EF4-FFF2-40B4-BE49-F238E27FC236}">
                <ns2:creationId id="{B4625F11-5A54-4A18-A9E5-9691ADF71EAE}"/>
              </a:ext>
            </a:extLst>
          </p:cNvPr>
          <p:cNvSpPr>
            <a:spLocks noGrp="1"/>
          </p:cNvSpPr>
          <p:nvPr/>
        </p:nvSpPr>
        <p:spPr>
          <a:xfrm>
            <a:off x="3678282" y="10963682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44" name="R2 · Multiple&#10;text scales" descr="s43">
            <a:extLst>
              <a:ext uri="{FF2B5EF4-FFF2-40B4-BE49-F238E27FC236}">
                <ns2:creationId id="{8883C1BD-F0D1-40EA-8127-DC84C25D97E4}"/>
              </a:ext>
            </a:extLst>
          </p:cNvPr>
          <p:cNvSpPr>
            <a:spLocks noGrp="1"/>
          </p:cNvSpPr>
          <p:nvPr/>
        </p:nvSpPr>
        <p:spPr>
          <a:xfrm>
            <a:off x="4026025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R2 · Multiple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text scales</a:t>
            </a:r>
            <a:endParaRPr lang="en-GB" sz="2500"/>
          </a:p>
        </p:txBody>
      </p:sp>
      <p:sp>
        <p:nvSpPr>
          <p:cNvPr id="45" name="Represent evidence at different levels." descr="s44">
            <a:extLst>
              <a:ext uri="{FF2B5EF4-FFF2-40B4-BE49-F238E27FC236}">
                <ns2:creationId id="{4D4D055F-64D1-4462-966B-7226AF4C2A4D}"/>
              </a:ext>
            </a:extLst>
          </p:cNvPr>
          <p:cNvSpPr>
            <a:spLocks noGrp="1"/>
          </p:cNvSpPr>
          <p:nvPr/>
        </p:nvSpPr>
        <p:spPr>
          <a:xfrm>
            <a:off x="4026025" y="11293165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Represent evidence at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different levels.</a:t>
            </a:r>
            <a:endParaRPr lang="en-GB" sz="2400"/>
          </a:p>
        </p:txBody>
      </p:sp>
      <p:sp>
        <p:nvSpPr>
          <p:cNvPr id="46" name="Pages, sections, clauses, microchunks, tables" descr="s45">
            <a:extLst>
              <a:ext uri="{FF2B5EF4-FFF2-40B4-BE49-F238E27FC236}">
                <ns2:creationId id="{E81DB4D9-BA90-49ED-9BDC-7DF0EEBA4A7A}"/>
              </a:ext>
            </a:extLst>
          </p:cNvPr>
          <p:cNvSpPr>
            <a:spLocks noGrp="1"/>
          </p:cNvSpPr>
          <p:nvPr/>
        </p:nvSpPr>
        <p:spPr>
          <a:xfrm>
            <a:off x="4026025" y="12083830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Pages, sections,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clauses, microchunks,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tables</a:t>
            </a:r>
            <a:endParaRPr lang="en-GB" sz="2400"/>
          </a:p>
        </p:txBody>
      </p:sp>
      <p:sp>
        <p:nvSpPr>
          <p:cNvPr id="47" name="→" descr="s46">
            <a:extLst>
              <a:ext uri="{FF2B5EF4-FFF2-40B4-BE49-F238E27FC236}">
                <ns2:creationId id="{F81DADFF-22B7-45A3-9CA4-CE4013C09C23}"/>
              </a:ext>
            </a:extLst>
          </p:cNvPr>
          <p:cNvSpPr>
            <a:spLocks noGrp="1"/>
          </p:cNvSpPr>
          <p:nvPr/>
        </p:nvSpPr>
        <p:spPr>
          <a:xfrm>
            <a:off x="7056304" y="10963682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48" name="R3 · Find&#10;exact terms" descr="s47">
            <a:extLst>
              <a:ext uri="{FF2B5EF4-FFF2-40B4-BE49-F238E27FC236}">
                <ns2:creationId id="{06666519-F6A0-4058-ACEE-6A5423AEB183}"/>
              </a:ext>
            </a:extLst>
          </p:cNvPr>
          <p:cNvSpPr>
            <a:spLocks noGrp="1"/>
          </p:cNvSpPr>
          <p:nvPr/>
        </p:nvSpPr>
        <p:spPr>
          <a:xfrm>
            <a:off x="7404046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R3 · Find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exact terms</a:t>
            </a:r>
            <a:endParaRPr lang="en-GB" sz="2500"/>
          </a:p>
        </p:txBody>
      </p:sp>
      <p:sp>
        <p:nvSpPr>
          <p:cNvPr id="49" name="Combine semantic and lexical search." descr="s48">
            <a:extLst>
              <a:ext uri="{FF2B5EF4-FFF2-40B4-BE49-F238E27FC236}">
                <ns2:creationId id="{DECEFA76-262C-4C4A-92A5-7652045C958F}"/>
              </a:ext>
            </a:extLst>
          </p:cNvPr>
          <p:cNvSpPr>
            <a:spLocks noGrp="1"/>
          </p:cNvSpPr>
          <p:nvPr/>
        </p:nvSpPr>
        <p:spPr>
          <a:xfrm>
            <a:off x="7404046" y="11293165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Combine semantic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and lexical search.</a:t>
            </a:r>
            <a:endParaRPr lang="en-GB" sz="2400"/>
          </a:p>
        </p:txBody>
      </p:sp>
      <p:sp>
        <p:nvSpPr>
          <p:cNvPr id="50" name="BM25 + rank fusion (RRF)" descr="s49">
            <a:extLst>
              <a:ext uri="{FF2B5EF4-FFF2-40B4-BE49-F238E27FC236}">
                <ns2:creationId id="{87C214EA-E339-4ECD-8CAE-EDBBE004C9D7}"/>
              </a:ext>
            </a:extLst>
          </p:cNvPr>
          <p:cNvSpPr>
            <a:spLocks noGrp="1"/>
          </p:cNvSpPr>
          <p:nvPr/>
        </p:nvSpPr>
        <p:spPr>
          <a:xfrm>
            <a:off x="7404046" y="12083830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BM25 + rank fusion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(RRF)</a:t>
            </a:r>
            <a:endParaRPr lang="en-GB" sz="2400"/>
          </a:p>
        </p:txBody>
      </p:sp>
      <p:sp>
        <p:nvSpPr>
          <p:cNvPr id="51" name="→" descr="s50">
            <a:extLst>
              <a:ext uri="{FF2B5EF4-FFF2-40B4-BE49-F238E27FC236}">
                <ns2:creationId id="{D18CEF2B-9CDC-4322-A6C0-E0DB5B0A0E9E}"/>
              </a:ext>
            </a:extLst>
          </p:cNvPr>
          <p:cNvSpPr>
            <a:spLocks noGrp="1"/>
          </p:cNvSpPr>
          <p:nvPr/>
        </p:nvSpPr>
        <p:spPr>
          <a:xfrm>
            <a:off x="10433970" y="10963682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52" name="R4 · Rank&#10;evidence" descr="s51">
            <a:extLst>
              <a:ext uri="{FF2B5EF4-FFF2-40B4-BE49-F238E27FC236}">
                <ns2:creationId id="{03DE76E5-131D-4895-B0E7-706E31DBFCCE}"/>
              </a:ext>
            </a:extLst>
          </p:cNvPr>
          <p:cNvSpPr>
            <a:spLocks noGrp="1"/>
          </p:cNvSpPr>
          <p:nvPr/>
        </p:nvSpPr>
        <p:spPr>
          <a:xfrm>
            <a:off x="10781712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R4 · Rank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evidence</a:t>
            </a:r>
            <a:endParaRPr lang="en-GB" sz="2500"/>
          </a:p>
        </p:txBody>
      </p:sp>
      <p:sp>
        <p:nvSpPr>
          <p:cNvPr id="53" name="Prioritize the most relevant passages." descr="s52">
            <a:extLst>
              <a:ext uri="{FF2B5EF4-FFF2-40B4-BE49-F238E27FC236}">
                <ns2:creationId id="{ACD2EF60-A241-48A1-96FF-84EEDF0F2E20}"/>
              </a:ext>
            </a:extLst>
          </p:cNvPr>
          <p:cNvSpPr>
            <a:spLocks noGrp="1"/>
          </p:cNvSpPr>
          <p:nvPr/>
        </p:nvSpPr>
        <p:spPr>
          <a:xfrm>
            <a:off x="10781712" y="11293165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Prioritize the most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relevant passages.</a:t>
            </a:r>
            <a:endParaRPr lang="en-GB" sz="2400"/>
          </a:p>
        </p:txBody>
      </p:sp>
      <p:sp>
        <p:nvSpPr>
          <p:cNvPr id="54" name="Qwen3-&#10;Reranker-0.6B" descr="s53">
            <a:extLst>
              <a:ext uri="{FF2B5EF4-FFF2-40B4-BE49-F238E27FC236}">
                <ns2:creationId id="{264C9D39-2FE6-40E4-920F-69EAB79C52EC}"/>
              </a:ext>
            </a:extLst>
          </p:cNvPr>
          <p:cNvSpPr>
            <a:spLocks noGrp="1"/>
          </p:cNvSpPr>
          <p:nvPr/>
        </p:nvSpPr>
        <p:spPr>
          <a:xfrm>
            <a:off x="10781712" y="12083830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Qwen3-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Reranker-0.6B</a:t>
            </a:r>
            <a:endParaRPr lang="en-GB" sz="2400"/>
          </a:p>
        </p:txBody>
      </p:sp>
      <p:sp>
        <p:nvSpPr>
          <p:cNvPr id="55" name="→" descr="s54">
            <a:extLst>
              <a:ext uri="{FF2B5EF4-FFF2-40B4-BE49-F238E27FC236}">
                <ns2:creationId id="{61F77422-EB67-4440-A42E-EB0942AAB70F}"/>
              </a:ext>
            </a:extLst>
          </p:cNvPr>
          <p:cNvSpPr>
            <a:spLocks noGrp="1"/>
          </p:cNvSpPr>
          <p:nvPr/>
        </p:nvSpPr>
        <p:spPr>
          <a:xfrm>
            <a:off x="13811991" y="10963682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56" name="R5 · Check&#10;answer type" descr="s55">
            <a:extLst>
              <a:ext uri="{FF2B5EF4-FFF2-40B4-BE49-F238E27FC236}">
                <ns2:creationId id="{9736023B-52FB-42D3-BC85-CF846042A819}"/>
              </a:ext>
            </a:extLst>
          </p:cNvPr>
          <p:cNvSpPr>
            <a:spLocks noGrp="1"/>
          </p:cNvSpPr>
          <p:nvPr/>
        </p:nvSpPr>
        <p:spPr>
          <a:xfrm>
            <a:off x="14159732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R5 · Check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answer type</a:t>
            </a:r>
            <a:endParaRPr lang="en-GB" sz="2500"/>
          </a:p>
        </p:txBody>
      </p:sp>
      <p:sp>
        <p:nvSpPr>
          <p:cNvPr id="57" name="Normalize and validate the expected type." descr="s56">
            <a:extLst>
              <a:ext uri="{FF2B5EF4-FFF2-40B4-BE49-F238E27FC236}">
                <ns2:creationId id="{893B0688-4140-4E10-937C-1B55FA1C19F7}"/>
              </a:ext>
            </a:extLst>
          </p:cNvPr>
          <p:cNvSpPr>
            <a:spLocks noGrp="1"/>
          </p:cNvSpPr>
          <p:nvPr/>
        </p:nvSpPr>
        <p:spPr>
          <a:xfrm>
            <a:off x="14159732" y="11293165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Normalize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validate the expected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type.</a:t>
            </a:r>
            <a:endParaRPr lang="en-GB" sz="2400"/>
          </a:p>
        </p:txBody>
      </p:sp>
      <p:sp>
        <p:nvSpPr>
          <p:cNvPr id="58" name="Type checks, confidence thresholds" descr="s57">
            <a:extLst>
              <a:ext uri="{FF2B5EF4-FFF2-40B4-BE49-F238E27FC236}">
                <ns2:creationId id="{A5F0B821-8029-4A75-9188-F4A8A259AE29}"/>
              </a:ext>
            </a:extLst>
          </p:cNvPr>
          <p:cNvSpPr>
            <a:spLocks noGrp="1"/>
          </p:cNvSpPr>
          <p:nvPr/>
        </p:nvSpPr>
        <p:spPr>
          <a:xfrm>
            <a:off x="14159732" y="12445710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Type checks,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confidence thresholds</a:t>
            </a:r>
            <a:endParaRPr lang="en-GB" sz="2400"/>
          </a:p>
        </p:txBody>
      </p:sp>
      <p:sp>
        <p:nvSpPr>
          <p:cNvPr id="59" name="→" descr="s58">
            <a:extLst>
              <a:ext uri="{FF2B5EF4-FFF2-40B4-BE49-F238E27FC236}">
                <ns2:creationId id="{FCA795EE-F90B-4726-8D91-951F12BCA937}"/>
              </a:ext>
            </a:extLst>
          </p:cNvPr>
          <p:cNvSpPr>
            <a:spLocks noGrp="1"/>
          </p:cNvSpPr>
          <p:nvPr/>
        </p:nvSpPr>
        <p:spPr>
          <a:xfrm>
            <a:off x="17190011" y="10963682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60" name="R6 · Refine&#10;citations" descr="s59">
            <a:extLst>
              <a:ext uri="{FF2B5EF4-FFF2-40B4-BE49-F238E27FC236}">
                <ns2:creationId id="{B96545C7-5ABE-406B-B2D7-B5287374EEB7}"/>
              </a:ext>
            </a:extLst>
          </p:cNvPr>
          <p:cNvSpPr>
            <a:spLocks noGrp="1"/>
          </p:cNvSpPr>
          <p:nvPr/>
        </p:nvSpPr>
        <p:spPr>
          <a:xfrm>
            <a:off x="17537754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R6 · Refine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citations</a:t>
            </a:r>
            <a:endParaRPr lang="en-GB" sz="2500"/>
          </a:p>
        </p:txBody>
      </p:sp>
      <p:sp>
        <p:nvSpPr>
          <p:cNvPr id="61" name="Select pages linked to supporting passages." descr="s60">
            <a:extLst>
              <a:ext uri="{FF2B5EF4-FFF2-40B4-BE49-F238E27FC236}">
                <ns2:creationId id="{D152163C-9E5B-4BB4-ADC9-8387F458525F}"/>
              </a:ext>
            </a:extLst>
          </p:cNvPr>
          <p:cNvSpPr>
            <a:spLocks noGrp="1"/>
          </p:cNvSpPr>
          <p:nvPr/>
        </p:nvSpPr>
        <p:spPr>
          <a:xfrm>
            <a:off x="17537754" y="11293165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 pages linked to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supporting passages.</a:t>
            </a:r>
            <a:endParaRPr lang="en-GB" sz="2400"/>
          </a:p>
        </p:txBody>
      </p:sp>
      <p:sp>
        <p:nvSpPr>
          <p:cNvPr id="62" name="Generator's supporting-chunk references" descr="s61">
            <a:extLst>
              <a:ext uri="{FF2B5EF4-FFF2-40B4-BE49-F238E27FC236}">
                <ns2:creationId id="{D922EEA5-5064-401C-9C0F-C31C9003BFD6}"/>
              </a:ext>
            </a:extLst>
          </p:cNvPr>
          <p:cNvSpPr>
            <a:spLocks noGrp="1"/>
          </p:cNvSpPr>
          <p:nvPr/>
        </p:nvSpPr>
        <p:spPr>
          <a:xfrm>
            <a:off x="17537754" y="12083830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Generator's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supporting-chunk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references</a:t>
            </a:r>
            <a:endParaRPr lang="en-GB" sz="2400"/>
          </a:p>
        </p:txBody>
      </p:sp>
      <p:sp>
        <p:nvSpPr>
          <p:cNvPr id="63" name="Fixed: GPT-5.4-mini / high, 24 retrieval candidates, ≤ 2,400 context tokens and " descr="s62">
            <a:extLst>
              <a:ext uri="{FF2B5EF4-FFF2-40B4-BE49-F238E27FC236}">
                <ns2:creationId id="{28983AE8-845B-4008-B5E2-7AD4A21276AB}"/>
              </a:ext>
            </a:extLst>
          </p:cNvPr>
          <p:cNvSpPr>
            <a:spLocks noGrp="1"/>
          </p:cNvSpPr>
          <p:nvPr/>
        </p:nvSpPr>
        <p:spPr>
          <a:xfrm>
            <a:off x="647991" y="13389234"/>
            <a:ext cx="20116502" cy="94446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Fixed: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GPT-5.4-mini / high, 24 retrieval candidates, ≤ 2,400 context tokens and the generation schema. R4–R6 reuse one generated response.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R0–R6 run on the mixed corpus; R0/R1 also on originals.</a:t>
            </a:r>
            <a:endParaRPr lang="en-GB" sz="2400"/>
          </a:p>
        </p:txBody>
      </p:sp>
      <p:sp>
        <p:nvSpPr>
          <p:cNvPr id="64" name="Evaluation: Correct answers can still have poor citations. We score answers and " descr="s63">
            <a:extLst>
              <a:ext uri="{FF2B5EF4-FFF2-40B4-BE49-F238E27FC236}">
                <ns2:creationId id="{6E4D1E4F-0ABF-4AB9-BDCC-5097D33567BE}"/>
              </a:ext>
            </a:extLst>
          </p:cNvPr>
          <p:cNvSpPr>
            <a:spLocks noGrp="1"/>
          </p:cNvSpPr>
          <p:nvPr/>
        </p:nvSpPr>
        <p:spPr>
          <a:xfrm>
            <a:off x="647991" y="14322699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Evaluation: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Correct answers can still have poor citations. We score answers and citations separately.</a:t>
            </a:r>
            <a:endParaRPr lang="en-GB" sz="2400"/>
          </a:p>
        </p:txBody>
      </p:sp>
      <p:sp>
        <p:nvSpPr>
          <p:cNvPr id="65" name="Answer quality Q = 0.7 × S + 0.3 × F. S / F: mean structured / free-text scores." descr="s64">
            <a:extLst>
              <a:ext uri="{FF2B5EF4-FFF2-40B4-BE49-F238E27FC236}">
                <ns2:creationId id="{8F742882-D55C-449F-8FE9-13FCC78EDC83}"/>
              </a:ext>
            </a:extLst>
          </p:cNvPr>
          <p:cNvSpPr>
            <a:spLocks noGrp="1"/>
          </p:cNvSpPr>
          <p:nvPr/>
        </p:nvSpPr>
        <p:spPr>
          <a:xfrm>
            <a:off x="647991" y="14741604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Answer quality Q = 0.7 × S + 0.3 × F.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 / F: mean structured / free-text scores. Free text is LLM-scored.</a:t>
            </a:r>
            <a:endParaRPr lang="en-GB" sz="2400"/>
          </a:p>
        </p:txBody>
      </p:sp>
      <p:sp>
        <p:nvSpPr>
          <p:cNvPr id="66" name="Citation precision: share of cited pages that match annotated source pages. Are " descr="s65">
            <a:extLst>
              <a:ext uri="{FF2B5EF4-FFF2-40B4-BE49-F238E27FC236}">
                <ns2:creationId id="{AD495324-B0FD-496D-B2ED-B34C9D971FFC}"/>
              </a:ext>
            </a:extLst>
          </p:cNvPr>
          <p:cNvSpPr>
            <a:spLocks noGrp="1"/>
          </p:cNvSpPr>
          <p:nvPr/>
        </p:nvSpPr>
        <p:spPr>
          <a:xfrm>
            <a:off x="647991" y="15151340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precision: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cited pages that match annotated source pages. Are the citations relevant?</a:t>
            </a:r>
            <a:endParaRPr lang="en-GB" sz="2400"/>
          </a:p>
        </p:txBody>
      </p:sp>
      <p:sp>
        <p:nvSpPr>
          <p:cNvPr id="67" name="Citation recall: share of annotated source pages cited. Is the evidence complete" descr="s66">
            <a:extLst>
              <a:ext uri="{FF2B5EF4-FFF2-40B4-BE49-F238E27FC236}">
                <ns2:creationId id="{6A41C81D-0A43-43A0-97CF-72E88B3CF452}"/>
              </a:ext>
            </a:extLst>
          </p:cNvPr>
          <p:cNvSpPr>
            <a:spLocks noGrp="1"/>
          </p:cNvSpPr>
          <p:nvPr/>
        </p:nvSpPr>
        <p:spPr>
          <a:xfrm>
            <a:off x="647991" y="15570247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recall: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annotated source pages cited. Is the evidence complete? Both average 95 questions.</a:t>
            </a:r>
            <a:endParaRPr lang="en-GB" sz="2400"/>
          </a:p>
        </p:txBody>
      </p:sp>
      <p:sp>
        <p:nvSpPr>
          <p:cNvPr id="68" name="03" descr="s67">
            <a:extLst>
              <a:ext uri="{FF2B5EF4-FFF2-40B4-BE49-F238E27FC236}">
                <ns2:creationId id="{160F27D5-5F33-4B26-8150-58B33DA24D35}"/>
              </a:ext>
            </a:extLst>
          </p:cNvPr>
          <p:cNvSpPr>
            <a:spLocks noGrp="1"/>
          </p:cNvSpPr>
          <p:nvPr/>
        </p:nvSpPr>
        <p:spPr>
          <a:xfrm>
            <a:off x="647991" y="16202470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  <a:endParaRPr lang="en-GB" sz="2600"/>
          </a:p>
        </p:txBody>
      </p:sp>
      <p:sp>
        <p:nvSpPr>
          <p:cNvPr id="69" name="RESULTS" descr="s68">
            <a:extLst>
              <a:ext uri="{FF2B5EF4-FFF2-40B4-BE49-F238E27FC236}">
                <ns2:creationId id="{D69A443D-4E69-449B-8BEE-AFE6A4FA6E5F}"/>
              </a:ext>
            </a:extLst>
          </p:cNvPr>
          <p:cNvSpPr>
            <a:spLocks noGrp="1"/>
          </p:cNvSpPr>
          <p:nvPr/>
        </p:nvSpPr>
        <p:spPr>
          <a:xfrm>
            <a:off x="1169636" y="16169413"/>
            <a:ext cx="1760786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93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  <a:endParaRPr lang="en-GB" sz="3100"/>
          </a:p>
        </p:txBody>
      </p:sp>
      <p:sp>
        <p:nvSpPr>
          <p:cNvPr id="70" name="R0 to R6 on the mixed corpus" descr="s69">
            <a:extLst>
              <a:ext uri="{FF2B5EF4-FFF2-40B4-BE49-F238E27FC236}">
                <ns2:creationId id="{3C345F59-EAEE-4E03-A80C-77C26CA58CB7}"/>
              </a:ext>
            </a:extLst>
          </p:cNvPr>
          <p:cNvSpPr>
            <a:spLocks noGrp="1"/>
          </p:cNvSpPr>
          <p:nvPr/>
        </p:nvSpPr>
        <p:spPr>
          <a:xfrm>
            <a:off x="16538357" y="16218006"/>
            <a:ext cx="42261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to R6 on the mixed corpus</a:t>
            </a:r>
            <a:endParaRPr lang="en-GB" sz="2400"/>
          </a:p>
        </p:txBody>
      </p:sp>
      <p:sp>
        <p:nvSpPr>
          <p:cNvPr id="71" name="Q is an aggregate score, not the share of fully correct answers. R5 adds no scor" descr="s70">
            <a:extLst>
              <a:ext uri="{FF2B5EF4-FFF2-40B4-BE49-F238E27FC236}">
                <ns2:creationId id="{A834A03E-C66A-43E5-864D-16D668EBE262}"/>
              </a:ext>
            </a:extLst>
          </p:cNvPr>
          <p:cNvSpPr>
            <a:spLocks noGrp="1"/>
          </p:cNvSpPr>
          <p:nvPr/>
        </p:nvSpPr>
        <p:spPr>
          <a:xfrm>
            <a:off x="647991" y="22590219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Q is an aggregate score, not the share of fully correct answers. R5 adds no score gain.</a:t>
            </a:r>
            <a:endParaRPr lang="en-GB" sz="2400"/>
          </a:p>
        </p:txBody>
      </p:sp>
      <p:sp>
        <p:nvSpPr>
          <p:cNvPr id="72" name="OCR recovers performance on scans" descr="s71">
            <a:extLst>
              <a:ext uri="{FF2B5EF4-FFF2-40B4-BE49-F238E27FC236}">
                <ns2:creationId id="{059419C5-5623-4078-8E7A-53AAA00F8671}"/>
              </a:ext>
            </a:extLst>
          </p:cNvPr>
          <p:cNvSpPr>
            <a:spLocks noGrp="1"/>
          </p:cNvSpPr>
          <p:nvPr/>
        </p:nvSpPr>
        <p:spPr>
          <a:xfrm>
            <a:off x="648359" y="23095640"/>
            <a:ext cx="943347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performance on scans</a:t>
            </a:r>
            <a:endParaRPr lang="en-GB" sz="2600"/>
          </a:p>
        </p:txBody>
      </p:sp>
      <p:sp>
        <p:nvSpPr>
          <p:cNvPr id="73" name="Scanning 10 of 30 PDFs lowers Q from 65.4% to 46.2%. OCR restores most of this l" descr="s72">
            <a:extLst>
              <a:ext uri="{FF2B5EF4-FFF2-40B4-BE49-F238E27FC236}">
                <ns2:creationId id="{6FA179E6-7CAC-463F-AF91-36B8A6E3AA4F}"/>
              </a:ext>
            </a:extLst>
          </p:cNvPr>
          <p:cNvSpPr>
            <a:spLocks noGrp="1"/>
          </p:cNvSpPr>
          <p:nvPr/>
        </p:nvSpPr>
        <p:spPr>
          <a:xfrm>
            <a:off x="648359" y="25704433"/>
            <a:ext cx="943347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Scanning 10 of 30 PDFs lowers Q from 65.4% to 46.2%. OCR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restores most of this loss, reaching 63.2%.</a:t>
            </a:r>
            <a:endParaRPr lang="en-GB" sz="2400"/>
          </a:p>
        </p:txBody>
      </p:sp>
      <p:sp>
        <p:nvSpPr>
          <p:cNvPr id="74" name="Hypothesis evaluation" descr="s73">
            <a:extLst>
              <a:ext uri="{FF2B5EF4-FFF2-40B4-BE49-F238E27FC236}">
                <ns2:creationId id="{294CB8CD-4DAD-400C-9F13-FD45A53B2C24}"/>
              </a:ext>
            </a:extLst>
          </p:cNvPr>
          <p:cNvSpPr>
            <a:spLocks noGrp="1"/>
          </p:cNvSpPr>
          <p:nvPr/>
        </p:nvSpPr>
        <p:spPr>
          <a:xfrm>
            <a:off x="10566694" y="23095640"/>
            <a:ext cx="101980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evaluation</a:t>
            </a:r>
            <a:endParaRPr lang="en-GB" sz="2600"/>
          </a:p>
        </p:txBody>
      </p:sp>
      <p:sp>
        <p:nvSpPr>
          <p:cNvPr id="75" name="H1 · Partially supported. Multiple scales alone reduce Q; lexical retrieval and " descr="s74">
            <a:extLst>
              <a:ext uri="{FF2B5EF4-FFF2-40B4-BE49-F238E27FC236}">
                <ns2:creationId id="{078EA9BF-F16F-4DC1-9A51-ACC10DE50D46}"/>
              </a:ext>
            </a:extLst>
          </p:cNvPr>
          <p:cNvSpPr>
            <a:spLocks noGrp="1"/>
          </p:cNvSpPr>
          <p:nvPr/>
        </p:nvSpPr>
        <p:spPr>
          <a:xfrm>
            <a:off x="10566694" y="23552012"/>
            <a:ext cx="1019800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Partially supported.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Multiple scales alone reduce Q; lexical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 and reranking improve Q and recall.</a:t>
            </a:r>
            <a:endParaRPr lang="en-GB" sz="2400"/>
          </a:p>
        </p:txBody>
      </p:sp>
      <p:sp>
        <p:nvSpPr>
          <p:cNvPr id="76" name="H2 · Supported. OCR restores most of the loss caused by removing the text layer." descr="s75">
            <a:extLst>
              <a:ext uri="{FF2B5EF4-FFF2-40B4-BE49-F238E27FC236}">
                <ns2:creationId id="{24271B89-6D8C-46D1-A672-18ACF71B78FB}"/>
              </a:ext>
            </a:extLst>
          </p:cNvPr>
          <p:cNvSpPr>
            <a:spLocks noGrp="1"/>
          </p:cNvSpPr>
          <p:nvPr/>
        </p:nvSpPr>
        <p:spPr>
          <a:xfrm>
            <a:off x="10566694" y="24361386"/>
            <a:ext cx="1019800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Supported.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OCR restores most of the loss caused by removing the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layer.</a:t>
            </a:r>
            <a:endParaRPr lang="en-GB" sz="2400"/>
          </a:p>
        </p:txBody>
      </p:sp>
      <p:sp>
        <p:nvSpPr>
          <p:cNvPr id="77" name="H3 · Supported with a trade-off. Precision rises from 27.1% to 61.8%; recall fal" descr="s76">
            <a:extLst>
              <a:ext uri="{FF2B5EF4-FFF2-40B4-BE49-F238E27FC236}">
                <ns2:creationId id="{D0F301C5-1A9B-4105-9566-AA503E2D51E3}"/>
              </a:ext>
            </a:extLst>
          </p:cNvPr>
          <p:cNvSpPr>
            <a:spLocks noGrp="1"/>
          </p:cNvSpPr>
          <p:nvPr/>
        </p:nvSpPr>
        <p:spPr>
          <a:xfrm>
            <a:off x="10566694" y="25171126"/>
            <a:ext cx="1019800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Supported with a trade-off.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Precision rises from 27.1% to 61.8%;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recall falls from 78.9% to 74.7% (−4.2 pp).</a:t>
            </a:r>
            <a:endParaRPr lang="en-GB" sz="2400"/>
          </a:p>
        </p:txBody>
      </p:sp>
      <p:sp>
        <p:nvSpPr>
          <p:cNvPr id="78" name="Conclusion" descr="s77">
            <a:extLst>
              <a:ext uri="{FF2B5EF4-FFF2-40B4-BE49-F238E27FC236}">
                <ns2:creationId id="{336B209F-4437-4FE3-8B7A-B37F79A956E3}"/>
              </a:ext>
            </a:extLst>
          </p:cNvPr>
          <p:cNvSpPr>
            <a:spLocks noGrp="1"/>
          </p:cNvSpPr>
          <p:nvPr/>
        </p:nvSpPr>
        <p:spPr>
          <a:xfrm>
            <a:off x="828216" y="26715244"/>
            <a:ext cx="1975663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Conclusion</a:t>
            </a:r>
            <a:endParaRPr lang="en-GB" sz="2600"/>
          </a:p>
        </p:txBody>
      </p:sp>
      <p:sp>
        <p:nvSpPr>
          <p:cNvPr id="79" name="OCR recovers text from scans, hybrid retrieval and reranking improve answers, an" descr="s78">
            <a:extLst>
              <a:ext uri="{FF2B5EF4-FFF2-40B4-BE49-F238E27FC236}">
                <ns2:creationId id="{7E900F63-68FE-4A7A-A1FE-74610E761EDB}"/>
              </a:ext>
            </a:extLst>
          </p:cNvPr>
          <p:cNvSpPr>
            <a:spLocks noGrp="1"/>
          </p:cNvSpPr>
          <p:nvPr/>
        </p:nvSpPr>
        <p:spPr>
          <a:xfrm>
            <a:off x="828216" y="27161735"/>
            <a:ext cx="19756636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OCR recovers text from scans, hybrid retrieval and reranking improve answers, and citation selection trades recall for precision. Evaluate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and optimize answer quality and citations separately.</a:t>
            </a:r>
            <a:endParaRPr lang="en-GB" sz="2400"/>
          </a:p>
        </p:txBody>
      </p:sp>
      <p:sp>
        <p:nvSpPr>
          <p:cNvPr id="80" name="Limitations: one DIFC development corpus, 100 questions and synthetic scans; seq" descr="s79">
            <a:extLst>
              <a:ext uri="{FF2B5EF4-FFF2-40B4-BE49-F238E27FC236}">
                <ns2:creationId id="{6546BB40-0076-47D9-9A65-1C146381316E}"/>
              </a:ext>
            </a:extLst>
          </p:cNvPr>
          <p:cNvSpPr>
            <a:spLocks noGrp="1"/>
          </p:cNvSpPr>
          <p:nvPr/>
        </p:nvSpPr>
        <p:spPr>
          <a:xfrm>
            <a:off x="647991" y="28133312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Limitations: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one DIFC development corpus, 100 questions and synthetic scans; sequential additions; one run per condition, no significance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testing; LLM-scored free text.</a:t>
            </a:r>
            <a:endParaRPr lang="en-GB" sz="2400"/>
          </a:p>
        </p:txBody>
      </p:sp>
      <p:sp>
        <p:nvSpPr>
          <p:cNvPr id="81" name="References: [1] Lewis et al. RAG (2020). [2] Pipitone &amp; Alami. LegalBench-RAG (2" descr="s80">
            <a:extLst>
              <a:ext uri="{FF2B5EF4-FFF2-40B4-BE49-F238E27FC236}">
                <ns2:creationId id="{5228A264-1286-4AC3-8FB5-0292E4B6A2D5}"/>
              </a:ext>
            </a:extLst>
          </p:cNvPr>
          <p:cNvSpPr>
            <a:spLocks noGrp="1"/>
          </p:cNvSpPr>
          <p:nvPr/>
        </p:nvSpPr>
        <p:spPr>
          <a:xfrm>
            <a:off x="647991" y="29048249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References: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0"/>
              </a:rPr>
              <a:t>[1] Lewis et al. RAG (2020).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1"/>
              </a:rPr>
              <a:t>[2] Pipitone &amp; Alami. LegalBench-RAG (2024).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2"/>
              </a:rPr>
              <a:t>[3] Gao et al. ALCE (2023).</a:t>
            </a:r>
            <a:endParaRPr lang="en-GB" sz="2400"/>
          </a:p>
        </p:txBody>
      </p:sp>
      <p:sp>
        <p:nvSpPr>
          <p:cNvPr id="82" name="Code, protocol &amp; results: github.com/SteinVR/Trends-in-NLP-Poster" descr="s81">
            <a:extLst>
              <a:ext uri="{FF2B5EF4-FFF2-40B4-BE49-F238E27FC236}">
                <ns2:creationId id="{53EE11D4-9CC6-47B8-AA83-150604093FD5}"/>
              </a:ext>
            </a:extLst>
          </p:cNvPr>
          <p:cNvSpPr>
            <a:spLocks noGrp="1"/>
          </p:cNvSpPr>
          <p:nvPr/>
        </p:nvSpPr>
        <p:spPr>
          <a:xfrm>
            <a:off x="647991" y="29438565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Code, protocol &amp; results: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3"/>
              </a:rPr>
              <a:t>github.com/SteinVR/Trends-in-NLP-Poster</a:t>
            </a:r>
            <a:endParaRPr lang="en-GB" sz="2400"/>
          </a:p>
        </p:txBody>
      </p:sp>
      <p:pic>
        <p:nvPicPr>
          <p:cNvPr id="168" name=""/>
          <p:cNvPicPr>
            <a:picLocks noChangeAspect="1"/>
          </p:cNvPicPr>
          <p:nvPr/>
        </p:nvPicPr>
        <p:blipFill>
          <a:blip r:embed="R0534adecd1b242f3">
            <a:extLst>
              <a:ext uri="{96DAC541-7B7A-43D3-8B79-37D633B846F1}">
                <ns4:svgBlip r:embed="R92f092a850a34458"/>
              </a:ext>
            </a:extLst>
          </a:blip>
          <a:stretch/>
        </p:blipFill>
        <p:spPr>
          <a:xfrm>
            <a:off x="17676019" y="503932"/>
            <a:ext cx="3059906" cy="771227"/>
          </a:xfrm>
          <a:prstGeom prst="rect">
            <a:avLst/>
          </a:prstGeom>
        </p:spPr>
      </p:pic>
      <p:pic>
        <p:nvPicPr>
          <p:cNvPr id="169" name=""/>
          <p:cNvPicPr>
            <a:picLocks noChangeAspect="1"/>
          </p:cNvPicPr>
          <p:nvPr/>
        </p:nvPicPr>
        <p:blipFill>
          <a:blip r:embed="Rac9eb81ca1a94d58">
            <a:extLst>
              <a:ext uri="{96DAC541-7B7A-43D3-8B79-37D633B846F1}">
                <ns4:svgBlip r:embed="R67031e065bd24060"/>
              </a:ext>
            </a:extLst>
          </a:blip>
          <a:stretch/>
        </p:blipFill>
        <p:spPr>
          <a:xfrm>
            <a:off x="647998" y="16744950"/>
            <a:ext cx="20087927" cy="5851624"/>
          </a:xfrm>
          <a:prstGeom prst="rect">
            <a:avLst/>
          </a:prstGeom>
        </p:spPr>
      </p:pic>
      <p:pic>
        <p:nvPicPr>
          <p:cNvPr id="170" name=""/>
          <p:cNvPicPr>
            <a:picLocks noChangeAspect="1"/>
          </p:cNvPicPr>
          <p:nvPr/>
        </p:nvPicPr>
        <p:blipFill>
          <a:blip r:embed="R983723fbe8ad41ef">
            <a:extLst>
              <a:ext uri="{96DAC541-7B7A-43D3-8B79-37D633B846F1}">
                <ns4:svgBlip r:embed="R0dc66ca7424d4289"/>
              </a:ext>
            </a:extLst>
          </a:blip>
          <a:stretch/>
        </p:blipFill>
        <p:spPr>
          <a:xfrm>
            <a:off x="647998" y="23626911"/>
            <a:ext cx="9404896" cy="1944142"/>
          </a:xfrm>
          <a:prstGeom prst="rect">
            <a:avLst/>
          </a:prstGeom>
        </p:spPr>
      </p:pic>
    </p:spTree>
    <p:extLst>
      <p:ext uri="{BB962C8B-B14F-4D97-AF65-F5344CB8AC3E}">
        <ns5:creationId val="176767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173248"/>
      </a:hlink>
      <a:folHlink>
        <a:srgbClr val="17324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2026-09-23T12:59:48.4240000Z</dcterms:created>
  <dcterms:modified xsi:type="dcterms:W3CDTF">2026-09-23T12:59:48.4240000Z</dcterms:modified>
</coreProperties>
</file>