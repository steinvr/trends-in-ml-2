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002222c8ad4ff5" /><Relationship Type="http://schemas.openxmlformats.org/officeDocument/2006/relationships/extended-properties" Target="/docProps/app.xml" Id="R1931b08a40fa40a3" /><Relationship Type="http://schemas.openxmlformats.org/officeDocument/2006/relationships/officeDocument" Target="/ppt/presentation.xml" Id="R40e6f28245f044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2f2df661c94ef8"/>
  </p:sldMasterIdLst>
  <p:notesMasterIdLst>
    <p:notesMasterId xmlns:r="http://schemas.openxmlformats.org/officeDocument/2006/relationships" r:id="Rc68a558ab2194b1e"/>
  </p:notesMasterIdLst>
  <p:sldIdLst>
    <p:sldId xmlns:r="http://schemas.openxmlformats.org/officeDocument/2006/relationships" id="256" r:id="R1ba92211d8914414"/>
  </p:sldIdLst>
  <p:sldSz cx="30276000" cy="2138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83d384edbc4a13" /><Relationship Type="http://schemas.openxmlformats.org/officeDocument/2006/relationships/slideMaster" Target="/ppt/slideMasters/slideMaster1.xml" Id="R3f2f2df661c94ef8" /><Relationship Type="http://schemas.openxmlformats.org/officeDocument/2006/relationships/notesMaster" Target="/ppt/notesMasters/notesMaster1.xml" Id="Rc68a558ab2194b1e" /><Relationship Type="http://schemas.openxmlformats.org/officeDocument/2006/relationships/presProps" Target="/ppt/presProps.xml" Id="Raf003af3a4d642c1" /><Relationship Type="http://schemas.openxmlformats.org/officeDocument/2006/relationships/tableStyles" Target="/ppt/tableStyles.xml" Id="R57247f7831df4a71" /><Relationship Type="http://schemas.openxmlformats.org/officeDocument/2006/relationships/slide" Target="/ppt/slides/slide1.xml" Id="R1ba92211d89144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d182af60b642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e8ce00fba243ba" /><Relationship Type="http://schemas.openxmlformats.org/officeDocument/2006/relationships/notesMaster" Target="/ppt/notesMasters/notesMaster1.xml" Id="R54c47bba3f304e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 of truth: /Users/steinv/Uni-Trier/Trends-In-ML-2/poster-narrative-2.md</a:t>
            </a:r>
          </a:p>
          <a:p xmlns:a="http://schemas.openxmlformats.org/drawingml/2006/main">
            <a:r>
              <a:t>Formal requirements: /Users/steinv/Uni-Trier/Trends-In-ML-2/Poster-Examination-Guidelines.pdf</a:t>
            </a:r>
          </a:p>
          <a:p xmlns:a="http://schemas.openxmlformats.org/drawingml/2006/main">
            <a:r>
              <a:t>Primary run report: artifacts/warmup_runs/runs/submission_e2e_20260424_solver_narrowing_no_guard/eval/benchmark_report.json</a:t>
            </a:r>
          </a:p>
          <a:p xmlns:a="http://schemas.openxmlformats.org/drawingml/2006/main">
            <a:r>
              <a:t>Primary page ledger: artifacts/warmup_runs/runs/submission_e2e_20260424_solver_narrowing_no_guard/grounding/ledger.csv</a:t>
            </a:r>
          </a:p>
          <a:p xmlns:a="http://schemas.openxmlformats.org/drawingml/2006/main">
            <a:r>
              <a:t>Lewis et al. (2020), https://proceedings.neurips.cc/paper/2020/hash/6b493230205f780e1bc26945df7481e5-Abstract.html</a:t>
            </a:r>
          </a:p>
          <a:p xmlns:a="http://schemas.openxmlformats.org/drawingml/2006/main">
            <a:r>
              <a:t>Karpukhin et al. (2020), https://aclanthology.org/2020.emnlp-main.550/</a:t>
            </a:r>
          </a:p>
          <a:p xmlns:a="http://schemas.openxmlformats.org/drawingml/2006/main">
            <a:r>
              <a:t>Cormack et al. (2009), https://doi.org/10.1145/1571941.1572114</a:t>
            </a:r>
          </a:p>
          <a:p xmlns:a="http://schemas.openxmlformats.org/drawingml/2006/main">
            <a:r>
              <a:t>Gao et al. (2023), https://aclanthology.org/2023.emnlp-main.398/</a:t>
            </a:r>
          </a:p>
          <a:p xmlns:a="http://schemas.openxmlformats.org/drawingml/2006/main">
            <a:r>
              <a:t>Pipitone and Houir Alami (2024), https://arxiv.org/abs/2408.10343</a:t>
            </a:r>
          </a:p>
          <a:p xmlns:a="http://schemas.openxmlformats.org/drawingml/2006/main">
            <a:r>
              <a:t>Zhang et al. (2025), https://arxiv.org/abs/2506.05176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bfde8708c43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3d971724c44fff" /><Relationship Type="http://schemas.openxmlformats.org/officeDocument/2006/relationships/slideLayout" Target="/ppt/slideLayouts/slideLayout1.xml" Id="Rd8cca5b26db541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cca5b26db541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0e197cfbc4ddd" /><Relationship Type="http://schemas.openxmlformats.org/officeDocument/2006/relationships/notesSlide" Target="/ppt/notesSlides/notesSlide1.xml" Id="R749526f6895940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eyebrow">
            <a:extLst xmlns:a="http://schemas.openxmlformats.org/drawingml/2006/main">
              <a:ext uri="{FF2B5EF4-FFF2-40B4-BE49-F238E27FC236}">
                <a16:creationId xmlns:a16="http://schemas.microsoft.com/office/drawing/2014/main" id="{4967A409-8821-4C7A-86F4-B83FBA9F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POSTER  |  NATURAL LANGUAGE PROCESSING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9E9304-1680-4CE7-A6F2-29AAE56F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6300"/>
            <a:ext cx="2247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72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From Legal PDFs to Verifiable Answers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FCBC3ED-4F0A-4976-AEEA-94961DD7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190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3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Evaluating answer quality, page-level grounding and latency across 100 legal questions</a:t>
            </a:r>
          </a:p>
        </p:txBody>
      </p:sp>
      <p:sp>
        <p:nvSpPr>
          <p:cNvPr id="4" name="repository">
            <a:extLst xmlns:a="http://schemas.openxmlformats.org/drawingml/2006/main">
              <a:ext uri="{FF2B5EF4-FFF2-40B4-BE49-F238E27FC236}">
                <a16:creationId xmlns:a16="http://schemas.microsoft.com/office/drawing/2014/main" id="{B2B090FE-06E8-4DF1-A84D-901C1DB2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700" y="14287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github.com/SteinVR/Agentic-RAG-Challenge</a:t>
            </a:r>
          </a:p>
        </p:txBody>
      </p:sp>
      <p:sp>
        <p:nvSpPr>
          <p:cNvPr id="5" name="affiliation">
            <a:extLst xmlns:a="http://schemas.openxmlformats.org/drawingml/2006/main">
              <a:ext uri="{FF2B5EF4-FFF2-40B4-BE49-F238E27FC236}">
                <a16:creationId xmlns:a16="http://schemas.microsoft.com/office/drawing/2014/main" id="{6578E44F-7699-404B-8E71-75E2CB7F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1700" y="1924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Trends in Machine Learning II  |  Universität Trier</a:t>
            </a:r>
          </a:p>
        </p:txBody>
      </p:sp>
      <p:sp>
        <p:nvSpPr>
          <p:cNvPr id="6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4B8220F-2B3D-4394-A2ED-C2FCA209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852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ypothesis-bg">
            <a:extLst xmlns:a="http://schemas.openxmlformats.org/drawingml/2006/main">
              <a:ext uri="{FF2B5EF4-FFF2-40B4-BE49-F238E27FC236}">
                <a16:creationId xmlns:a16="http://schemas.microsoft.com/office/drawing/2014/main" id="{DD0DA9C9-6798-4D2A-832C-A8BD6333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85234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ypothesis-label-marker">
            <a:extLst xmlns:a="http://schemas.openxmlformats.org/drawingml/2006/main">
              <a:ext uri="{FF2B5EF4-FFF2-40B4-BE49-F238E27FC236}">
                <a16:creationId xmlns:a16="http://schemas.microsoft.com/office/drawing/2014/main" id="{075DAD83-A046-4533-9D67-AA294711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95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ypothesis-label">
            <a:extLst xmlns:a="http://schemas.openxmlformats.org/drawingml/2006/main">
              <a:ext uri="{FF2B5EF4-FFF2-40B4-BE49-F238E27FC236}">
                <a16:creationId xmlns:a16="http://schemas.microsoft.com/office/drawing/2014/main" id="{DBD5C80C-A5DF-4002-A513-899DEE54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09925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0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BED437DD-85D5-4A87-937A-B8E263BE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1447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Can a page-traceable Legal RAG pipeline balance answer quality, source grounding, validity and latency?</a:t>
            </a:r>
          </a:p>
        </p:txBody>
      </p:sp>
      <p:sp>
        <p:nvSpPr>
          <p:cNvPr id="11" name="secondary-question">
            <a:extLst xmlns:a="http://schemas.openxmlformats.org/drawingml/2006/main">
              <a:ext uri="{FF2B5EF4-FFF2-40B4-BE49-F238E27FC236}">
                <a16:creationId xmlns:a16="http://schemas.microsoft.com/office/drawing/2014/main" id="{484AF2B1-DD39-4F2C-803D-E462E435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38600"/>
            <a:ext cx="1447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H2: Does answer-aware attribution sharpen citations while retaining at least one correct page per annotated question?</a:t>
            </a:r>
          </a:p>
        </p:txBody>
      </p:sp>
      <p:sp>
        <p:nvSpPr>
          <p:cNvPr id="12" name="hypothesis-divider">
            <a:extLst xmlns:a="http://schemas.openxmlformats.org/drawingml/2006/main">
              <a:ext uri="{FF2B5EF4-FFF2-40B4-BE49-F238E27FC236}">
                <a16:creationId xmlns:a16="http://schemas.microsoft.com/office/drawing/2014/main" id="{F41237B1-336C-4B63-BDD4-F9F1A6B8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0050" y="3219450"/>
            <a:ext cx="285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ypothesis-finding-label">
            <a:extLst xmlns:a="http://schemas.openxmlformats.org/drawingml/2006/main">
              <a:ext uri="{FF2B5EF4-FFF2-40B4-BE49-F238E27FC236}">
                <a16:creationId xmlns:a16="http://schemas.microsoft.com/office/drawing/2014/main" id="{0A2A850C-563C-4B52-BE3B-332CEA07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3181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FINDING</a:t>
            </a:r>
          </a:p>
        </p:txBody>
      </p:sp>
      <p:sp>
        <p:nvSpPr>
          <p:cNvPr id="14" name="hypothesis-finding">
            <a:extLst xmlns:a="http://schemas.openxmlformats.org/drawingml/2006/main">
              <a:ext uri="{FF2B5EF4-FFF2-40B4-BE49-F238E27FC236}">
                <a16:creationId xmlns:a16="http://schemas.microsoft.com/office/drawing/2014/main" id="{7046E4D6-4273-4399-9329-EA804BEC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1050" y="3638550"/>
            <a:ext cx="93305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H1 is partly supported: grounding missed its 0.85 threshold. H2 holds for precision, compactness and 95/95 hit coverage.</a:t>
            </a:r>
          </a:p>
        </p:txBody>
      </p:sp>
      <p:sp>
        <p:nvSpPr>
          <p:cNvPr id="15" name="methodology-label-marker">
            <a:extLst xmlns:a="http://schemas.openxmlformats.org/drawingml/2006/main">
              <a:ext uri="{FF2B5EF4-FFF2-40B4-BE49-F238E27FC236}">
                <a16:creationId xmlns:a16="http://schemas.microsoft.com/office/drawing/2014/main" id="{682E5178-C4B4-460E-88D4-97CE8BEE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5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ology-label">
            <a:extLst xmlns:a="http://schemas.openxmlformats.org/drawingml/2006/main">
              <a:ext uri="{FF2B5EF4-FFF2-40B4-BE49-F238E27FC236}">
                <a16:creationId xmlns:a16="http://schemas.microsoft.com/office/drawing/2014/main" id="{269C8A00-C92A-430D-B280-561EF109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81625"/>
            <a:ext cx="4514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7" name="methodology-data">
            <a:extLst xmlns:a="http://schemas.openxmlformats.org/drawingml/2006/main">
              <a:ext uri="{FF2B5EF4-FFF2-40B4-BE49-F238E27FC236}">
                <a16:creationId xmlns:a16="http://schemas.microsoft.com/office/drawing/2014/main" id="{12F30679-F4B4-44E6-9906-76E3659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57825"/>
            <a:ext cx="2318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600" b="1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100 questions  |  30 publicly available legal PDFs  |  590 pages  |  95 with page annotations</a:t>
            </a:r>
          </a:p>
        </p:txBody>
      </p:sp>
      <p:sp>
        <p:nvSpPr>
          <p:cNvPr id="18" name="methodology-rule">
            <a:extLst xmlns:a="http://schemas.openxmlformats.org/drawingml/2006/main">
              <a:ext uri="{FF2B5EF4-FFF2-40B4-BE49-F238E27FC236}">
                <a16:creationId xmlns:a16="http://schemas.microsoft.com/office/drawing/2014/main" id="{EE352A1C-4B1F-451A-896A-1A8638D6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71BAD7CD-8306-42BF-A534-299CF710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0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45C4D80E-F56F-4F6E-9BDF-B8EE0278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2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peline-arrow-3">
            <a:extLst xmlns:a="http://schemas.openxmlformats.org/drawingml/2006/main">
              <a:ext uri="{FF2B5EF4-FFF2-40B4-BE49-F238E27FC236}">
                <a16:creationId xmlns:a16="http://schemas.microsoft.com/office/drawing/2014/main" id="{C6C8EEA6-C764-45A2-ABF5-C000A3BD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320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arrow-4">
            <a:extLst xmlns:a="http://schemas.openxmlformats.org/drawingml/2006/main">
              <a:ext uri="{FF2B5EF4-FFF2-40B4-BE49-F238E27FC236}">
                <a16:creationId xmlns:a16="http://schemas.microsoft.com/office/drawing/2014/main" id="{5320967D-4E47-4713-AA20-062F7DD4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0040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arrow-5">
            <a:extLst xmlns:a="http://schemas.openxmlformats.org/drawingml/2006/main">
              <a:ext uri="{FF2B5EF4-FFF2-40B4-BE49-F238E27FC236}">
                <a16:creationId xmlns:a16="http://schemas.microsoft.com/office/drawing/2014/main" id="{663984D0-B85A-4450-8D61-CEF46A85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5350" y="7286625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venance-rail">
            <a:extLst xmlns:a="http://schemas.openxmlformats.org/drawingml/2006/main">
              <a:ext uri="{FF2B5EF4-FFF2-40B4-BE49-F238E27FC236}">
                <a16:creationId xmlns:a16="http://schemas.microsoft.com/office/drawing/2014/main" id="{81CE6FD7-675D-4CB4-A45F-A055F58B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400" y="9277350"/>
            <a:ext cx="27127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venance-dot-1">
            <a:extLst xmlns:a="http://schemas.openxmlformats.org/drawingml/2006/main">
              <a:ext uri="{FF2B5EF4-FFF2-40B4-BE49-F238E27FC236}">
                <a16:creationId xmlns:a16="http://schemas.microsoft.com/office/drawing/2014/main" id="{4651A021-85DC-4ED1-8622-CB5EA00C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50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provenance-dot-2">
            <a:extLst xmlns:a="http://schemas.openxmlformats.org/drawingml/2006/main">
              <a:ext uri="{FF2B5EF4-FFF2-40B4-BE49-F238E27FC236}">
                <a16:creationId xmlns:a16="http://schemas.microsoft.com/office/drawing/2014/main" id="{100923A4-8EBC-4E38-8E7E-33836397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70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7" name="provenance-dot-3">
            <a:extLst xmlns:a="http://schemas.openxmlformats.org/drawingml/2006/main">
              <a:ext uri="{FF2B5EF4-FFF2-40B4-BE49-F238E27FC236}">
                <a16:creationId xmlns:a16="http://schemas.microsoft.com/office/drawing/2014/main" id="{54E5E9E5-9F7E-49EA-88BA-EF52C620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477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provenance-dot-4">
            <a:extLst xmlns:a="http://schemas.openxmlformats.org/drawingml/2006/main">
              <a:ext uri="{FF2B5EF4-FFF2-40B4-BE49-F238E27FC236}">
                <a16:creationId xmlns:a16="http://schemas.microsoft.com/office/drawing/2014/main" id="{293D9B05-5D8D-4E62-8D0B-D78749E8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5850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9" name="provenance-dot-5">
            <a:extLst xmlns:a="http://schemas.openxmlformats.org/drawingml/2006/main">
              <a:ext uri="{FF2B5EF4-FFF2-40B4-BE49-F238E27FC236}">
                <a16:creationId xmlns:a16="http://schemas.microsoft.com/office/drawing/2014/main" id="{E6434852-E82C-4337-B3D6-28C5405F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692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0" name="provenance-dot-6">
            <a:extLst xmlns:a="http://schemas.openxmlformats.org/drawingml/2006/main">
              <a:ext uri="{FF2B5EF4-FFF2-40B4-BE49-F238E27FC236}">
                <a16:creationId xmlns:a16="http://schemas.microsoft.com/office/drawing/2014/main" id="{F6F12031-7651-440E-B761-F62BD0F6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9925" y="9210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31" name="stage-1-box">
            <a:extLst xmlns:a="http://schemas.openxmlformats.org/drawingml/2006/main">
              <a:ext uri="{FF2B5EF4-FFF2-40B4-BE49-F238E27FC236}">
                <a16:creationId xmlns:a16="http://schemas.microsoft.com/office/drawing/2014/main" id="{B1D3F700-7BC8-4418-ABE5-C82FEFF7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0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32" name="stage-1-accent">
            <a:extLst xmlns:a="http://schemas.openxmlformats.org/drawingml/2006/main">
              <a:ext uri="{FF2B5EF4-FFF2-40B4-BE49-F238E27FC236}">
                <a16:creationId xmlns:a16="http://schemas.microsoft.com/office/drawing/2014/main" id="{B27419E2-9C8A-4240-B5DB-DA92629A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7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B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tage-1-kicker">
            <a:extLst xmlns:a="http://schemas.openxmlformats.org/drawingml/2006/main">
              <a:ext uri="{FF2B5EF4-FFF2-40B4-BE49-F238E27FC236}">
                <a16:creationId xmlns:a16="http://schemas.microsoft.com/office/drawing/2014/main" id="{304AC316-3F88-4CCA-ACD0-3560197F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  SOURCE</a:t>
            </a:r>
          </a:p>
        </p:txBody>
      </p:sp>
      <p:sp>
        <p:nvSpPr>
          <p:cNvPr id="34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A0FCDF6B-3C83-4D35-8FC4-6B575D7C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Page-stable ingestion</a:t>
            </a:r>
          </a:p>
        </p:txBody>
      </p:sp>
      <p:sp>
        <p:nvSpPr>
          <p:cNvPr id="35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A773B402-6604-4BFA-B57A-ADD3C24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45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Native text + tables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OCR fallback available</a:t>
            </a:r>
          </a:p>
        </p:txBody>
      </p:sp>
      <p:sp>
        <p:nvSpPr>
          <p:cNvPr id="36" name="stage-2-box">
            <a:extLst xmlns:a="http://schemas.openxmlformats.org/drawingml/2006/main">
              <a:ext uri="{FF2B5EF4-FFF2-40B4-BE49-F238E27FC236}">
                <a16:creationId xmlns:a16="http://schemas.microsoft.com/office/drawing/2014/main" id="{1BA647D3-5282-46BE-AD78-EA7BE19D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0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37" name="stage-2-accent">
            <a:extLst xmlns:a="http://schemas.openxmlformats.org/drawingml/2006/main">
              <a:ext uri="{FF2B5EF4-FFF2-40B4-BE49-F238E27FC236}">
                <a16:creationId xmlns:a16="http://schemas.microsoft.com/office/drawing/2014/main" id="{F9FE5B26-8924-4DE4-B613-0493351D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9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ge-2-kicker">
            <a:extLst xmlns:a="http://schemas.openxmlformats.org/drawingml/2006/main">
              <a:ext uri="{FF2B5EF4-FFF2-40B4-BE49-F238E27FC236}">
                <a16:creationId xmlns:a16="http://schemas.microsoft.com/office/drawing/2014/main" id="{CCED443A-EFAA-4BA8-A20D-3AB5002B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  REPRESENT</a:t>
            </a:r>
          </a:p>
        </p:txBody>
      </p:sp>
      <p:sp>
        <p:nvSpPr>
          <p:cNvPr id="39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399C37E4-1C3C-495D-B087-81F0BF07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Multi-view index</a:t>
            </a:r>
          </a:p>
        </p:txBody>
      </p:sp>
      <p:sp>
        <p:nvSpPr>
          <p:cNvPr id="40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9C4B93B6-5CA5-4D06-8CB2-436670DE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065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Page, section, clause,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microchunk and table</a:t>
            </a:r>
          </a:p>
        </p:txBody>
      </p:sp>
      <p:sp>
        <p:nvSpPr>
          <p:cNvPr id="41" name="stage-3-box">
            <a:extLst xmlns:a="http://schemas.openxmlformats.org/drawingml/2006/main">
              <a:ext uri="{FF2B5EF4-FFF2-40B4-BE49-F238E27FC236}">
                <a16:creationId xmlns:a16="http://schemas.microsoft.com/office/drawing/2014/main" id="{21967FD3-9096-439A-80B3-91CEDF77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00" y="628650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AF8FC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42" name="stage-3-accent">
            <a:extLst xmlns:a="http://schemas.openxmlformats.org/drawingml/2006/main">
              <a:ext uri="{FF2B5EF4-FFF2-40B4-BE49-F238E27FC236}">
                <a16:creationId xmlns:a16="http://schemas.microsoft.com/office/drawing/2014/main" id="{936A1D88-0B6A-4E71-B35A-ED0DAC1A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1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tage-3-kicker">
            <a:extLst xmlns:a="http://schemas.openxmlformats.org/drawingml/2006/main">
              <a:ext uri="{FF2B5EF4-FFF2-40B4-BE49-F238E27FC236}">
                <a16:creationId xmlns:a16="http://schemas.microsoft.com/office/drawing/2014/main" id="{9D37ECD5-617A-487E-9025-007CEC9D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6524625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  RETRIEVE</a:t>
            </a:r>
          </a:p>
        </p:txBody>
      </p:sp>
      <p:sp>
        <p:nvSpPr>
          <p:cNvPr id="44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349F9C41-34DF-4323-B172-CDB07C66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70104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Hybrid retrieve + rerank</a:t>
            </a:r>
          </a:p>
        </p:txBody>
      </p:sp>
      <p:sp>
        <p:nvSpPr>
          <p:cNvPr id="45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5F0D93AC-7211-4C37-B489-A8277B55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850" y="7772400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BM25 + Qwen3 Embedding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RRF + Qwen3 Reranker</a:t>
            </a:r>
          </a:p>
        </p:txBody>
      </p:sp>
      <p:sp>
        <p:nvSpPr>
          <p:cNvPr id="46" name="stage-4-box">
            <a:extLst xmlns:a="http://schemas.openxmlformats.org/drawingml/2006/main">
              <a:ext uri="{FF2B5EF4-FFF2-40B4-BE49-F238E27FC236}">
                <a16:creationId xmlns:a16="http://schemas.microsoft.com/office/drawing/2014/main" id="{BDFE8CE5-E630-4D4C-AE31-398D30A2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050" y="6286500"/>
            <a:ext cx="39052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47" name="stage-4-accent">
            <a:extLst xmlns:a="http://schemas.openxmlformats.org/drawingml/2006/main">
              <a:ext uri="{FF2B5EF4-FFF2-40B4-BE49-F238E27FC236}">
                <a16:creationId xmlns:a16="http://schemas.microsoft.com/office/drawing/2014/main" id="{F28ECE30-1714-4E3A-A8DC-B58D8900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705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stage-4-kicker">
            <a:extLst xmlns:a="http://schemas.openxmlformats.org/drawingml/2006/main">
              <a:ext uri="{FF2B5EF4-FFF2-40B4-BE49-F238E27FC236}">
                <a16:creationId xmlns:a16="http://schemas.microsoft.com/office/drawing/2014/main" id="{B7E3B3B6-3B02-48C4-89BA-C3F71F66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65246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  ANSWER</a:t>
            </a:r>
          </a:p>
        </p:txBody>
      </p:sp>
      <p:sp>
        <p:nvSpPr>
          <p:cNvPr id="49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E542C597-9CFC-4CB7-BBFC-8F2BC09E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70104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Typed answer</a:t>
            </a:r>
          </a:p>
        </p:txBody>
      </p:sp>
      <p:sp>
        <p:nvSpPr>
          <p:cNvPr id="50" name="stage-4-body">
            <a:extLst xmlns:a="http://schemas.openxmlformats.org/drawingml/2006/main">
              <a:ext uri="{FF2B5EF4-FFF2-40B4-BE49-F238E27FC236}">
                <a16:creationId xmlns:a16="http://schemas.microsoft.com/office/drawing/2014/main" id="{3AF235FB-610B-4E54-B0C3-9811769C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2800" y="77724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gpt-5.4-mini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strict JSON + validators</a:t>
            </a:r>
          </a:p>
        </p:txBody>
      </p:sp>
      <p:sp>
        <p:nvSpPr>
          <p:cNvPr id="51" name="stage-5-box">
            <a:extLst xmlns:a="http://schemas.openxmlformats.org/drawingml/2006/main">
              <a:ext uri="{FF2B5EF4-FFF2-40B4-BE49-F238E27FC236}">
                <a16:creationId xmlns:a16="http://schemas.microsoft.com/office/drawing/2014/main" id="{FC17AB88-4931-4F02-9DE5-CB3FEA7D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250" y="628650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2" name="stage-5-accent">
            <a:extLst xmlns:a="http://schemas.openxmlformats.org/drawingml/2006/main">
              <a:ext uri="{FF2B5EF4-FFF2-40B4-BE49-F238E27FC236}">
                <a16:creationId xmlns:a16="http://schemas.microsoft.com/office/drawing/2014/main" id="{CE7587F5-6169-4366-8C78-8CE00035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25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tage-5-kicker">
            <a:extLst xmlns:a="http://schemas.openxmlformats.org/drawingml/2006/main">
              <a:ext uri="{FF2B5EF4-FFF2-40B4-BE49-F238E27FC236}">
                <a16:creationId xmlns:a16="http://schemas.microsoft.com/office/drawing/2014/main" id="{2483561B-73F3-4D41-A79E-7779A37F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6524625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  ATTRIBUTE</a:t>
            </a:r>
          </a:p>
        </p:txBody>
      </p:sp>
      <p:sp>
        <p:nvSpPr>
          <p:cNvPr id="54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681557F4-07C2-4D19-81AB-30392EC3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7010400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Answer-aware pages</a:t>
            </a:r>
          </a:p>
        </p:txBody>
      </p:sp>
      <p:sp>
        <p:nvSpPr>
          <p:cNvPr id="55" name="stage-5-body">
            <a:extLst xmlns:a="http://schemas.openxmlformats.org/drawingml/2006/main">
              <a:ext uri="{FF2B5EF4-FFF2-40B4-BE49-F238E27FC236}">
                <a16:creationId xmlns:a16="http://schemas.microsoft.com/office/drawing/2014/main" id="{3AFFEDCD-95A0-40E7-9CC2-9FC9A0D9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0000" y="7772400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check + fallback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raw -&gt; filter -&gt; final</a:t>
            </a:r>
          </a:p>
        </p:txBody>
      </p:sp>
      <p:sp>
        <p:nvSpPr>
          <p:cNvPr id="56" name="stage-6-box">
            <a:extLst xmlns:a="http://schemas.openxmlformats.org/drawingml/2006/main">
              <a:ext uri="{FF2B5EF4-FFF2-40B4-BE49-F238E27FC236}">
                <a16:creationId xmlns:a16="http://schemas.microsoft.com/office/drawing/2014/main" id="{97B512A3-D9A3-4F6A-A7B2-C27735E4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9200" y="6286500"/>
            <a:ext cx="42291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57" name="stage-6-accent">
            <a:extLst xmlns:a="http://schemas.openxmlformats.org/drawingml/2006/main">
              <a:ext uri="{FF2B5EF4-FFF2-40B4-BE49-F238E27FC236}">
                <a16:creationId xmlns:a16="http://schemas.microsoft.com/office/drawing/2014/main" id="{E37956B5-7BFF-4D73-AA42-9E880C97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9200" y="6286500"/>
            <a:ext cx="1143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tage-6-kicker">
            <a:extLst xmlns:a="http://schemas.openxmlformats.org/drawingml/2006/main">
              <a:ext uri="{FF2B5EF4-FFF2-40B4-BE49-F238E27FC236}">
                <a16:creationId xmlns:a16="http://schemas.microsoft.com/office/drawing/2014/main" id="{9E3C23B7-EACA-45FB-915E-B4E33B77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6524625"/>
            <a:ext cx="3705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  VERIFY</a:t>
            </a:r>
          </a:p>
        </p:txBody>
      </p:sp>
      <p:sp>
        <p:nvSpPr>
          <p:cNvPr id="59" name="stage-6-title">
            <a:extLst xmlns:a="http://schemas.openxmlformats.org/drawingml/2006/main">
              <a:ext uri="{FF2B5EF4-FFF2-40B4-BE49-F238E27FC236}">
                <a16:creationId xmlns:a16="http://schemas.microsoft.com/office/drawing/2014/main" id="{7AC77D53-40CC-4BE1-9D46-DBA54BFE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7010400"/>
            <a:ext cx="3705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Auditable output</a:t>
            </a:r>
          </a:p>
        </p:txBody>
      </p:sp>
      <p:sp>
        <p:nvSpPr>
          <p:cNvPr id="60" name="stage-6-body">
            <a:extLst xmlns:a="http://schemas.openxmlformats.org/drawingml/2006/main">
              <a:ext uri="{FF2B5EF4-FFF2-40B4-BE49-F238E27FC236}">
                <a16:creationId xmlns:a16="http://schemas.microsoft.com/office/drawing/2014/main" id="{6DBA3667-ACAC-486E-9167-19DC22A2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24950" y="7772400"/>
            <a:ext cx="3705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Answer + pages + trace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validity + TTFT</a:t>
            </a:r>
          </a:p>
        </p:txBody>
      </p:sp>
      <p:sp>
        <p:nvSpPr>
          <p:cNvPr id="61" name="provenance-label">
            <a:extLst xmlns:a="http://schemas.openxmlformats.org/drawingml/2006/main">
              <a:ext uri="{FF2B5EF4-FFF2-40B4-BE49-F238E27FC236}">
                <a16:creationId xmlns:a16="http://schemas.microsoft.com/office/drawing/2014/main" id="{B50F1C6D-7357-46EA-984A-2EE293F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8953500"/>
            <a:ext cx="1504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CONTINUOUS PROVENANCE  |  document_id + page_number</a:t>
            </a:r>
          </a:p>
        </p:txBody>
      </p:sp>
      <p:sp>
        <p:nvSpPr>
          <p:cNvPr id="62" name="provenance-explanation">
            <a:extLst xmlns:a="http://schemas.openxmlformats.org/drawingml/2006/main">
              <a:ext uri="{FF2B5EF4-FFF2-40B4-BE49-F238E27FC236}">
                <a16:creationId xmlns:a16="http://schemas.microsoft.com/office/drawing/2014/main" id="{70839858-B198-45E4-91E2-DAA84F65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9572625"/>
            <a:ext cx="2090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same identifiers survive every stage, so a final citation can be traced back to the exact PDF page.</a:t>
            </a:r>
          </a:p>
        </p:txBody>
      </p:sp>
      <p:sp>
        <p:nvSpPr>
          <p:cNvPr id="63" name="evaluation-design">
            <a:extLst xmlns:a="http://schemas.openxmlformats.org/drawingml/2006/main">
              <a:ext uri="{FF2B5EF4-FFF2-40B4-BE49-F238E27FC236}">
                <a16:creationId xmlns:a16="http://schemas.microsoft.com/office/drawing/2014/main" id="{0B343AE0-F535-4171-B961-124A2500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0096500"/>
            <a:ext cx="2528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Evaluation A: end-to-end profile on 100 questions.  Evaluation B: paired raw -&gt; filter -&gt; final page sets on the same 95 annotated questions.</a:t>
            </a:r>
          </a:p>
        </p:txBody>
      </p:sp>
      <p:sp>
        <p:nvSpPr>
          <p:cNvPr id="64" name="results-top-rule">
            <a:extLst xmlns:a="http://schemas.openxmlformats.org/drawingml/2006/main">
              <a:ext uri="{FF2B5EF4-FFF2-40B4-BE49-F238E27FC236}">
                <a16:creationId xmlns:a16="http://schemas.microsoft.com/office/drawing/2014/main" id="{735DA024-AC9E-44E0-8453-0CC01A6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858500"/>
            <a:ext cx="2852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results-bottom-rule">
            <a:extLst xmlns:a="http://schemas.openxmlformats.org/drawingml/2006/main">
              <a:ext uri="{FF2B5EF4-FFF2-40B4-BE49-F238E27FC236}">
                <a16:creationId xmlns:a16="http://schemas.microsoft.com/office/drawing/2014/main" id="{F595F7F2-55B4-44A9-B211-3CEC56F8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0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results-separator-1">
            <a:extLst xmlns:a="http://schemas.openxmlformats.org/drawingml/2006/main">
              <a:ext uri="{FF2B5EF4-FFF2-40B4-BE49-F238E27FC236}">
                <a16:creationId xmlns:a16="http://schemas.microsoft.com/office/drawing/2014/main" id="{F6F7E775-0FC9-44D4-8D61-540CE2A7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068050"/>
            <a:ext cx="190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results-separator-2">
            <a:extLst xmlns:a="http://schemas.openxmlformats.org/drawingml/2006/main">
              <a:ext uri="{FF2B5EF4-FFF2-40B4-BE49-F238E27FC236}">
                <a16:creationId xmlns:a16="http://schemas.microsoft.com/office/drawing/2014/main" id="{6F21BDC6-8FCE-49F9-8A5F-A2AFE42B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0" y="11068050"/>
            <a:ext cx="190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results-system-label">
            <a:extLst xmlns:a="http://schemas.openxmlformats.org/drawingml/2006/main">
              <a:ext uri="{FF2B5EF4-FFF2-40B4-BE49-F238E27FC236}">
                <a16:creationId xmlns:a16="http://schemas.microsoft.com/office/drawing/2014/main" id="{379F1755-4793-468C-A6E1-89C212C0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087100"/>
            <a:ext cx="8458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  |  SYSTEM</a:t>
            </a:r>
          </a:p>
        </p:txBody>
      </p:sp>
      <p:sp>
        <p:nvSpPr>
          <p:cNvPr id="69" name="results-system-title">
            <a:extLst xmlns:a="http://schemas.openxmlformats.org/drawingml/2006/main">
              <a:ext uri="{FF2B5EF4-FFF2-40B4-BE49-F238E27FC236}">
                <a16:creationId xmlns:a16="http://schemas.microsoft.com/office/drawing/2014/main" id="{6BA2D6C7-ACCD-4504-B54A-BD44DF83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525250"/>
            <a:ext cx="845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Grounding limits an otherwise strong system</a:t>
            </a:r>
          </a:p>
        </p:txBody>
      </p:sp>
      <p:sp>
        <p:nvSpPr>
          <p:cNvPr id="70" name="system-equation-panel">
            <a:extLst xmlns:a="http://schemas.openxmlformats.org/drawingml/2006/main">
              <a:ext uri="{FF2B5EF4-FFF2-40B4-BE49-F238E27FC236}">
                <a16:creationId xmlns:a16="http://schemas.microsoft.com/office/drawing/2014/main" id="{BA987EDD-6532-4A23-9F27-06D8D5BD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268200"/>
            <a:ext cx="840105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eq-times-1">
            <a:extLst xmlns:a="http://schemas.openxmlformats.org/drawingml/2006/main">
              <a:ext uri="{FF2B5EF4-FFF2-40B4-BE49-F238E27FC236}">
                <a16:creationId xmlns:a16="http://schemas.microsoft.com/office/drawing/2014/main" id="{E08456B7-E5D5-4029-A41E-F135F919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25825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2" name="eq-times-2">
            <a:extLst xmlns:a="http://schemas.openxmlformats.org/drawingml/2006/main">
              <a:ext uri="{FF2B5EF4-FFF2-40B4-BE49-F238E27FC236}">
                <a16:creationId xmlns:a16="http://schemas.microsoft.com/office/drawing/2014/main" id="{FD1FA8E3-1CD2-4826-A82A-8CE18D7E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25825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3" name="eq-times-3">
            <a:extLst xmlns:a="http://schemas.openxmlformats.org/drawingml/2006/main">
              <a:ext uri="{FF2B5EF4-FFF2-40B4-BE49-F238E27FC236}">
                <a16:creationId xmlns:a16="http://schemas.microsoft.com/office/drawing/2014/main" id="{C6C1BEE8-087F-4502-82C4-C708EAB4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258252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7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4" name="eq-equals">
            <a:extLst xmlns:a="http://schemas.openxmlformats.org/drawingml/2006/main">
              <a:ext uri="{FF2B5EF4-FFF2-40B4-BE49-F238E27FC236}">
                <a16:creationId xmlns:a16="http://schemas.microsoft.com/office/drawing/2014/main" id="{CE6F19D1-39DD-490D-8A33-1FD4B227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2553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75" name="equation-1-value">
            <a:extLst xmlns:a="http://schemas.openxmlformats.org/drawingml/2006/main">
              <a:ext uri="{FF2B5EF4-FFF2-40B4-BE49-F238E27FC236}">
                <a16:creationId xmlns:a16="http://schemas.microsoft.com/office/drawing/2014/main" id="{1A245AFE-DD28-4AA6-A921-9A410F68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0.956</a:t>
            </a:r>
          </a:p>
        </p:txBody>
      </p:sp>
      <p:sp>
        <p:nvSpPr>
          <p:cNvPr id="76" name="equation-1-label">
            <a:extLst xmlns:a="http://schemas.openxmlformats.org/drawingml/2006/main">
              <a:ext uri="{FF2B5EF4-FFF2-40B4-BE49-F238E27FC236}">
                <a16:creationId xmlns:a16="http://schemas.microsoft.com/office/drawing/2014/main" id="{E021A466-C078-4F86-AB8D-8E8A524B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answer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77" name="equation-2-value">
            <a:extLst xmlns:a="http://schemas.openxmlformats.org/drawingml/2006/main">
              <a:ext uri="{FF2B5EF4-FFF2-40B4-BE49-F238E27FC236}">
                <a16:creationId xmlns:a16="http://schemas.microsoft.com/office/drawing/2014/main" id="{27AFF6C9-D9D2-4330-8BC4-A0387F2F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0.847</a:t>
            </a:r>
          </a:p>
        </p:txBody>
      </p:sp>
      <p:sp>
        <p:nvSpPr>
          <p:cNvPr id="78" name="equation-2-label">
            <a:extLst xmlns:a="http://schemas.openxmlformats.org/drawingml/2006/main">
              <a:ext uri="{FF2B5EF4-FFF2-40B4-BE49-F238E27FC236}">
                <a16:creationId xmlns:a16="http://schemas.microsoft.com/office/drawing/2014/main" id="{73F674E7-D7C3-4D86-B2B1-7E18883C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grounding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n = 100</a:t>
            </a:r>
          </a:p>
        </p:txBody>
      </p:sp>
      <p:sp>
        <p:nvSpPr>
          <p:cNvPr id="79" name="equation-3-value">
            <a:extLst xmlns:a="http://schemas.openxmlformats.org/drawingml/2006/main">
              <a:ext uri="{FF2B5EF4-FFF2-40B4-BE49-F238E27FC236}">
                <a16:creationId xmlns:a16="http://schemas.microsoft.com/office/drawing/2014/main" id="{85E33CDF-A5F0-4E8A-9F8E-C8A8698C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1.000</a:t>
            </a:r>
          </a:p>
        </p:txBody>
      </p:sp>
      <p:sp>
        <p:nvSpPr>
          <p:cNvPr id="80" name="equation-3-label">
            <a:extLst xmlns:a="http://schemas.openxmlformats.org/drawingml/2006/main">
              <a:ext uri="{FF2B5EF4-FFF2-40B4-BE49-F238E27FC236}">
                <a16:creationId xmlns:a16="http://schemas.microsoft.com/office/drawing/2014/main" id="{A0C012AB-7883-4B99-A16B-68D0481C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valid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81" name="equation-4-value">
            <a:extLst xmlns:a="http://schemas.openxmlformats.org/drawingml/2006/main">
              <a:ext uri="{FF2B5EF4-FFF2-40B4-BE49-F238E27FC236}">
                <a16:creationId xmlns:a16="http://schemas.microsoft.com/office/drawing/2014/main" id="{080E57ED-7013-4780-9A3F-10FACD62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5158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3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0.938</a:t>
            </a:r>
          </a:p>
        </p:txBody>
      </p:sp>
      <p:sp>
        <p:nvSpPr>
          <p:cNvPr id="82" name="equation-4-label">
            <a:extLst xmlns:a="http://schemas.openxmlformats.org/drawingml/2006/main">
              <a:ext uri="{FF2B5EF4-FFF2-40B4-BE49-F238E27FC236}">
                <a16:creationId xmlns:a16="http://schemas.microsoft.com/office/drawing/2014/main" id="{C82146FE-2C11-4EB1-9498-DF3618F6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3125450"/>
            <a:ext cx="144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latency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multiplier</a:t>
            </a:r>
          </a:p>
        </p:txBody>
      </p:sp>
      <p:sp>
        <p:nvSpPr>
          <p:cNvPr id="83" name="equation-5-value">
            <a:extLst xmlns:a="http://schemas.openxmlformats.org/drawingml/2006/main">
              <a:ext uri="{FF2B5EF4-FFF2-40B4-BE49-F238E27FC236}">
                <a16:creationId xmlns:a16="http://schemas.microsoft.com/office/drawing/2014/main" id="{7B6DF76D-919F-4279-8CC2-BCB74E70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251585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3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0.759</a:t>
            </a:r>
          </a:p>
        </p:txBody>
      </p:sp>
      <p:sp>
        <p:nvSpPr>
          <p:cNvPr id="84" name="equation-5-label">
            <a:extLst xmlns:a="http://schemas.openxmlformats.org/drawingml/2006/main">
              <a:ext uri="{FF2B5EF4-FFF2-40B4-BE49-F238E27FC236}">
                <a16:creationId xmlns:a16="http://schemas.microsoft.com/office/drawing/2014/main" id="{A7147556-2372-4724-B22A-0FA345F5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31254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total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85" name="grounding-warning">
            <a:extLst xmlns:a="http://schemas.openxmlformats.org/drawingml/2006/main">
              <a:ext uri="{FF2B5EF4-FFF2-40B4-BE49-F238E27FC236}">
                <a16:creationId xmlns:a16="http://schemas.microsoft.com/office/drawing/2014/main" id="{C8EF60EE-B123-416C-80D4-EC89EF12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887450"/>
            <a:ext cx="13525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grounding-threshold">
            <a:extLst xmlns:a="http://schemas.openxmlformats.org/drawingml/2006/main">
              <a:ext uri="{FF2B5EF4-FFF2-40B4-BE49-F238E27FC236}">
                <a16:creationId xmlns:a16="http://schemas.microsoft.com/office/drawing/2014/main" id="{479AF738-901E-48B8-881D-D06FB7E4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4116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0.847 &lt; 0.850</a:t>
            </a:r>
          </a:p>
        </p:txBody>
      </p:sp>
      <p:sp>
        <p:nvSpPr>
          <p:cNvPr id="87" name="valid-detail">
            <a:extLst xmlns:a="http://schemas.openxmlformats.org/drawingml/2006/main">
              <a:ext uri="{FF2B5EF4-FFF2-40B4-BE49-F238E27FC236}">
                <a16:creationId xmlns:a16="http://schemas.microsoft.com/office/drawing/2014/main" id="{F097795F-EEF4-4311-8C07-8A3F9CD1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04937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100/100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valid outputs</a:t>
            </a:r>
          </a:p>
        </p:txBody>
      </p:sp>
      <p:sp>
        <p:nvSpPr>
          <p:cNvPr id="88" name="latency-detail">
            <a:extLst xmlns:a="http://schemas.openxmlformats.org/drawingml/2006/main">
              <a:ext uri="{FF2B5EF4-FFF2-40B4-BE49-F238E27FC236}">
                <a16:creationId xmlns:a16="http://schemas.microsoft.com/office/drawing/2014/main" id="{D3622D17-51E1-49C3-B4D3-7C337217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049375"/>
            <a:ext cx="161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Mean TTFT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6.39 s</a:t>
            </a:r>
          </a:p>
        </p:txBody>
      </p:sp>
      <p:sp>
        <p:nvSpPr>
          <p:cNvPr id="89" name="answer-detail">
            <a:extLst xmlns:a="http://schemas.openxmlformats.org/drawingml/2006/main">
              <a:ext uri="{FF2B5EF4-FFF2-40B4-BE49-F238E27FC236}">
                <a16:creationId xmlns:a16="http://schemas.microsoft.com/office/drawing/2014/main" id="{F43B71CC-F004-40BB-B394-4A677290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00"/>
            <a:ext cx="830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0.943 deterministic  |  0.987 free text</a:t>
            </a:r>
          </a:p>
        </p:txBody>
      </p:sp>
      <p:sp>
        <p:nvSpPr>
          <p:cNvPr id="90" name="system-interpretation">
            <a:extLst xmlns:a="http://schemas.openxmlformats.org/drawingml/2006/main">
              <a:ext uri="{FF2B5EF4-FFF2-40B4-BE49-F238E27FC236}">
                <a16:creationId xmlns:a16="http://schemas.microsoft.com/office/drawing/2014/main" id="{D0C933B8-4382-4CE3-8B63-7BA5B1DA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0"/>
            <a:ext cx="8305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H1 is partly supported: quality, validity and latency pass; benchmark grounding misses 0.85.</a:t>
            </a:r>
          </a:p>
        </p:txBody>
      </p:sp>
      <p:sp>
        <p:nvSpPr>
          <p:cNvPr id="91" name="results-attribution-label">
            <a:extLst xmlns:a="http://schemas.openxmlformats.org/drawingml/2006/main">
              <a:ext uri="{FF2B5EF4-FFF2-40B4-BE49-F238E27FC236}">
                <a16:creationId xmlns:a16="http://schemas.microsoft.com/office/drawing/2014/main" id="{6DCDBA96-B780-4B56-BA3F-6E7D2BC3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0871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  |  ATTRIBUTION</a:t>
            </a:r>
          </a:p>
        </p:txBody>
      </p:sp>
      <p:sp>
        <p:nvSpPr>
          <p:cNvPr id="92" name="results-attribution-title">
            <a:extLst xmlns:a="http://schemas.openxmlformats.org/drawingml/2006/main">
              <a:ext uri="{FF2B5EF4-FFF2-40B4-BE49-F238E27FC236}">
                <a16:creationId xmlns:a16="http://schemas.microsoft.com/office/drawing/2014/main" id="{FECC9CB6-9B7E-44D3-A4FC-D222FFA8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5252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Answer-aware selection removes citation noise</a:t>
            </a:r>
          </a:p>
        </p:txBody>
      </p:sp>
      <p:sp>
        <p:nvSpPr>
          <p:cNvPr id="93" name="attribution-sample">
            <a:extLst xmlns:a="http://schemas.openxmlformats.org/drawingml/2006/main">
              <a:ext uri="{FF2B5EF4-FFF2-40B4-BE49-F238E27FC236}">
                <a16:creationId xmlns:a16="http://schemas.microsoft.com/office/drawing/2014/main" id="{39C8C67B-0A36-4FCD-8EFC-101B8215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2001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Macro averages  |  n = 95 annotated questions</a:t>
            </a:r>
          </a:p>
        </p:txBody>
      </p:sp>
      <p:sp>
        <p:nvSpPr>
          <p:cNvPr id="94" name="plot-stage-1">
            <a:extLst xmlns:a="http://schemas.openxmlformats.org/drawingml/2006/main">
              <a:ext uri="{FF2B5EF4-FFF2-40B4-BE49-F238E27FC236}">
                <a16:creationId xmlns:a16="http://schemas.microsoft.com/office/drawing/2014/main" id="{8EBD6487-065F-410F-A31D-99A5FD2C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2401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AEB5C0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AEB5C0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95" name="plot-stage-2">
            <a:extLst xmlns:a="http://schemas.openxmlformats.org/drawingml/2006/main">
              <a:ext uri="{FF2B5EF4-FFF2-40B4-BE49-F238E27FC236}">
                <a16:creationId xmlns:a16="http://schemas.microsoft.com/office/drawing/2014/main" id="{D482C122-4CF6-4A36-AD32-BE4763D3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12401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FILTER</a:t>
            </a:r>
          </a:p>
        </p:txBody>
      </p:sp>
      <p:sp>
        <p:nvSpPr>
          <p:cNvPr id="96" name="plot-stage-3">
            <a:extLst xmlns:a="http://schemas.openxmlformats.org/drawingml/2006/main">
              <a:ext uri="{FF2B5EF4-FFF2-40B4-BE49-F238E27FC236}">
                <a16:creationId xmlns:a16="http://schemas.microsoft.com/office/drawing/2014/main" id="{30BC732D-68B1-4BC9-9D12-FAF59A7D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124015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FINAL</a:t>
            </a:r>
          </a:p>
        </p:txBody>
      </p:sp>
      <p:sp>
        <p:nvSpPr>
          <p:cNvPr id="97" name="precision-row-label">
            <a:extLst xmlns:a="http://schemas.openxmlformats.org/drawingml/2006/main">
              <a:ext uri="{FF2B5EF4-FFF2-40B4-BE49-F238E27FC236}">
                <a16:creationId xmlns:a16="http://schemas.microsoft.com/office/drawing/2014/main" id="{6E52B511-9B87-4BAA-ACB5-0CAE36B9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0397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98" name="precision-line-1">
            <a:extLst xmlns:a="http://schemas.openxmlformats.org/drawingml/2006/main">
              <a:ext uri="{FF2B5EF4-FFF2-40B4-BE49-F238E27FC236}">
                <a16:creationId xmlns:a16="http://schemas.microsoft.com/office/drawing/2014/main" id="{9E903FFC-6EB8-410F-8E09-4E9716A5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3248561"/>
            <a:ext cx="295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99" name="precision-line-2">
            <a:extLst xmlns:a="http://schemas.openxmlformats.org/drawingml/2006/main">
              <a:ext uri="{FF2B5EF4-FFF2-40B4-BE49-F238E27FC236}">
                <a16:creationId xmlns:a16="http://schemas.microsoft.com/office/drawing/2014/main" id="{494CEB0B-CA7C-4D62-A732-82759EAD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716250" y="13044130"/>
            <a:ext cx="2952750" cy="2044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00" name="precision-dot-1">
            <a:extLst xmlns:a="http://schemas.openxmlformats.org/drawingml/2006/main">
              <a:ext uri="{FF2B5EF4-FFF2-40B4-BE49-F238E27FC236}">
                <a16:creationId xmlns:a16="http://schemas.microsoft.com/office/drawing/2014/main" id="{500D07DD-8B0C-48BF-964D-AB0074E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3134261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1" name="precision-value-1">
            <a:extLst xmlns:a="http://schemas.openxmlformats.org/drawingml/2006/main">
              <a:ext uri="{FF2B5EF4-FFF2-40B4-BE49-F238E27FC236}">
                <a16:creationId xmlns:a16="http://schemas.microsoft.com/office/drawing/2014/main" id="{BD57A334-514D-4A9B-8A98-EB395AF0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2848511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63.8%</a:t>
            </a:r>
          </a:p>
        </p:txBody>
      </p:sp>
      <p:sp>
        <p:nvSpPr>
          <p:cNvPr id="102" name="precision-dot-2">
            <a:extLst xmlns:a="http://schemas.openxmlformats.org/drawingml/2006/main">
              <a:ext uri="{FF2B5EF4-FFF2-40B4-BE49-F238E27FC236}">
                <a16:creationId xmlns:a16="http://schemas.microsoft.com/office/drawing/2014/main" id="{E9010999-185B-4B56-AD40-41DFFD7E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3134261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3" name="precision-value-2">
            <a:extLst xmlns:a="http://schemas.openxmlformats.org/drawingml/2006/main">
              <a:ext uri="{FF2B5EF4-FFF2-40B4-BE49-F238E27FC236}">
                <a16:creationId xmlns:a16="http://schemas.microsoft.com/office/drawing/2014/main" id="{88D4C381-1DF6-4A88-B348-C19CD425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2848511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63.8%</a:t>
            </a:r>
          </a:p>
        </p:txBody>
      </p:sp>
      <p:sp>
        <p:nvSpPr>
          <p:cNvPr id="104" name="precision-dot-3">
            <a:extLst xmlns:a="http://schemas.openxmlformats.org/drawingml/2006/main">
              <a:ext uri="{FF2B5EF4-FFF2-40B4-BE49-F238E27FC236}">
                <a16:creationId xmlns:a16="http://schemas.microsoft.com/office/drawing/2014/main" id="{7775AFEF-A115-4231-8AF8-C39EDB04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292983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5" name="precision-value-3">
            <a:extLst xmlns:a="http://schemas.openxmlformats.org/drawingml/2006/main">
              <a:ext uri="{FF2B5EF4-FFF2-40B4-BE49-F238E27FC236}">
                <a16:creationId xmlns:a16="http://schemas.microsoft.com/office/drawing/2014/main" id="{3D590025-A370-4BA2-8AE5-49EB6A20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264408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73.9%</a:t>
            </a:r>
          </a:p>
        </p:txBody>
      </p:sp>
      <p:sp>
        <p:nvSpPr>
          <p:cNvPr id="106" name="recall-row-label">
            <a:extLst xmlns:a="http://schemas.openxmlformats.org/drawingml/2006/main">
              <a:ext uri="{FF2B5EF4-FFF2-40B4-BE49-F238E27FC236}">
                <a16:creationId xmlns:a16="http://schemas.microsoft.com/office/drawing/2014/main" id="{E5D4CC53-F8F1-4CBC-9E76-E060BDCC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7064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07" name="recall-line-1">
            <a:extLst xmlns:a="http://schemas.openxmlformats.org/drawingml/2006/main">
              <a:ext uri="{FF2B5EF4-FFF2-40B4-BE49-F238E27FC236}">
                <a16:creationId xmlns:a16="http://schemas.microsoft.com/office/drawing/2014/main" id="{54A2CBD4-F789-40D4-93BC-F35B68EF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3765530"/>
            <a:ext cx="2952750" cy="485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08" name="recall-line-2">
            <a:extLst xmlns:a="http://schemas.openxmlformats.org/drawingml/2006/main">
              <a:ext uri="{FF2B5EF4-FFF2-40B4-BE49-F238E27FC236}">
                <a16:creationId xmlns:a16="http://schemas.microsoft.com/office/drawing/2014/main" id="{3A9FA22C-4F3E-4343-A2BF-CF99F7DD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0" y="13814108"/>
            <a:ext cx="2952750" cy="809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09" name="recall-dot-1">
            <a:extLst xmlns:a="http://schemas.openxmlformats.org/drawingml/2006/main">
              <a:ext uri="{FF2B5EF4-FFF2-40B4-BE49-F238E27FC236}">
                <a16:creationId xmlns:a16="http://schemas.microsoft.com/office/drawing/2014/main" id="{2E6545EC-1F7B-472F-ABCA-3AB3256F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365123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0" name="recall-value-1">
            <a:extLst xmlns:a="http://schemas.openxmlformats.org/drawingml/2006/main">
              <a:ext uri="{FF2B5EF4-FFF2-40B4-BE49-F238E27FC236}">
                <a16:creationId xmlns:a16="http://schemas.microsoft.com/office/drawing/2014/main" id="{F20A4DB2-B6FA-4F02-8BAA-11E4DBA7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336548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96.8%</a:t>
            </a:r>
          </a:p>
        </p:txBody>
      </p:sp>
      <p:sp>
        <p:nvSpPr>
          <p:cNvPr id="111" name="recall-dot-2">
            <a:extLst xmlns:a="http://schemas.openxmlformats.org/drawingml/2006/main">
              <a:ext uri="{FF2B5EF4-FFF2-40B4-BE49-F238E27FC236}">
                <a16:creationId xmlns:a16="http://schemas.microsoft.com/office/drawing/2014/main" id="{163A41D2-78AB-419C-812E-12EA16F6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369980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2" name="recall-value-2">
            <a:extLst xmlns:a="http://schemas.openxmlformats.org/drawingml/2006/main">
              <a:ext uri="{FF2B5EF4-FFF2-40B4-BE49-F238E27FC236}">
                <a16:creationId xmlns:a16="http://schemas.microsoft.com/office/drawing/2014/main" id="{D6331C5F-B244-4DC1-8328-4403D78A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3414058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96.2%</a:t>
            </a:r>
          </a:p>
        </p:txBody>
      </p:sp>
      <p:sp>
        <p:nvSpPr>
          <p:cNvPr id="113" name="recall-dot-3">
            <a:extLst xmlns:a="http://schemas.openxmlformats.org/drawingml/2006/main">
              <a:ext uri="{FF2B5EF4-FFF2-40B4-BE49-F238E27FC236}">
                <a16:creationId xmlns:a16="http://schemas.microsoft.com/office/drawing/2014/main" id="{32A503D3-2848-4D3E-8E48-082E2A01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378077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4" name="recall-value-3">
            <a:extLst xmlns:a="http://schemas.openxmlformats.org/drawingml/2006/main">
              <a:ext uri="{FF2B5EF4-FFF2-40B4-BE49-F238E27FC236}">
                <a16:creationId xmlns:a16="http://schemas.microsoft.com/office/drawing/2014/main" id="{3DA50E4C-BCFD-42A2-B113-C234FB7C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349502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95.2%</a:t>
            </a:r>
          </a:p>
        </p:txBody>
      </p:sp>
      <p:sp>
        <p:nvSpPr>
          <p:cNvPr id="115" name="fbeta-row-label">
            <a:extLst xmlns:a="http://schemas.openxmlformats.org/drawingml/2006/main">
              <a:ext uri="{FF2B5EF4-FFF2-40B4-BE49-F238E27FC236}">
                <a16:creationId xmlns:a16="http://schemas.microsoft.com/office/drawing/2014/main" id="{32544983-BAA2-49FD-B194-0911F5C5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3732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F-beta</a:t>
            </a:r>
          </a:p>
        </p:txBody>
      </p:sp>
      <p:sp>
        <p:nvSpPr>
          <p:cNvPr id="116" name="fbeta-line-1">
            <a:extLst xmlns:a="http://schemas.openxmlformats.org/drawingml/2006/main">
              <a:ext uri="{FF2B5EF4-FFF2-40B4-BE49-F238E27FC236}">
                <a16:creationId xmlns:a16="http://schemas.microsoft.com/office/drawing/2014/main" id="{E749EEA8-C715-41FE-A892-166F2C3D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4547941"/>
            <a:ext cx="2952750" cy="370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17" name="fbeta-line-2">
            <a:extLst xmlns:a="http://schemas.openxmlformats.org/drawingml/2006/main">
              <a:ext uri="{FF2B5EF4-FFF2-40B4-BE49-F238E27FC236}">
                <a16:creationId xmlns:a16="http://schemas.microsoft.com/office/drawing/2014/main" id="{A7C82923-54BD-40C9-AFFB-69FC6234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5716250" y="14409148"/>
            <a:ext cx="2952750" cy="1758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18" name="fbeta-dot-1">
            <a:extLst xmlns:a="http://schemas.openxmlformats.org/drawingml/2006/main">
              <a:ext uri="{FF2B5EF4-FFF2-40B4-BE49-F238E27FC236}">
                <a16:creationId xmlns:a16="http://schemas.microsoft.com/office/drawing/2014/main" id="{6C015457-741C-469A-9649-14805560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4433641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9" name="fbeta-value-1">
            <a:extLst xmlns:a="http://schemas.openxmlformats.org/drawingml/2006/main">
              <a:ext uri="{FF2B5EF4-FFF2-40B4-BE49-F238E27FC236}">
                <a16:creationId xmlns:a16="http://schemas.microsoft.com/office/drawing/2014/main" id="{3FF3F67A-A9CF-4084-AC0F-29828C2B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147891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87.7%</a:t>
            </a:r>
          </a:p>
        </p:txBody>
      </p:sp>
      <p:sp>
        <p:nvSpPr>
          <p:cNvPr id="120" name="fbeta-dot-2">
            <a:extLst xmlns:a="http://schemas.openxmlformats.org/drawingml/2006/main">
              <a:ext uri="{FF2B5EF4-FFF2-40B4-BE49-F238E27FC236}">
                <a16:creationId xmlns:a16="http://schemas.microsoft.com/office/drawing/2014/main" id="{B6A69594-356B-4E08-A82D-01A60726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4470652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1" name="fbeta-value-2">
            <a:extLst xmlns:a="http://schemas.openxmlformats.org/drawingml/2006/main">
              <a:ext uri="{FF2B5EF4-FFF2-40B4-BE49-F238E27FC236}">
                <a16:creationId xmlns:a16="http://schemas.microsoft.com/office/drawing/2014/main" id="{07DED800-58A8-448A-9CD3-7E87436A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4184902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87.3%</a:t>
            </a:r>
          </a:p>
        </p:txBody>
      </p:sp>
      <p:sp>
        <p:nvSpPr>
          <p:cNvPr id="122" name="fbeta-dot-3">
            <a:extLst xmlns:a="http://schemas.openxmlformats.org/drawingml/2006/main">
              <a:ext uri="{FF2B5EF4-FFF2-40B4-BE49-F238E27FC236}">
                <a16:creationId xmlns:a16="http://schemas.microsoft.com/office/drawing/2014/main" id="{6A50F7CD-02EA-4F18-B006-0BEAF926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429484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3" name="fbeta-value-3">
            <a:extLst xmlns:a="http://schemas.openxmlformats.org/drawingml/2006/main">
              <a:ext uri="{FF2B5EF4-FFF2-40B4-BE49-F238E27FC236}">
                <a16:creationId xmlns:a16="http://schemas.microsoft.com/office/drawing/2014/main" id="{AAC2623F-B945-4810-ACD7-440EA169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4009098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89.2%</a:t>
            </a:r>
          </a:p>
        </p:txBody>
      </p:sp>
      <p:sp>
        <p:nvSpPr>
          <p:cNvPr id="124" name="pages-row-label">
            <a:extLst xmlns:a="http://schemas.openxmlformats.org/drawingml/2006/main">
              <a:ext uri="{FF2B5EF4-FFF2-40B4-BE49-F238E27FC236}">
                <a16:creationId xmlns:a16="http://schemas.microsoft.com/office/drawing/2014/main" id="{49C99170-77B2-4AA6-A693-D6919DDE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0399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Pages / Q</a:t>
            </a:r>
          </a:p>
        </p:txBody>
      </p:sp>
      <p:sp>
        <p:nvSpPr>
          <p:cNvPr id="125" name="pages-line-1">
            <a:extLst xmlns:a="http://schemas.openxmlformats.org/drawingml/2006/main">
              <a:ext uri="{FF2B5EF4-FFF2-40B4-BE49-F238E27FC236}">
                <a16:creationId xmlns:a16="http://schemas.microsoft.com/office/drawing/2014/main" id="{7923708E-65A4-4CAB-AE18-C1AF347B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63500" y="15060168"/>
            <a:ext cx="2952750" cy="129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EB5C0"/>
            </a:solidFill>
            <a:prstDash val="solid"/>
          </a:ln>
        </p:spPr>
      </p:sp>
      <p:sp>
        <p:nvSpPr>
          <p:cNvPr id="126" name="pages-line-2">
            <a:extLst xmlns:a="http://schemas.openxmlformats.org/drawingml/2006/main">
              <a:ext uri="{FF2B5EF4-FFF2-40B4-BE49-F238E27FC236}">
                <a16:creationId xmlns:a16="http://schemas.microsoft.com/office/drawing/2014/main" id="{3444728F-EA6E-4E30-8640-FFD24821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0" y="15073122"/>
            <a:ext cx="2952750" cy="2007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27" name="pages-dot-1">
            <a:extLst xmlns:a="http://schemas.openxmlformats.org/drawingml/2006/main">
              <a:ext uri="{FF2B5EF4-FFF2-40B4-BE49-F238E27FC236}">
                <a16:creationId xmlns:a16="http://schemas.microsoft.com/office/drawing/2014/main" id="{B16266F5-C954-4FD9-AD9F-D82D1CB5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14945868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EB5C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8" name="pages-value-1">
            <a:extLst xmlns:a="http://schemas.openxmlformats.org/drawingml/2006/main">
              <a:ext uri="{FF2B5EF4-FFF2-40B4-BE49-F238E27FC236}">
                <a16:creationId xmlns:a16="http://schemas.microsoft.com/office/drawing/2014/main" id="{43B4856A-C2B9-4E20-B651-A182B43C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4660118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2.56</a:t>
            </a:r>
          </a:p>
        </p:txBody>
      </p:sp>
      <p:sp>
        <p:nvSpPr>
          <p:cNvPr id="129" name="pages-dot-2">
            <a:extLst xmlns:a="http://schemas.openxmlformats.org/drawingml/2006/main">
              <a:ext uri="{FF2B5EF4-FFF2-40B4-BE49-F238E27FC236}">
                <a16:creationId xmlns:a16="http://schemas.microsoft.com/office/drawing/2014/main" id="{C3A09473-8250-44BA-8148-7FD9C32C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14958822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0" name="pages-value-2">
            <a:extLst xmlns:a="http://schemas.openxmlformats.org/drawingml/2006/main">
              <a:ext uri="{FF2B5EF4-FFF2-40B4-BE49-F238E27FC236}">
                <a16:creationId xmlns:a16="http://schemas.microsoft.com/office/drawing/2014/main" id="{2873329A-678C-4E9C-9CD8-FC7B9F00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4673072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2.54</a:t>
            </a:r>
          </a:p>
        </p:txBody>
      </p:sp>
      <p:sp>
        <p:nvSpPr>
          <p:cNvPr id="131" name="pages-dot-3">
            <a:extLst xmlns:a="http://schemas.openxmlformats.org/drawingml/2006/main">
              <a:ext uri="{FF2B5EF4-FFF2-40B4-BE49-F238E27FC236}">
                <a16:creationId xmlns:a16="http://schemas.microsoft.com/office/drawing/2014/main" id="{59418E71-264B-421A-9619-E089EC8A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0" y="15159609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2" name="pages-value-3">
            <a:extLst xmlns:a="http://schemas.openxmlformats.org/drawingml/2006/main">
              <a:ext uri="{FF2B5EF4-FFF2-40B4-BE49-F238E27FC236}">
                <a16:creationId xmlns:a16="http://schemas.microsoft.com/office/drawing/2014/main" id="{1A2D4EB2-B119-4C08-8EDB-0B9586E4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4873859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2.23</a:t>
            </a:r>
          </a:p>
        </p:txBody>
      </p:sp>
      <p:sp>
        <p:nvSpPr>
          <p:cNvPr id="133" name="attribution-callout-rule">
            <a:extLst xmlns:a="http://schemas.openxmlformats.org/drawingml/2006/main">
              <a:ext uri="{FF2B5EF4-FFF2-40B4-BE49-F238E27FC236}">
                <a16:creationId xmlns:a16="http://schemas.microsoft.com/office/drawing/2014/main" id="{065EBBB4-4C28-44BF-83DE-6B4C6FFE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6400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callout-accent-1">
            <a:extLst xmlns:a="http://schemas.openxmlformats.org/drawingml/2006/main">
              <a:ext uri="{FF2B5EF4-FFF2-40B4-BE49-F238E27FC236}">
                <a16:creationId xmlns:a16="http://schemas.microsoft.com/office/drawing/2014/main" id="{947DDCA5-FD86-4CFC-9418-ABCBAA46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7829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callout-value-1">
            <a:extLst xmlns:a="http://schemas.openxmlformats.org/drawingml/2006/main">
              <a:ext uri="{FF2B5EF4-FFF2-40B4-BE49-F238E27FC236}">
                <a16:creationId xmlns:a16="http://schemas.microsoft.com/office/drawing/2014/main" id="{292F7AE3-35CA-4D87-86B5-18E0CEAB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5725775"/>
            <a:ext cx="320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+10.2 pp</a:t>
            </a:r>
          </a:p>
        </p:txBody>
      </p:sp>
      <p:sp>
        <p:nvSpPr>
          <p:cNvPr id="136" name="callout-label-1">
            <a:extLst xmlns:a="http://schemas.openxmlformats.org/drawingml/2006/main">
              <a:ext uri="{FF2B5EF4-FFF2-40B4-BE49-F238E27FC236}">
                <a16:creationId xmlns:a16="http://schemas.microsoft.com/office/drawing/2014/main" id="{D588A2FB-1F3E-4906-A127-3B66CD4E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144875"/>
            <a:ext cx="320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precision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95% CI +6.3 to +14.4</a:t>
            </a:r>
          </a:p>
        </p:txBody>
      </p:sp>
      <p:sp>
        <p:nvSpPr>
          <p:cNvPr id="137" name="callout-accent-2">
            <a:extLst xmlns:a="http://schemas.openxmlformats.org/drawingml/2006/main">
              <a:ext uri="{FF2B5EF4-FFF2-40B4-BE49-F238E27FC236}">
                <a16:creationId xmlns:a16="http://schemas.microsoft.com/office/drawing/2014/main" id="{74E2FB54-F988-4CA1-828B-36EA5EFC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3250" y="157829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callout-value-2">
            <a:extLst xmlns:a="http://schemas.openxmlformats.org/drawingml/2006/main">
              <a:ext uri="{FF2B5EF4-FFF2-40B4-BE49-F238E27FC236}">
                <a16:creationId xmlns:a16="http://schemas.microsoft.com/office/drawing/2014/main" id="{7294ADF5-321A-4214-BA2E-519FADEE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800" y="15725775"/>
            <a:ext cx="320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-0.33</a:t>
            </a:r>
          </a:p>
        </p:txBody>
      </p:sp>
      <p:sp>
        <p:nvSpPr>
          <p:cNvPr id="139" name="callout-label-2">
            <a:extLst xmlns:a="http://schemas.openxmlformats.org/drawingml/2006/main">
              <a:ext uri="{FF2B5EF4-FFF2-40B4-BE49-F238E27FC236}">
                <a16:creationId xmlns:a16="http://schemas.microsoft.com/office/drawing/2014/main" id="{19E6A921-3518-4EEE-8C11-A5F8D1AC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2800" y="16144875"/>
            <a:ext cx="320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pages / question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95% CI -0.46 to -0.20</a:t>
            </a:r>
          </a:p>
        </p:txBody>
      </p:sp>
      <p:sp>
        <p:nvSpPr>
          <p:cNvPr id="140" name="callout-accent-3">
            <a:extLst xmlns:a="http://schemas.openxmlformats.org/drawingml/2006/main">
              <a:ext uri="{FF2B5EF4-FFF2-40B4-BE49-F238E27FC236}">
                <a16:creationId xmlns:a16="http://schemas.microsoft.com/office/drawing/2014/main" id="{C5A8A397-066B-4FBE-B1B3-15F47077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5750" y="15782925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C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callout-value-3">
            <a:extLst xmlns:a="http://schemas.openxmlformats.org/drawingml/2006/main">
              <a:ext uri="{FF2B5EF4-FFF2-40B4-BE49-F238E27FC236}">
                <a16:creationId xmlns:a16="http://schemas.microsoft.com/office/drawing/2014/main" id="{AA592236-9F41-459A-9DDD-9A9D88EE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300" y="15725775"/>
            <a:ext cx="320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95/95</a:t>
            </a:r>
          </a:p>
        </p:txBody>
      </p:sp>
      <p:sp>
        <p:nvSpPr>
          <p:cNvPr id="142" name="callout-label-3">
            <a:extLst xmlns:a="http://schemas.openxmlformats.org/drawingml/2006/main">
              <a:ext uri="{FF2B5EF4-FFF2-40B4-BE49-F238E27FC236}">
                <a16:creationId xmlns:a16="http://schemas.microsoft.com/office/drawing/2014/main" id="{0474D870-425B-4A78-A1E6-1E7EF493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5300" y="16144875"/>
            <a:ext cx="320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hit coverage retained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F-beta gain uncertain</a:t>
            </a:r>
          </a:p>
        </p:txBody>
      </p:sp>
      <p:sp>
        <p:nvSpPr>
          <p:cNvPr id="143" name="results-boundary-label">
            <a:extLst xmlns:a="http://schemas.openxmlformats.org/drawingml/2006/main">
              <a:ext uri="{FF2B5EF4-FFF2-40B4-BE49-F238E27FC236}">
                <a16:creationId xmlns:a16="http://schemas.microsoft.com/office/drawing/2014/main" id="{3D39D51A-FFCA-4D6F-B9B8-60BD216B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1087100"/>
            <a:ext cx="865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RESULTS  |  BOUNDARY</a:t>
            </a:r>
          </a:p>
        </p:txBody>
      </p:sp>
      <p:sp>
        <p:nvSpPr>
          <p:cNvPr id="144" name="results-boundary-title">
            <a:extLst xmlns:a="http://schemas.openxmlformats.org/drawingml/2006/main">
              <a:ext uri="{FF2B5EF4-FFF2-40B4-BE49-F238E27FC236}">
                <a16:creationId xmlns:a16="http://schemas.microsoft.com/office/drawing/2014/main" id="{8870E5AD-F81D-4CBA-9E22-F92687F6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1525250"/>
            <a:ext cx="865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30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Narrowing helps local - and hurts distributed evidence</a:t>
            </a:r>
          </a:p>
        </p:txBody>
      </p:sp>
      <p:sp>
        <p:nvSpPr>
          <p:cNvPr id="145" name="boundary-subtitle">
            <a:extLst xmlns:a="http://schemas.openxmlformats.org/drawingml/2006/main">
              <a:ext uri="{FF2B5EF4-FFF2-40B4-BE49-F238E27FC236}">
                <a16:creationId xmlns:a16="http://schemas.microsoft.com/office/drawing/2014/main" id="{CC047AD5-C88F-48EA-AD03-3DCF5541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2334875"/>
            <a:ext cx="865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Exploratory F-beta delta (pp), raw -&gt; final</a:t>
            </a:r>
          </a:p>
        </p:txBody>
      </p:sp>
      <p:sp>
        <p:nvSpPr>
          <p:cNvPr id="146" name="boundary-zero-line">
            <a:extLst xmlns:a="http://schemas.openxmlformats.org/drawingml/2006/main">
              <a:ext uri="{FF2B5EF4-FFF2-40B4-BE49-F238E27FC236}">
                <a16:creationId xmlns:a16="http://schemas.microsoft.com/office/drawing/2014/main" id="{D27A937B-79F3-49C4-A047-930C0072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2715875"/>
            <a:ext cx="2857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single-page-label">
            <a:extLst xmlns:a="http://schemas.openxmlformats.org/drawingml/2006/main">
              <a:ext uri="{FF2B5EF4-FFF2-40B4-BE49-F238E27FC236}">
                <a16:creationId xmlns:a16="http://schemas.microsoft.com/office/drawing/2014/main" id="{D219E549-8403-4019-9BD2-D57DB40B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28016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Single page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59</a:t>
            </a:r>
          </a:p>
        </p:txBody>
      </p:sp>
      <p:sp>
        <p:nvSpPr>
          <p:cNvPr id="148" name="single-page-bar">
            <a:extLst xmlns:a="http://schemas.openxmlformats.org/drawingml/2006/main">
              <a:ext uri="{FF2B5EF4-FFF2-40B4-BE49-F238E27FC236}">
                <a16:creationId xmlns:a16="http://schemas.microsoft.com/office/drawing/2014/main" id="{D6425558-ABEB-469F-8FB8-8E36D62E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2906375"/>
            <a:ext cx="27432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single-page-value">
            <a:extLst xmlns:a="http://schemas.openxmlformats.org/drawingml/2006/main">
              <a:ext uri="{FF2B5EF4-FFF2-40B4-BE49-F238E27FC236}">
                <a16:creationId xmlns:a16="http://schemas.microsoft.com/office/drawing/2014/main" id="{16B8CE81-06C5-4166-91BF-7F457636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2575" y="128587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+4.0</a:t>
            </a:r>
          </a:p>
        </p:txBody>
      </p:sp>
      <p:sp>
        <p:nvSpPr>
          <p:cNvPr id="150" name="multi-page-label">
            <a:extLst xmlns:a="http://schemas.openxmlformats.org/drawingml/2006/main">
              <a:ext uri="{FF2B5EF4-FFF2-40B4-BE49-F238E27FC236}">
                <a16:creationId xmlns:a16="http://schemas.microsoft.com/office/drawing/2014/main" id="{74FC341C-DC43-4F90-A37F-6BF5BE71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34874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 page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36</a:t>
            </a:r>
          </a:p>
        </p:txBody>
      </p:sp>
      <p:sp>
        <p:nvSpPr>
          <p:cNvPr id="151" name="multi-page-bar">
            <a:extLst xmlns:a="http://schemas.openxmlformats.org/drawingml/2006/main">
              <a:ext uri="{FF2B5EF4-FFF2-40B4-BE49-F238E27FC236}">
                <a16:creationId xmlns:a16="http://schemas.microsoft.com/office/drawing/2014/main" id="{93FFCDBB-3CB0-4FB1-BEE7-C19EBD44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2945" y="13592175"/>
            <a:ext cx="178308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multi-page-value">
            <a:extLst xmlns:a="http://schemas.openxmlformats.org/drawingml/2006/main">
              <a:ext uri="{FF2B5EF4-FFF2-40B4-BE49-F238E27FC236}">
                <a16:creationId xmlns:a16="http://schemas.microsoft.com/office/drawing/2014/main" id="{3707528D-4262-4BC0-835D-E580A5DD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1395" y="135445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-2.6</a:t>
            </a:r>
          </a:p>
        </p:txBody>
      </p:sp>
      <p:sp>
        <p:nvSpPr>
          <p:cNvPr id="153" name="single-doc-label">
            <a:extLst xmlns:a="http://schemas.openxmlformats.org/drawingml/2006/main">
              <a:ext uri="{FF2B5EF4-FFF2-40B4-BE49-F238E27FC236}">
                <a16:creationId xmlns:a16="http://schemas.microsoft.com/office/drawing/2014/main" id="{64CC1B93-8B55-4D1B-8716-91E7EAE7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41732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Single document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60</a:t>
            </a:r>
          </a:p>
        </p:txBody>
      </p:sp>
      <p:sp>
        <p:nvSpPr>
          <p:cNvPr id="154" name="single-doc-bar">
            <a:extLst xmlns:a="http://schemas.openxmlformats.org/drawingml/2006/main">
              <a:ext uri="{FF2B5EF4-FFF2-40B4-BE49-F238E27FC236}">
                <a16:creationId xmlns:a16="http://schemas.microsoft.com/office/drawing/2014/main" id="{A46167D0-F550-426C-AE60-44CCC5C1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025" y="14277975"/>
            <a:ext cx="219456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single-doc-value">
            <a:extLst xmlns:a="http://schemas.openxmlformats.org/drawingml/2006/main">
              <a:ext uri="{FF2B5EF4-FFF2-40B4-BE49-F238E27FC236}">
                <a16:creationId xmlns:a16="http://schemas.microsoft.com/office/drawing/2014/main" id="{71E7BF54-2879-41C9-9E2B-61C3458A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3935" y="142303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+3.2</a:t>
            </a:r>
          </a:p>
        </p:txBody>
      </p:sp>
      <p:sp>
        <p:nvSpPr>
          <p:cNvPr id="156" name="multi-doc-label">
            <a:extLst xmlns:a="http://schemas.openxmlformats.org/drawingml/2006/main">
              <a:ext uri="{FF2B5EF4-FFF2-40B4-BE49-F238E27FC236}">
                <a16:creationId xmlns:a16="http://schemas.microsoft.com/office/drawing/2014/main" id="{76DF5B36-92FF-4393-8766-2FC79441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4859000"/>
            <a:ext cx="2714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Multi document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 = 35</a:t>
            </a:r>
          </a:p>
        </p:txBody>
      </p:sp>
      <p:sp>
        <p:nvSpPr>
          <p:cNvPr id="157" name="multi-doc-bar">
            <a:extLst xmlns:a="http://schemas.openxmlformats.org/drawingml/2006/main">
              <a:ext uri="{FF2B5EF4-FFF2-40B4-BE49-F238E27FC236}">
                <a16:creationId xmlns:a16="http://schemas.microsoft.com/office/drawing/2014/main" id="{782FBC9B-2528-497B-96B0-A391EDF8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5905" y="14963775"/>
            <a:ext cx="96012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multi-doc-value">
            <a:extLst xmlns:a="http://schemas.openxmlformats.org/drawingml/2006/main">
              <a:ext uri="{FF2B5EF4-FFF2-40B4-BE49-F238E27FC236}">
                <a16:creationId xmlns:a16="http://schemas.microsoft.com/office/drawing/2014/main" id="{1D230A2E-8D8D-47CD-B3C5-EFBB9FE8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4355" y="1491615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-1.4</a:t>
            </a:r>
          </a:p>
        </p:txBody>
      </p:sp>
      <p:sp>
        <p:nvSpPr>
          <p:cNvPr id="159" name="boundary-axis-left">
            <a:extLst xmlns:a="http://schemas.openxmlformats.org/drawingml/2006/main">
              <a:ext uri="{FF2B5EF4-FFF2-40B4-BE49-F238E27FC236}">
                <a16:creationId xmlns:a16="http://schemas.microsoft.com/office/drawing/2014/main" id="{3A912927-28C1-4ECE-9F06-C315BEDD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7650" y="157638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-3</a:t>
            </a:r>
          </a:p>
        </p:txBody>
      </p:sp>
      <p:sp>
        <p:nvSpPr>
          <p:cNvPr id="160" name="boundary-axis-zero">
            <a:extLst xmlns:a="http://schemas.openxmlformats.org/drawingml/2006/main">
              <a:ext uri="{FF2B5EF4-FFF2-40B4-BE49-F238E27FC236}">
                <a16:creationId xmlns:a16="http://schemas.microsoft.com/office/drawing/2014/main" id="{D434D9F4-CD73-46FC-A43B-89E98830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60275" y="15763875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1" name="boundary-axis-right">
            <a:extLst xmlns:a="http://schemas.openxmlformats.org/drawingml/2006/main">
              <a:ext uri="{FF2B5EF4-FFF2-40B4-BE49-F238E27FC236}">
                <a16:creationId xmlns:a16="http://schemas.microsoft.com/office/drawing/2014/main" id="{C62437C3-71DF-4462-8BE8-2652F674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0" y="1576387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+5</a:t>
            </a:r>
          </a:p>
        </p:txBody>
      </p:sp>
      <p:sp>
        <p:nvSpPr>
          <p:cNvPr id="162" name="boundary-conclusion">
            <a:extLst xmlns:a="http://schemas.openxmlformats.org/drawingml/2006/main">
              <a:ext uri="{FF2B5EF4-FFF2-40B4-BE49-F238E27FC236}">
                <a16:creationId xmlns:a16="http://schemas.microsoft.com/office/drawing/2014/main" id="{66530DE4-60F9-48B7-A6EC-34F3030C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1150" y="16211550"/>
            <a:ext cx="865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Multi-page regression is the clearest failure boundary.</a:t>
            </a:r>
          </a:p>
        </p:txBody>
      </p:sp>
      <p:sp>
        <p:nvSpPr>
          <p:cNvPr id="163" name="metric-distinction-bg">
            <a:extLst xmlns:a="http://schemas.openxmlformats.org/drawingml/2006/main">
              <a:ext uri="{FF2B5EF4-FFF2-40B4-BE49-F238E27FC236}">
                <a16:creationId xmlns:a16="http://schemas.microsoft.com/office/drawing/2014/main" id="{67FBC93B-AB57-4FFA-8B51-4514EE5C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44950"/>
            <a:ext cx="2852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metric-distinction">
            <a:extLst xmlns:a="http://schemas.openxmlformats.org/drawingml/2006/main">
              <a:ext uri="{FF2B5EF4-FFF2-40B4-BE49-F238E27FC236}">
                <a16:creationId xmlns:a16="http://schemas.microsoft.com/office/drawing/2014/main" id="{0634330D-D25A-4C83-9A57-945177D4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821150"/>
            <a:ext cx="2795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400" b="1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Do not conflate: benchmark grounding 0.847 = all 100 answers; macro page F-beta 0.892 = final attribution on 95 annotated questions.</a:t>
            </a:r>
          </a:p>
        </p:txBody>
      </p:sp>
      <p:sp>
        <p:nvSpPr>
          <p:cNvPr id="165" name="decision-strip">
            <a:extLst xmlns:a="http://schemas.openxmlformats.org/drawingml/2006/main">
              <a:ext uri="{FF2B5EF4-FFF2-40B4-BE49-F238E27FC236}">
                <a16:creationId xmlns:a16="http://schemas.microsoft.com/office/drawing/2014/main" id="{A20ADECA-C1F2-4B6F-9252-88696CF6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83125"/>
            <a:ext cx="285234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5EFAD2A9-D7BC-40A7-A545-5959A0AB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022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1" i="0">
                <a:solidFill>
                  <a:srgbClr val="69C5E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69C5E8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67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62F7D17A-20FE-4A7F-9C85-F91549C8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573625"/>
            <a:ext cx="2509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 broadly. Attribute explicitly. Narrow conservatively when evidence spans pages or documents.</a:t>
            </a:r>
          </a:p>
        </p:txBody>
      </p:sp>
      <p:sp>
        <p:nvSpPr>
          <p:cNvPr id="168" name="limitations-label">
            <a:extLst xmlns:a="http://schemas.openxmlformats.org/drawingml/2006/main">
              <a:ext uri="{FF2B5EF4-FFF2-40B4-BE49-F238E27FC236}">
                <a16:creationId xmlns:a16="http://schemas.microsoft.com/office/drawing/2014/main" id="{09A14E56-77CC-46A9-887A-B6919566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57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69" name="limitation-rule-1">
            <a:extLst xmlns:a="http://schemas.openxmlformats.org/drawingml/2006/main">
              <a:ext uri="{FF2B5EF4-FFF2-40B4-BE49-F238E27FC236}">
                <a16:creationId xmlns:a16="http://schemas.microsoft.com/office/drawing/2014/main" id="{A926E52B-B3EC-4306-ABBC-EB7265F4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881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limitation-head-1">
            <a:extLst xmlns:a="http://schemas.openxmlformats.org/drawingml/2006/main">
              <a:ext uri="{FF2B5EF4-FFF2-40B4-BE49-F238E27FC236}">
                <a16:creationId xmlns:a16="http://schemas.microsoft.com/office/drawing/2014/main" id="{695AC9BE-EA41-4BEE-8116-5A320500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595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ONE SAVED RUN</a:t>
            </a:r>
          </a:p>
        </p:txBody>
      </p:sp>
      <p:sp>
        <p:nvSpPr>
          <p:cNvPr id="171" name="limitation-body-1">
            <a:extLst xmlns:a="http://schemas.openxmlformats.org/drawingml/2006/main">
              <a:ext uri="{FF2B5EF4-FFF2-40B4-BE49-F238E27FC236}">
                <a16:creationId xmlns:a16="http://schemas.microsoft.com/office/drawing/2014/main" id="{9F183A50-343D-4EE0-84EC-BE5A3346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0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Retrospective thresholds and questions; no repeated seeds.</a:t>
            </a:r>
          </a:p>
        </p:txBody>
      </p:sp>
      <p:sp>
        <p:nvSpPr>
          <p:cNvPr id="172" name="limitation-rule-2">
            <a:extLst xmlns:a="http://schemas.openxmlformats.org/drawingml/2006/main">
              <a:ext uri="{FF2B5EF4-FFF2-40B4-BE49-F238E27FC236}">
                <a16:creationId xmlns:a16="http://schemas.microsoft.com/office/drawing/2014/main" id="{1AE47C5C-9753-4805-A222-00C5395F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0881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limitation-head-2">
            <a:extLst xmlns:a="http://schemas.openxmlformats.org/drawingml/2006/main">
              <a:ext uri="{FF2B5EF4-FFF2-40B4-BE49-F238E27FC236}">
                <a16:creationId xmlns:a16="http://schemas.microsoft.com/office/drawing/2014/main" id="{94DA0479-7D7B-4BAC-BFA9-13CC681E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2595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NO CAUSAL ABLATION</a:t>
            </a:r>
          </a:p>
        </p:txBody>
      </p:sp>
      <p:sp>
        <p:nvSpPr>
          <p:cNvPr id="174" name="limitation-body-2">
            <a:extLst xmlns:a="http://schemas.openxmlformats.org/drawingml/2006/main">
              <a:ext uri="{FF2B5EF4-FFF2-40B4-BE49-F238E27FC236}">
                <a16:creationId xmlns:a16="http://schemas.microsoft.com/office/drawing/2014/main" id="{CA473B8E-FE81-4101-8ED1-923F8AD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100" y="19621500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Pipeline stages were not independently compared against a baseline.</a:t>
            </a:r>
          </a:p>
        </p:txBody>
      </p:sp>
      <p:sp>
        <p:nvSpPr>
          <p:cNvPr id="175" name="limitation-rule-3">
            <a:extLst xmlns:a="http://schemas.openxmlformats.org/drawingml/2006/main">
              <a:ext uri="{FF2B5EF4-FFF2-40B4-BE49-F238E27FC236}">
                <a16:creationId xmlns:a16="http://schemas.microsoft.com/office/drawing/2014/main" id="{42545FF7-FF20-404A-89DD-0BD2D3E4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088100"/>
            <a:ext cx="809625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limitation-head-3">
            <a:extLst xmlns:a="http://schemas.openxmlformats.org/drawingml/2006/main">
              <a:ext uri="{FF2B5EF4-FFF2-40B4-BE49-F238E27FC236}">
                <a16:creationId xmlns:a16="http://schemas.microsoft.com/office/drawing/2014/main" id="{F939AC48-717C-47FE-94B1-3AA09351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259550"/>
            <a:ext cx="92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LIMITED GENERALITY</a:t>
            </a:r>
          </a:p>
        </p:txBody>
      </p:sp>
      <p:sp>
        <p:nvSpPr>
          <p:cNvPr id="177" name="limitation-body-3">
            <a:extLst xmlns:a="http://schemas.openxmlformats.org/drawingml/2006/main">
              <a:ext uri="{FF2B5EF4-FFF2-40B4-BE49-F238E27FC236}">
                <a16:creationId xmlns:a16="http://schemas.microsoft.com/office/drawing/2014/main" id="{28378DBB-CC7F-4802-8452-9927C82F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900" y="19621500"/>
            <a:ext cx="92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TTFT only; OCR not exercised; one DIFC corpus and one language setting.</a:t>
            </a:r>
          </a:p>
        </p:txBody>
      </p:sp>
      <p:sp>
        <p:nvSpPr>
          <p:cNvPr id="178" name="references-rule">
            <a:extLst xmlns:a="http://schemas.openxmlformats.org/drawingml/2006/main">
              <a:ext uri="{FF2B5EF4-FFF2-40B4-BE49-F238E27FC236}">
                <a16:creationId xmlns:a16="http://schemas.microsoft.com/office/drawing/2014/main" id="{33349A6F-49E0-4A4C-8AE1-2FCBED0C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45400"/>
            <a:ext cx="2852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references-line-1">
            <a:extLst xmlns:a="http://schemas.openxmlformats.org/drawingml/2006/main">
              <a:ext uri="{FF2B5EF4-FFF2-40B4-BE49-F238E27FC236}">
                <a16:creationId xmlns:a16="http://schemas.microsoft.com/office/drawing/2014/main" id="{DACBCCCC-3ACA-4FD9-8484-A16B5C10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69225"/>
            <a:ext cx="2852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[1] Lewis et al., NeurIPS 2020   [2] Karpukhin et al., EMNLP 2020   [3] Cormack et al., SIGIR 2009   [4] Gao et al., EMNLP 2023</a:t>
            </a:r>
          </a:p>
        </p:txBody>
      </p:sp>
      <p:sp>
        <p:nvSpPr>
          <p:cNvPr id="180" name="references-line-2">
            <a:extLst xmlns:a="http://schemas.openxmlformats.org/drawingml/2006/main">
              <a:ext uri="{FF2B5EF4-FFF2-40B4-BE49-F238E27FC236}">
                <a16:creationId xmlns:a16="http://schemas.microsoft.com/office/drawing/2014/main" id="{2238F8C7-7FB9-48E7-AB69-07D1D978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821650"/>
            <a:ext cx="2852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0" i="0">
                <a:solidFill>
                  <a:srgbClr val="5860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8606B"/>
                </a:solidFill>
                <a:latin typeface="Arial"/>
                <a:ea typeface="Arial"/>
                <a:cs typeface="Arial"/>
              </a:rPr>
              <a:t>[5] Pipitone &amp; Alami, LegalBench-RAG 2024   [6] Zhang et al., Qwen3 Embedding 2025   |   Full references in appendix.</a:t>
            </a:r>
          </a:p>
        </p:txBody>
      </p:sp>
    </p:spTree>
    <p:extLst>
      <p:ext uri="{BB962C8B-B14F-4D97-AF65-F5344CB8AC3E}">
        <p14:creationId xmlns:p14="http://schemas.microsoft.com/office/powerpoint/2010/main" val="1283891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2026-09-03T23:33:41.8930000Z</dcterms:created>
  <dcterms:modified xsi:type="dcterms:W3CDTF">2026-09-03T23:33:41.8930000Z</dcterms:modified>
</coreProperties>
</file>