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ca87b1b82045ee" /><Relationship Type="http://schemas.openxmlformats.org/officeDocument/2006/relationships/extended-properties" Target="/docProps/app.xml" Id="Rae8b0ba713e548f6" /><Relationship Type="http://schemas.openxmlformats.org/officeDocument/2006/relationships/officeDocument" Target="/ppt/presentation.xml" Id="Ra55039a242cf4b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83db4269e5487a"/>
  </p:sldMasterIdLst>
  <p:notesMasterIdLst>
    <p:notesMasterId xmlns:r="http://schemas.openxmlformats.org/officeDocument/2006/relationships" r:id="R0d70c362be254ff1"/>
  </p:notesMasterIdLst>
  <p:sldIdLst>
    <p:sldId xmlns:r="http://schemas.openxmlformats.org/officeDocument/2006/relationships" id="256" r:id="Re1e4bd1719d748bb"/>
  </p:sldIdLst>
  <p:sldSz cx="30279975" cy="21383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35d6ae54414fdc" /><Relationship Type="http://schemas.openxmlformats.org/officeDocument/2006/relationships/slideMaster" Target="/ppt/slideMasters/slideMaster1.xml" Id="R8983db4269e5487a" /><Relationship Type="http://schemas.openxmlformats.org/officeDocument/2006/relationships/notesMaster" Target="/ppt/notesMasters/notesMaster1.xml" Id="R0d70c362be254ff1" /><Relationship Type="http://schemas.openxmlformats.org/officeDocument/2006/relationships/presProps" Target="/ppt/presProps.xml" Id="R0b6146082b62402b" /><Relationship Type="http://schemas.openxmlformats.org/officeDocument/2006/relationships/tableStyles" Target="/ppt/tableStyles.xml" Id="Rbcf881fbcdb94403" /><Relationship Type="http://schemas.openxmlformats.org/officeDocument/2006/relationships/slide" Target="/ppt/slides/slide1.xml" Id="Re1e4bd1719d748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9351183f35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ccf329d7e9493d" /><Relationship Type="http://schemas.openxmlformats.org/officeDocument/2006/relationships/notesMaster" Target="/ppt/notesMasters/notesMaster1.xml" Id="R61eaa7da55ea47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architecture and model configuration: /Users/steinv/Projects/Agentic-RAG-Challenge/README.md; /Users/steinv/Projects/Agentic-RAG-Challenge/configs/baseline/v001/config.yaml</a:t>
            </a:r>
          </a:p>
          <a:p xmlns:a="http://schemas.openxmlformats.org/drawingml/2006/main">
            <a:r>
              <a:t>- Saved run and benchmark metrics: /Users/steinv/Projects/Agentic-RAG-Challenge/artifacts/warmup_runs/runs/submission_e2e_20260424_solver_narrowing_no_guard/manifest.json</a:t>
            </a:r>
          </a:p>
          <a:p xmlns:a="http://schemas.openxmlformats.org/drawingml/2006/main">
            <a:r>
              <a:t>- Question-level grounding stages: /Users/steinv/Projects/Agentic-RAG-Challenge/artifacts/warmup_runs/runs/submission_e2e_20260424_solver_narrowing_no_guard/grounding/ledger.jsonl</a:t>
            </a:r>
          </a:p>
          <a:p xmlns:a="http://schemas.openxmlformats.org/drawingml/2006/main">
            <a:r>
              <a:t>- Lewis et al. 2020: https://proceedings.neurips.cc/paper/2020/hash/6b493230-Abstract.html</a:t>
            </a:r>
          </a:p>
          <a:p xmlns:a="http://schemas.openxmlformats.org/drawingml/2006/main">
            <a:r>
              <a:t>- Karpukhin et al. 2020: https://aclanthology.org/2020.emnlp-main.550/</a:t>
            </a:r>
          </a:p>
          <a:p xmlns:a="http://schemas.openxmlformats.org/drawingml/2006/main">
            <a:r>
              <a:t>- Cormack et al. 2009: https://doi.org/10.1145/1571941.1572114</a:t>
            </a:r>
          </a:p>
          <a:p xmlns:a="http://schemas.openxmlformats.org/drawingml/2006/main">
            <a:r>
              <a:t>- Gao et al. 2023: https://aclanthology.org/2023.emnlp-main.398/</a:t>
            </a:r>
          </a:p>
          <a:p xmlns:a="http://schemas.openxmlformats.org/drawingml/2006/main">
            <a:r>
              <a:t>- Pipitone and Alami 2024: https://arxiv.org/abs/2408.10343</a:t>
            </a:r>
          </a:p>
          <a:p xmlns:a="http://schemas.openxmlformats.org/drawingml/2006/main">
            <a:r>
              <a:t>- Zhang et al. 2025: https://arxiv.org/abs/2506.05176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Macro page precision, recall, and F-beta (beta=2.5) were recomputed from the 95 non-empty gold-page records. Confidence intervals use a paired non-parametric bootstrap over questions with 20,000 resamples and seed 20260903. The chart reports raw retrieval, pass-A filtering, and final answer-aware attribution for the same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825128e14b40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32029123a04750" /><Relationship Type="http://schemas.openxmlformats.org/officeDocument/2006/relationships/slideLayout" Target="/ppt/slideLayouts/slideLayout1.xml" Id="R6b7f5e52e1e84f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7f5e52e1e84f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9ab29dd1445dc" /><Relationship Type="http://schemas.openxmlformats.org/officeDocument/2006/relationships/hyperlink" Target="https://github.com/SteinVR/Agentic-RAG-Challenge" TargetMode="External" Id="R003a2eb4088a4166" /><Relationship Type="http://schemas.openxmlformats.org/officeDocument/2006/relationships/chart" Target="/ppt/slides/charts/chart1.xml" Id="R2836952794ae402b" /><Relationship Type="http://schemas.openxmlformats.org/officeDocument/2006/relationships/notesSlide" Target="/ppt/notesSlides/notesSlide1.xml" Id="R94ce6480dbc243a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 retrieval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3"/>
              <c:pt idx="0">
                <c:v>Precision</c:v>
              </c:pt>
              <c:pt idx="1">
                <c:v>Recall</c:v>
              </c:pt>
              <c:pt idx="2">
                <c:v>Fβ (β=2.5)</c:v>
              </c:pt>
            </c:strLit>
          </c:cat>
          <c:val>
            <c:numLit>
              <c:formatCode>0%</c:formatCode>
              <c:ptCount val="3"/>
              <c:pt idx="0">
                <c:v>0.637719</c:v>
              </c:pt>
              <c:pt idx="1">
                <c:v>0.967544</c:v>
              </c:pt>
              <c:pt idx="2">
                <c:v>0.876697</c:v>
              </c:pt>
            </c:numLit>
          </c:val>
        </c:ser>
        <c:ser>
          <c:idx val="1"/>
          <c:order val="1"/>
          <c:tx>
            <c:v>Filter pass A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Precision</c:v>
              </c:pt>
              <c:pt idx="1">
                <c:v>Recall</c:v>
              </c:pt>
              <c:pt idx="2">
                <c:v>Fβ (β=2.5)</c:v>
              </c:pt>
            </c:strLit>
          </c:cat>
          <c:val>
            <c:numLit>
              <c:formatCode>0%</c:formatCode>
              <c:ptCount val="3"/>
              <c:pt idx="0">
                <c:v>0.637719</c:v>
              </c:pt>
              <c:pt idx="1">
                <c:v>0.962281</c:v>
              </c:pt>
              <c:pt idx="2">
                <c:v>0.873113</c:v>
              </c:pt>
            </c:numLit>
          </c:val>
        </c:ser>
        <c:ser>
          <c:idx val="2"/>
          <c:order val="2"/>
          <c:tx>
            <c:v>Final attribution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Precision</c:v>
              </c:pt>
              <c:pt idx="1">
                <c:v>Recall</c:v>
              </c:pt>
              <c:pt idx="2">
                <c:v>Fβ (β=2.5)</c:v>
              </c:pt>
            </c:strLit>
          </c:cat>
          <c:val>
            <c:numLit>
              <c:formatCode>0%</c:formatCode>
              <c:ptCount val="3"/>
              <c:pt idx="0">
                <c:v>0.739474</c:v>
              </c:pt>
              <c:pt idx="1">
                <c:v>0.951754</c:v>
              </c:pt>
              <c:pt idx="2">
                <c:v>0.89179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1113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31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5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8606B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solidFill>
                <a:srgbClr val="58606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eyebrow">
            <a:extLst xmlns:a="http://schemas.openxmlformats.org/drawingml/2006/main">
              <a:ext uri="{FF2B5EF4-FFF2-40B4-BE49-F238E27FC236}">
                <a16:creationId xmlns:a16="http://schemas.microsoft.com/office/drawing/2014/main" id="{F46B2C04-4FFE-4C1D-8F44-6AEAE586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1476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POSTER · NATURAL LANGUAGE PROCESSING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6A3A91-D203-44E0-9A5A-B987DCC5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2143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6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Citation-Aware Legal RAG Pipeline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3F72AD1-16D3-4866-B873-3E60572B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095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58606B"/>
                </a:solidFill>
                <a:latin typeface="Arial"/>
                <a:ea typeface="Arial"/>
                <a:cs typeface="Arial"/>
              </a:rPr>
              <a:t>Architecture and page-level grounding evaluation across 100 legal questions</a:t>
            </a:r>
          </a:p>
        </p:txBody>
      </p:sp>
      <p:sp>
        <p:nvSpPr>
          <p:cNvPr id="4" name="repo">
            <a:extLst xmlns:a="http://schemas.openxmlformats.org/drawingml/2006/main">
              <a:ext uri="{FF2B5EF4-FFF2-40B4-BE49-F238E27FC236}">
                <a16:creationId xmlns:a16="http://schemas.microsoft.com/office/drawing/2014/main" id="{E7B1543E-609F-4051-8E93-42CA10EB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685800"/>
            <a:ext cx="671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003a2eb4088a4166"/>
              </a:rPr>
              <a:t>github.com/SteinVR/Agentic-RAG-Challenge</a:t>
            </a:r>
          </a:p>
        </p:txBody>
      </p:sp>
      <p:sp>
        <p:nvSpPr>
          <p:cNvPr id="5" name="affiliation">
            <a:extLst xmlns:a="http://schemas.openxmlformats.org/drawingml/2006/main">
              <a:ext uri="{FF2B5EF4-FFF2-40B4-BE49-F238E27FC236}">
                <a16:creationId xmlns:a16="http://schemas.microsoft.com/office/drawing/2014/main" id="{D5B8D2D6-61E3-4291-8896-152B18C8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0" y="1200150"/>
            <a:ext cx="804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8606B"/>
                </a:solidFill>
                <a:latin typeface="Arial"/>
                <a:ea typeface="Arial"/>
                <a:cs typeface="Arial"/>
              </a:rPr>
              <a:t>Trends in Machine Learning II · Universität Trier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7B7B5E6-D6B8-4E8D-859F-EB6EF665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871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318"/>
            </a:solidFill>
            <a:prstDash val="solid"/>
          </a:ln>
        </p:spPr>
      </p:sp>
      <p:sp>
        <p:nvSpPr>
          <p:cNvPr id="7" name="section-01-number">
            <a:extLst xmlns:a="http://schemas.openxmlformats.org/drawingml/2006/main">
              <a:ext uri="{FF2B5EF4-FFF2-40B4-BE49-F238E27FC236}">
                <a16:creationId xmlns:a16="http://schemas.microsoft.com/office/drawing/2014/main" id="{A007D720-A7A1-4B48-882A-EEE03C58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section-01-label">
            <a:extLst xmlns:a="http://schemas.openxmlformats.org/drawingml/2006/main">
              <a:ext uri="{FF2B5EF4-FFF2-40B4-BE49-F238E27FC236}">
                <a16:creationId xmlns:a16="http://schemas.microsoft.com/office/drawing/2014/main" id="{A9FEF3EA-F119-4BC5-83C7-19610239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67075"/>
            <a:ext cx="28127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9" name="section-01-rule">
            <a:extLst xmlns:a="http://schemas.openxmlformats.org/drawingml/2006/main">
              <a:ext uri="{FF2B5EF4-FFF2-40B4-BE49-F238E27FC236}">
                <a16:creationId xmlns:a16="http://schemas.microsoft.com/office/drawing/2014/main" id="{7F0EECB7-1155-4ECE-BE1D-5CF9A9E8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2871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hypothesis-band">
            <a:extLst xmlns:a="http://schemas.openxmlformats.org/drawingml/2006/main">
              <a:ext uri="{FF2B5EF4-FFF2-40B4-BE49-F238E27FC236}">
                <a16:creationId xmlns:a16="http://schemas.microsoft.com/office/drawing/2014/main" id="{C83CEF5B-24B4-4A79-AEA6-52093D76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28717875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11" name="hypothesis-question">
            <a:extLst xmlns:a="http://schemas.openxmlformats.org/drawingml/2006/main">
              <a:ext uri="{FF2B5EF4-FFF2-40B4-BE49-F238E27FC236}">
                <a16:creationId xmlns:a16="http://schemas.microsoft.com/office/drawing/2014/main" id="{F72E69C2-80DA-4537-8D5D-DD73B61D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76725"/>
            <a:ext cx="1866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Does answer-aware page attribution improve citation precision without creating complete source misses?</a:t>
            </a:r>
          </a:p>
        </p:txBody>
      </p:sp>
      <p:sp>
        <p:nvSpPr>
          <p:cNvPr id="12" name="hypothesis-statement">
            <a:extLst xmlns:a="http://schemas.openxmlformats.org/drawingml/2006/main">
              <a:ext uri="{FF2B5EF4-FFF2-40B4-BE49-F238E27FC236}">
                <a16:creationId xmlns:a16="http://schemas.microsoft.com/office/drawing/2014/main" id="{853B6902-73EF-4384-8BB9-FB8192EB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4238625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H1 · A separate page-selection layer increases precision while retaining at least one correct page per answer.</a:t>
            </a:r>
          </a:p>
        </p:txBody>
      </p:sp>
      <p:sp>
        <p:nvSpPr>
          <p:cNvPr id="13" name="section-02-number">
            <a:extLst xmlns:a="http://schemas.openxmlformats.org/drawingml/2006/main">
              <a:ext uri="{FF2B5EF4-FFF2-40B4-BE49-F238E27FC236}">
                <a16:creationId xmlns:a16="http://schemas.microsoft.com/office/drawing/2014/main" id="{4F76F246-C956-4BFF-B26B-929191DB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section-02-label">
            <a:extLst xmlns:a="http://schemas.openxmlformats.org/drawingml/2006/main">
              <a:ext uri="{FF2B5EF4-FFF2-40B4-BE49-F238E27FC236}">
                <a16:creationId xmlns:a16="http://schemas.microsoft.com/office/drawing/2014/main" id="{D4C261E6-0E67-47B6-8CD7-3ABBA0BD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0225"/>
            <a:ext cx="28127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METHODOLOGY · SYSTEM ARCHITECTURE</a:t>
            </a:r>
          </a:p>
        </p:txBody>
      </p:sp>
      <p:sp>
        <p:nvSpPr>
          <p:cNvPr id="15" name="section-02-rule">
            <a:extLst xmlns:a="http://schemas.openxmlformats.org/drawingml/2006/main">
              <a:ext uri="{FF2B5EF4-FFF2-40B4-BE49-F238E27FC236}">
                <a16:creationId xmlns:a16="http://schemas.microsoft.com/office/drawing/2014/main" id="{628D4AF7-C311-4B5B-8990-FBC77463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62675"/>
            <a:ext cx="2871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EAFE424D-ABF6-4712-BDAF-F64D057F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741045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5626209B-1CA9-4357-BC90-DD235FEB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741045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4DCB460A-9FEB-48D5-AD36-7F3F9BCF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741045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rchitecture-arrow-4">
            <a:extLst xmlns:a="http://schemas.openxmlformats.org/drawingml/2006/main">
              <a:ext uri="{FF2B5EF4-FFF2-40B4-BE49-F238E27FC236}">
                <a16:creationId xmlns:a16="http://schemas.microsoft.com/office/drawing/2014/main" id="{6986C904-89B8-41CC-9AB8-B548FB67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4475" y="741045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itecture-arrow-5">
            <a:extLst xmlns:a="http://schemas.openxmlformats.org/drawingml/2006/main">
              <a:ext uri="{FF2B5EF4-FFF2-40B4-BE49-F238E27FC236}">
                <a16:creationId xmlns:a16="http://schemas.microsoft.com/office/drawing/2014/main" id="{9441273B-B941-4188-B4F8-5C4E9F14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1175" y="741045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rchitecture-arrow-6">
            <a:extLst xmlns:a="http://schemas.openxmlformats.org/drawingml/2006/main">
              <a:ext uri="{FF2B5EF4-FFF2-40B4-BE49-F238E27FC236}">
                <a16:creationId xmlns:a16="http://schemas.microsoft.com/office/drawing/2014/main" id="{016B1BC3-6BAD-4659-ACBC-365079B4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75" y="741045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rchitecture-1">
            <a:extLst xmlns:a="http://schemas.openxmlformats.org/drawingml/2006/main">
              <a:ext uri="{FF2B5EF4-FFF2-40B4-BE49-F238E27FC236}">
                <a16:creationId xmlns:a16="http://schemas.microsoft.com/office/drawing/2014/main" id="{9A0BB2C5-7C1A-4A60-8550-03F7081B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96050"/>
            <a:ext cx="3619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23" name="architecture-1-step">
            <a:extLst xmlns:a="http://schemas.openxmlformats.org/drawingml/2006/main">
              <a:ext uri="{FF2B5EF4-FFF2-40B4-BE49-F238E27FC236}">
                <a16:creationId xmlns:a16="http://schemas.microsoft.com/office/drawing/2014/main" id="{0DE3AF3F-AF27-45BE-9D92-BC999371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86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4" name="architecture-1-title">
            <a:extLst xmlns:a="http://schemas.openxmlformats.org/drawingml/2006/main">
              <a:ext uri="{FF2B5EF4-FFF2-40B4-BE49-F238E27FC236}">
                <a16:creationId xmlns:a16="http://schemas.microsoft.com/office/drawing/2014/main" id="{D2A2CDB1-FD84-4374-97F8-E70D0F4E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8660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Legal PDFs</a:t>
            </a:r>
          </a:p>
        </p:txBody>
      </p:sp>
      <p:sp>
        <p:nvSpPr>
          <p:cNvPr id="25" name="architecture-1-body">
            <a:extLst xmlns:a="http://schemas.openxmlformats.org/drawingml/2006/main">
              <a:ext uri="{FF2B5EF4-FFF2-40B4-BE49-F238E27FC236}">
                <a16:creationId xmlns:a16="http://schemas.microsoft.com/office/drawing/2014/main" id="{F2AD3D7C-88D8-4ED7-A55D-C8507952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96200"/>
            <a:ext cx="31623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Page identity retained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from ingestion onward</a:t>
            </a:r>
          </a:p>
        </p:txBody>
      </p:sp>
      <p:sp>
        <p:nvSpPr>
          <p:cNvPr id="26" name="architecture-2">
            <a:extLst xmlns:a="http://schemas.openxmlformats.org/drawingml/2006/main">
              <a:ext uri="{FF2B5EF4-FFF2-40B4-BE49-F238E27FC236}">
                <a16:creationId xmlns:a16="http://schemas.microsoft.com/office/drawing/2014/main" id="{F35E94CA-6303-4DE9-8119-4844E706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496050"/>
            <a:ext cx="3619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27" name="architecture-2-step">
            <a:extLst xmlns:a="http://schemas.openxmlformats.org/drawingml/2006/main">
              <a:ext uri="{FF2B5EF4-FFF2-40B4-BE49-F238E27FC236}">
                <a16:creationId xmlns:a16="http://schemas.microsoft.com/office/drawing/2014/main" id="{AFDFA226-750E-498D-B8E4-9DE25D64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686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architecture-2-title">
            <a:extLst xmlns:a="http://schemas.openxmlformats.org/drawingml/2006/main">
              <a:ext uri="{FF2B5EF4-FFF2-40B4-BE49-F238E27FC236}">
                <a16:creationId xmlns:a16="http://schemas.microsoft.com/office/drawing/2014/main" id="{61DAA74A-6BAC-42DB-B5FB-68E26359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08660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Parse &amp; triage</a:t>
            </a:r>
          </a:p>
        </p:txBody>
      </p:sp>
      <p:sp>
        <p:nvSpPr>
          <p:cNvPr id="29" name="architecture-2-body">
            <a:extLst xmlns:a="http://schemas.openxmlformats.org/drawingml/2006/main">
              <a:ext uri="{FF2B5EF4-FFF2-40B4-BE49-F238E27FC236}">
                <a16:creationId xmlns:a16="http://schemas.microsoft.com/office/drawing/2014/main" id="{25467124-8389-42BC-ADDC-798F9040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696200"/>
            <a:ext cx="31623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Native text · tables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OCR fallback for scans</a:t>
            </a:r>
          </a:p>
        </p:txBody>
      </p:sp>
      <p:sp>
        <p:nvSpPr>
          <p:cNvPr id="30" name="architecture-3">
            <a:extLst xmlns:a="http://schemas.openxmlformats.org/drawingml/2006/main">
              <a:ext uri="{FF2B5EF4-FFF2-40B4-BE49-F238E27FC236}">
                <a16:creationId xmlns:a16="http://schemas.microsoft.com/office/drawing/2014/main" id="{262DAE95-C04E-48EF-9591-6239921B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496050"/>
            <a:ext cx="3619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31" name="architecture-3-step">
            <a:extLst xmlns:a="http://schemas.openxmlformats.org/drawingml/2006/main">
              <a:ext uri="{FF2B5EF4-FFF2-40B4-BE49-F238E27FC236}">
                <a16:creationId xmlns:a16="http://schemas.microsoft.com/office/drawing/2014/main" id="{80D856D3-F37A-4978-8B89-1CD23A87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686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architecture-3-title">
            <a:extLst xmlns:a="http://schemas.openxmlformats.org/drawingml/2006/main">
              <a:ext uri="{FF2B5EF4-FFF2-40B4-BE49-F238E27FC236}">
                <a16:creationId xmlns:a16="http://schemas.microsoft.com/office/drawing/2014/main" id="{441521FC-C893-49C9-BDCE-E8ED8ABC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08660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Multi-view index</a:t>
            </a:r>
          </a:p>
        </p:txBody>
      </p:sp>
      <p:sp>
        <p:nvSpPr>
          <p:cNvPr id="33" name="architecture-3-body">
            <a:extLst xmlns:a="http://schemas.openxmlformats.org/drawingml/2006/main">
              <a:ext uri="{FF2B5EF4-FFF2-40B4-BE49-F238E27FC236}">
                <a16:creationId xmlns:a16="http://schemas.microsoft.com/office/drawing/2014/main" id="{543308D4-85E3-47FE-9756-34FD2BE8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696200"/>
            <a:ext cx="31623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Page · section · clause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microchunk · table</a:t>
            </a:r>
          </a:p>
        </p:txBody>
      </p:sp>
      <p:sp>
        <p:nvSpPr>
          <p:cNvPr id="34" name="architecture-4">
            <a:extLst xmlns:a="http://schemas.openxmlformats.org/drawingml/2006/main">
              <a:ext uri="{FF2B5EF4-FFF2-40B4-BE49-F238E27FC236}">
                <a16:creationId xmlns:a16="http://schemas.microsoft.com/office/drawing/2014/main" id="{41F2B24E-E01F-4D81-ACF8-A00D0931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6496050"/>
            <a:ext cx="3619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35" name="architecture-4-step">
            <a:extLst xmlns:a="http://schemas.openxmlformats.org/drawingml/2006/main">
              <a:ext uri="{FF2B5EF4-FFF2-40B4-BE49-F238E27FC236}">
                <a16:creationId xmlns:a16="http://schemas.microsoft.com/office/drawing/2014/main" id="{BF40B253-7348-4B6F-BBCE-C9D4795F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6686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6" name="architecture-4-title">
            <a:extLst xmlns:a="http://schemas.openxmlformats.org/drawingml/2006/main">
              <a:ext uri="{FF2B5EF4-FFF2-40B4-BE49-F238E27FC236}">
                <a16:creationId xmlns:a16="http://schemas.microsoft.com/office/drawing/2014/main" id="{14E8A0F6-5BB0-438A-A532-0F7C64AA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708660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Hybrid retrieval</a:t>
            </a:r>
          </a:p>
        </p:txBody>
      </p:sp>
      <p:sp>
        <p:nvSpPr>
          <p:cNvPr id="37" name="architecture-4-body">
            <a:extLst xmlns:a="http://schemas.openxmlformats.org/drawingml/2006/main">
              <a:ext uri="{FF2B5EF4-FFF2-40B4-BE49-F238E27FC236}">
                <a16:creationId xmlns:a16="http://schemas.microsoft.com/office/drawing/2014/main" id="{4A9AE33E-DE20-43DF-81BC-4EEF23F5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7696200"/>
            <a:ext cx="31623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BM25 + Qwen3 dense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RRF candidate fusion</a:t>
            </a:r>
          </a:p>
        </p:txBody>
      </p:sp>
      <p:sp>
        <p:nvSpPr>
          <p:cNvPr id="38" name="architecture-5">
            <a:extLst xmlns:a="http://schemas.openxmlformats.org/drawingml/2006/main">
              <a:ext uri="{FF2B5EF4-FFF2-40B4-BE49-F238E27FC236}">
                <a16:creationId xmlns:a16="http://schemas.microsoft.com/office/drawing/2014/main" id="{81110ECF-F5FC-46DF-8DA2-D72A2A02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496050"/>
            <a:ext cx="3619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39" name="architecture-5-step">
            <a:extLst xmlns:a="http://schemas.openxmlformats.org/drawingml/2006/main">
              <a:ext uri="{FF2B5EF4-FFF2-40B4-BE49-F238E27FC236}">
                <a16:creationId xmlns:a16="http://schemas.microsoft.com/office/drawing/2014/main" id="{891E03C5-364E-4E2E-8826-CABE2A5B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6686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architecture-5-title">
            <a:extLst xmlns:a="http://schemas.openxmlformats.org/drawingml/2006/main">
              <a:ext uri="{FF2B5EF4-FFF2-40B4-BE49-F238E27FC236}">
                <a16:creationId xmlns:a16="http://schemas.microsoft.com/office/drawing/2014/main" id="{3E0A82B3-0655-4ABE-BDCF-C18C07AB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708660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Rerank &amp; answer</a:t>
            </a:r>
          </a:p>
        </p:txBody>
      </p:sp>
      <p:sp>
        <p:nvSpPr>
          <p:cNvPr id="41" name="architecture-5-body">
            <a:extLst xmlns:a="http://schemas.openxmlformats.org/drawingml/2006/main">
              <a:ext uri="{FF2B5EF4-FFF2-40B4-BE49-F238E27FC236}">
                <a16:creationId xmlns:a16="http://schemas.microsoft.com/office/drawing/2014/main" id="{13881B85-C2E1-4236-94DB-E230A107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7696200"/>
            <a:ext cx="31623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Qwen3 reranker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typed extraction + LLM</a:t>
            </a:r>
          </a:p>
        </p:txBody>
      </p:sp>
      <p:sp>
        <p:nvSpPr>
          <p:cNvPr id="42" name="architecture-6">
            <a:extLst xmlns:a="http://schemas.openxmlformats.org/drawingml/2006/main">
              <a:ext uri="{FF2B5EF4-FFF2-40B4-BE49-F238E27FC236}">
                <a16:creationId xmlns:a16="http://schemas.microsoft.com/office/drawing/2014/main" id="{9A999A1E-84AF-4F7F-ADB3-E497EC02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0" y="6496050"/>
            <a:ext cx="3619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3" name="architecture-6-step">
            <a:extLst xmlns:a="http://schemas.openxmlformats.org/drawingml/2006/main">
              <a:ext uri="{FF2B5EF4-FFF2-40B4-BE49-F238E27FC236}">
                <a16:creationId xmlns:a16="http://schemas.microsoft.com/office/drawing/2014/main" id="{D677B93B-C7B5-48C4-9E93-2D1EBA5E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6686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4" name="architecture-6-title">
            <a:extLst xmlns:a="http://schemas.openxmlformats.org/drawingml/2006/main">
              <a:ext uri="{FF2B5EF4-FFF2-40B4-BE49-F238E27FC236}">
                <a16:creationId xmlns:a16="http://schemas.microsoft.com/office/drawing/2014/main" id="{38D44E59-9F8B-47CB-B670-E611132A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708660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Page attribution</a:t>
            </a:r>
          </a:p>
        </p:txBody>
      </p:sp>
      <p:sp>
        <p:nvSpPr>
          <p:cNvPr id="45" name="architecture-6-body">
            <a:extLst xmlns:a="http://schemas.openxmlformats.org/drawingml/2006/main">
              <a:ext uri="{FF2B5EF4-FFF2-40B4-BE49-F238E27FC236}">
                <a16:creationId xmlns:a16="http://schemas.microsoft.com/office/drawing/2014/main" id="{D6FB62DC-226B-4531-AC42-E22D9C9A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7696200"/>
            <a:ext cx="31623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Answer-aware narrowing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+ fallback</a:t>
            </a:r>
          </a:p>
        </p:txBody>
      </p:sp>
      <p:sp>
        <p:nvSpPr>
          <p:cNvPr id="46" name="architecture-7">
            <a:extLst xmlns:a="http://schemas.openxmlformats.org/drawingml/2006/main">
              <a:ext uri="{FF2B5EF4-FFF2-40B4-BE49-F238E27FC236}">
                <a16:creationId xmlns:a16="http://schemas.microsoft.com/office/drawing/2014/main" id="{AD992116-7643-4401-B816-69DC4A9E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0" y="6496050"/>
            <a:ext cx="3619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47" name="architecture-7-step">
            <a:extLst xmlns:a="http://schemas.openxmlformats.org/drawingml/2006/main">
              <a:ext uri="{FF2B5EF4-FFF2-40B4-BE49-F238E27FC236}">
                <a16:creationId xmlns:a16="http://schemas.microsoft.com/office/drawing/2014/main" id="{6710CF39-F46D-46EC-A1E7-18C1E3F2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0" y="6686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8" name="architecture-7-title">
            <a:extLst xmlns:a="http://schemas.openxmlformats.org/drawingml/2006/main">
              <a:ext uri="{FF2B5EF4-FFF2-40B4-BE49-F238E27FC236}">
                <a16:creationId xmlns:a16="http://schemas.microsoft.com/office/drawing/2014/main" id="{E484A78D-A440-4BE4-A31F-0CDCE895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0" y="708660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Auditable output</a:t>
            </a:r>
          </a:p>
        </p:txBody>
      </p:sp>
      <p:sp>
        <p:nvSpPr>
          <p:cNvPr id="49" name="architecture-7-body">
            <a:extLst xmlns:a="http://schemas.openxmlformats.org/drawingml/2006/main">
              <a:ext uri="{FF2B5EF4-FFF2-40B4-BE49-F238E27FC236}">
                <a16:creationId xmlns:a16="http://schemas.microsoft.com/office/drawing/2014/main" id="{2DABABE5-C75B-4F43-B6D0-AA964513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0" y="7696200"/>
            <a:ext cx="31623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Answer · pages · trace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latency telemetry</a:t>
            </a:r>
          </a:p>
        </p:txBody>
      </p:sp>
      <p:sp>
        <p:nvSpPr>
          <p:cNvPr id="50" name="page-contract-band">
            <a:extLst xmlns:a="http://schemas.openxmlformats.org/drawingml/2006/main">
              <a:ext uri="{FF2B5EF4-FFF2-40B4-BE49-F238E27FC236}">
                <a16:creationId xmlns:a16="http://schemas.microsoft.com/office/drawing/2014/main" id="{B9258D54-B495-41B2-83CA-AD454DF1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0"/>
            <a:ext cx="28717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51" name="page-contract">
            <a:extLst xmlns:a="http://schemas.openxmlformats.org/drawingml/2006/main">
              <a:ext uri="{FF2B5EF4-FFF2-40B4-BE49-F238E27FC236}">
                <a16:creationId xmlns:a16="http://schemas.microsoft.com/office/drawing/2014/main" id="{17FC9419-509B-47C4-9F51-08FFAFC1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220200"/>
            <a:ext cx="2818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Architectural invariant: every chunk keeps its document_id and page_number, so retrieval, answering, and citations remain traceable.</a:t>
            </a:r>
          </a:p>
        </p:txBody>
      </p:sp>
      <p:sp>
        <p:nvSpPr>
          <p:cNvPr id="52" name="methods-title">
            <a:extLst xmlns:a="http://schemas.openxmlformats.org/drawingml/2006/main">
              <a:ext uri="{FF2B5EF4-FFF2-40B4-BE49-F238E27FC236}">
                <a16:creationId xmlns:a16="http://schemas.microsoft.com/office/drawing/2014/main" id="{46577502-9EEE-495A-95C6-624B42E1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191750"/>
            <a:ext cx="852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53" name="methods-rule">
            <a:extLst xmlns:a="http://schemas.openxmlformats.org/drawingml/2006/main">
              <a:ext uri="{FF2B5EF4-FFF2-40B4-BE49-F238E27FC236}">
                <a16:creationId xmlns:a16="http://schemas.microsoft.com/office/drawing/2014/main" id="{230E4ED2-18A2-4BEE-B839-376BDA33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782300"/>
            <a:ext cx="852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4" name="methods-bullets">
            <a:extLst xmlns:a="http://schemas.openxmlformats.org/drawingml/2006/main">
              <a:ext uri="{FF2B5EF4-FFF2-40B4-BE49-F238E27FC236}">
                <a16:creationId xmlns:a16="http://schemas.microsoft.com/office/drawing/2014/main" id="{385B6D7C-615B-4D54-973D-01498FFC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68050"/>
            <a:ext cx="8524875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6" indent="-16" algn="l">
              <a:spcAft>
                <a:spcPts val="850"/>
              </a:spcAft>
              <a:buChar char="•"/>
              <a:defRPr sz="24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Corpus: </a:t>
            </a:r>
            <a:r>
              <a:rPr sz="2400">
                <a:solidFill>
                  <a:srgbClr val="111318"/>
                </a:solidFill>
                <a:latin typeface="Arial"/>
                <a:ea typeface="Arial"/>
                <a:cs typeface="Arial"/>
              </a:rPr>
              <a:t>30 legal PDFs, 590 pages.</a:t>
            </a:r>
          </a:p>
          <a:p xmlns:a="http://schemas.openxmlformats.org/drawingml/2006/main">
            <a:pPr marL="26" indent="-16" algn="l">
              <a:spcAft>
                <a:spcPts val="850"/>
              </a:spcAft>
              <a:buChar char="•"/>
              <a:defRPr sz="24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Questions: </a:t>
            </a:r>
            <a:r>
              <a:rPr sz="2400">
                <a:solidFill>
                  <a:srgbClr val="111318"/>
                </a:solidFill>
                <a:latin typeface="Arial"/>
                <a:ea typeface="Arial"/>
                <a:cs typeface="Arial"/>
              </a:rPr>
              <a:t>100 total; 95 have gold page annotations.</a:t>
            </a:r>
          </a:p>
          <a:p xmlns:a="http://schemas.openxmlformats.org/drawingml/2006/main">
            <a:pPr marL="26" indent="-16" algn="l">
              <a:spcAft>
                <a:spcPts val="850"/>
              </a:spcAft>
              <a:buChar char="•"/>
              <a:defRPr sz="24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Answer types: </a:t>
            </a:r>
            <a:r>
              <a:rPr sz="2400">
                <a:solidFill>
                  <a:srgbClr val="111318"/>
                </a:solidFill>
                <a:latin typeface="Arial"/>
                <a:ea typeface="Arial"/>
                <a:cs typeface="Arial"/>
              </a:rPr>
              <a:t>32 boolean, 30 free text, 17 number, 15 name, 5 names, 1 date.</a:t>
            </a:r>
          </a:p>
          <a:p xmlns:a="http://schemas.openxmlformats.org/drawingml/2006/main">
            <a:pPr marL="26" indent="-16" algn="l">
              <a:spcAft>
                <a:spcPts val="850"/>
              </a:spcAft>
              <a:buChar char="•"/>
              <a:defRPr sz="24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Paired comparison: </a:t>
            </a:r>
            <a:r>
              <a:rPr sz="2400">
                <a:solidFill>
                  <a:srgbClr val="111318"/>
                </a:solidFill>
                <a:latin typeface="Arial"/>
                <a:ea typeface="Arial"/>
                <a:cs typeface="Arial"/>
              </a:rPr>
              <a:t>raw pages → filter pass A → final answer-aware pages.</a:t>
            </a:r>
          </a:p>
          <a:p xmlns:a="http://schemas.openxmlformats.org/drawingml/2006/main">
            <a:pPr marL="26" indent="-16" algn="l">
              <a:spcAft>
                <a:spcPts val="850"/>
              </a:spcAft>
              <a:buChar char="•"/>
              <a:defRPr sz="24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Metrics: </a:t>
            </a:r>
            <a:r>
              <a:rPr sz="2400">
                <a:solidFill>
                  <a:srgbClr val="111318"/>
                </a:solidFill>
                <a:latin typeface="Arial"/>
                <a:ea typeface="Arial"/>
                <a:cs typeface="Arial"/>
              </a:rPr>
              <a:t>macro precision, recall, and Fβ with β = 2.5.</a:t>
            </a:r>
          </a:p>
          <a:p xmlns:a="http://schemas.openxmlformats.org/drawingml/2006/main">
            <a:pPr marL="26" indent="-16" algn="l">
              <a:spcAft>
                <a:spcPts val="850"/>
              </a:spcAft>
              <a:buChar char="•"/>
              <a:defRPr sz="24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Uncertainty: </a:t>
            </a:r>
            <a:r>
              <a:rPr sz="2400">
                <a:solidFill>
                  <a:srgbClr val="111318"/>
                </a:solidFill>
                <a:latin typeface="Arial"/>
                <a:ea typeface="Arial"/>
                <a:cs typeface="Arial"/>
              </a:rPr>
              <a:t>20,000 paired bootstrap resamples over 95 questions.</a:t>
            </a:r>
          </a:p>
        </p:txBody>
      </p:sp>
      <p:sp>
        <p:nvSpPr>
          <p:cNvPr id="55" name="prior-work-band">
            <a:extLst xmlns:a="http://schemas.openxmlformats.org/drawingml/2006/main">
              <a:ext uri="{FF2B5EF4-FFF2-40B4-BE49-F238E27FC236}">
                <a16:creationId xmlns:a16="http://schemas.microsoft.com/office/drawing/2014/main" id="{86A5AA26-20E3-4503-A522-11872D31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097375"/>
            <a:ext cx="8524875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prior-work-title">
            <a:extLst xmlns:a="http://schemas.openxmlformats.org/drawingml/2006/main">
              <a:ext uri="{FF2B5EF4-FFF2-40B4-BE49-F238E27FC236}">
                <a16:creationId xmlns:a16="http://schemas.microsoft.com/office/drawing/2014/main" id="{B5975448-C082-4840-900A-824C27BC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297400"/>
            <a:ext cx="8067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Research context</a:t>
            </a:r>
          </a:p>
        </p:txBody>
      </p:sp>
      <p:sp>
        <p:nvSpPr>
          <p:cNvPr id="57" name="prior-work-copy">
            <a:extLst xmlns:a="http://schemas.openxmlformats.org/drawingml/2006/main">
              <a:ext uri="{FF2B5EF4-FFF2-40B4-BE49-F238E27FC236}">
                <a16:creationId xmlns:a16="http://schemas.microsoft.com/office/drawing/2014/main" id="{344E980D-62DC-4ABD-B4BC-F2329896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49850"/>
            <a:ext cx="80676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RAG couples retrieval and generation [1]; dense retrieval complements lexical search [2,3]. Citation-aware evaluation treats provenance as a separate quality dimension [4,5].</a:t>
            </a:r>
          </a:p>
        </p:txBody>
      </p:sp>
      <p:sp>
        <p:nvSpPr>
          <p:cNvPr id="58" name="results-title">
            <a:extLst xmlns:a="http://schemas.openxmlformats.org/drawingml/2006/main">
              <a:ext uri="{FF2B5EF4-FFF2-40B4-BE49-F238E27FC236}">
                <a16:creationId xmlns:a16="http://schemas.microsoft.com/office/drawing/2014/main" id="{043972B9-000B-4809-8040-03241F40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1917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03  RESULTS · Page-level grounding by stage</a:t>
            </a:r>
          </a:p>
        </p:txBody>
      </p:sp>
      <p:sp>
        <p:nvSpPr>
          <p:cNvPr id="59" name="results-subtitle">
            <a:extLst xmlns:a="http://schemas.openxmlformats.org/drawingml/2006/main">
              <a:ext uri="{FF2B5EF4-FFF2-40B4-BE49-F238E27FC236}">
                <a16:creationId xmlns:a16="http://schemas.microsoft.com/office/drawing/2014/main" id="{6002C42B-362F-4472-B2BB-5D08EADD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6870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8606B"/>
                </a:solidFill>
                <a:latin typeface="Arial"/>
                <a:ea typeface="Arial"/>
                <a:cs typeface="Arial"/>
              </a:rPr>
              <a:t>Macro averages on 95 questions with annotated source pages</a:t>
            </a:r>
          </a:p>
        </p:txBody>
      </p:sp>
      <p:graphicFrame>
        <p:nvGraphicFramePr>
          <p:cNvPr id="141" name="Chart"/>
          <p:cNvGraphicFramePr/>
          <p:nvPr/>
        </p:nvGraphicFramePr>
        <p:xfrm>
          <a:off xmlns:a="http://schemas.openxmlformats.org/drawingml/2006/main" x="9667875" y="11144250"/>
          <a:ext xmlns:a="http://schemas.openxmlformats.org/drawingml/2006/main" cx="10953750" cy="547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36952794ae402b"/>
          </a:graphicData>
        </a:graphic>
      </p:graphicFrame>
      <p:sp>
        <p:nvSpPr>
          <p:cNvPr id="61" name="results-metric-rule">
            <a:extLst xmlns:a="http://schemas.openxmlformats.org/drawingml/2006/main">
              <a:ext uri="{FF2B5EF4-FFF2-40B4-BE49-F238E27FC236}">
                <a16:creationId xmlns:a16="http://schemas.microsoft.com/office/drawing/2014/main" id="{EB89F465-FA6E-4E86-A264-73D1DAEB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6859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2" name="metric-accent-+10.2 pp">
            <a:extLst xmlns:a="http://schemas.openxmlformats.org/drawingml/2006/main">
              <a:ext uri="{FF2B5EF4-FFF2-40B4-BE49-F238E27FC236}">
                <a16:creationId xmlns:a16="http://schemas.microsoft.com/office/drawing/2014/main" id="{110B258D-69D0-46CB-9821-6EF34AE5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297400"/>
            <a:ext cx="9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3" name="metric-value-+10.2 pp">
            <a:extLst xmlns:a="http://schemas.openxmlformats.org/drawingml/2006/main">
              <a:ext uri="{FF2B5EF4-FFF2-40B4-BE49-F238E27FC236}">
                <a16:creationId xmlns:a16="http://schemas.microsoft.com/office/drawing/2014/main" id="{92BDFECF-2FA0-439A-94E3-D7BA8127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72402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+10.2 pp</a:t>
            </a:r>
          </a:p>
        </p:txBody>
      </p:sp>
      <p:sp>
        <p:nvSpPr>
          <p:cNvPr id="64" name="metric-label-+10.2 pp">
            <a:extLst xmlns:a="http://schemas.openxmlformats.org/drawingml/2006/main">
              <a:ext uri="{FF2B5EF4-FFF2-40B4-BE49-F238E27FC236}">
                <a16:creationId xmlns:a16="http://schemas.microsoft.com/office/drawing/2014/main" id="{7197D869-6E16-4D8D-9B11-D503988F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786890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precision</a:t>
            </a:r>
          </a:p>
          <a:p xmlns:a="http://schemas.openxmlformats.org/drawingml/2006/main">
            <a:pPr algn="l"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95% CI: +6.3 to +14.5</a:t>
            </a:r>
          </a:p>
        </p:txBody>
      </p:sp>
      <p:sp>
        <p:nvSpPr>
          <p:cNvPr id="65" name="metric-accent-95 / 95">
            <a:extLst xmlns:a="http://schemas.openxmlformats.org/drawingml/2006/main">
              <a:ext uri="{FF2B5EF4-FFF2-40B4-BE49-F238E27FC236}">
                <a16:creationId xmlns:a16="http://schemas.microsoft.com/office/drawing/2014/main" id="{F991407E-6BB5-46AC-8953-697784AA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17297400"/>
            <a:ext cx="9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6" name="metric-value-95 / 95">
            <a:extLst xmlns:a="http://schemas.openxmlformats.org/drawingml/2006/main">
              <a:ext uri="{FF2B5EF4-FFF2-40B4-BE49-F238E27FC236}">
                <a16:creationId xmlns:a16="http://schemas.microsoft.com/office/drawing/2014/main" id="{70CA7FE6-60F6-4F0D-92B2-634AFD87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172402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95 / 95</a:t>
            </a:r>
          </a:p>
        </p:txBody>
      </p:sp>
      <p:sp>
        <p:nvSpPr>
          <p:cNvPr id="67" name="metric-label-95 / 95">
            <a:extLst xmlns:a="http://schemas.openxmlformats.org/drawingml/2006/main">
              <a:ext uri="{FF2B5EF4-FFF2-40B4-BE49-F238E27FC236}">
                <a16:creationId xmlns:a16="http://schemas.microsoft.com/office/drawing/2014/main" id="{3ED56422-B69C-49B3-B55B-79B45ED4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1786890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retain ≥1 correct page</a:t>
            </a:r>
          </a:p>
        </p:txBody>
      </p:sp>
      <p:sp>
        <p:nvSpPr>
          <p:cNvPr id="68" name="metric-accent-−0.33">
            <a:extLst xmlns:a="http://schemas.openxmlformats.org/drawingml/2006/main">
              <a:ext uri="{FF2B5EF4-FFF2-40B4-BE49-F238E27FC236}">
                <a16:creationId xmlns:a16="http://schemas.microsoft.com/office/drawing/2014/main" id="{E0D43274-9300-4194-9486-6E3CC6C0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5925" y="17297400"/>
            <a:ext cx="9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69" name="metric-value-−0.33">
            <a:extLst xmlns:a="http://schemas.openxmlformats.org/drawingml/2006/main">
              <a:ext uri="{FF2B5EF4-FFF2-40B4-BE49-F238E27FC236}">
                <a16:creationId xmlns:a16="http://schemas.microsoft.com/office/drawing/2014/main" id="{848A6DBB-4D7D-4D1F-B55E-065B3F15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172402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−0.33</a:t>
            </a:r>
          </a:p>
        </p:txBody>
      </p:sp>
      <p:sp>
        <p:nvSpPr>
          <p:cNvPr id="70" name="metric-label-−0.33">
            <a:extLst xmlns:a="http://schemas.openxmlformats.org/drawingml/2006/main">
              <a:ext uri="{FF2B5EF4-FFF2-40B4-BE49-F238E27FC236}">
                <a16:creationId xmlns:a16="http://schemas.microsoft.com/office/drawing/2014/main" id="{518F9582-F2AE-4F54-9520-B977AC82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1786890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pages cited per question</a:t>
            </a:r>
          </a:p>
        </p:txBody>
      </p:sp>
      <p:sp>
        <p:nvSpPr>
          <p:cNvPr id="71" name="findings-title">
            <a:extLst xmlns:a="http://schemas.openxmlformats.org/drawingml/2006/main">
              <a:ext uri="{FF2B5EF4-FFF2-40B4-BE49-F238E27FC236}">
                <a16:creationId xmlns:a16="http://schemas.microsoft.com/office/drawing/2014/main" id="{B4671A0C-AA4A-4590-9B26-9D571194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825" y="10191750"/>
            <a:ext cx="842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What the result supports</a:t>
            </a:r>
          </a:p>
        </p:txBody>
      </p:sp>
      <p:sp>
        <p:nvSpPr>
          <p:cNvPr id="72" name="findings-rule">
            <a:extLst xmlns:a="http://schemas.openxmlformats.org/drawingml/2006/main">
              <a:ext uri="{FF2B5EF4-FFF2-40B4-BE49-F238E27FC236}">
                <a16:creationId xmlns:a16="http://schemas.microsoft.com/office/drawing/2014/main" id="{6CEC42AE-9A39-476F-89B1-D174C071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825" y="10782300"/>
            <a:ext cx="842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3" name="findings-bullets">
            <a:extLst xmlns:a="http://schemas.openxmlformats.org/drawingml/2006/main">
              <a:ext uri="{FF2B5EF4-FFF2-40B4-BE49-F238E27FC236}">
                <a16:creationId xmlns:a16="http://schemas.microsoft.com/office/drawing/2014/main" id="{80C96263-49F2-40D6-AF52-6ED83560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825" y="11068050"/>
            <a:ext cx="84201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6" indent="-16" algn="l">
              <a:spcAft>
                <a:spcPts val="850"/>
              </a:spcAft>
              <a:buChar char="•"/>
              <a:defRPr sz="24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Observed gain: </a:t>
            </a:r>
            <a:r>
              <a:rPr sz="2400">
                <a:solidFill>
                  <a:srgbClr val="111318"/>
                </a:solidFill>
                <a:latin typeface="Arial"/>
                <a:ea typeface="Arial"/>
                <a:cs typeface="Arial"/>
              </a:rPr>
              <a:t>final attribution removes excess pages and raises precision from 63.8% to 73.9%.</a:t>
            </a:r>
          </a:p>
          <a:p xmlns:a="http://schemas.openxmlformats.org/drawingml/2006/main">
            <a:pPr marL="26" indent="-16" algn="l">
              <a:spcAft>
                <a:spcPts val="850"/>
              </a:spcAft>
              <a:buChar char="•"/>
              <a:defRPr sz="24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Small recall cost: </a:t>
            </a:r>
            <a:r>
              <a:rPr sz="2400">
                <a:solidFill>
                  <a:srgbClr val="111318"/>
                </a:solidFill>
                <a:latin typeface="Arial"/>
                <a:ea typeface="Arial"/>
                <a:cs typeface="Arial"/>
              </a:rPr>
              <a:t>96.8% → 95.2%; no question loses every correct page.</a:t>
            </a:r>
          </a:p>
          <a:p xmlns:a="http://schemas.openxmlformats.org/drawingml/2006/main">
            <a:pPr marL="26" indent="-16" algn="l">
              <a:spcAft>
                <a:spcPts val="850"/>
              </a:spcAft>
              <a:buChar char="•"/>
              <a:defRPr sz="24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Best fit: </a:t>
            </a:r>
            <a:r>
              <a:rPr sz="2400">
                <a:solidFill>
                  <a:srgbClr val="111318"/>
                </a:solidFill>
                <a:latin typeface="Arial"/>
                <a:ea typeface="Arial"/>
                <a:cs typeface="Arial"/>
              </a:rPr>
              <a:t>single-page and numeric questions benefit most.</a:t>
            </a:r>
          </a:p>
          <a:p xmlns:a="http://schemas.openxmlformats.org/drawingml/2006/main">
            <a:pPr marL="26" indent="-16" algn="l">
              <a:spcAft>
                <a:spcPts val="850"/>
              </a:spcAft>
              <a:buChar char="•"/>
              <a:defRPr sz="24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Failure mode: </a:t>
            </a:r>
            <a:r>
              <a:rPr sz="240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multi-page and multi-document questions lose supporting evidence.</a:t>
            </a:r>
          </a:p>
        </p:txBody>
      </p:sp>
      <p:sp>
        <p:nvSpPr>
          <p:cNvPr id="74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CD033EC9-E489-4E5E-9ACB-A8F32206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825" y="15097125"/>
            <a:ext cx="84201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5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D24AC20A-EE8D-4C26-BDAA-FA8D51E8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6475" y="15306675"/>
            <a:ext cx="792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implication</a:t>
            </a:r>
          </a:p>
        </p:txBody>
      </p:sp>
      <p:sp>
        <p:nvSpPr>
          <p:cNvPr id="76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8A262F96-5563-41A7-813C-2E9AD326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6475" y="15801975"/>
            <a:ext cx="7924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Keep citation selection explicit; narrow conservatively for multi-page evidence.</a:t>
            </a:r>
          </a:p>
        </p:txBody>
      </p:sp>
      <p:sp>
        <p:nvSpPr>
          <p:cNvPr id="77" name="limitations-title">
            <a:extLst xmlns:a="http://schemas.openxmlformats.org/drawingml/2006/main">
              <a:ext uri="{FF2B5EF4-FFF2-40B4-BE49-F238E27FC236}">
                <a16:creationId xmlns:a16="http://schemas.microsoft.com/office/drawing/2014/main" id="{D8CE273D-B45B-4532-82A3-39CF9820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825" y="17145000"/>
            <a:ext cx="842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78" name="limitations">
            <a:extLst xmlns:a="http://schemas.openxmlformats.org/drawingml/2006/main">
              <a:ext uri="{FF2B5EF4-FFF2-40B4-BE49-F238E27FC236}">
                <a16:creationId xmlns:a16="http://schemas.microsoft.com/office/drawing/2014/main" id="{E15CD741-75DF-48AA-8D02-898D151F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825" y="17640300"/>
            <a:ext cx="8420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6" indent="-16" algn="l">
              <a:spcAft>
                <a:spcPts val="850"/>
              </a:spcAft>
              <a:buChar char="•"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One saved run; no repeated seeds. Overall Fβ: +1.5 pp (95% CI −0.3 to +3.1).</a:t>
            </a:r>
          </a:p>
          <a:p xmlns:a="http://schemas.openxmlformats.org/drawingml/2006/main">
            <a:pPr marL="26" indent="-16" algn="l">
              <a:spcAft>
                <a:spcPts val="850"/>
              </a:spcAft>
              <a:buChar char="•"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OCR was not exercised: all 590 pages exposed extractable text.</a:t>
            </a:r>
          </a:p>
          <a:p xmlns:a="http://schemas.openxmlformats.org/drawingml/2006/main">
            <a:pPr marL="26" indent="-16" algn="l">
              <a:spcAft>
                <a:spcPts val="850"/>
              </a:spcAft>
              <a:buChar char="•"/>
              <a:defRPr sz="240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58606B"/>
                </a:solidFill>
                <a:latin typeface="Arial"/>
                <a:ea typeface="Arial"/>
                <a:cs typeface="Arial"/>
              </a:rPr>
              <a:t>Multi-page evidence regresses; mean first-token latency is 6.39 s.</a:t>
            </a:r>
          </a:p>
        </p:txBody>
      </p:sp>
      <p:sp>
        <p:nvSpPr>
          <p:cNvPr id="7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48E41C2-97F3-4EC5-BE2C-066E389E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0"/>
            <a:ext cx="2871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8"/>
            </a:solidFill>
            <a:prstDash val="solid"/>
          </a:ln>
        </p:spPr>
      </p:sp>
      <p:sp>
        <p:nvSpPr>
          <p:cNvPr id="80" name="references">
            <a:extLst xmlns:a="http://schemas.openxmlformats.org/drawingml/2006/main">
              <a:ext uri="{FF2B5EF4-FFF2-40B4-BE49-F238E27FC236}">
                <a16:creationId xmlns:a16="http://schemas.microsoft.com/office/drawing/2014/main" id="{D04E705B-1002-49B8-A1B4-810F2C6E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0"/>
            <a:ext cx="2343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8606B"/>
                </a:solidFill>
                <a:latin typeface="Arial"/>
                <a:ea typeface="Arial"/>
                <a:cs typeface="Arial"/>
              </a:rPr>
              <a:t>[1] Lewis et al., NeurIPS 2020 · [2] Karpukhin et al., EMNLP 2020 · [3] Cormack et al., SIGIR 2009 · [4] Gao et al., EMNLP 2023 · [5] Pipitone &amp; Alami, 2024 · Model: Qwen3 Embedding/Reranker [6]</a:t>
            </a:r>
          </a:p>
        </p:txBody>
      </p:sp>
      <p:sp>
        <p:nvSpPr>
          <p:cNvPr id="81" name="scope-note">
            <a:extLst xmlns:a="http://schemas.openxmlformats.org/drawingml/2006/main">
              <a:ext uri="{FF2B5EF4-FFF2-40B4-BE49-F238E27FC236}">
                <a16:creationId xmlns:a16="http://schemas.microsoft.com/office/drawing/2014/main" id="{B6D86945-7A77-4307-9B25-51EE4991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25" y="202882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8606B"/>
                </a:solidFill>
                <a:latin typeface="Arial"/>
                <a:ea typeface="Arial"/>
                <a:cs typeface="Arial"/>
              </a:rPr>
              <a:t>Competition context intentionally omitted; evaluation uses the saved legal QA benchmark artifacts.</a:t>
            </a:r>
          </a:p>
        </p:txBody>
      </p:sp>
    </p:spTree>
    <p:extLst>
      <p:ext uri="{BB962C8B-B14F-4D97-AF65-F5344CB8AC3E}">
        <p14:creationId xmlns:p14="http://schemas.microsoft.com/office/powerpoint/2010/main" val="789308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2026-09-03T20:14:24.7940000Z</dcterms:created>
  <dcterms:modified xsi:type="dcterms:W3CDTF">2026-09-03T20:14:24.7940000Z</dcterms:modified>
</coreProperties>
</file>