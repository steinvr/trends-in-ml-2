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4a35fc2d9b4731" /><Relationship Type="http://schemas.openxmlformats.org/officeDocument/2006/relationships/extended-properties" Target="/docProps/app.xml" Id="R624956c6aef94f5c" /><Relationship Type="http://schemas.openxmlformats.org/officeDocument/2006/relationships/officeDocument" Target="/ppt/presentation.xml" Id="R01a349442b4a40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c3babb46ee473a"/>
  </p:sldMasterIdLst>
  <p:notesMasterIdLst>
    <p:notesMasterId xmlns:r="http://schemas.openxmlformats.org/officeDocument/2006/relationships" r:id="Rd58d4f5001224cdc"/>
  </p:notesMasterIdLst>
  <p:sldIdLst>
    <p:sldId xmlns:r="http://schemas.openxmlformats.org/officeDocument/2006/relationships" id="256" r:id="Rb7c65989527f4f71"/>
  </p:sldIdLst>
  <p:sldSz cx="2138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66851dc2064588" /><Relationship Type="http://schemas.openxmlformats.org/officeDocument/2006/relationships/slideMaster" Target="/ppt/slideMasters/slideMaster1.xml" Id="Rfac3babb46ee473a" /><Relationship Type="http://schemas.openxmlformats.org/officeDocument/2006/relationships/notesMaster" Target="/ppt/notesMasters/notesMaster1.xml" Id="Rd58d4f5001224cdc" /><Relationship Type="http://schemas.openxmlformats.org/officeDocument/2006/relationships/presProps" Target="/ppt/presProps.xml" Id="R828d8245abb34036" /><Relationship Type="http://schemas.openxmlformats.org/officeDocument/2006/relationships/tableStyles" Target="/ppt/tableStyles.xml" Id="R4c0184c5819840cc" /><Relationship Type="http://schemas.openxmlformats.org/officeDocument/2006/relationships/slide" Target="/ppt/slides/slide1.xml" Id="Rb7c65989527f4f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5b650db9a84f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2d1527476f42eb" /><Relationship Type="http://schemas.openxmlformats.org/officeDocument/2006/relationships/notesMaster" Target="/ppt/notesMasters/notesMaster1.xml" Id="R8bd20a9b39cf46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local research paper and completed experiment metrics (output/poster-narrative-3). Logo: https://www.uni-trier.de/typo3conf/ext/zimktheme_unitrier/Resources/Public/Logos/Logo_Universitaet.svg . References: https://arxiv.org/abs/2005.11401 ; https://arxiv.org/abs/2408.10343 ; https://doi.org/10.18653/v1/2023.emnlp-main.398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3de6dfcb943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a7c05c243c4f83" /><Relationship Type="http://schemas.openxmlformats.org/officeDocument/2006/relationships/slideLayout" Target="/ppt/slideLayouts/slideLayout1.xml" Id="Rf5ce5c45eb1b42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ce5c45eb1b42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586526bc84d69" /><Relationship Type="http://schemas.openxmlformats.org/officeDocument/2006/relationships/image" Target="/ppt/media/image.png" Id="Rc83b79940686479b" /><Relationship Type="http://schemas.openxmlformats.org/officeDocument/2006/relationships/image" Target="/ppt/media/image.svg" Id="R63c2c00d61f2464d" /><Relationship Type="http://schemas.openxmlformats.org/officeDocument/2006/relationships/image" Target="/ppt/media/image2.png" Id="Rea36ef3ea4e84550" /><Relationship Type="http://schemas.openxmlformats.org/officeDocument/2006/relationships/image" Target="/ppt/media/image2.svg" Id="R3635847d45e64bdb" /><Relationship Type="http://schemas.openxmlformats.org/officeDocument/2006/relationships/image" Target="/ppt/media/image3.png" Id="R105e98dd21ad48e4" /><Relationship Type="http://schemas.openxmlformats.org/officeDocument/2006/relationships/image" Target="/ppt/media/image3.svg" Id="R8768414ebed34719" /><Relationship Type="http://schemas.openxmlformats.org/officeDocument/2006/relationships/notesSlide" Target="/ppt/notesSlides/notesSlide1.xml" Id="R3f98ed6c7ebc44a7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drawing/2016/SVG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6" name="Rule section-title" descr="s0">
            <a:extLst>
              <a:ext uri="{FF2B5EF4-FFF2-40B4-BE49-F238E27FC236}">
                <ns2:creationId id="{1B96D0CA-6D1B-42B0-89BF-EFB284C72DF7}"/>
              </a:ext>
            </a:extLst>
          </p:cNvPr>
          <p:cNvSpPr>
            <a:spLocks noGrp="1"/>
          </p:cNvSpPr>
          <p:nvPr/>
        </p:nvSpPr>
        <p:spPr>
          <a:xfrm>
            <a:off x="647998" y="3088779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sp>
        <p:nvSpPr>
          <p:cNvPr id="2" name="Panel hypothesis" descr="s1">
            <a:extLst>
              <a:ext uri="{FF2B5EF4-FFF2-40B4-BE49-F238E27FC236}">
                <ns2:creationId id="{27BCD985-D11D-40C1-9463-498AD3D528BE}"/>
              </a:ext>
            </a:extLst>
          </p:cNvPr>
          <p:cNvSpPr>
            <a:spLocks noGrp="1"/>
          </p:cNvSpPr>
          <p:nvPr/>
        </p:nvSpPr>
        <p:spPr>
          <a:xfrm>
            <a:off x="10999887" y="3805535"/>
            <a:ext cx="9736038" cy="1730425"/>
          </a:xfrm>
          <a:prstGeom prst="rect">
            <a:avLst/>
          </a:prstGeom>
          <a:solidFill>
            <a:srgbClr val="EFF6FA"/>
          </a:solidFill>
          <a:ln w="0">
            <a:noFill/>
          </a:ln>
        </p:spPr>
      </p:sp>
      <p:sp>
        <p:nvSpPr>
          <p:cNvPr id="3" name="Rule hypothesis" descr="s2">
            <a:extLst>
              <a:ext uri="{FF2B5EF4-FFF2-40B4-BE49-F238E27FC236}">
                <ns2:creationId id="{86779948-99EE-455A-8694-75355C176DEF}"/>
              </a:ext>
            </a:extLst>
          </p:cNvPr>
          <p:cNvSpPr>
            <a:spLocks noGrp="1"/>
          </p:cNvSpPr>
          <p:nvPr/>
        </p:nvSpPr>
        <p:spPr>
          <a:xfrm>
            <a:off x="10999887" y="3805535"/>
            <a:ext cx="47625" cy="173042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4" name="Rule section-title" descr="s3">
            <a:extLst>
              <a:ext uri="{FF2B5EF4-FFF2-40B4-BE49-F238E27FC236}">
                <ns2:creationId id="{5B2C2E11-C78A-429F-BD61-1AE59AEE393D}"/>
              </a:ext>
            </a:extLst>
          </p:cNvPr>
          <p:cNvSpPr>
            <a:spLocks noGrp="1"/>
          </p:cNvSpPr>
          <p:nvPr/>
        </p:nvSpPr>
        <p:spPr>
          <a:xfrm>
            <a:off x="647998" y="6153448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sp>
        <p:nvSpPr>
          <p:cNvPr id="5" name="Panel baseline" descr="s4">
            <a:extLst>
              <a:ext uri="{FF2B5EF4-FFF2-40B4-BE49-F238E27FC236}">
                <ns2:creationId id="{AD2732EA-739F-4942-8549-D3F3E1BCAF9B}"/>
              </a:ext>
            </a:extLst>
          </p:cNvPr>
          <p:cNvSpPr>
            <a:spLocks noGrp="1"/>
          </p:cNvSpPr>
          <p:nvPr/>
        </p:nvSpPr>
        <p:spPr>
          <a:xfrm>
            <a:off x="647998" y="6870204"/>
            <a:ext cx="20087927" cy="617488"/>
          </a:xfrm>
          <a:prstGeom prst="rect">
            <a:avLst/>
          </a:prstGeom>
          <a:solidFill>
            <a:srgbClr val="EFF6FA"/>
          </a:solidFill>
          <a:ln w="0">
            <a:noFill/>
          </a:ln>
        </p:spPr>
      </p:sp>
      <p:sp>
        <p:nvSpPr>
          <p:cNvPr id="6" name="Rule models" descr="s5">
            <a:extLst>
              <a:ext uri="{FF2B5EF4-FFF2-40B4-BE49-F238E27FC236}">
                <ns2:creationId id="{76CBE832-C384-4568-AEFF-31A3AB874AEC}"/>
              </a:ext>
            </a:extLst>
          </p:cNvPr>
          <p:cNvSpPr>
            <a:spLocks noGrp="1"/>
          </p:cNvSpPr>
          <p:nvPr/>
        </p:nvSpPr>
        <p:spPr>
          <a:xfrm>
            <a:off x="647998" y="12804577"/>
            <a:ext cx="20087927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7" name="Rule section-title" descr="s6">
            <a:extLst>
              <a:ext uri="{FF2B5EF4-FFF2-40B4-BE49-F238E27FC236}">
                <ns2:creationId id="{38863C48-0C52-4A24-902C-43BFC650E59D}"/>
              </a:ext>
            </a:extLst>
          </p:cNvPr>
          <p:cNvSpPr>
            <a:spLocks noGrp="1"/>
          </p:cNvSpPr>
          <p:nvPr/>
        </p:nvSpPr>
        <p:spPr>
          <a:xfrm>
            <a:off x="647998" y="13431589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sp>
        <p:nvSpPr>
          <p:cNvPr id="8" name="Rule metric" descr="s7">
            <a:extLst>
              <a:ext uri="{FF2B5EF4-FFF2-40B4-BE49-F238E27FC236}">
                <ns2:creationId id="{66CB9ABD-F524-4490-848D-9CC31E366EC2}"/>
              </a:ext>
            </a:extLst>
          </p:cNvPr>
          <p:cNvSpPr>
            <a:spLocks noGrp="1"/>
          </p:cNvSpPr>
          <p:nvPr/>
        </p:nvSpPr>
        <p:spPr>
          <a:xfrm>
            <a:off x="647998" y="14148346"/>
            <a:ext cx="38100" cy="90100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9" name="Rule metric" descr="s8">
            <a:extLst>
              <a:ext uri="{FF2B5EF4-FFF2-40B4-BE49-F238E27FC236}">
                <ns2:creationId id="{9C91FB27-A709-48C0-8F0F-2CB55BBE80E6}"/>
              </a:ext>
            </a:extLst>
          </p:cNvPr>
          <p:cNvSpPr>
            <a:spLocks noGrp="1"/>
          </p:cNvSpPr>
          <p:nvPr/>
        </p:nvSpPr>
        <p:spPr>
          <a:xfrm>
            <a:off x="7439918" y="14148346"/>
            <a:ext cx="38100" cy="90100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10" name="Rule metric" descr="s9">
            <a:extLst>
              <a:ext uri="{FF2B5EF4-FFF2-40B4-BE49-F238E27FC236}">
                <ns2:creationId id="{4DB8C8FF-E78D-4039-86D3-82B1D68978F8}"/>
              </a:ext>
            </a:extLst>
          </p:cNvPr>
          <p:cNvSpPr>
            <a:spLocks noGrp="1"/>
          </p:cNvSpPr>
          <p:nvPr/>
        </p:nvSpPr>
        <p:spPr>
          <a:xfrm>
            <a:off x="14231987" y="14148346"/>
            <a:ext cx="38100" cy="90100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11" name="Rule " descr="s10">
            <a:extLst>
              <a:ext uri="{FF2B5EF4-FFF2-40B4-BE49-F238E27FC236}">
                <ns2:creationId id="{B135D42B-0E10-4835-A224-FFB532D37CC4}"/>
              </a:ext>
            </a:extLst>
          </p:cNvPr>
          <p:cNvSpPr>
            <a:spLocks noGrp="1"/>
          </p:cNvSpPr>
          <p:nvPr/>
        </p:nvSpPr>
        <p:spPr>
          <a:xfrm>
            <a:off x="10871895" y="22208133"/>
            <a:ext cx="9525" cy="3503861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12" name="Panel conclusion" descr="s11">
            <a:extLst>
              <a:ext uri="{FF2B5EF4-FFF2-40B4-BE49-F238E27FC236}">
                <ns2:creationId id="{26257B4E-B607-47A3-9497-81FBC38D6042}"/>
              </a:ext>
            </a:extLst>
          </p:cNvPr>
          <p:cNvSpPr>
            <a:spLocks noGrp="1"/>
          </p:cNvSpPr>
          <p:nvPr/>
        </p:nvSpPr>
        <p:spPr>
          <a:xfrm>
            <a:off x="647998" y="25927943"/>
            <a:ext cx="20087927" cy="1574453"/>
          </a:xfrm>
          <a:prstGeom prst="rect">
            <a:avLst/>
          </a:prstGeom>
          <a:solidFill>
            <a:srgbClr val="07568A"/>
          </a:solidFill>
          <a:ln w="0">
            <a:noFill/>
          </a:ln>
        </p:spPr>
      </p:sp>
      <p:sp>
        <p:nvSpPr>
          <p:cNvPr id="13" name="Rule " descr="s12">
            <a:extLst>
              <a:ext uri="{FF2B5EF4-FFF2-40B4-BE49-F238E27FC236}">
                <ns2:creationId id="{3ABEABD1-0E7B-496F-AFEE-954D37EC21C3}"/>
              </a:ext>
            </a:extLst>
          </p:cNvPr>
          <p:cNvSpPr>
            <a:spLocks noGrp="1"/>
          </p:cNvSpPr>
          <p:nvPr/>
        </p:nvSpPr>
        <p:spPr>
          <a:xfrm>
            <a:off x="647998" y="28083867"/>
            <a:ext cx="20087927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14" name="TRENDS IN MACHINE LEARNING II&#10;[AUTHOR NAME]" descr="s13">
            <a:extLst>
              <a:ext uri="{FF2B5EF4-FFF2-40B4-BE49-F238E27FC236}">
                <ns2:creationId id="{FD1F7D0E-8D4C-46B6-8AED-DF9FCF8177CB}"/>
              </a:ext>
            </a:extLst>
          </p:cNvPr>
          <p:cNvSpPr>
            <a:spLocks noGrp="1"/>
          </p:cNvSpPr>
          <p:nvPr/>
        </p:nvSpPr>
        <p:spPr>
          <a:xfrm>
            <a:off x="647998" y="647998"/>
            <a:ext cx="5192613" cy="8533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72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TRENDS IN MACHINE LEARNING II</a:t>
            </a:r>
            <a:endParaRPr lang="en-GB" sz="2400"/>
          </a:p>
          <a:p>
            <a:pPr algn="l" marL="0" marR="0" indent="0" fontAlgn="base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[AUTHOR NAME]</a:t>
            </a:r>
            <a:endParaRPr lang="en-GB" sz="2400"/>
          </a:p>
        </p:txBody>
      </p:sp>
      <p:sp>
        <p:nvSpPr>
          <p:cNvPr id="15" name="Building Legal RAG:&#10;what each component contributes" descr="s14">
            <a:extLst>
              <a:ext uri="{FF2B5EF4-FFF2-40B4-BE49-F238E27FC236}">
                <ns2:creationId id="{C43C8DEE-8F67-4142-9A5B-D053E20E50FA}"/>
              </a:ext>
            </a:extLst>
          </p:cNvPr>
          <p:cNvSpPr>
            <a:spLocks noGrp="1"/>
          </p:cNvSpPr>
          <p:nvPr/>
        </p:nvSpPr>
        <p:spPr>
          <a:xfrm>
            <a:off x="647998" y="1478012"/>
            <a:ext cx="19648438" cy="1552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5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5000" b="1" spc="-175" kern="0" dirty="0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Building Legal RAG:</a:t>
            </a:r>
            <a:endParaRPr lang="en-GB" sz="5000"/>
          </a:p>
          <a:p>
            <a:pPr algn="l" marL="0" marR="0" indent="0" fontAlgn="base">
              <a:lnSpc>
                <a:spcPts val="5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5000" b="1" spc="-175" kern="0" dirty="0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what each component contributes</a:t>
            </a:r>
            <a:endParaRPr lang="en-GB" sz="5000"/>
          </a:p>
        </p:txBody>
      </p:sp>
      <p:sp>
        <p:nvSpPr>
          <p:cNvPr id="16" name="01" descr="s15">
            <a:extLst>
              <a:ext uri="{FF2B5EF4-FFF2-40B4-BE49-F238E27FC236}">
                <ns2:creationId id="{39CA82CE-9D5F-408B-AC29-A5053EBAE0E3}"/>
              </a:ext>
            </a:extLst>
          </p:cNvPr>
          <p:cNvSpPr>
            <a:spLocks noGrp="1"/>
          </p:cNvSpPr>
          <p:nvPr/>
        </p:nvSpPr>
        <p:spPr>
          <a:xfrm>
            <a:off x="647998" y="3234779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01</a:t>
            </a:r>
            <a:endParaRPr lang="en-GB" sz="2600"/>
          </a:p>
        </p:txBody>
      </p:sp>
      <p:sp>
        <p:nvSpPr>
          <p:cNvPr id="17" name="HYPOTHESIS" descr="s16">
            <a:extLst>
              <a:ext uri="{FF2B5EF4-FFF2-40B4-BE49-F238E27FC236}">
                <ns2:creationId id="{8BAE2027-D978-458F-AC25-D7995B081CE8}"/>
              </a:ext>
            </a:extLst>
          </p:cNvPr>
          <p:cNvSpPr>
            <a:spLocks noGrp="1"/>
          </p:cNvSpPr>
          <p:nvPr/>
        </p:nvSpPr>
        <p:spPr>
          <a:xfrm>
            <a:off x="1169640" y="3187154"/>
            <a:ext cx="2613422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72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spc="124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HYPOTHESIS</a:t>
            </a:r>
            <a:endParaRPr lang="en-GB" sz="3100"/>
          </a:p>
        </p:txBody>
      </p:sp>
      <p:sp>
        <p:nvSpPr>
          <p:cNvPr id="18" name="Research question &amp; rationale" descr="s17">
            <a:extLst>
              <a:ext uri="{FF2B5EF4-FFF2-40B4-BE49-F238E27FC236}">
                <ns2:creationId id="{6CB0700C-4586-47ED-9DA0-A29F66FD6812}"/>
              </a:ext>
            </a:extLst>
          </p:cNvPr>
          <p:cNvSpPr>
            <a:spLocks noGrp="1"/>
          </p:cNvSpPr>
          <p:nvPr/>
        </p:nvSpPr>
        <p:spPr>
          <a:xfrm>
            <a:off x="16441192" y="3249960"/>
            <a:ext cx="4323308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Research question &amp; rationale</a:t>
            </a:r>
            <a:endParaRPr lang="en-GB" sz="2400"/>
          </a:p>
        </p:txBody>
      </p:sp>
      <p:sp>
        <p:nvSpPr>
          <p:cNvPr id="19" name="How can we build Legal RAG with better answers and precise, complete citations?" descr="s18">
            <a:extLst>
              <a:ext uri="{FF2B5EF4-FFF2-40B4-BE49-F238E27FC236}">
                <ns2:creationId id="{A5ABC785-07FB-46F9-8B58-FD4CA6B3C899}"/>
              </a:ext>
            </a:extLst>
          </p:cNvPr>
          <p:cNvSpPr>
            <a:spLocks noGrp="1"/>
          </p:cNvSpPr>
          <p:nvPr/>
        </p:nvSpPr>
        <p:spPr>
          <a:xfrm>
            <a:off x="647998" y="3776960"/>
            <a:ext cx="10056465" cy="94089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509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9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How can we build Legal RAG with better answers and</a:t>
            </a:r>
            <a:endParaRPr lang="en-GB" sz="2900"/>
          </a:p>
          <a:p>
            <a:pPr algn="l" marL="0" marR="0" indent="0" fontAlgn="base">
              <a:lnSpc>
                <a:spcPts val="3509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9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precise, complete citations?</a:t>
            </a:r>
            <a:endParaRPr lang="en-GB" sz="2900"/>
          </a:p>
        </p:txBody>
      </p:sp>
      <p:sp>
        <p:nvSpPr>
          <p:cNvPr id="20" name="Legal answers need evidence: readable documents, relevant passages and verifiabl" descr="s19">
            <a:extLst>
              <a:ext uri="{FF2B5EF4-FFF2-40B4-BE49-F238E27FC236}">
                <ns2:creationId id="{739AE120-F4C5-478A-B1AC-9E13AD7640B1}"/>
              </a:ext>
            </a:extLst>
          </p:cNvPr>
          <p:cNvSpPr>
            <a:spLocks noGrp="1"/>
          </p:cNvSpPr>
          <p:nvPr/>
        </p:nvSpPr>
        <p:spPr>
          <a:xfrm>
            <a:off x="647998" y="4776043"/>
            <a:ext cx="10056465" cy="775246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Legal answers need evidence: readable documents, relevant passages</a:t>
            </a:r>
            <a:endParaRPr lang="en-GB" sz="2400"/>
          </a:p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and verifiable page citations.</a:t>
            </a:r>
            <a:endParaRPr lang="en-GB" sz="2400"/>
          </a:p>
        </p:txBody>
      </p:sp>
      <p:sp>
        <p:nvSpPr>
          <p:cNvPr id="21" name="Testing the complete pipeline" descr="s20">
            <a:extLst>
              <a:ext uri="{FF2B5EF4-FFF2-40B4-BE49-F238E27FC236}">
                <ns2:creationId id="{BDEAD728-F2B4-4280-A23C-13503350F340}"/>
              </a:ext>
            </a:extLst>
          </p:cNvPr>
          <p:cNvSpPr>
            <a:spLocks noGrp="1"/>
          </p:cNvSpPr>
          <p:nvPr/>
        </p:nvSpPr>
        <p:spPr>
          <a:xfrm>
            <a:off x="11263461" y="3956893"/>
            <a:ext cx="9285089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7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Testing the complete pipeline</a:t>
            </a:r>
            <a:endParaRPr lang="en-GB" sz="2700"/>
          </a:p>
        </p:txBody>
      </p:sp>
      <p:sp>
        <p:nvSpPr>
          <p:cNvPr id="22" name="We expect the full pipeline to outperform baseline. H1–H6 test whether each addi" descr="s21">
            <a:extLst>
              <a:ext uri="{FF2B5EF4-FFF2-40B4-BE49-F238E27FC236}">
                <ns2:creationId id="{8390EE07-62A0-4DAB-9462-FA82CE5A8841}"/>
              </a:ext>
            </a:extLst>
          </p:cNvPr>
          <p:cNvSpPr>
            <a:spLocks noGrp="1"/>
          </p:cNvSpPr>
          <p:nvPr/>
        </p:nvSpPr>
        <p:spPr>
          <a:xfrm>
            <a:off x="11263461" y="4476155"/>
            <a:ext cx="9285089" cy="775246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We expect the full pipeline to outperform baseline. H1–H6 test</a:t>
            </a:r>
            <a:endParaRPr lang="en-GB" sz="2400"/>
          </a:p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whether each addition improves answer quality or citations.</a:t>
            </a:r>
            <a:endParaRPr lang="en-GB" sz="2400"/>
          </a:p>
        </p:txBody>
      </p:sp>
      <p:sp>
        <p:nvSpPr>
          <p:cNvPr id="23" name="Prior work: RAG [1], legal retrieval [2], citation evaluation [3]. We test one p" descr="s22">
            <a:extLst>
              <a:ext uri="{FF2B5EF4-FFF2-40B4-BE49-F238E27FC236}">
                <ns2:creationId id="{49EA2821-2220-4B58-B4F8-EC83E38CC0E2}"/>
              </a:ext>
            </a:extLst>
          </p:cNvPr>
          <p:cNvSpPr>
            <a:spLocks noGrp="1"/>
          </p:cNvSpPr>
          <p:nvPr/>
        </p:nvSpPr>
        <p:spPr>
          <a:xfrm>
            <a:off x="647998" y="5615285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Prior work: RAG [1], legal retrieval [2], citation evaluation [3]. We test one pipeline, component by component.</a:t>
            </a:r>
            <a:endParaRPr lang="en-GB" sz="2400"/>
          </a:p>
        </p:txBody>
      </p:sp>
      <p:sp>
        <p:nvSpPr>
          <p:cNvPr id="24" name="02" descr="s23">
            <a:extLst>
              <a:ext uri="{FF2B5EF4-FFF2-40B4-BE49-F238E27FC236}">
                <ns2:creationId id="{3785FED3-48E7-4FC7-82FB-122E23E6F961}"/>
              </a:ext>
            </a:extLst>
          </p:cNvPr>
          <p:cNvSpPr>
            <a:spLocks noGrp="1"/>
          </p:cNvSpPr>
          <p:nvPr/>
        </p:nvSpPr>
        <p:spPr>
          <a:xfrm>
            <a:off x="647998" y="6299448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02</a:t>
            </a:r>
            <a:endParaRPr lang="en-GB" sz="2600"/>
          </a:p>
        </p:txBody>
      </p:sp>
      <p:sp>
        <p:nvSpPr>
          <p:cNvPr id="25" name="METHODOLOGY" descr="s24">
            <a:extLst>
              <a:ext uri="{FF2B5EF4-FFF2-40B4-BE49-F238E27FC236}">
                <ns2:creationId id="{6C98F92E-A513-426B-9FFE-F225FB01F014}"/>
              </a:ext>
            </a:extLst>
          </p:cNvPr>
          <p:cNvSpPr>
            <a:spLocks noGrp="1"/>
          </p:cNvSpPr>
          <p:nvPr/>
        </p:nvSpPr>
        <p:spPr>
          <a:xfrm>
            <a:off x="1169640" y="6251823"/>
            <a:ext cx="3287762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72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spc="124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METHODOLOGY</a:t>
            </a:r>
            <a:endParaRPr lang="en-GB" sz="3100"/>
          </a:p>
        </p:txBody>
      </p:sp>
      <p:sp>
        <p:nvSpPr>
          <p:cNvPr id="26" name="Sequential component additions" descr="s25">
            <a:extLst>
              <a:ext uri="{FF2B5EF4-FFF2-40B4-BE49-F238E27FC236}">
                <ns2:creationId id="{255AAB36-A6F6-4368-9E47-75644D18A6C1}"/>
              </a:ext>
            </a:extLst>
          </p:cNvPr>
          <p:cNvSpPr>
            <a:spLocks noGrp="1"/>
          </p:cNvSpPr>
          <p:nvPr/>
        </p:nvSpPr>
        <p:spPr>
          <a:xfrm>
            <a:off x="16085493" y="6314629"/>
            <a:ext cx="4679007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Sequential component additions</a:t>
            </a:r>
            <a:endParaRPr lang="en-GB" sz="2400"/>
          </a:p>
        </p:txBody>
      </p:sp>
      <p:sp>
        <p:nvSpPr>
          <p:cNvPr id="27" name="R0 · Baseline. PDF text → 300-token chunks → dense retrieval → answer. Citations" descr="s26">
            <a:extLst>
              <a:ext uri="{FF2B5EF4-FFF2-40B4-BE49-F238E27FC236}">
                <ns2:creationId id="{D1671FDD-6239-40B1-8B13-FC8F54758455}"/>
              </a:ext>
            </a:extLst>
          </p:cNvPr>
          <p:cNvSpPr>
            <a:spLocks noGrp="1"/>
          </p:cNvSpPr>
          <p:nvPr/>
        </p:nvSpPr>
        <p:spPr>
          <a:xfrm>
            <a:off x="827931" y="6967538"/>
            <a:ext cx="19756503" cy="617488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R0 · Baseline.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PDF text → 300-token chunks → dense retrieval → answer. Citations include all pages in the supplied context.</a:t>
            </a:r>
            <a:endParaRPr lang="en-GB" sz="2400"/>
          </a:p>
        </p:txBody>
      </p:sp>
      <p:sp>
        <p:nvSpPr>
          <p:cNvPr id="28" name="Dataset &amp; comparisons" descr="s27">
            <a:extLst>
              <a:ext uri="{FF2B5EF4-FFF2-40B4-BE49-F238E27FC236}">
                <ns2:creationId id="{EF77DCA0-599D-4E51-98A1-3E55A3263A5E}"/>
              </a:ext>
            </a:extLst>
          </p:cNvPr>
          <p:cNvSpPr>
            <a:spLocks noGrp="1"/>
          </p:cNvSpPr>
          <p:nvPr/>
        </p:nvSpPr>
        <p:spPr>
          <a:xfrm>
            <a:off x="647998" y="10176570"/>
            <a:ext cx="991046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7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Dataset &amp; comparisons</a:t>
            </a:r>
            <a:endParaRPr lang="en-GB" sz="2700"/>
          </a:p>
        </p:txBody>
      </p:sp>
      <p:sp>
        <p:nvSpPr>
          <p:cNvPr id="29" name="30 DIFC PDFs · 590 pages · 100 questions.&#10;70 structured / 30 free-text answers;&#10;" descr="s28">
            <a:extLst>
              <a:ext uri="{FF2B5EF4-FFF2-40B4-BE49-F238E27FC236}">
                <ns2:creationId id="{B2BC62C5-4505-4E4C-B775-E07BA6DE3E26}"/>
              </a:ext>
            </a:extLst>
          </p:cNvPr>
          <p:cNvSpPr>
            <a:spLocks noGrp="1"/>
          </p:cNvSpPr>
          <p:nvPr/>
        </p:nvSpPr>
        <p:spPr>
          <a:xfrm>
            <a:off x="647998" y="10695831"/>
            <a:ext cx="9910465" cy="1140916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30 DIFC PDFs · 590 pages · 100 questions.</a:t>
            </a:r>
            <a:endParaRPr lang="en-GB" sz="2400"/>
          </a:p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70 structured / 30 free-text answers;</a:t>
            </a:r>
            <a:endParaRPr lang="en-GB" sz="2400"/>
          </a:p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95 questions with gold source pages.</a:t>
            </a:r>
            <a:endParaRPr lang="en-GB" sz="2400"/>
          </a:p>
        </p:txBody>
      </p:sp>
      <p:sp>
        <p:nvSpPr>
          <p:cNvPr id="30" name="Mixed corpus: 10 PDFs / 107 pages rasterised at 300 DPI. R0–R6 on mixed; R0/R1 a" descr="s29">
            <a:extLst>
              <a:ext uri="{FF2B5EF4-FFF2-40B4-BE49-F238E27FC236}">
                <ns2:creationId id="{5EBAE263-34DC-4554-B71D-D1EB59B528B1}"/>
              </a:ext>
            </a:extLst>
          </p:cNvPr>
          <p:cNvSpPr>
            <a:spLocks noGrp="1"/>
          </p:cNvSpPr>
          <p:nvPr/>
        </p:nvSpPr>
        <p:spPr>
          <a:xfrm>
            <a:off x="647998" y="11900743"/>
            <a:ext cx="9910465" cy="775246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Mixed corpus: 10 PDFs / 107 pages rasterised at 300 DPI. R0–R6 on</a:t>
            </a:r>
            <a:endParaRPr lang="en-GB" sz="2400"/>
          </a:p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mixed; R0/R1 also on originals.</a:t>
            </a:r>
            <a:endParaRPr lang="en-GB" sz="2400"/>
          </a:p>
        </p:txBody>
      </p:sp>
      <p:sp>
        <p:nvSpPr>
          <p:cNvPr id="31" name="Evaluation" descr="s30">
            <a:extLst>
              <a:ext uri="{FF2B5EF4-FFF2-40B4-BE49-F238E27FC236}">
                <ns2:creationId id="{743153BB-9A2E-4712-ABEE-939A4102733E}"/>
              </a:ext>
            </a:extLst>
          </p:cNvPr>
          <p:cNvSpPr>
            <a:spLocks noGrp="1"/>
          </p:cNvSpPr>
          <p:nvPr/>
        </p:nvSpPr>
        <p:spPr>
          <a:xfrm>
            <a:off x="10853886" y="10176570"/>
            <a:ext cx="9910614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7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Evaluation</a:t>
            </a:r>
            <a:endParaRPr lang="en-GB" sz="2700"/>
          </a:p>
        </p:txBody>
      </p:sp>
      <p:sp>
        <p:nvSpPr>
          <p:cNvPr id="32" name="Q = 0.7 × S + 0.3 × F. S / F: mean structured / free-text scores; free text is e" descr="s31">
            <a:extLst>
              <a:ext uri="{FF2B5EF4-FFF2-40B4-BE49-F238E27FC236}">
                <ns2:creationId id="{59EC069C-5246-49E1-94D0-564016CE91E4}"/>
              </a:ext>
            </a:extLst>
          </p:cNvPr>
          <p:cNvSpPr>
            <a:spLocks noGrp="1"/>
          </p:cNvSpPr>
          <p:nvPr/>
        </p:nvSpPr>
        <p:spPr>
          <a:xfrm>
            <a:off x="10853886" y="10695831"/>
            <a:ext cx="9910614" cy="775246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 = 0.7 × S + 0.3 × F.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 / F: mean structured / free-text scores; free</a:t>
            </a:r>
            <a:endParaRPr lang="en-GB" sz="2400"/>
          </a:p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text is evaluated by an LLM.</a:t>
            </a:r>
            <a:endParaRPr lang="en-GB" sz="2400"/>
          </a:p>
        </p:txBody>
      </p:sp>
      <p:sp>
        <p:nvSpPr>
          <p:cNvPr id="33" name="Precision: share of cited pages that are gold pages. Recall: share of gold pages" descr="s32">
            <a:extLst>
              <a:ext uri="{FF2B5EF4-FFF2-40B4-BE49-F238E27FC236}">
                <ns2:creationId id="{D342E4A9-3F10-4DE3-A3BD-0F7630F97C66}"/>
              </a:ext>
            </a:extLst>
          </p:cNvPr>
          <p:cNvSpPr>
            <a:spLocks noGrp="1"/>
          </p:cNvSpPr>
          <p:nvPr/>
        </p:nvSpPr>
        <p:spPr>
          <a:xfrm>
            <a:off x="10853886" y="11535073"/>
            <a:ext cx="9910614" cy="1140916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Precision: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share of cited pages that are gold pages. </a:t>
            </a: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Recall: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share of</a:t>
            </a:r>
            <a:endParaRPr lang="en-GB" sz="2400"/>
          </a:p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gold pages that are cited. Both metrics are averaged across</a:t>
            </a:r>
            <a:endParaRPr lang="en-GB" sz="2400"/>
          </a:p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questions.</a:t>
            </a:r>
            <a:endParaRPr lang="en-GB" sz="2400"/>
          </a:p>
        </p:txBody>
      </p:sp>
      <p:sp>
        <p:nvSpPr>
          <p:cNvPr id="34" name="Fixed: GPT-5.4-mini / high; 24 candidates; ≤ 2,400 context tokens. OCR: PP-OCRv5" descr="s33">
            <a:extLst>
              <a:ext uri="{FF2B5EF4-FFF2-40B4-BE49-F238E27FC236}">
                <ns2:creationId id="{E002B9CA-CA87-4F73-92CC-194E95050409}"/>
              </a:ext>
            </a:extLst>
          </p:cNvPr>
          <p:cNvSpPr>
            <a:spLocks noGrp="1"/>
          </p:cNvSpPr>
          <p:nvPr/>
        </p:nvSpPr>
        <p:spPr>
          <a:xfrm>
            <a:off x="647998" y="12893427"/>
            <a:ext cx="20116502" cy="483096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Fixed:</a:t>
            </a: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 GPT-5.4-mini / high; 24 candidates; ≤ 2,400 context tokens. OCR: PP-OCRv5. Embedding / reranker: Qwen3-0.6B.</a:t>
            </a:r>
            <a:endParaRPr lang="en-GB" sz="2400"/>
          </a:p>
        </p:txBody>
      </p:sp>
      <p:sp>
        <p:nvSpPr>
          <p:cNvPr id="35" name="03" descr="s34">
            <a:extLst>
              <a:ext uri="{FF2B5EF4-FFF2-40B4-BE49-F238E27FC236}">
                <ns2:creationId id="{761D9BB8-3897-4477-88F5-7440C7996020}"/>
              </a:ext>
            </a:extLst>
          </p:cNvPr>
          <p:cNvSpPr>
            <a:spLocks noGrp="1"/>
          </p:cNvSpPr>
          <p:nvPr/>
        </p:nvSpPr>
        <p:spPr>
          <a:xfrm>
            <a:off x="647998" y="13577590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03</a:t>
            </a:r>
            <a:endParaRPr lang="en-GB" sz="2600"/>
          </a:p>
        </p:txBody>
      </p:sp>
      <p:sp>
        <p:nvSpPr>
          <p:cNvPr id="36" name="RESULTS" descr="s35">
            <a:extLst>
              <a:ext uri="{FF2B5EF4-FFF2-40B4-BE49-F238E27FC236}">
                <ns2:creationId id="{39B289BB-EE0A-413E-BBF3-0A082745EBB8}"/>
              </a:ext>
            </a:extLst>
          </p:cNvPr>
          <p:cNvSpPr>
            <a:spLocks noGrp="1"/>
          </p:cNvSpPr>
          <p:nvPr/>
        </p:nvSpPr>
        <p:spPr>
          <a:xfrm>
            <a:off x="1169640" y="13529965"/>
            <a:ext cx="1788319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72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spc="124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RESULTS</a:t>
            </a:r>
            <a:endParaRPr lang="en-GB" sz="3100"/>
          </a:p>
        </p:txBody>
      </p:sp>
      <p:sp>
        <p:nvSpPr>
          <p:cNvPr id="37" name="Baseline R0 → complete pipeline R6" descr="s36">
            <a:extLst>
              <a:ext uri="{FF2B5EF4-FFF2-40B4-BE49-F238E27FC236}">
                <ns2:creationId id="{20904A4B-DA54-4335-BE8B-38BC9225981B}"/>
              </a:ext>
            </a:extLst>
          </p:cNvPr>
          <p:cNvSpPr>
            <a:spLocks noGrp="1"/>
          </p:cNvSpPr>
          <p:nvPr/>
        </p:nvSpPr>
        <p:spPr>
          <a:xfrm>
            <a:off x="15623679" y="13592770"/>
            <a:ext cx="5140821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Baseline R0 → complete pipeline R6</a:t>
            </a:r>
            <a:endParaRPr lang="en-GB" sz="2400"/>
          </a:p>
        </p:txBody>
      </p:sp>
      <p:sp>
        <p:nvSpPr>
          <p:cNvPr id="38" name="46.2 → 84.4" descr="s37">
            <a:extLst>
              <a:ext uri="{FF2B5EF4-FFF2-40B4-BE49-F238E27FC236}">
                <ns2:creationId id="{9B1BD62B-5B91-4436-94C1-0013E5FAFEE4}"/>
              </a:ext>
            </a:extLst>
          </p:cNvPr>
          <p:cNvSpPr>
            <a:spLocks noGrp="1"/>
          </p:cNvSpPr>
          <p:nvPr/>
        </p:nvSpPr>
        <p:spPr>
          <a:xfrm>
            <a:off x="830014" y="14100721"/>
            <a:ext cx="6350496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876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400" b="1" spc="-119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46.2 → 84.4</a:t>
            </a:r>
            <a:endParaRPr lang="en-GB" sz="3400"/>
          </a:p>
        </p:txBody>
      </p:sp>
      <p:sp>
        <p:nvSpPr>
          <p:cNvPr id="39" name="Answer quality Q, %" descr="s38">
            <a:extLst>
              <a:ext uri="{FF2B5EF4-FFF2-40B4-BE49-F238E27FC236}">
                <ns2:creationId id="{9FA12256-1BCA-4168-9D02-0A8443C025AF}"/>
              </a:ext>
            </a:extLst>
          </p:cNvPr>
          <p:cNvSpPr>
            <a:spLocks noGrp="1"/>
          </p:cNvSpPr>
          <p:nvPr/>
        </p:nvSpPr>
        <p:spPr>
          <a:xfrm>
            <a:off x="830014" y="14655105"/>
            <a:ext cx="6350496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Answer quality Q, %</a:t>
            </a:r>
            <a:endParaRPr lang="en-GB" sz="2400"/>
          </a:p>
        </p:txBody>
      </p:sp>
      <p:sp>
        <p:nvSpPr>
          <p:cNvPr id="40" name="7.6 → 61.8" descr="s39">
            <a:extLst>
              <a:ext uri="{FF2B5EF4-FFF2-40B4-BE49-F238E27FC236}">
                <ns2:creationId id="{26BC30D9-A106-4377-9DA5-5FCF514DE63D}"/>
              </a:ext>
            </a:extLst>
          </p:cNvPr>
          <p:cNvSpPr>
            <a:spLocks noGrp="1"/>
          </p:cNvSpPr>
          <p:nvPr/>
        </p:nvSpPr>
        <p:spPr>
          <a:xfrm>
            <a:off x="7621935" y="14100721"/>
            <a:ext cx="6350645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876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400" b="1" spc="-119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7.6 → 61.8</a:t>
            </a:r>
            <a:endParaRPr lang="en-GB" sz="3400"/>
          </a:p>
        </p:txBody>
      </p:sp>
      <p:sp>
        <p:nvSpPr>
          <p:cNvPr id="41" name="Citation precision, %" descr="s40">
            <a:extLst>
              <a:ext uri="{FF2B5EF4-FFF2-40B4-BE49-F238E27FC236}">
                <ns2:creationId id="{E443F9EB-6AE5-429F-8AE7-EBE2984A5842}"/>
              </a:ext>
            </a:extLst>
          </p:cNvPr>
          <p:cNvSpPr>
            <a:spLocks noGrp="1"/>
          </p:cNvSpPr>
          <p:nvPr/>
        </p:nvSpPr>
        <p:spPr>
          <a:xfrm>
            <a:off x="7621935" y="14655105"/>
            <a:ext cx="635064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Citation precision, %</a:t>
            </a:r>
            <a:endParaRPr lang="en-GB" sz="2400"/>
          </a:p>
        </p:txBody>
      </p:sp>
      <p:sp>
        <p:nvSpPr>
          <p:cNvPr id="42" name="38.5 → 74.7" descr="s41">
            <a:extLst>
              <a:ext uri="{FF2B5EF4-FFF2-40B4-BE49-F238E27FC236}">
                <ns2:creationId id="{FA34688F-0E80-4379-A15C-BF34FB849208}"/>
              </a:ext>
            </a:extLst>
          </p:cNvPr>
          <p:cNvSpPr>
            <a:spLocks noGrp="1"/>
          </p:cNvSpPr>
          <p:nvPr/>
        </p:nvSpPr>
        <p:spPr>
          <a:xfrm>
            <a:off x="14414004" y="14100721"/>
            <a:ext cx="6350496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876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400" b="1" spc="-119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38.5 → 74.7</a:t>
            </a:r>
            <a:endParaRPr lang="en-GB" sz="3400"/>
          </a:p>
        </p:txBody>
      </p:sp>
      <p:sp>
        <p:nvSpPr>
          <p:cNvPr id="43" name="Citation recall, %" descr="s42">
            <a:extLst>
              <a:ext uri="{FF2B5EF4-FFF2-40B4-BE49-F238E27FC236}">
                <ns2:creationId id="{748F351E-E0D2-4E8B-8A11-E52D46B9D3C8}"/>
              </a:ext>
            </a:extLst>
          </p:cNvPr>
          <p:cNvSpPr>
            <a:spLocks noGrp="1"/>
          </p:cNvSpPr>
          <p:nvPr/>
        </p:nvSpPr>
        <p:spPr>
          <a:xfrm>
            <a:off x="14414004" y="14655105"/>
            <a:ext cx="6350496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Citation recall, %</a:t>
            </a:r>
            <a:endParaRPr lang="en-GB" sz="2400"/>
          </a:p>
        </p:txBody>
      </p:sp>
      <p:sp>
        <p:nvSpPr>
          <p:cNvPr id="44" name="Gains are not monotonic. Sequential additions on the mixed corpus:" descr="s43">
            <a:extLst>
              <a:ext uri="{FF2B5EF4-FFF2-40B4-BE49-F238E27FC236}">
                <ns2:creationId id="{01B14ADE-2921-4507-91D7-0E7F92E55548}"/>
              </a:ext>
            </a:extLst>
          </p:cNvPr>
          <p:cNvSpPr>
            <a:spLocks noGrp="1"/>
          </p:cNvSpPr>
          <p:nvPr/>
        </p:nvSpPr>
        <p:spPr>
          <a:xfrm>
            <a:off x="647998" y="15200709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Gains are not monotonic.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Sequential additions on the mixed corpus:</a:t>
            </a:r>
            <a:endParaRPr lang="en-GB" sz="2400"/>
          </a:p>
        </p:txBody>
      </p:sp>
      <p:sp>
        <p:nvSpPr>
          <p:cNvPr id="45" name="R0 → R6: Q +38.2 percentage points; precision +54.2; recall +36.2." descr="s44">
            <a:extLst>
              <a:ext uri="{FF2B5EF4-FFF2-40B4-BE49-F238E27FC236}">
                <ns2:creationId id="{6DE68D36-C75E-459C-BB3B-D3341ECCD3F5}"/>
              </a:ext>
            </a:extLst>
          </p:cNvPr>
          <p:cNvSpPr>
            <a:spLocks noGrp="1"/>
          </p:cNvSpPr>
          <p:nvPr/>
        </p:nvSpPr>
        <p:spPr>
          <a:xfrm>
            <a:off x="647998" y="21597938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R0 → R6: Q +38.2 percentage points; precision +54.2; recall +36.2.</a:t>
            </a:r>
            <a:endParaRPr lang="en-GB" sz="2400"/>
          </a:p>
        </p:txBody>
      </p:sp>
      <p:sp>
        <p:nvSpPr>
          <p:cNvPr id="46" name="OCR recovers answer quality" descr="s45">
            <a:extLst>
              <a:ext uri="{FF2B5EF4-FFF2-40B4-BE49-F238E27FC236}">
                <ns2:creationId id="{D3B82845-AAD5-48C8-9416-D3B18589BD00}"/>
              </a:ext>
            </a:extLst>
          </p:cNvPr>
          <p:cNvSpPr>
            <a:spLocks noGrp="1"/>
          </p:cNvSpPr>
          <p:nvPr/>
        </p:nvSpPr>
        <p:spPr>
          <a:xfrm>
            <a:off x="647998" y="22179558"/>
            <a:ext cx="989260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7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OCR recovers answer quality</a:t>
            </a:r>
            <a:endParaRPr lang="en-GB" sz="2700"/>
          </a:p>
        </p:txBody>
      </p:sp>
      <p:sp>
        <p:nvSpPr>
          <p:cNvPr id="47" name="Replacing text PDFs with scans reduces Q from 65.4% to 46.2%. OCR restores it to" descr="s46">
            <a:extLst>
              <a:ext uri="{FF2B5EF4-FFF2-40B4-BE49-F238E27FC236}">
                <ns2:creationId id="{7EB0B2C1-6133-49DD-B69B-8E3427B47D71}"/>
              </a:ext>
            </a:extLst>
          </p:cNvPr>
          <p:cNvSpPr>
            <a:spLocks noGrp="1"/>
          </p:cNvSpPr>
          <p:nvPr/>
        </p:nvSpPr>
        <p:spPr>
          <a:xfrm>
            <a:off x="647998" y="24952077"/>
            <a:ext cx="9892605" cy="775246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Replacing text PDFs with scans reduces Q from 65.4% to 46.2%. OCR</a:t>
            </a:r>
            <a:endParaRPr lang="en-GB" sz="2400"/>
          </a:p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restores it to 63.2%, with no change on the original PDFs.</a:t>
            </a:r>
            <a:endParaRPr lang="en-GB" sz="2400"/>
          </a:p>
        </p:txBody>
      </p:sp>
      <p:sp>
        <p:nvSpPr>
          <p:cNvPr id="48" name="Hypothesis checks" descr="s47">
            <a:extLst>
              <a:ext uri="{FF2B5EF4-FFF2-40B4-BE49-F238E27FC236}">
                <ns2:creationId id="{10D9611A-C1C2-4D76-B634-FF8E3703B28E}"/>
              </a:ext>
            </a:extLst>
          </p:cNvPr>
          <p:cNvSpPr>
            <a:spLocks noGrp="1"/>
          </p:cNvSpPr>
          <p:nvPr/>
        </p:nvSpPr>
        <p:spPr>
          <a:xfrm>
            <a:off x="11133386" y="22179558"/>
            <a:ext cx="9631114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7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Hypothesis checks</a:t>
            </a:r>
            <a:endParaRPr lang="en-GB" sz="2700"/>
          </a:p>
        </p:txBody>
      </p:sp>
      <p:sp>
        <p:nvSpPr>
          <p:cNvPr id="49" name="H1" descr="s48">
            <a:extLst>
              <a:ext uri="{FF2B5EF4-FFF2-40B4-BE49-F238E27FC236}">
                <ns2:creationId id="{89C561A2-E4D7-483A-960E-E7BC26F933BC}"/>
              </a:ext>
            </a:extLst>
          </p:cNvPr>
          <p:cNvSpPr>
            <a:spLocks noGrp="1"/>
          </p:cNvSpPr>
          <p:nvPr/>
        </p:nvSpPr>
        <p:spPr>
          <a:xfrm>
            <a:off x="11133386" y="22698819"/>
            <a:ext cx="56852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H1</a:t>
            </a:r>
            <a:endParaRPr lang="en-GB" sz="2400"/>
          </a:p>
        </p:txBody>
      </p:sp>
      <p:sp>
        <p:nvSpPr>
          <p:cNvPr id="50" name="OCR: Q and recall increase." descr="s49">
            <a:extLst>
              <a:ext uri="{FF2B5EF4-FFF2-40B4-BE49-F238E27FC236}">
                <ns2:creationId id="{49386A56-4B6B-4C34-9267-23AE17DB1852}"/>
              </a:ext>
            </a:extLst>
          </p:cNvPr>
          <p:cNvSpPr>
            <a:spLocks noGrp="1"/>
          </p:cNvSpPr>
          <p:nvPr/>
        </p:nvSpPr>
        <p:spPr>
          <a:xfrm>
            <a:off x="11745218" y="22698819"/>
            <a:ext cx="901928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OCR: Q and recall increase.</a:t>
            </a:r>
            <a:endParaRPr lang="en-GB" sz="2400"/>
          </a:p>
        </p:txBody>
      </p:sp>
      <p:sp>
        <p:nvSpPr>
          <p:cNvPr id="51" name="H2" descr="s50">
            <a:extLst>
              <a:ext uri="{FF2B5EF4-FFF2-40B4-BE49-F238E27FC236}">
                <ns2:creationId id="{4D8E2F57-F0BD-4853-A81B-5E0321165603}"/>
              </a:ext>
            </a:extLst>
          </p:cNvPr>
          <p:cNvSpPr>
            <a:spLocks noGrp="1"/>
          </p:cNvSpPr>
          <p:nvPr/>
        </p:nvSpPr>
        <p:spPr>
          <a:xfrm>
            <a:off x="11133386" y="23107650"/>
            <a:ext cx="56852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H2</a:t>
            </a:r>
            <a:endParaRPr lang="en-GB" sz="2400"/>
          </a:p>
        </p:txBody>
      </p:sp>
      <p:sp>
        <p:nvSpPr>
          <p:cNvPr id="52" name="Multiscale: Q and recall decrease." descr="s51">
            <a:extLst>
              <a:ext uri="{FF2B5EF4-FFF2-40B4-BE49-F238E27FC236}">
                <ns2:creationId id="{1F6BD843-FBDE-4D76-BFFC-580E8CAADF63}"/>
              </a:ext>
            </a:extLst>
          </p:cNvPr>
          <p:cNvSpPr>
            <a:spLocks noGrp="1"/>
          </p:cNvSpPr>
          <p:nvPr/>
        </p:nvSpPr>
        <p:spPr>
          <a:xfrm>
            <a:off x="11745218" y="23107650"/>
            <a:ext cx="901928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Multiscale: Q and recall decrease.</a:t>
            </a:r>
            <a:endParaRPr lang="en-GB" sz="2400"/>
          </a:p>
        </p:txBody>
      </p:sp>
      <p:sp>
        <p:nvSpPr>
          <p:cNvPr id="53" name="H3" descr="s52">
            <a:extLst>
              <a:ext uri="{FF2B5EF4-FFF2-40B4-BE49-F238E27FC236}">
                <ns2:creationId id="{B1739391-E6F7-4787-84C8-5A9743BAD4D1}"/>
              </a:ext>
            </a:extLst>
          </p:cNvPr>
          <p:cNvSpPr>
            <a:spLocks noGrp="1"/>
          </p:cNvSpPr>
          <p:nvPr/>
        </p:nvSpPr>
        <p:spPr>
          <a:xfrm>
            <a:off x="11133386" y="23516481"/>
            <a:ext cx="56852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H3</a:t>
            </a:r>
            <a:endParaRPr lang="en-GB" sz="2400"/>
          </a:p>
        </p:txBody>
      </p:sp>
      <p:sp>
        <p:nvSpPr>
          <p:cNvPr id="54" name="Lexical search: Q and recall increase." descr="s53">
            <a:extLst>
              <a:ext uri="{FF2B5EF4-FFF2-40B4-BE49-F238E27FC236}">
                <ns2:creationId id="{C6698B66-925D-413A-B473-72D745887F7E}"/>
              </a:ext>
            </a:extLst>
          </p:cNvPr>
          <p:cNvSpPr>
            <a:spLocks noGrp="1"/>
          </p:cNvSpPr>
          <p:nvPr/>
        </p:nvSpPr>
        <p:spPr>
          <a:xfrm>
            <a:off x="11745218" y="23516481"/>
            <a:ext cx="901928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Lexical search: Q and recall increase.</a:t>
            </a:r>
            <a:endParaRPr lang="en-GB" sz="2400"/>
          </a:p>
        </p:txBody>
      </p:sp>
      <p:sp>
        <p:nvSpPr>
          <p:cNvPr id="55" name="H4" descr="s54">
            <a:extLst>
              <a:ext uri="{FF2B5EF4-FFF2-40B4-BE49-F238E27FC236}">
                <ns2:creationId id="{C3DA6A92-3F1E-4CDA-AD7B-7E65141AA53A}"/>
              </a:ext>
            </a:extLst>
          </p:cNvPr>
          <p:cNvSpPr>
            <a:spLocks noGrp="1"/>
          </p:cNvSpPr>
          <p:nvPr/>
        </p:nvSpPr>
        <p:spPr>
          <a:xfrm>
            <a:off x="11133386" y="23925312"/>
            <a:ext cx="56852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H4</a:t>
            </a:r>
            <a:endParaRPr lang="en-GB" sz="2400"/>
          </a:p>
        </p:txBody>
      </p:sp>
      <p:sp>
        <p:nvSpPr>
          <p:cNvPr id="56" name="Reranker: Q increases by 9.8 pp." descr="s55">
            <a:extLst>
              <a:ext uri="{FF2B5EF4-FFF2-40B4-BE49-F238E27FC236}">
                <ns2:creationId id="{258A2080-7645-4F81-A44F-2894B1CC0364}"/>
              </a:ext>
            </a:extLst>
          </p:cNvPr>
          <p:cNvSpPr>
            <a:spLocks noGrp="1"/>
          </p:cNvSpPr>
          <p:nvPr/>
        </p:nvSpPr>
        <p:spPr>
          <a:xfrm>
            <a:off x="11745218" y="23925312"/>
            <a:ext cx="901928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Reranker: Q increases by 9.8 pp.</a:t>
            </a:r>
            <a:endParaRPr lang="en-GB" sz="2400"/>
          </a:p>
        </p:txBody>
      </p:sp>
      <p:sp>
        <p:nvSpPr>
          <p:cNvPr id="57" name="H5" descr="s56">
            <a:extLst>
              <a:ext uri="{FF2B5EF4-FFF2-40B4-BE49-F238E27FC236}">
                <ns2:creationId id="{037F2019-EE64-4D0F-AFB8-7F11D7A32C9F}"/>
              </a:ext>
            </a:extLst>
          </p:cNvPr>
          <p:cNvSpPr>
            <a:spLocks noGrp="1"/>
          </p:cNvSpPr>
          <p:nvPr/>
        </p:nvSpPr>
        <p:spPr>
          <a:xfrm>
            <a:off x="11133386" y="24334143"/>
            <a:ext cx="56852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H5</a:t>
            </a:r>
            <a:endParaRPr lang="en-GB" sz="2400"/>
          </a:p>
        </p:txBody>
      </p:sp>
      <p:sp>
        <p:nvSpPr>
          <p:cNvPr id="58" name="Typed processing: no score gain." descr="s57">
            <a:extLst>
              <a:ext uri="{FF2B5EF4-FFF2-40B4-BE49-F238E27FC236}">
                <ns2:creationId id="{3BED7FDF-F445-4270-B147-A28FBE43040A}"/>
              </a:ext>
            </a:extLst>
          </p:cNvPr>
          <p:cNvSpPr>
            <a:spLocks noGrp="1"/>
          </p:cNvSpPr>
          <p:nvPr/>
        </p:nvSpPr>
        <p:spPr>
          <a:xfrm>
            <a:off x="11745218" y="24334143"/>
            <a:ext cx="901928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Typed processing: no score gain.</a:t>
            </a:r>
            <a:endParaRPr lang="en-GB" sz="2400"/>
          </a:p>
        </p:txBody>
      </p:sp>
      <p:sp>
        <p:nvSpPr>
          <p:cNvPr id="59" name="H6" descr="s58">
            <a:extLst>
              <a:ext uri="{FF2B5EF4-FFF2-40B4-BE49-F238E27FC236}">
                <ns2:creationId id="{26F75775-BE52-4FC4-AA5B-BD21E1E3B601}"/>
              </a:ext>
            </a:extLst>
          </p:cNvPr>
          <p:cNvSpPr>
            <a:spLocks noGrp="1"/>
          </p:cNvSpPr>
          <p:nvPr/>
        </p:nvSpPr>
        <p:spPr>
          <a:xfrm>
            <a:off x="11133386" y="24742973"/>
            <a:ext cx="56852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H6</a:t>
            </a:r>
            <a:endParaRPr lang="en-GB" sz="2400"/>
          </a:p>
        </p:txBody>
      </p:sp>
      <p:sp>
        <p:nvSpPr>
          <p:cNvPr id="60" name="Citation selection: precision ↑, recall ↓." descr="s59">
            <a:extLst>
              <a:ext uri="{FF2B5EF4-FFF2-40B4-BE49-F238E27FC236}">
                <ns2:creationId id="{B225786E-00FA-492E-976E-2F4B2CEE4F10}"/>
              </a:ext>
            </a:extLst>
          </p:cNvPr>
          <p:cNvSpPr>
            <a:spLocks noGrp="1"/>
          </p:cNvSpPr>
          <p:nvPr/>
        </p:nvSpPr>
        <p:spPr>
          <a:xfrm>
            <a:off x="11745218" y="24742973"/>
            <a:ext cx="901928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Citation selection: precision ↑, recall ↓.</a:t>
            </a:r>
            <a:endParaRPr lang="en-GB" sz="2400"/>
          </a:p>
        </p:txBody>
      </p:sp>
      <p:sp>
        <p:nvSpPr>
          <p:cNvPr id="61" name="Supported: H1, H3, H4, H6; not H2 or H5." descr="s60">
            <a:extLst>
              <a:ext uri="{FF2B5EF4-FFF2-40B4-BE49-F238E27FC236}">
                <ns2:creationId id="{E5AEEB5B-05A6-45D5-91B1-C8C52C305C94}"/>
              </a:ext>
            </a:extLst>
          </p:cNvPr>
          <p:cNvSpPr>
            <a:spLocks noGrp="1"/>
          </p:cNvSpPr>
          <p:nvPr/>
        </p:nvSpPr>
        <p:spPr>
          <a:xfrm>
            <a:off x="11133386" y="25216545"/>
            <a:ext cx="9631114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Supported: H1, H3, H4, H6; not H2 or H5.</a:t>
            </a:r>
            <a:endParaRPr lang="en-GB" sz="2400"/>
          </a:p>
        </p:txBody>
      </p:sp>
      <p:sp>
        <p:nvSpPr>
          <p:cNvPr id="62" name="Conclusion" descr="s61">
            <a:extLst>
              <a:ext uri="{FF2B5EF4-FFF2-40B4-BE49-F238E27FC236}">
                <ns2:creationId id="{27858BD2-C8B6-4DC4-915D-40F21AE900F7}"/>
              </a:ext>
            </a:extLst>
          </p:cNvPr>
          <p:cNvSpPr>
            <a:spLocks noGrp="1"/>
          </p:cNvSpPr>
          <p:nvPr/>
        </p:nvSpPr>
        <p:spPr>
          <a:xfrm>
            <a:off x="863947" y="26079301"/>
            <a:ext cx="19684603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700" b="1" spc="0" kern="0" dirty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Conclusion</a:t>
            </a:r>
            <a:endParaRPr lang="en-GB" sz="2700"/>
          </a:p>
        </p:txBody>
      </p:sp>
      <p:sp>
        <p:nvSpPr>
          <p:cNvPr id="63" name="Components address different failures: OCR recovers scans; hybrid retrieval and " descr="s62">
            <a:extLst>
              <a:ext uri="{FF2B5EF4-FFF2-40B4-BE49-F238E27FC236}">
                <ns2:creationId id="{96CFB682-0C8B-4265-8CC1-E405BD7AE16F}"/>
              </a:ext>
            </a:extLst>
          </p:cNvPr>
          <p:cNvSpPr>
            <a:spLocks noGrp="1"/>
          </p:cNvSpPr>
          <p:nvPr/>
        </p:nvSpPr>
        <p:spPr>
          <a:xfrm>
            <a:off x="863947" y="26562546"/>
            <a:ext cx="19684603" cy="775246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Components address different failures: OCR recovers scans; hybrid retrieval and reranking improve answers; citation selection trades</a:t>
            </a:r>
            <a:endParaRPr lang="en-GB" sz="2400"/>
          </a:p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some recall for higher precision. Evaluate answers and citations separately.</a:t>
            </a:r>
            <a:endParaRPr lang="en-GB" sz="2400"/>
          </a:p>
        </p:txBody>
      </p:sp>
      <p:sp>
        <p:nvSpPr>
          <p:cNvPr id="64" name="Scope: development dataset; synthetic scans; LLM-scored free text. One run per c" descr="s63">
            <a:extLst>
              <a:ext uri="{FF2B5EF4-FFF2-40B4-BE49-F238E27FC236}">
                <ns2:creationId id="{38E1F4CE-C161-4C13-B075-B91B9046EB82}"/>
              </a:ext>
            </a:extLst>
          </p:cNvPr>
          <p:cNvSpPr>
            <a:spLocks noGrp="1"/>
          </p:cNvSpPr>
          <p:nvPr/>
        </p:nvSpPr>
        <p:spPr>
          <a:xfrm>
            <a:off x="647998" y="27617738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Scope:</a:t>
            </a: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 development dataset; synthetic scans; LLM-scored free text. One run per condition; statistical significance was not assessed.</a:t>
            </a:r>
            <a:endParaRPr lang="en-GB" sz="2400"/>
          </a:p>
        </p:txBody>
      </p:sp>
      <p:sp>
        <p:nvSpPr>
          <p:cNvPr id="65" name="References" descr="s64">
            <a:extLst>
              <a:ext uri="{FF2B5EF4-FFF2-40B4-BE49-F238E27FC236}">
                <ns2:creationId id="{66B2EDFB-BD88-4E7C-975C-F1CBB3AD605C}"/>
              </a:ext>
            </a:extLst>
          </p:cNvPr>
          <p:cNvSpPr>
            <a:spLocks noGrp="1"/>
          </p:cNvSpPr>
          <p:nvPr/>
        </p:nvSpPr>
        <p:spPr>
          <a:xfrm>
            <a:off x="647998" y="28136701"/>
            <a:ext cx="11219706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References</a:t>
            </a:r>
            <a:endParaRPr lang="en-GB" sz="2400"/>
          </a:p>
        </p:txBody>
      </p:sp>
      <p:sp>
        <p:nvSpPr>
          <p:cNvPr id="66" name="[1] Lewis et al. RAG. NeurIPS, 2020." descr="s65">
            <a:extLst>
              <a:ext uri="{FF2B5EF4-FFF2-40B4-BE49-F238E27FC236}">
                <ns2:creationId id="{1FD672ED-2752-41C8-9938-8812619287A5}"/>
              </a:ext>
            </a:extLst>
          </p:cNvPr>
          <p:cNvSpPr>
            <a:spLocks noGrp="1"/>
          </p:cNvSpPr>
          <p:nvPr/>
        </p:nvSpPr>
        <p:spPr>
          <a:xfrm>
            <a:off x="647998" y="28574256"/>
            <a:ext cx="11219706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[1] Lewis et al. RAG. NeurIPS, 2020.</a:t>
            </a:r>
            <a:endParaRPr lang="en-GB" sz="2400"/>
          </a:p>
        </p:txBody>
      </p:sp>
      <p:sp>
        <p:nvSpPr>
          <p:cNvPr id="67" name="[2] Pipitone &amp; Alami. LegalBench-RAG, 2024." descr="s66">
            <a:extLst>
              <a:ext uri="{FF2B5EF4-FFF2-40B4-BE49-F238E27FC236}">
                <ns2:creationId id="{BFBB5D9A-D2C3-4BF5-BB56-F49E93A15BAF}"/>
              </a:ext>
            </a:extLst>
          </p:cNvPr>
          <p:cNvSpPr>
            <a:spLocks noGrp="1"/>
          </p:cNvSpPr>
          <p:nvPr/>
        </p:nvSpPr>
        <p:spPr>
          <a:xfrm>
            <a:off x="647998" y="28975794"/>
            <a:ext cx="11219706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[2] Pipitone &amp; Alami. LegalBench-RAG, 2024.</a:t>
            </a:r>
            <a:endParaRPr lang="en-GB" sz="2400"/>
          </a:p>
        </p:txBody>
      </p:sp>
      <p:sp>
        <p:nvSpPr>
          <p:cNvPr id="68" name="[3] Gao et al. ALCE. EMNLP, 2023." descr="s67">
            <a:extLst>
              <a:ext uri="{FF2B5EF4-FFF2-40B4-BE49-F238E27FC236}">
                <ns2:creationId id="{312B6135-9806-47F6-AD73-668D0C5F88FA}"/>
              </a:ext>
            </a:extLst>
          </p:cNvPr>
          <p:cNvSpPr>
            <a:spLocks noGrp="1"/>
          </p:cNvSpPr>
          <p:nvPr/>
        </p:nvSpPr>
        <p:spPr>
          <a:xfrm>
            <a:off x="647998" y="29377332"/>
            <a:ext cx="11219706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[3] Gao et al. ALCE. EMNLP, 2023.</a:t>
            </a:r>
            <a:endParaRPr lang="en-GB" sz="2400"/>
          </a:p>
        </p:txBody>
      </p:sp>
      <p:sp>
        <p:nvSpPr>
          <p:cNvPr id="69" name="Code &amp; materials" descr="s68">
            <a:extLst>
              <a:ext uri="{FF2B5EF4-FFF2-40B4-BE49-F238E27FC236}">
                <ns2:creationId id="{45907735-6F38-4910-A174-0BECD695F49D}"/>
              </a:ext>
            </a:extLst>
          </p:cNvPr>
          <p:cNvSpPr>
            <a:spLocks noGrp="1"/>
          </p:cNvSpPr>
          <p:nvPr/>
        </p:nvSpPr>
        <p:spPr>
          <a:xfrm>
            <a:off x="12127111" y="28136701"/>
            <a:ext cx="863724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Code &amp; materials</a:t>
            </a:r>
            <a:endParaRPr lang="en-GB" sz="2400"/>
          </a:p>
        </p:txBody>
      </p:sp>
      <p:sp>
        <p:nvSpPr>
          <p:cNvPr id="70" name="github.com/SteinVR/Legal-RAG-Challenge" descr="s69">
            <a:extLst>
              <a:ext uri="{FF2B5EF4-FFF2-40B4-BE49-F238E27FC236}">
                <ns2:creationId id="{FAC15F9D-84DA-460F-8CE5-AC4CDFBB79C1}"/>
              </a:ext>
            </a:extLst>
          </p:cNvPr>
          <p:cNvSpPr>
            <a:spLocks noGrp="1"/>
          </p:cNvSpPr>
          <p:nvPr/>
        </p:nvSpPr>
        <p:spPr>
          <a:xfrm>
            <a:off x="12127111" y="28574256"/>
            <a:ext cx="863724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github.com/SteinVR/Legal-RAG-Challenge</a:t>
            </a:r>
            <a:endParaRPr lang="en-GB" sz="2400"/>
          </a:p>
        </p:txBody>
      </p:sp>
      <p:sp>
        <p:nvSpPr>
          <p:cNvPr id="71" name="Original RAG implementation" descr="s70">
            <a:extLst>
              <a:ext uri="{FF2B5EF4-FFF2-40B4-BE49-F238E27FC236}">
                <ns2:creationId id="{758B9708-DC10-45F6-AE5A-42103C64E915}"/>
              </a:ext>
            </a:extLst>
          </p:cNvPr>
          <p:cNvSpPr>
            <a:spLocks noGrp="1"/>
          </p:cNvSpPr>
          <p:nvPr/>
        </p:nvSpPr>
        <p:spPr>
          <a:xfrm>
            <a:off x="12127111" y="28975794"/>
            <a:ext cx="863724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Original RAG implementation</a:t>
            </a:r>
            <a:endParaRPr lang="en-GB" sz="2400"/>
          </a:p>
        </p:txBody>
      </p:sp>
      <p:sp>
        <p:nvSpPr>
          <p:cNvPr id="72" name="Research paper · Metrics · Protocol" descr="s71">
            <a:extLst>
              <a:ext uri="{FF2B5EF4-FFF2-40B4-BE49-F238E27FC236}">
                <ns2:creationId id="{832515C5-A2B5-4576-920C-34217FD31620}"/>
              </a:ext>
            </a:extLst>
          </p:cNvPr>
          <p:cNvSpPr>
            <a:spLocks noGrp="1"/>
          </p:cNvSpPr>
          <p:nvPr/>
        </p:nvSpPr>
        <p:spPr>
          <a:xfrm>
            <a:off x="12127111" y="29377332"/>
            <a:ext cx="863724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Research paper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· 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Metrics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· 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Protocol</a:t>
            </a:r>
            <a:endParaRPr lang="en-GB" sz="2400"/>
          </a:p>
        </p:txBody>
      </p:sp>
      <p:sp>
        <p:nvSpPr>
          <p:cNvPr id="73" name="Pipeline node" descr="s72">
            <a:extLst>
              <a:ext uri="{FF2B5EF4-FFF2-40B4-BE49-F238E27FC236}">
                <ns2:creationId id="{C7A8F3B2-679A-47D4-B8DC-C040B54D08EA}"/>
              </a:ext>
            </a:extLst>
          </p:cNvPr>
          <p:cNvSpPr>
            <a:spLocks noGrp="1"/>
          </p:cNvSpPr>
          <p:nvPr/>
        </p:nvSpPr>
        <p:spPr>
          <a:xfrm>
            <a:off x="648260" y="7698567"/>
            <a:ext cx="2965283" cy="1033067"/>
          </a:xfrm>
          <a:prstGeom prst="roundRect">
            <a:avLst>
              <a:gd name="adj" fmla="val 5556"/>
            </a:avLst>
          </a:prstGeom>
          <a:solidFill>
            <a:srgbClr val="EFF6FA"/>
          </a:solidFill>
          <a:ln w="19131">
            <a:solidFill>
              <a:srgbClr val="B9D4E5"/>
            </a:solidFill>
          </a:ln>
        </p:spPr>
      </p:sp>
      <p:sp>
        <p:nvSpPr>
          <p:cNvPr id="74" name="Pipeline node" descr="s73">
            <a:extLst>
              <a:ext uri="{FF2B5EF4-FFF2-40B4-BE49-F238E27FC236}">
                <ns2:creationId id="{332E8F1B-47EB-4FFE-9DE9-08DEA6A5CE57}"/>
              </a:ext>
            </a:extLst>
          </p:cNvPr>
          <p:cNvSpPr>
            <a:spLocks noGrp="1"/>
          </p:cNvSpPr>
          <p:nvPr/>
        </p:nvSpPr>
        <p:spPr>
          <a:xfrm>
            <a:off x="4072684" y="7698567"/>
            <a:ext cx="2965283" cy="1033067"/>
          </a:xfrm>
          <a:prstGeom prst="roundRect">
            <a:avLst>
              <a:gd name="adj" fmla="val 5556"/>
            </a:avLst>
          </a:prstGeom>
          <a:solidFill>
            <a:srgbClr val="EFF6FA"/>
          </a:solidFill>
          <a:ln w="19131">
            <a:solidFill>
              <a:srgbClr val="B9D4E5"/>
            </a:solidFill>
          </a:ln>
        </p:spPr>
      </p:sp>
      <p:sp>
        <p:nvSpPr>
          <p:cNvPr id="75" name="Pipeline node" descr="s74">
            <a:extLst>
              <a:ext uri="{FF2B5EF4-FFF2-40B4-BE49-F238E27FC236}">
                <ns2:creationId id="{2F700834-9A92-4FCD-9B6A-C40AABED5759}"/>
              </a:ext>
            </a:extLst>
          </p:cNvPr>
          <p:cNvSpPr>
            <a:spLocks noGrp="1"/>
          </p:cNvSpPr>
          <p:nvPr/>
        </p:nvSpPr>
        <p:spPr>
          <a:xfrm>
            <a:off x="7497108" y="7698567"/>
            <a:ext cx="2965282" cy="1033067"/>
          </a:xfrm>
          <a:prstGeom prst="roundRect">
            <a:avLst>
              <a:gd name="adj" fmla="val 5556"/>
            </a:avLst>
          </a:prstGeom>
          <a:solidFill>
            <a:srgbClr val="EFF6FA"/>
          </a:solidFill>
          <a:ln w="19131">
            <a:solidFill>
              <a:srgbClr val="B9D4E5"/>
            </a:solidFill>
          </a:ln>
        </p:spPr>
      </p:sp>
      <p:sp>
        <p:nvSpPr>
          <p:cNvPr id="76" name="Pipeline node" descr="s75">
            <a:extLst>
              <a:ext uri="{FF2B5EF4-FFF2-40B4-BE49-F238E27FC236}">
                <ns2:creationId id="{AE5E6DF8-7989-44C0-BAFB-185ADA31E9BE}"/>
              </a:ext>
            </a:extLst>
          </p:cNvPr>
          <p:cNvSpPr>
            <a:spLocks noGrp="1"/>
          </p:cNvSpPr>
          <p:nvPr/>
        </p:nvSpPr>
        <p:spPr>
          <a:xfrm>
            <a:off x="10921532" y="7698567"/>
            <a:ext cx="2965283" cy="1033067"/>
          </a:xfrm>
          <a:prstGeom prst="roundRect">
            <a:avLst>
              <a:gd name="adj" fmla="val 5556"/>
            </a:avLst>
          </a:prstGeom>
          <a:solidFill>
            <a:srgbClr val="EFF6FA"/>
          </a:solidFill>
          <a:ln w="19131">
            <a:solidFill>
              <a:srgbClr val="B9D4E5"/>
            </a:solidFill>
          </a:ln>
        </p:spPr>
      </p:sp>
      <p:sp>
        <p:nvSpPr>
          <p:cNvPr id="77" name="Pipeline node" descr="s76">
            <a:extLst>
              <a:ext uri="{FF2B5EF4-FFF2-40B4-BE49-F238E27FC236}">
                <ns2:creationId id="{427E4855-D0AF-4CCE-B6CB-07C696149195}"/>
              </a:ext>
            </a:extLst>
          </p:cNvPr>
          <p:cNvSpPr>
            <a:spLocks noGrp="1"/>
          </p:cNvSpPr>
          <p:nvPr/>
        </p:nvSpPr>
        <p:spPr>
          <a:xfrm>
            <a:off x="648260" y="9018596"/>
            <a:ext cx="2965283" cy="103306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131">
            <a:solidFill>
              <a:srgbClr val="86B6D4"/>
            </a:solidFill>
          </a:ln>
        </p:spPr>
      </p:sp>
      <p:sp>
        <p:nvSpPr>
          <p:cNvPr id="78" name="Pipeline node" descr="s77">
            <a:extLst>
              <a:ext uri="{FF2B5EF4-FFF2-40B4-BE49-F238E27FC236}">
                <ns2:creationId id="{B73894FC-25C2-410E-91FD-BA26F1450AEB}"/>
              </a:ext>
            </a:extLst>
          </p:cNvPr>
          <p:cNvSpPr>
            <a:spLocks noGrp="1"/>
          </p:cNvSpPr>
          <p:nvPr/>
        </p:nvSpPr>
        <p:spPr>
          <a:xfrm>
            <a:off x="4072684" y="9018596"/>
            <a:ext cx="2965283" cy="103306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131">
            <a:solidFill>
              <a:srgbClr val="86B6D4"/>
            </a:solidFill>
          </a:ln>
        </p:spPr>
      </p:sp>
      <p:sp>
        <p:nvSpPr>
          <p:cNvPr id="79" name="Pipeline node" descr="s78">
            <a:extLst>
              <a:ext uri="{FF2B5EF4-FFF2-40B4-BE49-F238E27FC236}">
                <ns2:creationId id="{28555014-488C-451A-AD3D-7B33D40D03C9}"/>
              </a:ext>
            </a:extLst>
          </p:cNvPr>
          <p:cNvSpPr>
            <a:spLocks noGrp="1"/>
          </p:cNvSpPr>
          <p:nvPr/>
        </p:nvSpPr>
        <p:spPr>
          <a:xfrm>
            <a:off x="7497108" y="9018596"/>
            <a:ext cx="2965282" cy="103306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131">
            <a:solidFill>
              <a:srgbClr val="86B6D4"/>
            </a:solidFill>
          </a:ln>
        </p:spPr>
      </p:sp>
      <p:sp>
        <p:nvSpPr>
          <p:cNvPr id="80" name="Pipeline node" descr="s79">
            <a:extLst>
              <a:ext uri="{FF2B5EF4-FFF2-40B4-BE49-F238E27FC236}">
                <ns2:creationId id="{68C8F788-6C9A-465E-A449-5D9FE75BCF3F}"/>
              </a:ext>
            </a:extLst>
          </p:cNvPr>
          <p:cNvSpPr>
            <a:spLocks noGrp="1"/>
          </p:cNvSpPr>
          <p:nvPr/>
        </p:nvSpPr>
        <p:spPr>
          <a:xfrm>
            <a:off x="10921532" y="9018596"/>
            <a:ext cx="2965283" cy="103306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131">
            <a:solidFill>
              <a:srgbClr val="86B6D4"/>
            </a:solidFill>
          </a:ln>
        </p:spPr>
      </p:sp>
      <p:sp>
        <p:nvSpPr>
          <p:cNvPr id="81" name="Pipeline node" descr="s80">
            <a:extLst>
              <a:ext uri="{FF2B5EF4-FFF2-40B4-BE49-F238E27FC236}">
                <ns2:creationId id="{10A5D74D-6460-4B08-BE75-510755C2454E}"/>
              </a:ext>
            </a:extLst>
          </p:cNvPr>
          <p:cNvSpPr>
            <a:spLocks noGrp="1"/>
          </p:cNvSpPr>
          <p:nvPr/>
        </p:nvSpPr>
        <p:spPr>
          <a:xfrm>
            <a:off x="14345956" y="9018596"/>
            <a:ext cx="2965283" cy="103306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131">
            <a:solidFill>
              <a:srgbClr val="86B6D4"/>
            </a:solidFill>
          </a:ln>
        </p:spPr>
      </p:sp>
      <p:sp>
        <p:nvSpPr>
          <p:cNvPr id="82" name="Pipeline node" descr="s81">
            <a:extLst>
              <a:ext uri="{FF2B5EF4-FFF2-40B4-BE49-F238E27FC236}">
                <ns2:creationId id="{B237FAC4-94BD-4972-AB9B-14B7CBD725B2}"/>
              </a:ext>
            </a:extLst>
          </p:cNvPr>
          <p:cNvSpPr>
            <a:spLocks noGrp="1"/>
          </p:cNvSpPr>
          <p:nvPr/>
        </p:nvSpPr>
        <p:spPr>
          <a:xfrm>
            <a:off x="17770379" y="9018596"/>
            <a:ext cx="2965283" cy="103306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131">
            <a:solidFill>
              <a:srgbClr val="86B6D4"/>
            </a:solidFill>
          </a:ln>
        </p:spPr>
      </p:sp>
      <p:sp>
        <p:nvSpPr>
          <p:cNvPr id="83" name="Pipeline arrow" descr="s82">
            <a:extLst>
              <a:ext uri="{FF2B5EF4-FFF2-40B4-BE49-F238E27FC236}">
                <ns2:creationId id="{06B6032D-C5E0-48F9-8849-542ED7544EBC}"/>
              </a:ext>
            </a:extLst>
          </p:cNvPr>
          <p:cNvSpPr>
            <a:spLocks noGrp="1"/>
          </p:cNvSpPr>
          <p:nvPr/>
        </p:nvSpPr>
        <p:spPr>
          <a:xfrm>
            <a:off x="3661187" y="8253378"/>
            <a:ext cx="334799" cy="9525"/>
          </a:xfrm>
          <a:custGeom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84" name="Arrowhead" descr="s83">
            <a:extLst>
              <a:ext uri="{FF2B5EF4-FFF2-40B4-BE49-F238E27FC236}">
                <ns2:creationId id="{D2FFCC58-92E1-40D1-8615-E883BE5B1323}"/>
              </a:ext>
            </a:extLst>
          </p:cNvPr>
          <p:cNvSpPr>
            <a:spLocks noGrp="1"/>
          </p:cNvSpPr>
          <p:nvPr/>
        </p:nvSpPr>
        <p:spPr>
          <a:xfrm>
            <a:off x="3862066" y="8195984"/>
            <a:ext cx="133920" cy="114788"/>
          </a:xfrm>
          <a:custGeom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85" name="Pipeline arrow" descr="s84">
            <a:extLst>
              <a:ext uri="{FF2B5EF4-FFF2-40B4-BE49-F238E27FC236}">
                <ns2:creationId id="{CA45BEEA-8833-4A32-B101-0A6BD2B895B4}"/>
              </a:ext>
            </a:extLst>
          </p:cNvPr>
          <p:cNvSpPr>
            <a:spLocks noGrp="1"/>
          </p:cNvSpPr>
          <p:nvPr/>
        </p:nvSpPr>
        <p:spPr>
          <a:xfrm>
            <a:off x="7085700" y="8253378"/>
            <a:ext cx="334799" cy="9525"/>
          </a:xfrm>
          <a:custGeom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86" name="Arrowhead" descr="s85">
            <a:extLst>
              <a:ext uri="{FF2B5EF4-FFF2-40B4-BE49-F238E27FC236}">
                <ns2:creationId id="{7895C283-4A49-49D7-B197-9F6518668B77}"/>
              </a:ext>
            </a:extLst>
          </p:cNvPr>
          <p:cNvSpPr>
            <a:spLocks noGrp="1"/>
          </p:cNvSpPr>
          <p:nvPr/>
        </p:nvSpPr>
        <p:spPr>
          <a:xfrm>
            <a:off x="7286579" y="8195984"/>
            <a:ext cx="133920" cy="114788"/>
          </a:xfrm>
          <a:custGeom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87" name="Pipeline arrow" descr="s86">
            <a:extLst>
              <a:ext uri="{FF2B5EF4-FFF2-40B4-BE49-F238E27FC236}">
                <ns2:creationId id="{AEF2BBA1-8EBA-4CC6-9DE2-118888DE8C1A}"/>
              </a:ext>
            </a:extLst>
          </p:cNvPr>
          <p:cNvSpPr>
            <a:spLocks noGrp="1"/>
          </p:cNvSpPr>
          <p:nvPr/>
        </p:nvSpPr>
        <p:spPr>
          <a:xfrm>
            <a:off x="10510213" y="8253378"/>
            <a:ext cx="334799" cy="9525"/>
          </a:xfrm>
          <a:custGeom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88" name="Arrowhead" descr="s87">
            <a:extLst>
              <a:ext uri="{FF2B5EF4-FFF2-40B4-BE49-F238E27FC236}">
                <ns2:creationId id="{1A7C9592-69B8-4822-A625-CA06DFD98301}"/>
              </a:ext>
            </a:extLst>
          </p:cNvPr>
          <p:cNvSpPr>
            <a:spLocks noGrp="1"/>
          </p:cNvSpPr>
          <p:nvPr/>
        </p:nvSpPr>
        <p:spPr>
          <a:xfrm>
            <a:off x="10711093" y="8195984"/>
            <a:ext cx="133920" cy="114788"/>
          </a:xfrm>
          <a:custGeom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89" name="Pipeline arrow" descr="s88">
            <a:extLst>
              <a:ext uri="{FF2B5EF4-FFF2-40B4-BE49-F238E27FC236}">
                <ns2:creationId id="{8AF2836C-A128-461F-B894-64656E84D43F}"/>
              </a:ext>
            </a:extLst>
          </p:cNvPr>
          <p:cNvSpPr>
            <a:spLocks noGrp="1"/>
          </p:cNvSpPr>
          <p:nvPr/>
        </p:nvSpPr>
        <p:spPr>
          <a:xfrm>
            <a:off x="5555191" y="8741227"/>
            <a:ext cx="6849027" cy="248708"/>
          </a:xfrm>
          <a:custGeom>
            <a:pathLst>
              <a:path w="6849027" h="248708">
                <a:moveTo>
                  <a:pt x="6849027" y="0"/>
                </a:moveTo>
                <a:lnTo>
                  <a:pt x="6849027" y="162617"/>
                </a:lnTo>
                <a:lnTo>
                  <a:pt x="0" y="162617"/>
                </a:lnTo>
                <a:lnTo>
                  <a:pt x="0" y="24870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0" name="Arrowhead" descr="s89">
            <a:extLst>
              <a:ext uri="{FF2B5EF4-FFF2-40B4-BE49-F238E27FC236}">
                <ns2:creationId id="{70679202-C096-427A-8CBF-074B90E9B478}"/>
              </a:ext>
            </a:extLst>
          </p:cNvPr>
          <p:cNvSpPr>
            <a:spLocks noGrp="1"/>
          </p:cNvSpPr>
          <p:nvPr/>
        </p:nvSpPr>
        <p:spPr>
          <a:xfrm>
            <a:off x="5497797" y="8856016"/>
            <a:ext cx="114788" cy="133920"/>
          </a:xfrm>
          <a:custGeom>
            <a:pathLst>
              <a:path w="114788" h="133920">
                <a:moveTo>
                  <a:pt x="114788" y="0"/>
                </a:moveTo>
                <a:lnTo>
                  <a:pt x="57394" y="133920"/>
                </a:lnTo>
                <a:lnTo>
                  <a:pt x="0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1" name="Pipeline arrow" descr="s90">
            <a:extLst>
              <a:ext uri="{FF2B5EF4-FFF2-40B4-BE49-F238E27FC236}">
                <ns2:creationId id="{B134E421-3A66-4A45-AFA0-642F4E036A74}"/>
              </a:ext>
            </a:extLst>
          </p:cNvPr>
          <p:cNvSpPr>
            <a:spLocks noGrp="1"/>
          </p:cNvSpPr>
          <p:nvPr/>
        </p:nvSpPr>
        <p:spPr>
          <a:xfrm>
            <a:off x="3661187" y="9583007"/>
            <a:ext cx="334799" cy="9525"/>
          </a:xfrm>
          <a:custGeom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2" name="Arrowhead" descr="s91">
            <a:extLst>
              <a:ext uri="{FF2B5EF4-FFF2-40B4-BE49-F238E27FC236}">
                <ns2:creationId id="{80A9A8E6-528C-4D64-AD93-48DF0E8AA248}"/>
              </a:ext>
            </a:extLst>
          </p:cNvPr>
          <p:cNvSpPr>
            <a:spLocks noGrp="1"/>
          </p:cNvSpPr>
          <p:nvPr/>
        </p:nvSpPr>
        <p:spPr>
          <a:xfrm>
            <a:off x="3862066" y="9525613"/>
            <a:ext cx="133920" cy="114788"/>
          </a:xfrm>
          <a:custGeom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3" name="Pipeline arrow" descr="s92">
            <a:extLst>
              <a:ext uri="{FF2B5EF4-FFF2-40B4-BE49-F238E27FC236}">
                <ns2:creationId id="{55E15C01-AD55-4C47-A4C1-2025301C87E6}"/>
              </a:ext>
            </a:extLst>
          </p:cNvPr>
          <p:cNvSpPr>
            <a:spLocks noGrp="1"/>
          </p:cNvSpPr>
          <p:nvPr/>
        </p:nvSpPr>
        <p:spPr>
          <a:xfrm>
            <a:off x="7085700" y="9583007"/>
            <a:ext cx="334799" cy="9525"/>
          </a:xfrm>
          <a:custGeom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4" name="Arrowhead" descr="s93">
            <a:extLst>
              <a:ext uri="{FF2B5EF4-FFF2-40B4-BE49-F238E27FC236}">
                <ns2:creationId id="{74FBA65A-C5ED-4158-9568-2D9AE1A163A6}"/>
              </a:ext>
            </a:extLst>
          </p:cNvPr>
          <p:cNvSpPr>
            <a:spLocks noGrp="1"/>
          </p:cNvSpPr>
          <p:nvPr/>
        </p:nvSpPr>
        <p:spPr>
          <a:xfrm>
            <a:off x="7286579" y="9525613"/>
            <a:ext cx="133920" cy="114788"/>
          </a:xfrm>
          <a:custGeom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5" name="Pipeline arrow" descr="s94">
            <a:extLst>
              <a:ext uri="{FF2B5EF4-FFF2-40B4-BE49-F238E27FC236}">
                <ns2:creationId id="{77E026AA-E45D-460D-852A-94790B950DD2}"/>
              </a:ext>
            </a:extLst>
          </p:cNvPr>
          <p:cNvSpPr>
            <a:spLocks noGrp="1"/>
          </p:cNvSpPr>
          <p:nvPr/>
        </p:nvSpPr>
        <p:spPr>
          <a:xfrm>
            <a:off x="10510213" y="9583007"/>
            <a:ext cx="334799" cy="9525"/>
          </a:xfrm>
          <a:custGeom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6" name="Arrowhead" descr="s95">
            <a:extLst>
              <a:ext uri="{FF2B5EF4-FFF2-40B4-BE49-F238E27FC236}">
                <ns2:creationId id="{20635CFB-A481-469B-9326-CD938F6CE0F2}"/>
              </a:ext>
            </a:extLst>
          </p:cNvPr>
          <p:cNvSpPr>
            <a:spLocks noGrp="1"/>
          </p:cNvSpPr>
          <p:nvPr/>
        </p:nvSpPr>
        <p:spPr>
          <a:xfrm>
            <a:off x="10711093" y="9525613"/>
            <a:ext cx="133920" cy="114788"/>
          </a:xfrm>
          <a:custGeom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7" name="Pipeline arrow" descr="s96">
            <a:extLst>
              <a:ext uri="{FF2B5EF4-FFF2-40B4-BE49-F238E27FC236}">
                <ns2:creationId id="{92C7C747-8BDD-4044-A756-99948F5CB620}"/>
              </a:ext>
            </a:extLst>
          </p:cNvPr>
          <p:cNvSpPr>
            <a:spLocks noGrp="1"/>
          </p:cNvSpPr>
          <p:nvPr/>
        </p:nvSpPr>
        <p:spPr>
          <a:xfrm>
            <a:off x="13934727" y="9583007"/>
            <a:ext cx="334799" cy="9525"/>
          </a:xfrm>
          <a:custGeom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8" name="Arrowhead" descr="s97">
            <a:extLst>
              <a:ext uri="{FF2B5EF4-FFF2-40B4-BE49-F238E27FC236}">
                <ns2:creationId id="{AEFC7174-BFFB-4677-9BED-1AF1CE44C97D}"/>
              </a:ext>
            </a:extLst>
          </p:cNvPr>
          <p:cNvSpPr>
            <a:spLocks noGrp="1"/>
          </p:cNvSpPr>
          <p:nvPr/>
        </p:nvSpPr>
        <p:spPr>
          <a:xfrm>
            <a:off x="14135606" y="9525613"/>
            <a:ext cx="133920" cy="114788"/>
          </a:xfrm>
          <a:custGeom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9" name="Pipeline arrow" descr="s98">
            <a:extLst>
              <a:ext uri="{FF2B5EF4-FFF2-40B4-BE49-F238E27FC236}">
                <ns2:creationId id="{AF82B94B-AE7A-4A59-8C89-F923D67D1BA3}"/>
              </a:ext>
            </a:extLst>
          </p:cNvPr>
          <p:cNvSpPr>
            <a:spLocks noGrp="1"/>
          </p:cNvSpPr>
          <p:nvPr/>
        </p:nvSpPr>
        <p:spPr>
          <a:xfrm>
            <a:off x="17359240" y="9583007"/>
            <a:ext cx="334799" cy="9525"/>
          </a:xfrm>
          <a:custGeom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100" name="Arrowhead" descr="s99">
            <a:extLst>
              <a:ext uri="{FF2B5EF4-FFF2-40B4-BE49-F238E27FC236}">
                <ns2:creationId id="{26C66038-2812-4215-808E-E7135DA59412}"/>
              </a:ext>
            </a:extLst>
          </p:cNvPr>
          <p:cNvSpPr>
            <a:spLocks noGrp="1"/>
          </p:cNvSpPr>
          <p:nvPr/>
        </p:nvSpPr>
        <p:spPr>
          <a:xfrm>
            <a:off x="17560119" y="9525613"/>
            <a:ext cx="133920" cy="114788"/>
          </a:xfrm>
          <a:custGeom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101" name="Diagram: Legal PDFs" descr="s100">
            <a:extLst>
              <a:ext uri="{FF2B5EF4-FFF2-40B4-BE49-F238E27FC236}">
                <ns2:creationId id="{CDE01E42-EDCC-4CD9-B0B6-441FED58D89B}"/>
              </a:ext>
            </a:extLst>
          </p:cNvPr>
          <p:cNvSpPr>
            <a:spLocks noGrp="1"/>
          </p:cNvSpPr>
          <p:nvPr/>
        </p:nvSpPr>
        <p:spPr>
          <a:xfrm>
            <a:off x="839569" y="7780690"/>
            <a:ext cx="1837283" cy="468718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36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Legal PDFs</a:t>
            </a:r>
            <a:endParaRPr lang="en-GB" sz="2636"/>
          </a:p>
        </p:txBody>
      </p:sp>
      <p:sp>
        <p:nvSpPr>
          <p:cNvPr id="102" name="Diagram: Text and scans" descr="s101">
            <a:extLst>
              <a:ext uri="{FF2B5EF4-FFF2-40B4-BE49-F238E27FC236}">
                <ns2:creationId id="{67AE6871-0A9E-4489-BBEB-0CA35BC5F513}"/>
              </a:ext>
            </a:extLst>
          </p:cNvPr>
          <p:cNvSpPr>
            <a:spLocks noGrp="1"/>
          </p:cNvSpPr>
          <p:nvPr/>
        </p:nvSpPr>
        <p:spPr>
          <a:xfrm>
            <a:off x="839569" y="8251388"/>
            <a:ext cx="2144018" cy="428542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9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1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Text and scans</a:t>
            </a:r>
            <a:endParaRPr lang="en-GB" sz="2410"/>
          </a:p>
        </p:txBody>
      </p:sp>
      <p:sp>
        <p:nvSpPr>
          <p:cNvPr id="103" name="Diagram: Text extraction" descr="s102">
            <a:extLst>
              <a:ext uri="{FF2B5EF4-FFF2-40B4-BE49-F238E27FC236}">
                <ns2:creationId id="{BEFFA46F-F137-4696-ACEB-BC5D7597C43F}"/>
              </a:ext>
            </a:extLst>
          </p:cNvPr>
          <p:cNvSpPr>
            <a:spLocks noGrp="1"/>
          </p:cNvSpPr>
          <p:nvPr/>
        </p:nvSpPr>
        <p:spPr>
          <a:xfrm>
            <a:off x="4263993" y="7742427"/>
            <a:ext cx="2555230" cy="468718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36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Text extraction</a:t>
            </a:r>
            <a:endParaRPr lang="en-GB" sz="2636"/>
          </a:p>
        </p:txBody>
      </p:sp>
      <p:sp>
        <p:nvSpPr>
          <p:cNvPr id="104" name="Diagram: R1 + OCR" descr="s103">
            <a:extLst>
              <a:ext uri="{FF2B5EF4-FFF2-40B4-BE49-F238E27FC236}">
                <ns2:creationId id="{ACCBBB7E-1725-46D3-8098-793E015C503F}"/>
              </a:ext>
            </a:extLst>
          </p:cNvPr>
          <p:cNvSpPr>
            <a:spLocks noGrp="1"/>
          </p:cNvSpPr>
          <p:nvPr/>
        </p:nvSpPr>
        <p:spPr>
          <a:xfrm>
            <a:off x="4263993" y="8232257"/>
            <a:ext cx="1380422" cy="428542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9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1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R1</a:t>
            </a:r>
            <a:r>
              <a:rPr lang="en-GB" sz="241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+ OCR</a:t>
            </a:r>
            <a:endParaRPr lang="en-GB" sz="2410"/>
          </a:p>
        </p:txBody>
      </p:sp>
      <p:sp>
        <p:nvSpPr>
          <p:cNvPr id="105" name="Diagram: Chunks" descr="s104">
            <a:extLst>
              <a:ext uri="{FF2B5EF4-FFF2-40B4-BE49-F238E27FC236}">
                <ns2:creationId id="{7BA116B2-8B9E-4323-907D-1238A0745714}"/>
              </a:ext>
            </a:extLst>
          </p:cNvPr>
          <p:cNvSpPr>
            <a:spLocks noGrp="1"/>
          </p:cNvSpPr>
          <p:nvPr/>
        </p:nvSpPr>
        <p:spPr>
          <a:xfrm>
            <a:off x="7688416" y="7742427"/>
            <a:ext cx="1290340" cy="468718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36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Chunks</a:t>
            </a:r>
            <a:endParaRPr lang="en-GB" sz="2636"/>
          </a:p>
        </p:txBody>
      </p:sp>
      <p:sp>
        <p:nvSpPr>
          <p:cNvPr id="106" name="Diagram: R2  + Multiscale" descr="s105">
            <a:extLst>
              <a:ext uri="{FF2B5EF4-FFF2-40B4-BE49-F238E27FC236}">
                <ns2:creationId id="{87C9A6E9-DD46-4D9E-B2A7-0A607E2C07C7}"/>
              </a:ext>
            </a:extLst>
          </p:cNvPr>
          <p:cNvSpPr>
            <a:spLocks noGrp="1"/>
          </p:cNvSpPr>
          <p:nvPr/>
        </p:nvSpPr>
        <p:spPr>
          <a:xfrm>
            <a:off x="7688416" y="8232257"/>
            <a:ext cx="2209205" cy="428542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9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1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R2</a:t>
            </a:r>
            <a:r>
              <a:rPr lang="en-GB" sz="241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 + Multiscale</a:t>
            </a:r>
            <a:endParaRPr lang="en-GB" sz="2410"/>
          </a:p>
        </p:txBody>
      </p:sp>
      <p:sp>
        <p:nvSpPr>
          <p:cNvPr id="107" name="Diagram: Index" descr="s106">
            <a:extLst>
              <a:ext uri="{FF2B5EF4-FFF2-40B4-BE49-F238E27FC236}">
                <ns2:creationId id="{269EED0F-1B4A-48CE-BBF1-124DF09024CB}"/>
              </a:ext>
            </a:extLst>
          </p:cNvPr>
          <p:cNvSpPr>
            <a:spLocks noGrp="1"/>
          </p:cNvSpPr>
          <p:nvPr/>
        </p:nvSpPr>
        <p:spPr>
          <a:xfrm>
            <a:off x="11112840" y="7742427"/>
            <a:ext cx="999751" cy="468718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36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Index</a:t>
            </a:r>
            <a:endParaRPr lang="en-GB" sz="2636"/>
          </a:p>
        </p:txBody>
      </p:sp>
      <p:sp>
        <p:nvSpPr>
          <p:cNvPr id="108" name="Diagram: Chunk + page ID" descr="s107">
            <a:extLst>
              <a:ext uri="{FF2B5EF4-FFF2-40B4-BE49-F238E27FC236}">
                <ns2:creationId id="{3E8276CF-548F-409A-820F-D14E8BD928CA}"/>
              </a:ext>
            </a:extLst>
          </p:cNvPr>
          <p:cNvSpPr>
            <a:spLocks noGrp="1"/>
          </p:cNvSpPr>
          <p:nvPr/>
        </p:nvSpPr>
        <p:spPr>
          <a:xfrm>
            <a:off x="11112840" y="8232257"/>
            <a:ext cx="2433191" cy="428542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9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1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Chunk + page ID</a:t>
            </a:r>
            <a:endParaRPr lang="en-GB" sz="2410"/>
          </a:p>
        </p:txBody>
      </p:sp>
      <p:sp>
        <p:nvSpPr>
          <p:cNvPr id="109" name="Diagram: R1–R6: added components" descr="s108">
            <a:extLst>
              <a:ext uri="{FF2B5EF4-FFF2-40B4-BE49-F238E27FC236}">
                <ns2:creationId id="{00905F3F-7768-4AFC-B85D-13F10917D76B}"/>
              </a:ext>
            </a:extLst>
          </p:cNvPr>
          <p:cNvSpPr>
            <a:spLocks noGrp="1"/>
          </p:cNvSpPr>
          <p:nvPr/>
        </p:nvSpPr>
        <p:spPr>
          <a:xfrm>
            <a:off x="14805096" y="7763538"/>
            <a:ext cx="4042470" cy="428542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9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1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R1–R6: added components</a:t>
            </a:r>
            <a:endParaRPr lang="en-GB" sz="2410"/>
          </a:p>
        </p:txBody>
      </p:sp>
      <p:sp>
        <p:nvSpPr>
          <p:cNvPr id="110" name="Diagram: Each includes all earlier additions" descr="s109">
            <a:extLst>
              <a:ext uri="{FF2B5EF4-FFF2-40B4-BE49-F238E27FC236}">
                <ns2:creationId id="{72715AE4-33AA-4E37-A304-02356960EA4D}"/>
              </a:ext>
            </a:extLst>
          </p:cNvPr>
          <p:cNvSpPr>
            <a:spLocks noGrp="1"/>
          </p:cNvSpPr>
          <p:nvPr/>
        </p:nvSpPr>
        <p:spPr>
          <a:xfrm>
            <a:off x="14805096" y="8203560"/>
            <a:ext cx="4828133" cy="428542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9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1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Each includes all earlier additions</a:t>
            </a:r>
            <a:endParaRPr lang="en-GB" sz="2410"/>
          </a:p>
        </p:txBody>
      </p:sp>
      <p:sp>
        <p:nvSpPr>
          <p:cNvPr id="111" name="Diagram: Question" descr="s110">
            <a:extLst>
              <a:ext uri="{FF2B5EF4-FFF2-40B4-BE49-F238E27FC236}">
                <ns2:creationId id="{52E8B117-D709-4517-96E4-A5891D29A825}"/>
              </a:ext>
            </a:extLst>
          </p:cNvPr>
          <p:cNvSpPr>
            <a:spLocks noGrp="1"/>
          </p:cNvSpPr>
          <p:nvPr/>
        </p:nvSpPr>
        <p:spPr>
          <a:xfrm>
            <a:off x="839569" y="9110319"/>
            <a:ext cx="1569244" cy="468718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36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Question</a:t>
            </a:r>
            <a:endParaRPr lang="en-GB" sz="2636"/>
          </a:p>
        </p:txBody>
      </p:sp>
      <p:sp>
        <p:nvSpPr>
          <p:cNvPr id="112" name="Diagram: User query" descr="s111">
            <a:extLst>
              <a:ext uri="{FF2B5EF4-FFF2-40B4-BE49-F238E27FC236}">
                <ns2:creationId id="{7EFB3DED-FE52-41D2-94D0-5F536E0EF043}"/>
              </a:ext>
            </a:extLst>
          </p:cNvPr>
          <p:cNvSpPr>
            <a:spLocks noGrp="1"/>
          </p:cNvSpPr>
          <p:nvPr/>
        </p:nvSpPr>
        <p:spPr>
          <a:xfrm>
            <a:off x="839569" y="9581018"/>
            <a:ext cx="1634548" cy="428542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9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1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User query</a:t>
            </a:r>
            <a:endParaRPr lang="en-GB" sz="2410"/>
          </a:p>
        </p:txBody>
      </p:sp>
      <p:sp>
        <p:nvSpPr>
          <p:cNvPr id="113" name="Diagram: Retrieval" descr="s112">
            <a:extLst>
              <a:ext uri="{FF2B5EF4-FFF2-40B4-BE49-F238E27FC236}">
                <ns2:creationId id="{52DF5CA7-E736-43F7-BEBC-96EC0CFA1E96}"/>
              </a:ext>
            </a:extLst>
          </p:cNvPr>
          <p:cNvSpPr>
            <a:spLocks noGrp="1"/>
          </p:cNvSpPr>
          <p:nvPr/>
        </p:nvSpPr>
        <p:spPr>
          <a:xfrm>
            <a:off x="4263993" y="9062491"/>
            <a:ext cx="1545878" cy="468718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36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Retrieval</a:t>
            </a:r>
            <a:endParaRPr lang="en-GB" sz="2636"/>
          </a:p>
        </p:txBody>
      </p:sp>
      <p:sp>
        <p:nvSpPr>
          <p:cNvPr id="114" name="Diagram: R3 + Lexical" descr="s113">
            <a:extLst>
              <a:ext uri="{FF2B5EF4-FFF2-40B4-BE49-F238E27FC236}">
                <ns2:creationId id="{65814F77-6260-4216-8F23-C075AF3F4E81}"/>
              </a:ext>
            </a:extLst>
          </p:cNvPr>
          <p:cNvSpPr>
            <a:spLocks noGrp="1"/>
          </p:cNvSpPr>
          <p:nvPr/>
        </p:nvSpPr>
        <p:spPr>
          <a:xfrm>
            <a:off x="4263993" y="9552321"/>
            <a:ext cx="1722686" cy="428542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9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1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R3</a:t>
            </a:r>
            <a:r>
              <a:rPr lang="en-GB" sz="241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+ Lexical</a:t>
            </a:r>
            <a:endParaRPr lang="en-GB" sz="2410"/>
          </a:p>
        </p:txBody>
      </p:sp>
      <p:sp>
        <p:nvSpPr>
          <p:cNvPr id="115" name="Diagram: Reranking" descr="s114">
            <a:extLst>
              <a:ext uri="{FF2B5EF4-FFF2-40B4-BE49-F238E27FC236}">
                <ns2:creationId id="{914DCBF6-3CB4-4E1F-95DA-491E9B59B7D5}"/>
              </a:ext>
            </a:extLst>
          </p:cNvPr>
          <p:cNvSpPr>
            <a:spLocks noGrp="1"/>
          </p:cNvSpPr>
          <p:nvPr/>
        </p:nvSpPr>
        <p:spPr>
          <a:xfrm>
            <a:off x="7688416" y="9062491"/>
            <a:ext cx="1764060" cy="468718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36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Reranking</a:t>
            </a:r>
            <a:endParaRPr lang="en-GB" sz="2636"/>
          </a:p>
        </p:txBody>
      </p:sp>
      <p:sp>
        <p:nvSpPr>
          <p:cNvPr id="116" name="Diagram: R4 + Reranker" descr="s115">
            <a:extLst>
              <a:ext uri="{FF2B5EF4-FFF2-40B4-BE49-F238E27FC236}">
                <ns2:creationId id="{48BEDD5A-56C7-4F29-846F-67A0AE0AB1F4}"/>
              </a:ext>
            </a:extLst>
          </p:cNvPr>
          <p:cNvSpPr>
            <a:spLocks noGrp="1"/>
          </p:cNvSpPr>
          <p:nvPr/>
        </p:nvSpPr>
        <p:spPr>
          <a:xfrm>
            <a:off x="7688416" y="9552321"/>
            <a:ext cx="2063949" cy="428542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9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1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R4</a:t>
            </a:r>
            <a:r>
              <a:rPr lang="en-GB" sz="241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+ Reranker</a:t>
            </a:r>
            <a:endParaRPr lang="en-GB" sz="2410"/>
          </a:p>
        </p:txBody>
      </p:sp>
      <p:sp>
        <p:nvSpPr>
          <p:cNvPr id="117" name="Diagram: Generation" descr="s116">
            <a:extLst>
              <a:ext uri="{FF2B5EF4-FFF2-40B4-BE49-F238E27FC236}">
                <ns2:creationId id="{A24C0206-F454-454A-80B1-985B2FA4B83B}"/>
              </a:ext>
            </a:extLst>
          </p:cNvPr>
          <p:cNvSpPr>
            <a:spLocks noGrp="1"/>
          </p:cNvSpPr>
          <p:nvPr/>
        </p:nvSpPr>
        <p:spPr>
          <a:xfrm>
            <a:off x="11112840" y="9062491"/>
            <a:ext cx="1921965" cy="468718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36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Generation</a:t>
            </a:r>
            <a:endParaRPr lang="en-GB" sz="2636"/>
          </a:p>
        </p:txBody>
      </p:sp>
      <p:sp>
        <p:nvSpPr>
          <p:cNvPr id="118" name="Diagram: GPT-5.4-mini" descr="s117">
            <a:extLst>
              <a:ext uri="{FF2B5EF4-FFF2-40B4-BE49-F238E27FC236}">
                <ns2:creationId id="{C351902A-C66D-4CD4-B6B9-0EE3367B3ED4}"/>
              </a:ext>
            </a:extLst>
          </p:cNvPr>
          <p:cNvSpPr>
            <a:spLocks noGrp="1"/>
          </p:cNvSpPr>
          <p:nvPr/>
        </p:nvSpPr>
        <p:spPr>
          <a:xfrm>
            <a:off x="11112840" y="9552321"/>
            <a:ext cx="1875681" cy="428542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9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1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GPT-5.4-mini</a:t>
            </a:r>
            <a:endParaRPr lang="en-GB" sz="2410"/>
          </a:p>
        </p:txBody>
      </p:sp>
      <p:sp>
        <p:nvSpPr>
          <p:cNvPr id="119" name="Diagram: Post-processing" descr="s118">
            <a:extLst>
              <a:ext uri="{FF2B5EF4-FFF2-40B4-BE49-F238E27FC236}">
                <ns2:creationId id="{0FDC536D-3BDE-4E5D-84E5-0B59C8B70AF4}"/>
              </a:ext>
            </a:extLst>
          </p:cNvPr>
          <p:cNvSpPr>
            <a:spLocks noGrp="1"/>
          </p:cNvSpPr>
          <p:nvPr/>
        </p:nvSpPr>
        <p:spPr>
          <a:xfrm>
            <a:off x="14537264" y="9062491"/>
            <a:ext cx="2685455" cy="468718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36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Post-processing</a:t>
            </a:r>
            <a:endParaRPr lang="en-GB" sz="2636"/>
          </a:p>
        </p:txBody>
      </p:sp>
      <p:sp>
        <p:nvSpPr>
          <p:cNvPr id="120" name="Diagram: R5 + Typed checks" descr="s119">
            <a:extLst>
              <a:ext uri="{FF2B5EF4-FFF2-40B4-BE49-F238E27FC236}">
                <ns2:creationId id="{370D2E5B-2A48-4DBB-B5A7-452A29DE6B98}"/>
              </a:ext>
            </a:extLst>
          </p:cNvPr>
          <p:cNvSpPr>
            <a:spLocks noGrp="1"/>
          </p:cNvSpPr>
          <p:nvPr/>
        </p:nvSpPr>
        <p:spPr>
          <a:xfrm>
            <a:off x="14537264" y="9552321"/>
            <a:ext cx="2671615" cy="428542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9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1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R5</a:t>
            </a:r>
            <a:r>
              <a:rPr lang="en-GB" sz="241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+ Typed checks</a:t>
            </a:r>
            <a:endParaRPr lang="en-GB" sz="2410"/>
          </a:p>
        </p:txBody>
      </p:sp>
      <p:sp>
        <p:nvSpPr>
          <p:cNvPr id="121" name="Diagram: Final answer" descr="s120">
            <a:extLst>
              <a:ext uri="{FF2B5EF4-FFF2-40B4-BE49-F238E27FC236}">
                <ns2:creationId id="{70BDF9C6-B290-473E-935E-850E1B4A4388}"/>
              </a:ext>
            </a:extLst>
          </p:cNvPr>
          <p:cNvSpPr>
            <a:spLocks noGrp="1"/>
          </p:cNvSpPr>
          <p:nvPr/>
        </p:nvSpPr>
        <p:spPr>
          <a:xfrm>
            <a:off x="17961687" y="9062491"/>
            <a:ext cx="2160247" cy="468718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36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Final answer</a:t>
            </a:r>
            <a:endParaRPr lang="en-GB" sz="2636"/>
          </a:p>
        </p:txBody>
      </p:sp>
      <p:sp>
        <p:nvSpPr>
          <p:cNvPr id="122" name="Diagram: R6 + Select pages" descr="s121">
            <a:extLst>
              <a:ext uri="{FF2B5EF4-FFF2-40B4-BE49-F238E27FC236}">
                <ns2:creationId id="{BAEAE90A-6520-44F2-9D26-5B7F62529593}"/>
              </a:ext>
            </a:extLst>
          </p:cNvPr>
          <p:cNvSpPr>
            <a:spLocks noGrp="1"/>
          </p:cNvSpPr>
          <p:nvPr/>
        </p:nvSpPr>
        <p:spPr>
          <a:xfrm>
            <a:off x="17961687" y="9552321"/>
            <a:ext cx="2553742" cy="428542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9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1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R6</a:t>
            </a:r>
            <a:r>
              <a:rPr lang="en-GB" sz="241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+ Select pages</a:t>
            </a:r>
            <a:endParaRPr lang="en-GB" sz="2410"/>
          </a:p>
        </p:txBody>
      </p:sp>
      <p:pic>
        <p:nvPicPr>
          <p:cNvPr id="248" name=""/>
          <p:cNvPicPr>
            <a:picLocks noChangeAspect="1"/>
          </p:cNvPicPr>
          <p:nvPr/>
        </p:nvPicPr>
        <p:blipFill>
          <a:blip r:embed="Rc83b79940686479b">
            <a:extLst>
              <a:ext uri="{96DAC541-7B7A-43D3-8B79-37D633B846F1}">
                <ns4:svgBlip r:embed="R63c2c00d61f2464d"/>
              </a:ext>
            </a:extLst>
          </a:blip>
          <a:stretch/>
        </p:blipFill>
        <p:spPr>
          <a:xfrm>
            <a:off x="17676019" y="647998"/>
            <a:ext cx="3059906" cy="771227"/>
          </a:xfrm>
          <a:prstGeom prst="rect">
            <a:avLst/>
          </a:prstGeom>
        </p:spPr>
      </p:pic>
      <p:pic>
        <p:nvPicPr>
          <p:cNvPr id="249" name=""/>
          <p:cNvPicPr>
            <a:picLocks noChangeAspect="1"/>
          </p:cNvPicPr>
          <p:nvPr/>
        </p:nvPicPr>
        <p:blipFill>
          <a:blip r:embed="Rea36ef3ea4e84550">
            <a:extLst>
              <a:ext uri="{96DAC541-7B7A-43D3-8B79-37D633B846F1}">
                <ns4:svgBlip r:embed="R3635847d45e64bdb"/>
              </a:ext>
            </a:extLst>
          </a:blip>
          <a:stretch/>
        </p:blipFill>
        <p:spPr>
          <a:xfrm>
            <a:off x="647998" y="15774888"/>
            <a:ext cx="20087927" cy="5851624"/>
          </a:xfrm>
          <a:prstGeom prst="rect">
            <a:avLst/>
          </a:prstGeom>
        </p:spPr>
      </p:pic>
      <p:pic>
        <p:nvPicPr>
          <p:cNvPr id="250" name=""/>
          <p:cNvPicPr>
            <a:picLocks noChangeAspect="1"/>
          </p:cNvPicPr>
          <p:nvPr/>
        </p:nvPicPr>
        <p:blipFill>
          <a:blip r:embed="R105e98dd21ad48e4">
            <a:extLst>
              <a:ext uri="{96DAC541-7B7A-43D3-8B79-37D633B846F1}">
                <ns4:svgBlip r:embed="R8768414ebed34719"/>
              </a:ext>
            </a:extLst>
          </a:blip>
          <a:stretch/>
        </p:blipFill>
        <p:spPr>
          <a:xfrm>
            <a:off x="647998" y="22763262"/>
            <a:ext cx="9864030" cy="2039094"/>
          </a:xfrm>
          <a:prstGeom prst="rect">
            <a:avLst/>
          </a:prstGeom>
        </p:spPr>
      </p:pic>
    </p:spTree>
    <p:extLst>
      <p:ext uri="{BB962C8B-B14F-4D97-AF65-F5344CB8AC3E}">
        <ns5:creationId val="10825549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2026-09-20T20:05:50.1740000Z</dcterms:created>
  <dcterms:modified xsi:type="dcterms:W3CDTF">2026-09-20T20:05:50.1740000Z</dcterms:modified>
</coreProperties>
</file>