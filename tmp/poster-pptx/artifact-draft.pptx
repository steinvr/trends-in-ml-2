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4a35fc2d9b4731" /><Relationship Type="http://schemas.openxmlformats.org/officeDocument/2006/relationships/extended-properties" Target="/docProps/app.xml" Id="R624956c6aef94f5c" /><Relationship Type="http://schemas.openxmlformats.org/officeDocument/2006/relationships/officeDocument" Target="/ppt/presentation.xml" Id="R01a349442b4a40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c3babb46ee473a"/>
  </p:sldMasterIdLst>
  <p:notesMasterIdLst>
    <p:notesMasterId xmlns:r="http://schemas.openxmlformats.org/officeDocument/2006/relationships" r:id="Rd58d4f5001224cdc"/>
  </p:notesMasterIdLst>
  <p:sldIdLst>
    <p:sldId xmlns:r="http://schemas.openxmlformats.org/officeDocument/2006/relationships" id="256" r:id="Rb7c65989527f4f71"/>
  </p:sldIdLst>
  <p:sldSz cx="2138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66851dc2064588" /><Relationship Type="http://schemas.openxmlformats.org/officeDocument/2006/relationships/slideMaster" Target="/ppt/slideMasters/slideMaster1.xml" Id="Rfac3babb46ee473a" /><Relationship Type="http://schemas.openxmlformats.org/officeDocument/2006/relationships/notesMaster" Target="/ppt/notesMasters/notesMaster1.xml" Id="Rd58d4f5001224cdc" /><Relationship Type="http://schemas.openxmlformats.org/officeDocument/2006/relationships/presProps" Target="/ppt/presProps.xml" Id="R828d8245abb34036" /><Relationship Type="http://schemas.openxmlformats.org/officeDocument/2006/relationships/tableStyles" Target="/ppt/tableStyles.xml" Id="R4c0184c5819840cc" /><Relationship Type="http://schemas.openxmlformats.org/officeDocument/2006/relationships/slide" Target="/ppt/slides/slide1.xml" Id="Rb7c65989527f4f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5b650db9a84f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2d1527476f42eb" /><Relationship Type="http://schemas.openxmlformats.org/officeDocument/2006/relationships/notesMaster" Target="/ppt/notesMasters/notesMaster1.xml" Id="R8bd20a9b39cf46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local research paper and completed experiment metrics (output/poster-narrative-3). Logo: https://www.uni-trier.de/typo3conf/ext/zimktheme_unitrier/Resources/Public/Logos/Logo_Universitaet.svg . References: https://arxiv.org/abs/2005.11401 ; https://arxiv.org/abs/2408.10343 ; https://doi.org/10.18653/v1/2023.emnlp-main.398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3de6dfcb943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a7c05c243c4f83" /><Relationship Type="http://schemas.openxmlformats.org/officeDocument/2006/relationships/slideLayout" Target="/ppt/slideLayouts/slideLayout1.xml" Id="Rf5ce5c45eb1b42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ce5c45eb1b42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586526bc84d69" /><Relationship Type="http://schemas.openxmlformats.org/officeDocument/2006/relationships/image" Target="/ppt/media/image.png" Id="Rc83b79940686479b" /><Relationship Type="http://schemas.openxmlformats.org/officeDocument/2006/relationships/image" Target="/ppt/media/image.svg" Id="R63c2c00d61f2464d" /><Relationship Type="http://schemas.openxmlformats.org/officeDocument/2006/relationships/image" Target="/ppt/media/image2.png" Id="Rea36ef3ea4e84550" /><Relationship Type="http://schemas.openxmlformats.org/officeDocument/2006/relationships/image" Target="/ppt/media/image2.svg" Id="R3635847d45e64bdb" /><Relationship Type="http://schemas.openxmlformats.org/officeDocument/2006/relationships/image" Target="/ppt/media/image3.png" Id="R105e98dd21ad48e4" /><Relationship Type="http://schemas.openxmlformats.org/officeDocument/2006/relationships/image" Target="/ppt/media/image3.svg" Id="R8768414ebed34719" /><Relationship Type="http://schemas.openxmlformats.org/officeDocument/2006/relationships/notesSlide" Target="/ppt/notesSlides/notesSlide1.xml" Id="R3f98ed6c7ebc44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s0">
            <a:extLst xmlns:a="http://schemas.openxmlformats.org/drawingml/2006/main">
              <a:ext uri="{FF2B5EF4-FFF2-40B4-BE49-F238E27FC236}">
                <a16:creationId xmlns:a16="http://schemas.microsoft.com/office/drawing/2014/main" id="{1B96D0CA-6D1B-42B0-89BF-EFB284C7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3088779"/>
            <a:ext cx="2008792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AA"/>
          </a:solidFill>
          <a:ln xmlns:a="http://schemas.openxmlformats.org/drawingml/2006/main" w="0">
            <a:noFill/>
          </a:ln>
        </p:spPr>
      </p:sp>
      <p:sp>
        <p:nvSpPr>
          <p:cNvPr id="2" name="s1">
            <a:extLst xmlns:a="http://schemas.openxmlformats.org/drawingml/2006/main">
              <a:ext uri="{FF2B5EF4-FFF2-40B4-BE49-F238E27FC236}">
                <a16:creationId xmlns:a16="http://schemas.microsoft.com/office/drawing/2014/main" id="{27BCD985-D11D-40C1-9463-498AD3D5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887" y="3805535"/>
            <a:ext cx="9736038" cy="1730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A"/>
          </a:solidFill>
          <a:ln xmlns:a="http://schemas.openxmlformats.org/drawingml/2006/main" w="0">
            <a:noFill/>
          </a:ln>
        </p:spPr>
      </p:sp>
      <p:sp>
        <p:nvSpPr>
          <p:cNvPr id="3" name="s2">
            <a:extLst xmlns:a="http://schemas.openxmlformats.org/drawingml/2006/main">
              <a:ext uri="{FF2B5EF4-FFF2-40B4-BE49-F238E27FC236}">
                <a16:creationId xmlns:a16="http://schemas.microsoft.com/office/drawing/2014/main" id="{86779948-99EE-455A-8694-75355C17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887" y="3805535"/>
            <a:ext cx="47625" cy="1730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3"/>
          </a:solidFill>
          <a:ln xmlns:a="http://schemas.openxmlformats.org/drawingml/2006/main" w="0">
            <a:noFill/>
          </a:ln>
        </p:spPr>
      </p:sp>
      <p:sp>
        <p:nvSpPr>
          <p:cNvPr id="4" name="s3">
            <a:extLst xmlns:a="http://schemas.openxmlformats.org/drawingml/2006/main">
              <a:ext uri="{FF2B5EF4-FFF2-40B4-BE49-F238E27FC236}">
                <a16:creationId xmlns:a16="http://schemas.microsoft.com/office/drawing/2014/main" id="{5B2C2E11-C78A-429F-BD61-1AE59AEE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6153448"/>
            <a:ext cx="2008792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AA"/>
          </a:solidFill>
          <a:ln xmlns:a="http://schemas.openxmlformats.org/drawingml/2006/main" w="0">
            <a:noFill/>
          </a:ln>
        </p:spPr>
      </p:sp>
      <p:sp>
        <p:nvSpPr>
          <p:cNvPr id="5" name="s4">
            <a:extLst xmlns:a="http://schemas.openxmlformats.org/drawingml/2006/main">
              <a:ext uri="{FF2B5EF4-FFF2-40B4-BE49-F238E27FC236}">
                <a16:creationId xmlns:a16="http://schemas.microsoft.com/office/drawing/2014/main" id="{AD2732EA-739F-4942-8549-D3F3E1BC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6870204"/>
            <a:ext cx="20087927" cy="617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A"/>
          </a:solidFill>
          <a:ln xmlns:a="http://schemas.openxmlformats.org/drawingml/2006/main" w="0">
            <a:noFill/>
          </a:ln>
        </p:spPr>
      </p:sp>
      <p:sp>
        <p:nvSpPr>
          <p:cNvPr id="6" name="s5">
            <a:extLst xmlns:a="http://schemas.openxmlformats.org/drawingml/2006/main">
              <a:ext uri="{FF2B5EF4-FFF2-40B4-BE49-F238E27FC236}">
                <a16:creationId xmlns:a16="http://schemas.microsoft.com/office/drawing/2014/main" id="{76CBE832-C384-4568-AEFF-31A3AB87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2804577"/>
            <a:ext cx="2008792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EE8"/>
          </a:solidFill>
          <a:ln xmlns:a="http://schemas.openxmlformats.org/drawingml/2006/main" w="0">
            <a:noFill/>
          </a:ln>
        </p:spPr>
      </p:sp>
      <p:sp>
        <p:nvSpPr>
          <p:cNvPr id="7" name="s6">
            <a:extLst xmlns:a="http://schemas.openxmlformats.org/drawingml/2006/main">
              <a:ext uri="{FF2B5EF4-FFF2-40B4-BE49-F238E27FC236}">
                <a16:creationId xmlns:a16="http://schemas.microsoft.com/office/drawing/2014/main" id="{38863C48-0C52-4A24-902C-43BFC650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3431589"/>
            <a:ext cx="2008792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AA"/>
          </a:solidFill>
          <a:ln xmlns:a="http://schemas.openxmlformats.org/drawingml/2006/main" w="0">
            <a:noFill/>
          </a:ln>
        </p:spPr>
      </p:sp>
      <p:sp>
        <p:nvSpPr>
          <p:cNvPr id="8" name="s7">
            <a:extLst xmlns:a="http://schemas.openxmlformats.org/drawingml/2006/main">
              <a:ext uri="{FF2B5EF4-FFF2-40B4-BE49-F238E27FC236}">
                <a16:creationId xmlns:a16="http://schemas.microsoft.com/office/drawing/2014/main" id="{66CB9ABD-F524-4490-848D-9CC31E36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4148346"/>
            <a:ext cx="38100" cy="901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3"/>
          </a:solidFill>
          <a:ln xmlns:a="http://schemas.openxmlformats.org/drawingml/2006/main" w="0">
            <a:noFill/>
          </a:ln>
        </p:spPr>
      </p:sp>
      <p:sp>
        <p:nvSpPr>
          <p:cNvPr id="9" name="s8">
            <a:extLst xmlns:a="http://schemas.openxmlformats.org/drawingml/2006/main">
              <a:ext uri="{FF2B5EF4-FFF2-40B4-BE49-F238E27FC236}">
                <a16:creationId xmlns:a16="http://schemas.microsoft.com/office/drawing/2014/main" id="{9C91FB27-A709-48C0-8F0F-2CB55BBE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918" y="14148346"/>
            <a:ext cx="38100" cy="901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3"/>
          </a:solidFill>
          <a:ln xmlns:a="http://schemas.openxmlformats.org/drawingml/2006/main" w="0">
            <a:noFill/>
          </a:ln>
        </p:spPr>
      </p:sp>
      <p:sp>
        <p:nvSpPr>
          <p:cNvPr id="10" name="s9">
            <a:extLst xmlns:a="http://schemas.openxmlformats.org/drawingml/2006/main">
              <a:ext uri="{FF2B5EF4-FFF2-40B4-BE49-F238E27FC236}">
                <a16:creationId xmlns:a16="http://schemas.microsoft.com/office/drawing/2014/main" id="{4DB8C8FF-E78D-4039-86D3-82B1D689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1987" y="14148346"/>
            <a:ext cx="38100" cy="901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C3"/>
          </a:solidFill>
          <a:ln xmlns:a="http://schemas.openxmlformats.org/drawingml/2006/main" w="0">
            <a:noFill/>
          </a:ln>
        </p:spPr>
      </p:sp>
      <p:sp>
        <p:nvSpPr>
          <p:cNvPr id="11" name="s10">
            <a:extLst xmlns:a="http://schemas.openxmlformats.org/drawingml/2006/main">
              <a:ext uri="{FF2B5EF4-FFF2-40B4-BE49-F238E27FC236}">
                <a16:creationId xmlns:a16="http://schemas.microsoft.com/office/drawing/2014/main" id="{B135D42B-0E10-4835-A224-FFB532D3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895" y="22208133"/>
            <a:ext cx="9525" cy="3503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EE8"/>
          </a:solidFill>
          <a:ln xmlns:a="http://schemas.openxmlformats.org/drawingml/2006/main" w="0">
            <a:noFill/>
          </a:ln>
        </p:spPr>
      </p:sp>
      <p:sp>
        <p:nvSpPr>
          <p:cNvPr id="12" name="s11">
            <a:extLst xmlns:a="http://schemas.openxmlformats.org/drawingml/2006/main">
              <a:ext uri="{FF2B5EF4-FFF2-40B4-BE49-F238E27FC236}">
                <a16:creationId xmlns:a16="http://schemas.microsoft.com/office/drawing/2014/main" id="{26257B4E-B607-47A3-9497-81FBC38D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5927943"/>
            <a:ext cx="20087927" cy="15744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68A"/>
          </a:solidFill>
          <a:ln xmlns:a="http://schemas.openxmlformats.org/drawingml/2006/main" w="0">
            <a:noFill/>
          </a:ln>
        </p:spPr>
      </p:sp>
      <p:sp>
        <p:nvSpPr>
          <p:cNvPr id="13" name="s12">
            <a:extLst xmlns:a="http://schemas.openxmlformats.org/drawingml/2006/main">
              <a:ext uri="{FF2B5EF4-FFF2-40B4-BE49-F238E27FC236}">
                <a16:creationId xmlns:a16="http://schemas.microsoft.com/office/drawing/2014/main" id="{3ABEABD1-0E7B-496F-AFEE-954D37EC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8083867"/>
            <a:ext cx="2008792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EE8"/>
          </a:solidFill>
          <a:ln xmlns:a="http://schemas.openxmlformats.org/drawingml/2006/main" w="0">
            <a:noFill/>
          </a:ln>
        </p:spPr>
      </p:sp>
      <p:sp>
        <p:nvSpPr>
          <p:cNvPr id="14" name="s13">
            <a:extLst xmlns:a="http://schemas.openxmlformats.org/drawingml/2006/main">
              <a:ext uri="{FF2B5EF4-FFF2-40B4-BE49-F238E27FC236}">
                <a16:creationId xmlns:a16="http://schemas.microsoft.com/office/drawing/2014/main" id="{FD1F7D0E-8D4C-46B6-8AED-DF9FCF81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647998"/>
            <a:ext cx="5192613" cy="85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TRENDS IN MACHINE LEARNING II</a:t>
            </a:r>
          </a:p>
          <a:p xmlns:a="http://schemas.openxmlformats.org/drawingml/2006/main">
            <a:pPr>
              <a:defRPr sz="2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[AUTHOR NAME]</a:t>
            </a:r>
          </a:p>
        </p:txBody>
      </p:sp>
      <p:sp>
        <p:nvSpPr>
          <p:cNvPr id="15" name="s14">
            <a:extLst xmlns:a="http://schemas.openxmlformats.org/drawingml/2006/main">
              <a:ext uri="{FF2B5EF4-FFF2-40B4-BE49-F238E27FC236}">
                <a16:creationId xmlns:a16="http://schemas.microsoft.com/office/drawing/2014/main" id="{C43C8DEE-8F67-4142-9A5B-D053E20E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478012"/>
            <a:ext cx="19648438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00">
                <a:solidFill>
                  <a:srgbClr val="073D65"/>
                </a:solidFill>
                <a:latin typeface="Noto Sans"/>
                <a:ea typeface="Noto Sans"/>
                <a:cs typeface="Noto Sans"/>
              </a:defRPr>
            </a:pPr>
            <a:r>
              <a:rPr sz="5000" b="1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Building Legal RAG:</a:t>
            </a:r>
          </a:p>
          <a:p xmlns:a="http://schemas.openxmlformats.org/drawingml/2006/main">
            <a:pPr>
              <a:defRPr sz="5000">
                <a:solidFill>
                  <a:srgbClr val="073D65"/>
                </a:solidFill>
                <a:latin typeface="Noto Sans"/>
                <a:ea typeface="Noto Sans"/>
                <a:cs typeface="Noto Sans"/>
              </a:defRPr>
            </a:pPr>
            <a:r>
              <a:rPr sz="5000" b="1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what each component contributes</a:t>
            </a:r>
          </a:p>
        </p:txBody>
      </p:sp>
      <p:sp>
        <p:nvSpPr>
          <p:cNvPr id="16" name="s15">
            <a:extLst xmlns:a="http://schemas.openxmlformats.org/drawingml/2006/main">
              <a:ext uri="{FF2B5EF4-FFF2-40B4-BE49-F238E27FC236}">
                <a16:creationId xmlns:a16="http://schemas.microsoft.com/office/drawing/2014/main" id="{39CA82CE-9D5F-408B-AC29-A5053EBA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3234779"/>
            <a:ext cx="40630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6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17" name="s16">
            <a:extLst xmlns:a="http://schemas.openxmlformats.org/drawingml/2006/main">
              <a:ext uri="{FF2B5EF4-FFF2-40B4-BE49-F238E27FC236}">
                <a16:creationId xmlns:a16="http://schemas.microsoft.com/office/drawing/2014/main" id="{8BAE2027-D978-458F-AC25-D7995B08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40" y="3187154"/>
            <a:ext cx="2613422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31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HYPOTHESIS</a:t>
            </a:r>
          </a:p>
        </p:txBody>
      </p:sp>
      <p:sp>
        <p:nvSpPr>
          <p:cNvPr id="18" name="s17">
            <a:extLst xmlns:a="http://schemas.openxmlformats.org/drawingml/2006/main">
              <a:ext uri="{FF2B5EF4-FFF2-40B4-BE49-F238E27FC236}">
                <a16:creationId xmlns:a16="http://schemas.microsoft.com/office/drawing/2014/main" id="{6CB0700C-4586-47ED-9DA0-A29F66FD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1192" y="3249960"/>
            <a:ext cx="432330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Research question &amp; rationale</a:t>
            </a:r>
          </a:p>
        </p:txBody>
      </p:sp>
      <p:sp>
        <p:nvSpPr>
          <p:cNvPr id="19" name="s18">
            <a:extLst xmlns:a="http://schemas.openxmlformats.org/drawingml/2006/main">
              <a:ext uri="{FF2B5EF4-FFF2-40B4-BE49-F238E27FC236}">
                <a16:creationId xmlns:a16="http://schemas.microsoft.com/office/drawing/2014/main" id="{A5ABC785-07FB-46F9-8B58-FD4CA6B3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3776960"/>
            <a:ext cx="10056465" cy="94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9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How can we build Legal RAG with better answers and</a:t>
            </a:r>
          </a:p>
          <a:p xmlns:a="http://schemas.openxmlformats.org/drawingml/2006/main">
            <a:pPr>
              <a:defRPr sz="29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9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precise, complete citations?</a:t>
            </a:r>
          </a:p>
        </p:txBody>
      </p:sp>
      <p:sp>
        <p:nvSpPr>
          <p:cNvPr id="20" name="s19">
            <a:extLst xmlns:a="http://schemas.openxmlformats.org/drawingml/2006/main">
              <a:ext uri="{FF2B5EF4-FFF2-40B4-BE49-F238E27FC236}">
                <a16:creationId xmlns:a16="http://schemas.microsoft.com/office/drawing/2014/main" id="{739AE120-F4C5-478A-B1AC-9E13AD76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4776043"/>
            <a:ext cx="10056465" cy="775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Legal answers need evidence: readable documents, relevant passages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and verifiable page citations.</a:t>
            </a:r>
          </a:p>
        </p:txBody>
      </p:sp>
      <p:sp>
        <p:nvSpPr>
          <p:cNvPr id="21" name="s20">
            <a:extLst xmlns:a="http://schemas.openxmlformats.org/drawingml/2006/main">
              <a:ext uri="{FF2B5EF4-FFF2-40B4-BE49-F238E27FC236}">
                <a16:creationId xmlns:a16="http://schemas.microsoft.com/office/drawing/2014/main" id="{BDEAD728-F2B4-4280-A23C-13503350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3461" y="3956893"/>
            <a:ext cx="9285089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Testing the complete pipeline</a:t>
            </a:r>
          </a:p>
        </p:txBody>
      </p:sp>
      <p:sp>
        <p:nvSpPr>
          <p:cNvPr id="22" name="s21">
            <a:extLst xmlns:a="http://schemas.openxmlformats.org/drawingml/2006/main">
              <a:ext uri="{FF2B5EF4-FFF2-40B4-BE49-F238E27FC236}">
                <a16:creationId xmlns:a16="http://schemas.microsoft.com/office/drawing/2014/main" id="{8390EE07-62A0-4DAB-9462-FA82CE5A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3461" y="4476155"/>
            <a:ext cx="9285089" cy="775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We expect the full pipeline to outperform baseline. H1–H6 test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whether each addition improves answer quality or citations.</a:t>
            </a:r>
          </a:p>
        </p:txBody>
      </p:sp>
      <p:sp>
        <p:nvSpPr>
          <p:cNvPr id="23" name="s22">
            <a:extLst xmlns:a="http://schemas.openxmlformats.org/drawingml/2006/main">
              <a:ext uri="{FF2B5EF4-FFF2-40B4-BE49-F238E27FC236}">
                <a16:creationId xmlns:a16="http://schemas.microsoft.com/office/drawing/2014/main" id="{49EA2821-2220-4B58-B4F8-EC83E38C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5615285"/>
            <a:ext cx="2011650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Prior work: RAG [1], legal retrieval [2], citation evaluation [3]. We test one pipeline, component by component.</a:t>
            </a:r>
          </a:p>
        </p:txBody>
      </p:sp>
      <p:sp>
        <p:nvSpPr>
          <p:cNvPr id="24" name="s23">
            <a:extLst xmlns:a="http://schemas.openxmlformats.org/drawingml/2006/main">
              <a:ext uri="{FF2B5EF4-FFF2-40B4-BE49-F238E27FC236}">
                <a16:creationId xmlns:a16="http://schemas.microsoft.com/office/drawing/2014/main" id="{3785FED3-48E7-4FC7-82FB-122E23E6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6299448"/>
            <a:ext cx="40630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6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25" name="s24">
            <a:extLst xmlns:a="http://schemas.openxmlformats.org/drawingml/2006/main">
              <a:ext uri="{FF2B5EF4-FFF2-40B4-BE49-F238E27FC236}">
                <a16:creationId xmlns:a16="http://schemas.microsoft.com/office/drawing/2014/main" id="{6C98F92E-A513-426B-9FFE-F225FB01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40" y="6251823"/>
            <a:ext cx="3287762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31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METHODOLOGY</a:t>
            </a:r>
          </a:p>
        </p:txBody>
      </p:sp>
      <p:sp>
        <p:nvSpPr>
          <p:cNvPr id="26" name="s25">
            <a:extLst xmlns:a="http://schemas.openxmlformats.org/drawingml/2006/main">
              <a:ext uri="{FF2B5EF4-FFF2-40B4-BE49-F238E27FC236}">
                <a16:creationId xmlns:a16="http://schemas.microsoft.com/office/drawing/2014/main" id="{255AAB36-A6F6-4368-9E47-75644D18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5493" y="6314629"/>
            <a:ext cx="4679007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Sequential component additions</a:t>
            </a:r>
          </a:p>
        </p:txBody>
      </p:sp>
      <p:sp>
        <p:nvSpPr>
          <p:cNvPr id="27" name="s26">
            <a:extLst xmlns:a="http://schemas.openxmlformats.org/drawingml/2006/main">
              <a:ext uri="{FF2B5EF4-FFF2-40B4-BE49-F238E27FC236}">
                <a16:creationId xmlns:a16="http://schemas.microsoft.com/office/drawing/2014/main" id="{D1671FDD-6239-40B1-8B13-FC8F5475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31" y="6967538"/>
            <a:ext cx="19756503" cy="617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R0 · Baseline.</a:t>
            </a:r>
            <a:r>
              <a:rPr sz="2400" b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 PDF text → 300-token chunks → dense retrieval → answer. Citations include all pages in the supplied context.</a:t>
            </a:r>
          </a:p>
        </p:txBody>
      </p:sp>
      <p:sp>
        <p:nvSpPr>
          <p:cNvPr id="28" name="s27">
            <a:extLst xmlns:a="http://schemas.openxmlformats.org/drawingml/2006/main">
              <a:ext uri="{FF2B5EF4-FFF2-40B4-BE49-F238E27FC236}">
                <a16:creationId xmlns:a16="http://schemas.microsoft.com/office/drawing/2014/main" id="{EF77DCA0-599D-4E51-98A1-3E55A326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0176570"/>
            <a:ext cx="991046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Dataset &amp; comparisons</a:t>
            </a:r>
          </a:p>
        </p:txBody>
      </p:sp>
      <p:sp>
        <p:nvSpPr>
          <p:cNvPr id="29" name="s28">
            <a:extLst xmlns:a="http://schemas.openxmlformats.org/drawingml/2006/main">
              <a:ext uri="{FF2B5EF4-FFF2-40B4-BE49-F238E27FC236}">
                <a16:creationId xmlns:a16="http://schemas.microsoft.com/office/drawing/2014/main" id="{B2BC62C5-4505-4E4C-B775-E07BA6DE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0695831"/>
            <a:ext cx="9910465" cy="1140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30 DIFC PDFs · 590 pages · 100 questions.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70 structured / 30 free-text answers;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95 questions with gold source pages.</a:t>
            </a:r>
          </a:p>
        </p:txBody>
      </p:sp>
      <p:sp>
        <p:nvSpPr>
          <p:cNvPr id="30" name="s29">
            <a:extLst xmlns:a="http://schemas.openxmlformats.org/drawingml/2006/main">
              <a:ext uri="{FF2B5EF4-FFF2-40B4-BE49-F238E27FC236}">
                <a16:creationId xmlns:a16="http://schemas.microsoft.com/office/drawing/2014/main" id="{5EBAE263-34DC-4554-B71D-D1EB59B5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1900743"/>
            <a:ext cx="9910465" cy="775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Mixed corpus: 10 PDFs / 107 pages rasterised at 300 DPI. R0–R6 on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mixed; R0/R1 also on originals.</a:t>
            </a:r>
          </a:p>
        </p:txBody>
      </p:sp>
      <p:sp>
        <p:nvSpPr>
          <p:cNvPr id="31" name="s30">
            <a:extLst xmlns:a="http://schemas.openxmlformats.org/drawingml/2006/main">
              <a:ext uri="{FF2B5EF4-FFF2-40B4-BE49-F238E27FC236}">
                <a16:creationId xmlns:a16="http://schemas.microsoft.com/office/drawing/2014/main" id="{743153BB-9A2E-4712-ABEE-939A4102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886" y="10176570"/>
            <a:ext cx="9910614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Evaluation</a:t>
            </a:r>
          </a:p>
        </p:txBody>
      </p:sp>
      <p:sp>
        <p:nvSpPr>
          <p:cNvPr id="32" name="s31">
            <a:extLst xmlns:a="http://schemas.openxmlformats.org/drawingml/2006/main">
              <a:ext uri="{FF2B5EF4-FFF2-40B4-BE49-F238E27FC236}">
                <a16:creationId xmlns:a16="http://schemas.microsoft.com/office/drawing/2014/main" id="{59EC069C-5246-49E1-94D0-564016CE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886" y="10695831"/>
            <a:ext cx="9910614" cy="775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 = 0.7 × S + 0.3 × F.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 / F: mean structured / free-text scores; free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text is evaluated by an LLM.</a:t>
            </a:r>
          </a:p>
        </p:txBody>
      </p:sp>
      <p:sp>
        <p:nvSpPr>
          <p:cNvPr id="33" name="s32">
            <a:extLst xmlns:a="http://schemas.openxmlformats.org/drawingml/2006/main">
              <a:ext uri="{FF2B5EF4-FFF2-40B4-BE49-F238E27FC236}">
                <a16:creationId xmlns:a16="http://schemas.microsoft.com/office/drawing/2014/main" id="{D342E4A9-3F10-4DE3-A3BD-0F7630F9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886" y="11535073"/>
            <a:ext cx="9910614" cy="1140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Precision: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share of cited pages that are gold pages. </a:t>
            </a:r>
            <a:r>
              <a:rPr sz="24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Recall: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share of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gold pages that are cited. Both metrics are averaged across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questions.</a:t>
            </a:r>
          </a:p>
        </p:txBody>
      </p:sp>
      <p:sp>
        <p:nvSpPr>
          <p:cNvPr id="34" name="s33">
            <a:extLst xmlns:a="http://schemas.openxmlformats.org/drawingml/2006/main">
              <a:ext uri="{FF2B5EF4-FFF2-40B4-BE49-F238E27FC236}">
                <a16:creationId xmlns:a16="http://schemas.microsoft.com/office/drawing/2014/main" id="{E002B9CA-CA87-4F73-92CC-194E9505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2893427"/>
            <a:ext cx="20116502" cy="483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Fixed:</a:t>
            </a: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GPT-5.4-mini / high; 24 candidates; ≤ 2,400 context tokens. OCR: PP-OCRv5. Embedding / reranker: Qwen3-0.6B.</a:t>
            </a:r>
          </a:p>
        </p:txBody>
      </p:sp>
      <p:sp>
        <p:nvSpPr>
          <p:cNvPr id="35" name="s34">
            <a:extLst xmlns:a="http://schemas.openxmlformats.org/drawingml/2006/main">
              <a:ext uri="{FF2B5EF4-FFF2-40B4-BE49-F238E27FC236}">
                <a16:creationId xmlns:a16="http://schemas.microsoft.com/office/drawing/2014/main" id="{761D9BB8-3897-4477-88F5-7440C799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3577590"/>
            <a:ext cx="40630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6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36" name="s35">
            <a:extLst xmlns:a="http://schemas.openxmlformats.org/drawingml/2006/main">
              <a:ext uri="{FF2B5EF4-FFF2-40B4-BE49-F238E27FC236}">
                <a16:creationId xmlns:a16="http://schemas.microsoft.com/office/drawing/2014/main" id="{39B289BB-EE0A-413E-BBF3-0A082745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40" y="13529965"/>
            <a:ext cx="1788319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31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RESULTS</a:t>
            </a:r>
          </a:p>
        </p:txBody>
      </p:sp>
      <p:sp>
        <p:nvSpPr>
          <p:cNvPr id="37" name="s36">
            <a:extLst xmlns:a="http://schemas.openxmlformats.org/drawingml/2006/main">
              <a:ext uri="{FF2B5EF4-FFF2-40B4-BE49-F238E27FC236}">
                <a16:creationId xmlns:a16="http://schemas.microsoft.com/office/drawing/2014/main" id="{20904A4B-DA54-4335-BE8B-38BC9225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3679" y="13592770"/>
            <a:ext cx="5140821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Baseline R0 → complete pipeline R6</a:t>
            </a:r>
          </a:p>
        </p:txBody>
      </p:sp>
      <p:sp>
        <p:nvSpPr>
          <p:cNvPr id="38" name="s37">
            <a:extLst xmlns:a="http://schemas.openxmlformats.org/drawingml/2006/main">
              <a:ext uri="{FF2B5EF4-FFF2-40B4-BE49-F238E27FC236}">
                <a16:creationId xmlns:a16="http://schemas.microsoft.com/office/drawing/2014/main" id="{9B1BD62B-5B91-4436-94C1-0013E5FA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14" y="14100721"/>
            <a:ext cx="6350496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34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46.2 → 84.4</a:t>
            </a:r>
          </a:p>
        </p:txBody>
      </p:sp>
      <p:sp>
        <p:nvSpPr>
          <p:cNvPr id="39" name="s38">
            <a:extLst xmlns:a="http://schemas.openxmlformats.org/drawingml/2006/main">
              <a:ext uri="{FF2B5EF4-FFF2-40B4-BE49-F238E27FC236}">
                <a16:creationId xmlns:a16="http://schemas.microsoft.com/office/drawing/2014/main" id="{9FA12256-1BCA-4168-9D02-0A8443C0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14" y="14655105"/>
            <a:ext cx="635049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Answer quality Q, %</a:t>
            </a:r>
          </a:p>
        </p:txBody>
      </p:sp>
      <p:sp>
        <p:nvSpPr>
          <p:cNvPr id="40" name="s39">
            <a:extLst xmlns:a="http://schemas.openxmlformats.org/drawingml/2006/main">
              <a:ext uri="{FF2B5EF4-FFF2-40B4-BE49-F238E27FC236}">
                <a16:creationId xmlns:a16="http://schemas.microsoft.com/office/drawing/2014/main" id="{26BC30D9-A106-4377-9DA5-5FCF514D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935" y="14100721"/>
            <a:ext cx="635064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34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7.6 → 61.8</a:t>
            </a:r>
          </a:p>
        </p:txBody>
      </p:sp>
      <p:sp>
        <p:nvSpPr>
          <p:cNvPr id="41" name="s40">
            <a:extLst xmlns:a="http://schemas.openxmlformats.org/drawingml/2006/main">
              <a:ext uri="{FF2B5EF4-FFF2-40B4-BE49-F238E27FC236}">
                <a16:creationId xmlns:a16="http://schemas.microsoft.com/office/drawing/2014/main" id="{E443F9EB-6AE5-429F-8AE7-EBE2984A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935" y="14655105"/>
            <a:ext cx="635064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precision, %</a:t>
            </a:r>
          </a:p>
        </p:txBody>
      </p:sp>
      <p:sp>
        <p:nvSpPr>
          <p:cNvPr id="42" name="s41">
            <a:extLst xmlns:a="http://schemas.openxmlformats.org/drawingml/2006/main">
              <a:ext uri="{FF2B5EF4-FFF2-40B4-BE49-F238E27FC236}">
                <a16:creationId xmlns:a16="http://schemas.microsoft.com/office/drawing/2014/main" id="{FA34688F-0E80-4379-A15C-BF34FB84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4004" y="14100721"/>
            <a:ext cx="6350496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34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38.5 → 74.7</a:t>
            </a:r>
          </a:p>
        </p:txBody>
      </p:sp>
      <p:sp>
        <p:nvSpPr>
          <p:cNvPr id="43" name="s42">
            <a:extLst xmlns:a="http://schemas.openxmlformats.org/drawingml/2006/main">
              <a:ext uri="{FF2B5EF4-FFF2-40B4-BE49-F238E27FC236}">
                <a16:creationId xmlns:a16="http://schemas.microsoft.com/office/drawing/2014/main" id="{748F351E-E0D2-4E8B-8A11-E52D46B9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4004" y="14655105"/>
            <a:ext cx="635049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recall, %</a:t>
            </a:r>
          </a:p>
        </p:txBody>
      </p:sp>
      <p:sp>
        <p:nvSpPr>
          <p:cNvPr id="44" name="s43">
            <a:extLst xmlns:a="http://schemas.openxmlformats.org/drawingml/2006/main">
              <a:ext uri="{FF2B5EF4-FFF2-40B4-BE49-F238E27FC236}">
                <a16:creationId xmlns:a16="http://schemas.microsoft.com/office/drawing/2014/main" id="{01B14ADE-2921-4507-91D7-0E7F92E5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15200709"/>
            <a:ext cx="2011650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Gains are not monotonic.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Sequential additions on the mixed corpus:</a:t>
            </a:r>
          </a:p>
        </p:txBody>
      </p:sp>
      <p:sp>
        <p:nvSpPr>
          <p:cNvPr id="45" name="s44">
            <a:extLst xmlns:a="http://schemas.openxmlformats.org/drawingml/2006/main">
              <a:ext uri="{FF2B5EF4-FFF2-40B4-BE49-F238E27FC236}">
                <a16:creationId xmlns:a16="http://schemas.microsoft.com/office/drawing/2014/main" id="{6DE68D36-C75E-459C-BB3B-D3341ECC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1597938"/>
            <a:ext cx="2011650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R0 → R6: Q +38.2 percentage points; precision +54.2; recall +36.2.</a:t>
            </a:r>
          </a:p>
        </p:txBody>
      </p:sp>
      <p:sp>
        <p:nvSpPr>
          <p:cNvPr id="46" name="s45">
            <a:extLst xmlns:a="http://schemas.openxmlformats.org/drawingml/2006/main">
              <a:ext uri="{FF2B5EF4-FFF2-40B4-BE49-F238E27FC236}">
                <a16:creationId xmlns:a16="http://schemas.microsoft.com/office/drawing/2014/main" id="{D3B82845-AAD5-48C8-9416-D3B18589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2179558"/>
            <a:ext cx="989260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OCR recovers answer quality</a:t>
            </a:r>
          </a:p>
        </p:txBody>
      </p:sp>
      <p:sp>
        <p:nvSpPr>
          <p:cNvPr id="47" name="s46">
            <a:extLst xmlns:a="http://schemas.openxmlformats.org/drawingml/2006/main">
              <a:ext uri="{FF2B5EF4-FFF2-40B4-BE49-F238E27FC236}">
                <a16:creationId xmlns:a16="http://schemas.microsoft.com/office/drawing/2014/main" id="{7EB0B2C1-6133-49DD-B69B-8E3427B4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4952077"/>
            <a:ext cx="9892605" cy="775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Replacing text PDFs with scans reduces Q from 65.4% to 46.2%. OCR</a:t>
            </a:r>
          </a:p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restores it to 63.2%, with no change on the original PDFs.</a:t>
            </a:r>
          </a:p>
        </p:txBody>
      </p:sp>
      <p:sp>
        <p:nvSpPr>
          <p:cNvPr id="48" name="s47">
            <a:extLst xmlns:a="http://schemas.openxmlformats.org/drawingml/2006/main">
              <a:ext uri="{FF2B5EF4-FFF2-40B4-BE49-F238E27FC236}">
                <a16:creationId xmlns:a16="http://schemas.microsoft.com/office/drawing/2014/main" id="{10D9611A-C1C2-4D76-B634-FF8E3703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3386" y="22179558"/>
            <a:ext cx="9631114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Hypothesis checks</a:t>
            </a:r>
          </a:p>
        </p:txBody>
      </p:sp>
      <p:sp>
        <p:nvSpPr>
          <p:cNvPr id="49" name="s48">
            <a:extLst xmlns:a="http://schemas.openxmlformats.org/drawingml/2006/main">
              <a:ext uri="{FF2B5EF4-FFF2-40B4-BE49-F238E27FC236}">
                <a16:creationId xmlns:a16="http://schemas.microsoft.com/office/drawing/2014/main" id="{89C561A2-E4D7-483A-960E-E7BC26F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3386" y="22698819"/>
            <a:ext cx="56852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H1</a:t>
            </a:r>
          </a:p>
        </p:txBody>
      </p:sp>
      <p:sp>
        <p:nvSpPr>
          <p:cNvPr id="50" name="s49">
            <a:extLst xmlns:a="http://schemas.openxmlformats.org/drawingml/2006/main">
              <a:ext uri="{FF2B5EF4-FFF2-40B4-BE49-F238E27FC236}">
                <a16:creationId xmlns:a16="http://schemas.microsoft.com/office/drawing/2014/main" id="{49386A56-4B6B-4C34-9267-23AE17DB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5218" y="22698819"/>
            <a:ext cx="90192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OCR: Q and recall increase.</a:t>
            </a:r>
          </a:p>
        </p:txBody>
      </p:sp>
      <p:sp>
        <p:nvSpPr>
          <p:cNvPr id="51" name="s50">
            <a:extLst xmlns:a="http://schemas.openxmlformats.org/drawingml/2006/main">
              <a:ext uri="{FF2B5EF4-FFF2-40B4-BE49-F238E27FC236}">
                <a16:creationId xmlns:a16="http://schemas.microsoft.com/office/drawing/2014/main" id="{4D8E2F57-F0BD-4853-A81B-5E032116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3386" y="23107650"/>
            <a:ext cx="56852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H2</a:t>
            </a:r>
          </a:p>
        </p:txBody>
      </p:sp>
      <p:sp>
        <p:nvSpPr>
          <p:cNvPr id="52" name="s51">
            <a:extLst xmlns:a="http://schemas.openxmlformats.org/drawingml/2006/main">
              <a:ext uri="{FF2B5EF4-FFF2-40B4-BE49-F238E27FC236}">
                <a16:creationId xmlns:a16="http://schemas.microsoft.com/office/drawing/2014/main" id="{1F6BD843-FBDE-4D76-BFFC-580E8CAA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5218" y="23107650"/>
            <a:ext cx="90192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Multiscale: Q and recall decrease.</a:t>
            </a:r>
          </a:p>
        </p:txBody>
      </p:sp>
      <p:sp>
        <p:nvSpPr>
          <p:cNvPr id="53" name="s52">
            <a:extLst xmlns:a="http://schemas.openxmlformats.org/drawingml/2006/main">
              <a:ext uri="{FF2B5EF4-FFF2-40B4-BE49-F238E27FC236}">
                <a16:creationId xmlns:a16="http://schemas.microsoft.com/office/drawing/2014/main" id="{B1739391-E6F7-4787-84C8-5A9743BA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3386" y="23516481"/>
            <a:ext cx="56852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H3</a:t>
            </a:r>
          </a:p>
        </p:txBody>
      </p:sp>
      <p:sp>
        <p:nvSpPr>
          <p:cNvPr id="54" name="s53">
            <a:extLst xmlns:a="http://schemas.openxmlformats.org/drawingml/2006/main">
              <a:ext uri="{FF2B5EF4-FFF2-40B4-BE49-F238E27FC236}">
                <a16:creationId xmlns:a16="http://schemas.microsoft.com/office/drawing/2014/main" id="{C6698B66-925D-413A-B473-72D74588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5218" y="23516481"/>
            <a:ext cx="90192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Lexical search: Q and recall increase.</a:t>
            </a:r>
          </a:p>
        </p:txBody>
      </p:sp>
      <p:sp>
        <p:nvSpPr>
          <p:cNvPr id="55" name="s54">
            <a:extLst xmlns:a="http://schemas.openxmlformats.org/drawingml/2006/main">
              <a:ext uri="{FF2B5EF4-FFF2-40B4-BE49-F238E27FC236}">
                <a16:creationId xmlns:a16="http://schemas.microsoft.com/office/drawing/2014/main" id="{C3DA6A92-3F1E-4CDA-AD7B-7E65141A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3386" y="23925312"/>
            <a:ext cx="56852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H4</a:t>
            </a:r>
          </a:p>
        </p:txBody>
      </p:sp>
      <p:sp>
        <p:nvSpPr>
          <p:cNvPr id="56" name="s55">
            <a:extLst xmlns:a="http://schemas.openxmlformats.org/drawingml/2006/main">
              <a:ext uri="{FF2B5EF4-FFF2-40B4-BE49-F238E27FC236}">
                <a16:creationId xmlns:a16="http://schemas.microsoft.com/office/drawing/2014/main" id="{258A2080-7645-4F81-A44F-2894B1CC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5218" y="23925312"/>
            <a:ext cx="90192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Reranker: Q increases by 9.8 pp.</a:t>
            </a:r>
          </a:p>
        </p:txBody>
      </p:sp>
      <p:sp>
        <p:nvSpPr>
          <p:cNvPr id="57" name="s56">
            <a:extLst xmlns:a="http://schemas.openxmlformats.org/drawingml/2006/main">
              <a:ext uri="{FF2B5EF4-FFF2-40B4-BE49-F238E27FC236}">
                <a16:creationId xmlns:a16="http://schemas.microsoft.com/office/drawing/2014/main" id="{037F2019-EE64-4D0F-AFB8-7F11D7A3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3386" y="24334143"/>
            <a:ext cx="56852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H5</a:t>
            </a:r>
          </a:p>
        </p:txBody>
      </p:sp>
      <p:sp>
        <p:nvSpPr>
          <p:cNvPr id="58" name="s57">
            <a:extLst xmlns:a="http://schemas.openxmlformats.org/drawingml/2006/main">
              <a:ext uri="{FF2B5EF4-FFF2-40B4-BE49-F238E27FC236}">
                <a16:creationId xmlns:a16="http://schemas.microsoft.com/office/drawing/2014/main" id="{3BED7FDF-F445-4270-B147-A28FBE43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5218" y="24334143"/>
            <a:ext cx="90192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Typed processing: no score gain.</a:t>
            </a:r>
          </a:p>
        </p:txBody>
      </p:sp>
      <p:sp>
        <p:nvSpPr>
          <p:cNvPr id="59" name="s58">
            <a:extLst xmlns:a="http://schemas.openxmlformats.org/drawingml/2006/main">
              <a:ext uri="{FF2B5EF4-FFF2-40B4-BE49-F238E27FC236}">
                <a16:creationId xmlns:a16="http://schemas.microsoft.com/office/drawing/2014/main" id="{26F75775-BE52-4FC4-AA5B-BD21E1E3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3386" y="24742973"/>
            <a:ext cx="56852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H6</a:t>
            </a:r>
          </a:p>
        </p:txBody>
      </p:sp>
      <p:sp>
        <p:nvSpPr>
          <p:cNvPr id="60" name="s59">
            <a:extLst xmlns:a="http://schemas.openxmlformats.org/drawingml/2006/main">
              <a:ext uri="{FF2B5EF4-FFF2-40B4-BE49-F238E27FC236}">
                <a16:creationId xmlns:a16="http://schemas.microsoft.com/office/drawing/2014/main" id="{B225786E-00FA-492E-976E-2F4B2CEE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5218" y="24742973"/>
            <a:ext cx="90192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selection: precision ↑, recall ↓.</a:t>
            </a:r>
          </a:p>
        </p:txBody>
      </p:sp>
      <p:sp>
        <p:nvSpPr>
          <p:cNvPr id="61" name="s60">
            <a:extLst xmlns:a="http://schemas.openxmlformats.org/drawingml/2006/main">
              <a:ext uri="{FF2B5EF4-FFF2-40B4-BE49-F238E27FC236}">
                <a16:creationId xmlns:a16="http://schemas.microsoft.com/office/drawing/2014/main" id="{E5AEEB5B-05A6-45D5-91B1-C8C52C30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3386" y="25216545"/>
            <a:ext cx="963111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Supported: H1, H3, H4, H6; not H2 or H5.</a:t>
            </a:r>
          </a:p>
        </p:txBody>
      </p:sp>
      <p:sp>
        <p:nvSpPr>
          <p:cNvPr id="62" name="s61">
            <a:extLst xmlns:a="http://schemas.openxmlformats.org/drawingml/2006/main">
              <a:ext uri="{FF2B5EF4-FFF2-40B4-BE49-F238E27FC236}">
                <a16:creationId xmlns:a16="http://schemas.microsoft.com/office/drawing/2014/main" id="{27858BD2-C8B6-4DC4-915D-40F21AE9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47" y="26079301"/>
            <a:ext cx="19684603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Conclusion</a:t>
            </a:r>
          </a:p>
        </p:txBody>
      </p:sp>
      <p:sp>
        <p:nvSpPr>
          <p:cNvPr id="63" name="s62">
            <a:extLst xmlns:a="http://schemas.openxmlformats.org/drawingml/2006/main">
              <a:ext uri="{FF2B5EF4-FFF2-40B4-BE49-F238E27FC236}">
                <a16:creationId xmlns:a16="http://schemas.microsoft.com/office/drawing/2014/main" id="{96CFB682-0C8B-4265-8CC1-E405BD7A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47" y="26562546"/>
            <a:ext cx="19684603" cy="775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Components address different failures: OCR recovers scans; hybrid retrieval and reranking improve answers; citation selection trades</a:t>
            </a:r>
          </a:p>
          <a:p xmlns:a="http://schemas.openxmlformats.org/drawingml/2006/main">
            <a:pPr>
              <a:defRPr sz="240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some recall for higher precision. Evaluate answers and citations separately.</a:t>
            </a:r>
          </a:p>
        </p:txBody>
      </p:sp>
      <p:sp>
        <p:nvSpPr>
          <p:cNvPr id="64" name="s63">
            <a:extLst xmlns:a="http://schemas.openxmlformats.org/drawingml/2006/main">
              <a:ext uri="{FF2B5EF4-FFF2-40B4-BE49-F238E27FC236}">
                <a16:creationId xmlns:a16="http://schemas.microsoft.com/office/drawing/2014/main" id="{38E1F4CE-C161-4C13-B075-B91B9046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7617738"/>
            <a:ext cx="2011650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16578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Scope:</a:t>
            </a:r>
            <a:r>
              <a:rPr sz="2400" b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development dataset; synthetic scans; LLM-scored free text. One run per condition; statistical significance was not assessed.</a:t>
            </a:r>
          </a:p>
        </p:txBody>
      </p:sp>
      <p:sp>
        <p:nvSpPr>
          <p:cNvPr id="65" name="s64">
            <a:extLst xmlns:a="http://schemas.openxmlformats.org/drawingml/2006/main">
              <a:ext uri="{FF2B5EF4-FFF2-40B4-BE49-F238E27FC236}">
                <a16:creationId xmlns:a16="http://schemas.microsoft.com/office/drawing/2014/main" id="{66B2EDFB-BD88-4E7C-975C-F1CBB3AD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8136701"/>
            <a:ext cx="1121970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References</a:t>
            </a:r>
          </a:p>
        </p:txBody>
      </p:sp>
      <p:sp>
        <p:nvSpPr>
          <p:cNvPr id="66" name="s65">
            <a:extLst xmlns:a="http://schemas.openxmlformats.org/drawingml/2006/main">
              <a:ext uri="{FF2B5EF4-FFF2-40B4-BE49-F238E27FC236}">
                <a16:creationId xmlns:a16="http://schemas.microsoft.com/office/drawing/2014/main" id="{1FD672ED-2752-41C8-9938-88126192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8574256"/>
            <a:ext cx="1121970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[1] Lewis et al. RAG. NeurIPS, 2020.</a:t>
            </a:r>
          </a:p>
        </p:txBody>
      </p:sp>
      <p:sp>
        <p:nvSpPr>
          <p:cNvPr id="67" name="s66">
            <a:extLst xmlns:a="http://schemas.openxmlformats.org/drawingml/2006/main">
              <a:ext uri="{FF2B5EF4-FFF2-40B4-BE49-F238E27FC236}">
                <a16:creationId xmlns:a16="http://schemas.microsoft.com/office/drawing/2014/main" id="{BFBB5D9A-D2C3-4BF5-BB56-F49E93A1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8975794"/>
            <a:ext cx="1121970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[2] Pipitone &amp; Alami. LegalBench-RAG, 2024.</a:t>
            </a:r>
          </a:p>
        </p:txBody>
      </p:sp>
      <p:sp>
        <p:nvSpPr>
          <p:cNvPr id="68" name="s67">
            <a:extLst xmlns:a="http://schemas.openxmlformats.org/drawingml/2006/main">
              <a:ext uri="{FF2B5EF4-FFF2-40B4-BE49-F238E27FC236}">
                <a16:creationId xmlns:a16="http://schemas.microsoft.com/office/drawing/2014/main" id="{312B6135-9806-47F6-AD73-668D0C5F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98" y="29377332"/>
            <a:ext cx="1121970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[3] Gao et al. ALCE. EMNLP, 2023.</a:t>
            </a:r>
          </a:p>
        </p:txBody>
      </p:sp>
      <p:sp>
        <p:nvSpPr>
          <p:cNvPr id="69" name="s68">
            <a:extLst xmlns:a="http://schemas.openxmlformats.org/drawingml/2006/main">
              <a:ext uri="{FF2B5EF4-FFF2-40B4-BE49-F238E27FC236}">
                <a16:creationId xmlns:a16="http://schemas.microsoft.com/office/drawing/2014/main" id="{45907735-6F38-4910-A174-0BECD695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7111" y="28136701"/>
            <a:ext cx="86372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7568A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Code &amp; materials</a:t>
            </a:r>
          </a:p>
        </p:txBody>
      </p:sp>
      <p:sp>
        <p:nvSpPr>
          <p:cNvPr id="70" name="s69">
            <a:extLst xmlns:a="http://schemas.openxmlformats.org/drawingml/2006/main">
              <a:ext uri="{FF2B5EF4-FFF2-40B4-BE49-F238E27FC236}">
                <a16:creationId xmlns:a16="http://schemas.microsoft.com/office/drawing/2014/main" id="{FAC15F9D-84DA-460F-8CE5-AC4CDFBB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7111" y="28574256"/>
            <a:ext cx="86372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github.com/SteinVR/Legal-RAG-Challenge</a:t>
            </a:r>
          </a:p>
        </p:txBody>
      </p:sp>
      <p:sp>
        <p:nvSpPr>
          <p:cNvPr id="71" name="s70">
            <a:extLst xmlns:a="http://schemas.openxmlformats.org/drawingml/2006/main">
              <a:ext uri="{FF2B5EF4-FFF2-40B4-BE49-F238E27FC236}">
                <a16:creationId xmlns:a16="http://schemas.microsoft.com/office/drawing/2014/main" id="{758B9708-DC10-45F6-AE5A-42103C64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7111" y="28975794"/>
            <a:ext cx="86372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Original RAG implementation</a:t>
            </a:r>
          </a:p>
        </p:txBody>
      </p:sp>
      <p:sp>
        <p:nvSpPr>
          <p:cNvPr id="72" name="s71">
            <a:extLst xmlns:a="http://schemas.openxmlformats.org/drawingml/2006/main">
              <a:ext uri="{FF2B5EF4-FFF2-40B4-BE49-F238E27FC236}">
                <a16:creationId xmlns:a16="http://schemas.microsoft.com/office/drawing/2014/main" id="{832515C5-A2B5-4576-920C-34217FD3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7111" y="29377332"/>
            <a:ext cx="86372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Research paper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· 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Metrics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· </a:t>
            </a:r>
            <a:r>
              <a:rPr sz="240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Protocol</a:t>
            </a:r>
          </a:p>
        </p:txBody>
      </p:sp>
      <p:sp>
        <p:nvSpPr>
          <p:cNvPr id="73" name="s72">
            <a:extLst xmlns:a="http://schemas.openxmlformats.org/drawingml/2006/main">
              <a:ext uri="{FF2B5EF4-FFF2-40B4-BE49-F238E27FC236}">
                <a16:creationId xmlns:a16="http://schemas.microsoft.com/office/drawing/2014/main" id="{C7A8F3B2-679A-47D4-B8DC-C040B54D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60" y="7698567"/>
            <a:ext cx="2965283" cy="1033067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19131">
            <a:solidFill>
              <a:srgbClr val="B9D4E5"/>
            </a:solidFill>
          </a:ln>
        </p:spPr>
      </p:sp>
      <p:sp>
        <p:nvSpPr>
          <p:cNvPr id="74" name="s73">
            <a:extLst xmlns:a="http://schemas.openxmlformats.org/drawingml/2006/main">
              <a:ext uri="{FF2B5EF4-FFF2-40B4-BE49-F238E27FC236}">
                <a16:creationId xmlns:a16="http://schemas.microsoft.com/office/drawing/2014/main" id="{332E8F1B-47EB-4FFE-9DE9-08DEA6A5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84" y="7698567"/>
            <a:ext cx="2965283" cy="1033067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19131">
            <a:solidFill>
              <a:srgbClr val="B9D4E5"/>
            </a:solidFill>
          </a:ln>
        </p:spPr>
      </p:sp>
      <p:sp>
        <p:nvSpPr>
          <p:cNvPr id="75" name="s74">
            <a:extLst xmlns:a="http://schemas.openxmlformats.org/drawingml/2006/main">
              <a:ext uri="{FF2B5EF4-FFF2-40B4-BE49-F238E27FC236}">
                <a16:creationId xmlns:a16="http://schemas.microsoft.com/office/drawing/2014/main" id="{2F700834-9A92-4FCD-9B6A-C40AABED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108" y="7698567"/>
            <a:ext cx="2965282" cy="1033067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19131">
            <a:solidFill>
              <a:srgbClr val="B9D4E5"/>
            </a:solidFill>
          </a:ln>
        </p:spPr>
      </p:sp>
      <p:sp>
        <p:nvSpPr>
          <p:cNvPr id="76" name="s75">
            <a:extLst xmlns:a="http://schemas.openxmlformats.org/drawingml/2006/main">
              <a:ext uri="{FF2B5EF4-FFF2-40B4-BE49-F238E27FC236}">
                <a16:creationId xmlns:a16="http://schemas.microsoft.com/office/drawing/2014/main" id="{AE5E6DF8-7989-44C0-BAFB-185ADA31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1532" y="7698567"/>
            <a:ext cx="2965283" cy="1033067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19131">
            <a:solidFill>
              <a:srgbClr val="B9D4E5"/>
            </a:solidFill>
          </a:ln>
        </p:spPr>
      </p:sp>
      <p:sp>
        <p:nvSpPr>
          <p:cNvPr id="77" name="s76">
            <a:extLst xmlns:a="http://schemas.openxmlformats.org/drawingml/2006/main">
              <a:ext uri="{FF2B5EF4-FFF2-40B4-BE49-F238E27FC236}">
                <a16:creationId xmlns:a16="http://schemas.microsoft.com/office/drawing/2014/main" id="{427E4855-D0AF-4CCE-B6CB-07C69614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60" y="9018596"/>
            <a:ext cx="2965283" cy="1033066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131">
            <a:solidFill>
              <a:srgbClr val="86B6D4"/>
            </a:solidFill>
          </a:ln>
        </p:spPr>
      </p:sp>
      <p:sp>
        <p:nvSpPr>
          <p:cNvPr id="78" name="s77">
            <a:extLst xmlns:a="http://schemas.openxmlformats.org/drawingml/2006/main">
              <a:ext uri="{FF2B5EF4-FFF2-40B4-BE49-F238E27FC236}">
                <a16:creationId xmlns:a16="http://schemas.microsoft.com/office/drawing/2014/main" id="{B73894FC-25C2-410E-91FD-BA26F145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84" y="9018596"/>
            <a:ext cx="2965283" cy="1033066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131">
            <a:solidFill>
              <a:srgbClr val="86B6D4"/>
            </a:solidFill>
          </a:ln>
        </p:spPr>
      </p:sp>
      <p:sp>
        <p:nvSpPr>
          <p:cNvPr id="79" name="s78">
            <a:extLst xmlns:a="http://schemas.openxmlformats.org/drawingml/2006/main">
              <a:ext uri="{FF2B5EF4-FFF2-40B4-BE49-F238E27FC236}">
                <a16:creationId xmlns:a16="http://schemas.microsoft.com/office/drawing/2014/main" id="{28555014-488C-451A-AD3D-7B33D40D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108" y="9018596"/>
            <a:ext cx="2965282" cy="1033066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131">
            <a:solidFill>
              <a:srgbClr val="86B6D4"/>
            </a:solidFill>
          </a:ln>
        </p:spPr>
      </p:sp>
      <p:sp>
        <p:nvSpPr>
          <p:cNvPr id="80" name="s79">
            <a:extLst xmlns:a="http://schemas.openxmlformats.org/drawingml/2006/main">
              <a:ext uri="{FF2B5EF4-FFF2-40B4-BE49-F238E27FC236}">
                <a16:creationId xmlns:a16="http://schemas.microsoft.com/office/drawing/2014/main" id="{68C8F788-6C9A-465E-A449-5D9FE75B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1532" y="9018596"/>
            <a:ext cx="2965283" cy="1033066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131">
            <a:solidFill>
              <a:srgbClr val="86B6D4"/>
            </a:solidFill>
          </a:ln>
        </p:spPr>
      </p:sp>
      <p:sp>
        <p:nvSpPr>
          <p:cNvPr id="81" name="s80">
            <a:extLst xmlns:a="http://schemas.openxmlformats.org/drawingml/2006/main">
              <a:ext uri="{FF2B5EF4-FFF2-40B4-BE49-F238E27FC236}">
                <a16:creationId xmlns:a16="http://schemas.microsoft.com/office/drawing/2014/main" id="{10A5D74D-6460-4B08-BE75-510755C2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5956" y="9018596"/>
            <a:ext cx="2965283" cy="1033066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131">
            <a:solidFill>
              <a:srgbClr val="86B6D4"/>
            </a:solidFill>
          </a:ln>
        </p:spPr>
      </p:sp>
      <p:sp>
        <p:nvSpPr>
          <p:cNvPr id="82" name="s81">
            <a:extLst xmlns:a="http://schemas.openxmlformats.org/drawingml/2006/main">
              <a:ext uri="{FF2B5EF4-FFF2-40B4-BE49-F238E27FC236}">
                <a16:creationId xmlns:a16="http://schemas.microsoft.com/office/drawing/2014/main" id="{B237FAC4-94BD-4972-AB9B-14B7CBD7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0379" y="9018596"/>
            <a:ext cx="2965283" cy="1033066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131">
            <a:solidFill>
              <a:srgbClr val="86B6D4"/>
            </a:solidFill>
          </a:ln>
        </p:spPr>
      </p:sp>
      <p:sp>
        <p:nvSpPr>
          <p:cNvPr id="83" name="s82">
            <a:extLst xmlns:a="http://schemas.openxmlformats.org/drawingml/2006/main">
              <a:ext uri="{FF2B5EF4-FFF2-40B4-BE49-F238E27FC236}">
                <a16:creationId xmlns:a16="http://schemas.microsoft.com/office/drawing/2014/main" id="{06B6032D-C5E0-48F9-8849-542ED754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187" y="8253378"/>
            <a:ext cx="334799" cy="9525"/>
          </a:xfrm>
          <a:custGeom xmlns:a="http://schemas.openxmlformats.org/drawingml/2006/main"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697">
            <a:solidFill>
              <a:srgbClr val="6A9BB9"/>
            </a:solidFill>
          </a:ln>
        </p:spPr>
      </p:sp>
      <p:sp>
        <p:nvSpPr>
          <p:cNvPr id="84" name="s83">
            <a:extLst xmlns:a="http://schemas.openxmlformats.org/drawingml/2006/main">
              <a:ext uri="{FF2B5EF4-FFF2-40B4-BE49-F238E27FC236}">
                <a16:creationId xmlns:a16="http://schemas.microsoft.com/office/drawing/2014/main" id="{D2FFCC58-92E1-40D1-8615-E883BE5B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066" y="8195984"/>
            <a:ext cx="133920" cy="114788"/>
          </a:xfrm>
          <a:custGeom xmlns:a="http://schemas.openxmlformats.org/drawingml/2006/main"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 xmlns:a="http://schemas.openxmlformats.org/drawingml/2006/main"/>
          <a:ln xmlns:a="http://schemas.openxmlformats.org/drawingml/2006/main" w="28697">
            <a:solidFill>
              <a:srgbClr val="6A9BB9"/>
            </a:solidFill>
          </a:ln>
        </p:spPr>
      </p:sp>
      <p:sp>
        <p:nvSpPr>
          <p:cNvPr id="85" name="s84">
            <a:extLst xmlns:a="http://schemas.openxmlformats.org/drawingml/2006/main">
              <a:ext uri="{FF2B5EF4-FFF2-40B4-BE49-F238E27FC236}">
                <a16:creationId xmlns:a16="http://schemas.microsoft.com/office/drawing/2014/main" id="{CA45BEEA-8833-4A32-B101-0A6BD2B8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700" y="8253378"/>
            <a:ext cx="334799" cy="9525"/>
          </a:xfrm>
          <a:custGeom xmlns:a="http://schemas.openxmlformats.org/drawingml/2006/main"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697">
            <a:solidFill>
              <a:srgbClr val="6A9BB9"/>
            </a:solidFill>
          </a:ln>
        </p:spPr>
      </p:sp>
      <p:sp>
        <p:nvSpPr>
          <p:cNvPr id="86" name="s85">
            <a:extLst xmlns:a="http://schemas.openxmlformats.org/drawingml/2006/main">
              <a:ext uri="{FF2B5EF4-FFF2-40B4-BE49-F238E27FC236}">
                <a16:creationId xmlns:a16="http://schemas.microsoft.com/office/drawing/2014/main" id="{7895C283-4A49-49D7-B197-9F651866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579" y="8195984"/>
            <a:ext cx="133920" cy="114788"/>
          </a:xfrm>
          <a:custGeom xmlns:a="http://schemas.openxmlformats.org/drawingml/2006/main"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 xmlns:a="http://schemas.openxmlformats.org/drawingml/2006/main"/>
          <a:ln xmlns:a="http://schemas.openxmlformats.org/drawingml/2006/main" w="28697">
            <a:solidFill>
              <a:srgbClr val="6A9BB9"/>
            </a:solidFill>
          </a:ln>
        </p:spPr>
      </p:sp>
      <p:sp>
        <p:nvSpPr>
          <p:cNvPr id="87" name="s86">
            <a:extLst xmlns:a="http://schemas.openxmlformats.org/drawingml/2006/main">
              <a:ext uri="{FF2B5EF4-FFF2-40B4-BE49-F238E27FC236}">
                <a16:creationId xmlns:a16="http://schemas.microsoft.com/office/drawing/2014/main" id="{AEF2BBA1-8EBA-4CC6-9DE2-118888DE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0213" y="8253378"/>
            <a:ext cx="334799" cy="9525"/>
          </a:xfrm>
          <a:custGeom xmlns:a="http://schemas.openxmlformats.org/drawingml/2006/main"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697">
            <a:solidFill>
              <a:srgbClr val="6A9BB9"/>
            </a:solidFill>
          </a:ln>
        </p:spPr>
      </p:sp>
      <p:sp>
        <p:nvSpPr>
          <p:cNvPr id="88" name="s87">
            <a:extLst xmlns:a="http://schemas.openxmlformats.org/drawingml/2006/main">
              <a:ext uri="{FF2B5EF4-FFF2-40B4-BE49-F238E27FC236}">
                <a16:creationId xmlns:a16="http://schemas.microsoft.com/office/drawing/2014/main" id="{1A7C9592-69B8-4822-A625-CA06DFD9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1093" y="8195984"/>
            <a:ext cx="133920" cy="114788"/>
          </a:xfrm>
          <a:custGeom xmlns:a="http://schemas.openxmlformats.org/drawingml/2006/main"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 xmlns:a="http://schemas.openxmlformats.org/drawingml/2006/main"/>
          <a:ln xmlns:a="http://schemas.openxmlformats.org/drawingml/2006/main" w="28697">
            <a:solidFill>
              <a:srgbClr val="6A9BB9"/>
            </a:solidFill>
          </a:ln>
        </p:spPr>
      </p:sp>
      <p:sp>
        <p:nvSpPr>
          <p:cNvPr id="89" name="s88">
            <a:extLst xmlns:a="http://schemas.openxmlformats.org/drawingml/2006/main">
              <a:ext uri="{FF2B5EF4-FFF2-40B4-BE49-F238E27FC236}">
                <a16:creationId xmlns:a16="http://schemas.microsoft.com/office/drawing/2014/main" id="{8AF2836C-A128-461F-B894-64656E84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91" y="8741227"/>
            <a:ext cx="6849027" cy="248708"/>
          </a:xfrm>
          <a:custGeom xmlns:a="http://schemas.openxmlformats.org/drawingml/2006/main">
            <a:pathLst>
              <a:path w="6849027" h="248708">
                <a:moveTo>
                  <a:pt x="6849027" y="0"/>
                </a:moveTo>
                <a:lnTo>
                  <a:pt x="6849027" y="162617"/>
                </a:lnTo>
                <a:lnTo>
                  <a:pt x="0" y="162617"/>
                </a:lnTo>
                <a:lnTo>
                  <a:pt x="0" y="248708"/>
                </a:lnTo>
              </a:path>
            </a:pathLst>
          </a:custGeom>
          <a:noFill xmlns:a="http://schemas.openxmlformats.org/drawingml/2006/main"/>
          <a:ln xmlns:a="http://schemas.openxmlformats.org/drawingml/2006/main" w="28697">
            <a:solidFill>
              <a:srgbClr val="6A9BB9"/>
            </a:solidFill>
          </a:ln>
        </p:spPr>
      </p:sp>
      <p:sp>
        <p:nvSpPr>
          <p:cNvPr id="90" name="s89">
            <a:extLst xmlns:a="http://schemas.openxmlformats.org/drawingml/2006/main">
              <a:ext uri="{FF2B5EF4-FFF2-40B4-BE49-F238E27FC236}">
                <a16:creationId xmlns:a16="http://schemas.microsoft.com/office/drawing/2014/main" id="{70679202-C096-427A-8CBF-074B90E9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797" y="8856016"/>
            <a:ext cx="114788" cy="133920"/>
          </a:xfrm>
          <a:custGeom xmlns:a="http://schemas.openxmlformats.org/drawingml/2006/main">
            <a:pathLst>
              <a:path w="114788" h="133920">
                <a:moveTo>
                  <a:pt x="114788" y="0"/>
                </a:moveTo>
                <a:lnTo>
                  <a:pt x="57394" y="13392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697">
            <a:solidFill>
              <a:srgbClr val="6A9BB9"/>
            </a:solidFill>
          </a:ln>
        </p:spPr>
      </p:sp>
      <p:sp>
        <p:nvSpPr>
          <p:cNvPr id="91" name="s90">
            <a:extLst xmlns:a="http://schemas.openxmlformats.org/drawingml/2006/main">
              <a:ext uri="{FF2B5EF4-FFF2-40B4-BE49-F238E27FC236}">
                <a16:creationId xmlns:a16="http://schemas.microsoft.com/office/drawing/2014/main" id="{B134E421-3A66-4A45-AFA0-642F4E03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187" y="9583007"/>
            <a:ext cx="334799" cy="9525"/>
          </a:xfrm>
          <a:custGeom xmlns:a="http://schemas.openxmlformats.org/drawingml/2006/main"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697">
            <a:solidFill>
              <a:srgbClr val="6A9BB9"/>
            </a:solidFill>
          </a:ln>
        </p:spPr>
      </p:sp>
      <p:sp>
        <p:nvSpPr>
          <p:cNvPr id="92" name="s91">
            <a:extLst xmlns:a="http://schemas.openxmlformats.org/drawingml/2006/main">
              <a:ext uri="{FF2B5EF4-FFF2-40B4-BE49-F238E27FC236}">
                <a16:creationId xmlns:a16="http://schemas.microsoft.com/office/drawing/2014/main" id="{80A9A8E6-528C-4D64-AD93-48DF0E8A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066" y="9525613"/>
            <a:ext cx="133920" cy="114788"/>
          </a:xfrm>
          <a:custGeom xmlns:a="http://schemas.openxmlformats.org/drawingml/2006/main"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 xmlns:a="http://schemas.openxmlformats.org/drawingml/2006/main"/>
          <a:ln xmlns:a="http://schemas.openxmlformats.org/drawingml/2006/main" w="28697">
            <a:solidFill>
              <a:srgbClr val="6A9BB9"/>
            </a:solidFill>
          </a:ln>
        </p:spPr>
      </p:sp>
      <p:sp>
        <p:nvSpPr>
          <p:cNvPr id="93" name="s92">
            <a:extLst xmlns:a="http://schemas.openxmlformats.org/drawingml/2006/main">
              <a:ext uri="{FF2B5EF4-FFF2-40B4-BE49-F238E27FC236}">
                <a16:creationId xmlns:a16="http://schemas.microsoft.com/office/drawing/2014/main" id="{55E15C01-AD55-4C47-A4C1-2025301C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700" y="9583007"/>
            <a:ext cx="334799" cy="9525"/>
          </a:xfrm>
          <a:custGeom xmlns:a="http://schemas.openxmlformats.org/drawingml/2006/main"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697">
            <a:solidFill>
              <a:srgbClr val="6A9BB9"/>
            </a:solidFill>
          </a:ln>
        </p:spPr>
      </p:sp>
      <p:sp>
        <p:nvSpPr>
          <p:cNvPr id="94" name="s93">
            <a:extLst xmlns:a="http://schemas.openxmlformats.org/drawingml/2006/main">
              <a:ext uri="{FF2B5EF4-FFF2-40B4-BE49-F238E27FC236}">
                <a16:creationId xmlns:a16="http://schemas.microsoft.com/office/drawing/2014/main" id="{74FBA65A-C5ED-4158-9568-2D9AE1A1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579" y="9525613"/>
            <a:ext cx="133920" cy="114788"/>
          </a:xfrm>
          <a:custGeom xmlns:a="http://schemas.openxmlformats.org/drawingml/2006/main"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 xmlns:a="http://schemas.openxmlformats.org/drawingml/2006/main"/>
          <a:ln xmlns:a="http://schemas.openxmlformats.org/drawingml/2006/main" w="28697">
            <a:solidFill>
              <a:srgbClr val="6A9BB9"/>
            </a:solidFill>
          </a:ln>
        </p:spPr>
      </p:sp>
      <p:sp>
        <p:nvSpPr>
          <p:cNvPr id="95" name="s94">
            <a:extLst xmlns:a="http://schemas.openxmlformats.org/drawingml/2006/main">
              <a:ext uri="{FF2B5EF4-FFF2-40B4-BE49-F238E27FC236}">
                <a16:creationId xmlns:a16="http://schemas.microsoft.com/office/drawing/2014/main" id="{77E026AA-E45D-460D-852A-94790B95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0213" y="9583007"/>
            <a:ext cx="334799" cy="9525"/>
          </a:xfrm>
          <a:custGeom xmlns:a="http://schemas.openxmlformats.org/drawingml/2006/main"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697">
            <a:solidFill>
              <a:srgbClr val="6A9BB9"/>
            </a:solidFill>
          </a:ln>
        </p:spPr>
      </p:sp>
      <p:sp>
        <p:nvSpPr>
          <p:cNvPr id="96" name="s95">
            <a:extLst xmlns:a="http://schemas.openxmlformats.org/drawingml/2006/main">
              <a:ext uri="{FF2B5EF4-FFF2-40B4-BE49-F238E27FC236}">
                <a16:creationId xmlns:a16="http://schemas.microsoft.com/office/drawing/2014/main" id="{20635CFB-A481-469B-9326-CD938F6C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1093" y="9525613"/>
            <a:ext cx="133920" cy="114788"/>
          </a:xfrm>
          <a:custGeom xmlns:a="http://schemas.openxmlformats.org/drawingml/2006/main"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 xmlns:a="http://schemas.openxmlformats.org/drawingml/2006/main"/>
          <a:ln xmlns:a="http://schemas.openxmlformats.org/drawingml/2006/main" w="28697">
            <a:solidFill>
              <a:srgbClr val="6A9BB9"/>
            </a:solidFill>
          </a:ln>
        </p:spPr>
      </p:sp>
      <p:sp>
        <p:nvSpPr>
          <p:cNvPr id="97" name="s96">
            <a:extLst xmlns:a="http://schemas.openxmlformats.org/drawingml/2006/main">
              <a:ext uri="{FF2B5EF4-FFF2-40B4-BE49-F238E27FC236}">
                <a16:creationId xmlns:a16="http://schemas.microsoft.com/office/drawing/2014/main" id="{92C7C747-8BDD-4044-A756-99948F5C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4727" y="9583007"/>
            <a:ext cx="334799" cy="9525"/>
          </a:xfrm>
          <a:custGeom xmlns:a="http://schemas.openxmlformats.org/drawingml/2006/main"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697">
            <a:solidFill>
              <a:srgbClr val="6A9BB9"/>
            </a:solidFill>
          </a:ln>
        </p:spPr>
      </p:sp>
      <p:sp>
        <p:nvSpPr>
          <p:cNvPr id="98" name="s97">
            <a:extLst xmlns:a="http://schemas.openxmlformats.org/drawingml/2006/main">
              <a:ext uri="{FF2B5EF4-FFF2-40B4-BE49-F238E27FC236}">
                <a16:creationId xmlns:a16="http://schemas.microsoft.com/office/drawing/2014/main" id="{AEFC7174-BFFB-4677-9BED-1AF1CE44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606" y="9525613"/>
            <a:ext cx="133920" cy="114788"/>
          </a:xfrm>
          <a:custGeom xmlns:a="http://schemas.openxmlformats.org/drawingml/2006/main"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 xmlns:a="http://schemas.openxmlformats.org/drawingml/2006/main"/>
          <a:ln xmlns:a="http://schemas.openxmlformats.org/drawingml/2006/main" w="28697">
            <a:solidFill>
              <a:srgbClr val="6A9BB9"/>
            </a:solidFill>
          </a:ln>
        </p:spPr>
      </p:sp>
      <p:sp>
        <p:nvSpPr>
          <p:cNvPr id="99" name="s98">
            <a:extLst xmlns:a="http://schemas.openxmlformats.org/drawingml/2006/main">
              <a:ext uri="{FF2B5EF4-FFF2-40B4-BE49-F238E27FC236}">
                <a16:creationId xmlns:a16="http://schemas.microsoft.com/office/drawing/2014/main" id="{AF82B94B-AE7A-4A59-8C89-F923D67D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9240" y="9583007"/>
            <a:ext cx="334799" cy="9525"/>
          </a:xfrm>
          <a:custGeom xmlns:a="http://schemas.openxmlformats.org/drawingml/2006/main"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697">
            <a:solidFill>
              <a:srgbClr val="6A9BB9"/>
            </a:solidFill>
          </a:ln>
        </p:spPr>
      </p:sp>
      <p:sp>
        <p:nvSpPr>
          <p:cNvPr id="100" name="s99">
            <a:extLst xmlns:a="http://schemas.openxmlformats.org/drawingml/2006/main">
              <a:ext uri="{FF2B5EF4-FFF2-40B4-BE49-F238E27FC236}">
                <a16:creationId xmlns:a16="http://schemas.microsoft.com/office/drawing/2014/main" id="{26C66038-2812-4215-808E-E7135DA5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0119" y="9525613"/>
            <a:ext cx="133920" cy="114788"/>
          </a:xfrm>
          <a:custGeom xmlns:a="http://schemas.openxmlformats.org/drawingml/2006/main"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 xmlns:a="http://schemas.openxmlformats.org/drawingml/2006/main"/>
          <a:ln xmlns:a="http://schemas.openxmlformats.org/drawingml/2006/main" w="28697">
            <a:solidFill>
              <a:srgbClr val="6A9BB9"/>
            </a:solidFill>
          </a:ln>
        </p:spPr>
      </p:sp>
      <p:sp>
        <p:nvSpPr>
          <p:cNvPr id="101" name="s100">
            <a:extLst xmlns:a="http://schemas.openxmlformats.org/drawingml/2006/main">
              <a:ext uri="{FF2B5EF4-FFF2-40B4-BE49-F238E27FC236}">
                <a16:creationId xmlns:a16="http://schemas.microsoft.com/office/drawing/2014/main" id="{CDE01E42-EDCC-4CD9-B0B6-441FED58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69" y="7780690"/>
            <a:ext cx="1837283" cy="468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36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636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Legal PDFs</a:t>
            </a:r>
          </a:p>
        </p:txBody>
      </p:sp>
      <p:sp>
        <p:nvSpPr>
          <p:cNvPr id="102" name="s101">
            <a:extLst xmlns:a="http://schemas.openxmlformats.org/drawingml/2006/main">
              <a:ext uri="{FF2B5EF4-FFF2-40B4-BE49-F238E27FC236}">
                <a16:creationId xmlns:a16="http://schemas.microsoft.com/office/drawing/2014/main" id="{67AE6871-0A9E-4489-BBEB-0CA35BC5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69" y="8251388"/>
            <a:ext cx="2144018" cy="428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1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1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Text and scans</a:t>
            </a:r>
          </a:p>
        </p:txBody>
      </p:sp>
      <p:sp>
        <p:nvSpPr>
          <p:cNvPr id="103" name="s102">
            <a:extLst xmlns:a="http://schemas.openxmlformats.org/drawingml/2006/main">
              <a:ext uri="{FF2B5EF4-FFF2-40B4-BE49-F238E27FC236}">
                <a16:creationId xmlns:a16="http://schemas.microsoft.com/office/drawing/2014/main" id="{BEFFA46F-F137-4696-ACEB-BC5D7597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993" y="7742427"/>
            <a:ext cx="2555230" cy="468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36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636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Text extraction</a:t>
            </a:r>
          </a:p>
        </p:txBody>
      </p:sp>
      <p:sp>
        <p:nvSpPr>
          <p:cNvPr id="104" name="s103">
            <a:extLst xmlns:a="http://schemas.openxmlformats.org/drawingml/2006/main">
              <a:ext uri="{FF2B5EF4-FFF2-40B4-BE49-F238E27FC236}">
                <a16:creationId xmlns:a16="http://schemas.microsoft.com/office/drawing/2014/main" id="{ACCBBB7E-1725-46D3-8098-793E015C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993" y="8232257"/>
            <a:ext cx="1380422" cy="428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1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1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R1</a:t>
            </a:r>
            <a:r>
              <a:rPr sz="2410" b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 + OCR</a:t>
            </a:r>
          </a:p>
        </p:txBody>
      </p:sp>
      <p:sp>
        <p:nvSpPr>
          <p:cNvPr id="105" name="s104">
            <a:extLst xmlns:a="http://schemas.openxmlformats.org/drawingml/2006/main">
              <a:ext uri="{FF2B5EF4-FFF2-40B4-BE49-F238E27FC236}">
                <a16:creationId xmlns:a16="http://schemas.microsoft.com/office/drawing/2014/main" id="{7BA116B2-8B9E-4323-907D-1238A074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416" y="7742427"/>
            <a:ext cx="1290340" cy="468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36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636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Chunks</a:t>
            </a:r>
          </a:p>
        </p:txBody>
      </p:sp>
      <p:sp>
        <p:nvSpPr>
          <p:cNvPr id="106" name="s105">
            <a:extLst xmlns:a="http://schemas.openxmlformats.org/drawingml/2006/main">
              <a:ext uri="{FF2B5EF4-FFF2-40B4-BE49-F238E27FC236}">
                <a16:creationId xmlns:a16="http://schemas.microsoft.com/office/drawing/2014/main" id="{87C9A6E9-DD46-4D9E-B2A7-0A607E2C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416" y="8232257"/>
            <a:ext cx="2209205" cy="428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1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1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R2</a:t>
            </a:r>
            <a:r>
              <a:rPr sz="2410" b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  + Multiscale</a:t>
            </a:r>
          </a:p>
        </p:txBody>
      </p:sp>
      <p:sp>
        <p:nvSpPr>
          <p:cNvPr id="107" name="s106">
            <a:extLst xmlns:a="http://schemas.openxmlformats.org/drawingml/2006/main">
              <a:ext uri="{FF2B5EF4-FFF2-40B4-BE49-F238E27FC236}">
                <a16:creationId xmlns:a16="http://schemas.microsoft.com/office/drawing/2014/main" id="{269EED0F-1B4A-48CE-BBF1-124DF090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2840" y="7742427"/>
            <a:ext cx="999751" cy="468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36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636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Index</a:t>
            </a:r>
          </a:p>
        </p:txBody>
      </p:sp>
      <p:sp>
        <p:nvSpPr>
          <p:cNvPr id="108" name="s107">
            <a:extLst xmlns:a="http://schemas.openxmlformats.org/drawingml/2006/main">
              <a:ext uri="{FF2B5EF4-FFF2-40B4-BE49-F238E27FC236}">
                <a16:creationId xmlns:a16="http://schemas.microsoft.com/office/drawing/2014/main" id="{3E8276CF-548F-409A-820F-D14E8BD9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2840" y="8232257"/>
            <a:ext cx="2433191" cy="428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1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1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Chunk + page ID</a:t>
            </a:r>
          </a:p>
        </p:txBody>
      </p:sp>
      <p:sp>
        <p:nvSpPr>
          <p:cNvPr id="109" name="s108">
            <a:extLst xmlns:a="http://schemas.openxmlformats.org/drawingml/2006/main">
              <a:ext uri="{FF2B5EF4-FFF2-40B4-BE49-F238E27FC236}">
                <a16:creationId xmlns:a16="http://schemas.microsoft.com/office/drawing/2014/main" id="{00905F3F-7768-4AFC-B85D-13F10917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5096" y="7763538"/>
            <a:ext cx="4042470" cy="428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1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1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R1–R6: added components</a:t>
            </a:r>
          </a:p>
        </p:txBody>
      </p:sp>
      <p:sp>
        <p:nvSpPr>
          <p:cNvPr id="110" name="s109">
            <a:extLst xmlns:a="http://schemas.openxmlformats.org/drawingml/2006/main">
              <a:ext uri="{FF2B5EF4-FFF2-40B4-BE49-F238E27FC236}">
                <a16:creationId xmlns:a16="http://schemas.microsoft.com/office/drawing/2014/main" id="{72715AE4-33AA-4E37-A304-02356960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5096" y="8203560"/>
            <a:ext cx="4828133" cy="428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1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1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Each includes all earlier additions</a:t>
            </a:r>
          </a:p>
        </p:txBody>
      </p:sp>
      <p:sp>
        <p:nvSpPr>
          <p:cNvPr id="111" name="s110">
            <a:extLst xmlns:a="http://schemas.openxmlformats.org/drawingml/2006/main">
              <a:ext uri="{FF2B5EF4-FFF2-40B4-BE49-F238E27FC236}">
                <a16:creationId xmlns:a16="http://schemas.microsoft.com/office/drawing/2014/main" id="{52E8B117-D709-4517-96E4-A5891D29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69" y="9110319"/>
            <a:ext cx="1569244" cy="468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36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636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Question</a:t>
            </a:r>
          </a:p>
        </p:txBody>
      </p:sp>
      <p:sp>
        <p:nvSpPr>
          <p:cNvPr id="112" name="s111">
            <a:extLst xmlns:a="http://schemas.openxmlformats.org/drawingml/2006/main">
              <a:ext uri="{FF2B5EF4-FFF2-40B4-BE49-F238E27FC236}">
                <a16:creationId xmlns:a16="http://schemas.microsoft.com/office/drawing/2014/main" id="{7EFB3DED-FE52-41D2-94D0-5F536E0E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69" y="9581018"/>
            <a:ext cx="1634548" cy="428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1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1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User query</a:t>
            </a:r>
          </a:p>
        </p:txBody>
      </p:sp>
      <p:sp>
        <p:nvSpPr>
          <p:cNvPr id="113" name="s112">
            <a:extLst xmlns:a="http://schemas.openxmlformats.org/drawingml/2006/main">
              <a:ext uri="{FF2B5EF4-FFF2-40B4-BE49-F238E27FC236}">
                <a16:creationId xmlns:a16="http://schemas.microsoft.com/office/drawing/2014/main" id="{52DF5CA7-E736-43F7-BEBC-96EC0CFA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993" y="9062491"/>
            <a:ext cx="1545878" cy="468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36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636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Retrieval</a:t>
            </a:r>
          </a:p>
        </p:txBody>
      </p:sp>
      <p:sp>
        <p:nvSpPr>
          <p:cNvPr id="114" name="s113">
            <a:extLst xmlns:a="http://schemas.openxmlformats.org/drawingml/2006/main">
              <a:ext uri="{FF2B5EF4-FFF2-40B4-BE49-F238E27FC236}">
                <a16:creationId xmlns:a16="http://schemas.microsoft.com/office/drawing/2014/main" id="{65814F77-6260-4216-8F23-C075AF3F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993" y="9552321"/>
            <a:ext cx="1722686" cy="428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1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1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R3</a:t>
            </a:r>
            <a:r>
              <a:rPr sz="2410" b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 + Lexical</a:t>
            </a:r>
          </a:p>
        </p:txBody>
      </p:sp>
      <p:sp>
        <p:nvSpPr>
          <p:cNvPr id="115" name="s114">
            <a:extLst xmlns:a="http://schemas.openxmlformats.org/drawingml/2006/main">
              <a:ext uri="{FF2B5EF4-FFF2-40B4-BE49-F238E27FC236}">
                <a16:creationId xmlns:a16="http://schemas.microsoft.com/office/drawing/2014/main" id="{914DCBF6-3CB4-4E1F-95DA-491E9B59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416" y="9062491"/>
            <a:ext cx="1764060" cy="468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36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636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Reranking</a:t>
            </a:r>
          </a:p>
        </p:txBody>
      </p:sp>
      <p:sp>
        <p:nvSpPr>
          <p:cNvPr id="116" name="s115">
            <a:extLst xmlns:a="http://schemas.openxmlformats.org/drawingml/2006/main">
              <a:ext uri="{FF2B5EF4-FFF2-40B4-BE49-F238E27FC236}">
                <a16:creationId xmlns:a16="http://schemas.microsoft.com/office/drawing/2014/main" id="{48BEDD5A-56C7-4F29-846F-67A0AE0A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416" y="9552321"/>
            <a:ext cx="2063949" cy="428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1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1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R4</a:t>
            </a:r>
            <a:r>
              <a:rPr sz="2410" b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 + Reranker</a:t>
            </a:r>
          </a:p>
        </p:txBody>
      </p:sp>
      <p:sp>
        <p:nvSpPr>
          <p:cNvPr id="117" name="s116">
            <a:extLst xmlns:a="http://schemas.openxmlformats.org/drawingml/2006/main">
              <a:ext uri="{FF2B5EF4-FFF2-40B4-BE49-F238E27FC236}">
                <a16:creationId xmlns:a16="http://schemas.microsoft.com/office/drawing/2014/main" id="{A24C0206-F454-454A-80B1-985B2FA4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2840" y="9062491"/>
            <a:ext cx="1921965" cy="468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36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636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Generation</a:t>
            </a:r>
          </a:p>
        </p:txBody>
      </p:sp>
      <p:sp>
        <p:nvSpPr>
          <p:cNvPr id="118" name="s117">
            <a:extLst xmlns:a="http://schemas.openxmlformats.org/drawingml/2006/main">
              <a:ext uri="{FF2B5EF4-FFF2-40B4-BE49-F238E27FC236}">
                <a16:creationId xmlns:a16="http://schemas.microsoft.com/office/drawing/2014/main" id="{C351902A-C66D-4CD4-B6B9-0EE3367B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2840" y="9552321"/>
            <a:ext cx="1875681" cy="428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10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410" b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GPT-5.4-mini</a:t>
            </a:r>
          </a:p>
        </p:txBody>
      </p:sp>
      <p:sp>
        <p:nvSpPr>
          <p:cNvPr id="119" name="s118">
            <a:extLst xmlns:a="http://schemas.openxmlformats.org/drawingml/2006/main">
              <a:ext uri="{FF2B5EF4-FFF2-40B4-BE49-F238E27FC236}">
                <a16:creationId xmlns:a16="http://schemas.microsoft.com/office/drawing/2014/main" id="{0FDC536D-3BDE-4E5D-84E5-0B59C8B7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7264" y="9062491"/>
            <a:ext cx="2685455" cy="468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36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636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Post-processing</a:t>
            </a:r>
          </a:p>
        </p:txBody>
      </p:sp>
      <p:sp>
        <p:nvSpPr>
          <p:cNvPr id="120" name="s119">
            <a:extLst xmlns:a="http://schemas.openxmlformats.org/drawingml/2006/main">
              <a:ext uri="{FF2B5EF4-FFF2-40B4-BE49-F238E27FC236}">
                <a16:creationId xmlns:a16="http://schemas.microsoft.com/office/drawing/2014/main" id="{370D2E5B-2A48-4DBB-B5A7-452A29DE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7264" y="9552321"/>
            <a:ext cx="2671615" cy="428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1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1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R5</a:t>
            </a:r>
            <a:r>
              <a:rPr sz="2410" b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 + Typed checks</a:t>
            </a:r>
          </a:p>
        </p:txBody>
      </p:sp>
      <p:sp>
        <p:nvSpPr>
          <p:cNvPr id="121" name="s120">
            <a:extLst xmlns:a="http://schemas.openxmlformats.org/drawingml/2006/main">
              <a:ext uri="{FF2B5EF4-FFF2-40B4-BE49-F238E27FC236}">
                <a16:creationId xmlns:a16="http://schemas.microsoft.com/office/drawing/2014/main" id="{70BDF9C6-B290-473E-935E-850E1B4A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687" y="9062491"/>
            <a:ext cx="2160247" cy="468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36">
                <a:solidFill>
                  <a:srgbClr val="173248"/>
                </a:solidFill>
                <a:latin typeface="Noto Sans"/>
                <a:ea typeface="Noto Sans"/>
                <a:cs typeface="Noto Sans"/>
              </a:defRPr>
            </a:pPr>
            <a:r>
              <a:rPr sz="2636" b="1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Final answer</a:t>
            </a:r>
          </a:p>
        </p:txBody>
      </p:sp>
      <p:sp>
        <p:nvSpPr>
          <p:cNvPr id="122" name="s121">
            <a:extLst xmlns:a="http://schemas.openxmlformats.org/drawingml/2006/main">
              <a:ext uri="{FF2B5EF4-FFF2-40B4-BE49-F238E27FC236}">
                <a16:creationId xmlns:a16="http://schemas.microsoft.com/office/drawing/2014/main" id="{BAEAE90A-6520-44F2-9D26-5B7F6252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687" y="9552321"/>
            <a:ext cx="2553742" cy="428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10">
                <a:solidFill>
                  <a:srgbClr val="0069AA"/>
                </a:solidFill>
                <a:latin typeface="Noto Sans"/>
                <a:ea typeface="Noto Sans"/>
                <a:cs typeface="Noto Sans"/>
              </a:defRPr>
            </a:pPr>
            <a:r>
              <a:rPr sz="2410" b="1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R6</a:t>
            </a:r>
            <a:r>
              <a:rPr sz="2410" b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 + Select pages</a:t>
            </a:r>
          </a:p>
        </p:txBody>
      </p:sp>
      <p:pic>
        <p:nvPicPr>
          <p:cNvPr id="2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b79940686479b">
            <a:extLst>
              <a:ext uri="{96DAC541-7B7A-43D3-8B79-37D633B846F1}">
                <asvg:svgBlip xmlns:asvg="http://schemas.microsoft.com/office/drawing/2016/SVG/main" r:embed="R63c2c00d61f246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676019" y="647998"/>
            <a:ext cx="3059906" cy="771227"/>
          </a:xfrm>
          <a:prstGeom xmlns:a="http://schemas.openxmlformats.org/drawingml/2006/main" prst="rect">
            <a:avLst/>
          </a:prstGeom>
        </p:spPr>
      </p:pic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6ef3ea4e84550">
            <a:extLst>
              <a:ext uri="{96DAC541-7B7A-43D3-8B79-37D633B846F1}">
                <asvg:svgBlip xmlns:asvg="http://schemas.microsoft.com/office/drawing/2016/SVG/main" r:embed="R3635847d45e64b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998" y="15774888"/>
            <a:ext cx="20087927" cy="5851624"/>
          </a:xfrm>
          <a:prstGeom xmlns:a="http://schemas.openxmlformats.org/drawingml/2006/main" prst="rect">
            <a:avLst/>
          </a:prstGeom>
        </p:spPr>
      </p:pic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e98dd21ad48e4">
            <a:extLst>
              <a:ext uri="{96DAC541-7B7A-43D3-8B79-37D633B846F1}">
                <asvg:svgBlip xmlns:asvg="http://schemas.microsoft.com/office/drawing/2016/SVG/main" r:embed="R8768414ebed347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998" y="22763262"/>
            <a:ext cx="9864030" cy="20390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54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2026-09-20T20:05:50.1740000Z</dcterms:created>
  <dcterms:modified xsi:type="dcterms:W3CDTF">2026-09-20T20:05:50.1740000Z</dcterms:modified>
</coreProperties>
</file>