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ab4911fa0a4794" /><Relationship Type="http://schemas.openxmlformats.org/officeDocument/2006/relationships/extended-properties" Target="/docProps/app.xml" Id="Rd6488045c45a4515" /><Relationship Type="http://schemas.openxmlformats.org/officeDocument/2006/relationships/officeDocument" Target="/ppt/presentation.xml" Id="R4cbae3ffd88046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3986af96da4604"/>
  </p:sldMasterIdLst>
  <p:notesMasterIdLst>
    <p:notesMasterId xmlns:r="http://schemas.openxmlformats.org/officeDocument/2006/relationships" r:id="R29a1a67b08e8450f"/>
  </p:notesMasterIdLst>
  <p:sldIdLst>
    <p:sldId xmlns:r="http://schemas.openxmlformats.org/officeDocument/2006/relationships" id="256" r:id="R05a8472c60cb433f"/>
  </p:sldIdLst>
  <p:sldSz cx="30276000" cy="2138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5b448d8323403f" /><Relationship Type="http://schemas.openxmlformats.org/officeDocument/2006/relationships/slideMaster" Target="/ppt/slideMasters/slideMaster1.xml" Id="R0a3986af96da4604" /><Relationship Type="http://schemas.openxmlformats.org/officeDocument/2006/relationships/notesMaster" Target="/ppt/notesMasters/notesMaster1.xml" Id="R29a1a67b08e8450f" /><Relationship Type="http://schemas.openxmlformats.org/officeDocument/2006/relationships/presProps" Target="/ppt/presProps.xml" Id="R26c8daf308a041c6" /><Relationship Type="http://schemas.openxmlformats.org/officeDocument/2006/relationships/tableStyles" Target="/ppt/tableStyles.xml" Id="R744bdea539164fb3" /><Relationship Type="http://schemas.openxmlformats.org/officeDocument/2006/relationships/slide" Target="/ppt/slides/slide1.xml" Id="R05a8472c60cb43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d92975c82640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961234aa624819" /><Relationship Type="http://schemas.openxmlformats.org/officeDocument/2006/relationships/notesMaster" Target="/ppt/notesMasters/notesMaster1.xml" Id="R0a5de37a68834d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 of truth: /Users/steinv/Uni-Trier/Trends-In-ML-2/poster-narrative-2.md</a:t>
            </a:r>
          </a:p>
          <a:p xmlns:a="http://schemas.openxmlformats.org/drawingml/2006/main">
            <a:r>
              <a:t>Formal requirements: /Users/steinv/Uni-Trier/Trends-In-ML-2/Poster-Examination-Guidelines.pdf</a:t>
            </a:r>
          </a:p>
          <a:p xmlns:a="http://schemas.openxmlformats.org/drawingml/2006/main">
            <a:r>
              <a:t>Primary run report: artifacts/warmup_runs/runs/submission_e2e_20260424_solver_narrowing_no_guard/eval/benchmark_report.json</a:t>
            </a:r>
          </a:p>
          <a:p xmlns:a="http://schemas.openxmlformats.org/drawingml/2006/main">
            <a:r>
              <a:t>Primary page ledger: artifacts/warmup_runs/runs/submission_e2e_20260424_solver_narrowing_no_guard/grounding/ledger.csv</a:t>
            </a:r>
          </a:p>
          <a:p xmlns:a="http://schemas.openxmlformats.org/drawingml/2006/main">
            <a:r>
              <a:t>Lewis et al. (2020), https://proceedings.neurips.cc/paper/2020/hash/6b493230205f780e1bc26945df7481e5-Abstract.html</a:t>
            </a:r>
          </a:p>
          <a:p xmlns:a="http://schemas.openxmlformats.org/drawingml/2006/main">
            <a:r>
              <a:t>Karpukhin et al. (2020), https://aclanthology.org/2020.emnlp-main.550/</a:t>
            </a:r>
          </a:p>
          <a:p xmlns:a="http://schemas.openxmlformats.org/drawingml/2006/main">
            <a:r>
              <a:t>Cormack et al. (2009), https://doi.org/10.1145/1571941.1572114</a:t>
            </a:r>
          </a:p>
          <a:p xmlns:a="http://schemas.openxmlformats.org/drawingml/2006/main">
            <a:r>
              <a:t>Gao et al. (2023), https://aclanthology.org/2023.emnlp-main.398/</a:t>
            </a:r>
          </a:p>
          <a:p xmlns:a="http://schemas.openxmlformats.org/drawingml/2006/main">
            <a:r>
              <a:t>Pipitone and Houir Alami (2024), https://arxiv.org/abs/2408.10343</a:t>
            </a:r>
          </a:p>
          <a:p xmlns:a="http://schemas.openxmlformats.org/drawingml/2006/main">
            <a:r>
              <a:t>Zhang et al. (2025), https://arxiv.org/abs/2506.05176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8d4549b09e41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a6feb633714ca6" /><Relationship Type="http://schemas.openxmlformats.org/officeDocument/2006/relationships/slideLayout" Target="/ppt/slideLayouts/slideLayout1.xml" Id="Refb298cdb08e42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b298cdb08e42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1fd8ceb6344ad" /><Relationship Type="http://schemas.openxmlformats.org/officeDocument/2006/relationships/notesSlide" Target="/ppt/notesSlides/notesSlide1.xml" Id="Ra5b31dd1191f42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1" name="eyebrow">
            <a:extLst xmlns:a="http://schemas.openxmlformats.org/drawingml/2006/main">
              <a:ext uri="{FF2B5EF4-FFF2-40B4-BE49-F238E27FC236}">
                <a16:creationId xmlns:a16="http://schemas.microsoft.com/office/drawing/2014/main" id="{7DE7F627-371B-4407-95CB-91F6F8BA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RESEARCH POSTER  |  NATURAL LANGUAGE PROCESSING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59A6023-4854-43D9-B6B9-5236BDD2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76300"/>
            <a:ext cx="2247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72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72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From Legal PDFs to Verifiable Answers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15FCDD2-EB52-449B-A06B-F58133C9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2190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Evaluating answer quality, page-level grounding and latency across 100 legal questions</a:t>
            </a:r>
          </a:p>
        </p:txBody>
      </p:sp>
      <p:sp>
        <p:nvSpPr>
          <p:cNvPr id="4" name="repository">
            <a:extLst xmlns:a="http://schemas.openxmlformats.org/drawingml/2006/main">
              <a:ext uri="{FF2B5EF4-FFF2-40B4-BE49-F238E27FC236}">
                <a16:creationId xmlns:a16="http://schemas.microsoft.com/office/drawing/2014/main" id="{71F819D4-028F-4DDF-AE04-8235191D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1700" y="14287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github.com/SteinVR/Agentic-RAG-Challenge</a:t>
            </a:r>
          </a:p>
        </p:txBody>
      </p:sp>
      <p:sp>
        <p:nvSpPr>
          <p:cNvPr id="5" name="affiliation">
            <a:extLst xmlns:a="http://schemas.openxmlformats.org/drawingml/2006/main">
              <a:ext uri="{FF2B5EF4-FFF2-40B4-BE49-F238E27FC236}">
                <a16:creationId xmlns:a16="http://schemas.microsoft.com/office/drawing/2014/main" id="{3C249B95-942E-4AE6-82B4-3DC7FCF4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1700" y="19240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Trends in Machine Learning II  |  Universität Trier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B68C417-8DC1-4D60-875A-8253BCAD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2852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ypothesis-bg">
            <a:extLst xmlns:a="http://schemas.openxmlformats.org/drawingml/2006/main">
              <a:ext uri="{FF2B5EF4-FFF2-40B4-BE49-F238E27FC236}">
                <a16:creationId xmlns:a16="http://schemas.microsoft.com/office/drawing/2014/main" id="{30FF9468-1D15-4A0F-B75B-FE3E26E8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85234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ypothesis-label-marker">
            <a:extLst xmlns:a="http://schemas.openxmlformats.org/drawingml/2006/main">
              <a:ext uri="{FF2B5EF4-FFF2-40B4-BE49-F238E27FC236}">
                <a16:creationId xmlns:a16="http://schemas.microsoft.com/office/drawing/2014/main" id="{675E90A0-7BB9-456B-9504-4F6E65C9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95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hypothesis-label">
            <a:extLst xmlns:a="http://schemas.openxmlformats.org/drawingml/2006/main">
              <a:ext uri="{FF2B5EF4-FFF2-40B4-BE49-F238E27FC236}">
                <a16:creationId xmlns:a16="http://schemas.microsoft.com/office/drawing/2014/main" id="{E6390430-B869-4AC7-A990-0C76DB2F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09925"/>
            <a:ext cx="318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HYPOTHESIS</a:t>
            </a:r>
          </a:p>
        </p:txBody>
      </p:sp>
      <p:sp>
        <p:nvSpPr>
          <p:cNvPr id="10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CAD9B055-D36D-425C-AE04-175672F4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43250"/>
            <a:ext cx="1447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Can a page-traceable Legal RAG pipeline balance answer quality, source grounding, validity and latency?</a:t>
            </a:r>
          </a:p>
        </p:txBody>
      </p:sp>
      <p:sp>
        <p:nvSpPr>
          <p:cNvPr id="11" name="secondary-question">
            <a:extLst xmlns:a="http://schemas.openxmlformats.org/drawingml/2006/main">
              <a:ext uri="{FF2B5EF4-FFF2-40B4-BE49-F238E27FC236}">
                <a16:creationId xmlns:a16="http://schemas.microsoft.com/office/drawing/2014/main" id="{3EA6369F-8EE6-4979-A2FF-2FB6DDB5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38600"/>
            <a:ext cx="1447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H2: Does answer-aware attribution sharpen citations while retaining at least one correct page per annotated question?</a:t>
            </a:r>
          </a:p>
        </p:txBody>
      </p:sp>
      <p:sp>
        <p:nvSpPr>
          <p:cNvPr id="12" name="hypothesis-divider">
            <a:extLst xmlns:a="http://schemas.openxmlformats.org/drawingml/2006/main">
              <a:ext uri="{FF2B5EF4-FFF2-40B4-BE49-F238E27FC236}">
                <a16:creationId xmlns:a16="http://schemas.microsoft.com/office/drawing/2014/main" id="{0B5AC509-0B57-4847-AC8A-E5F9DB1C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0050" y="3219450"/>
            <a:ext cx="285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ypothesis-finding-label">
            <a:extLst xmlns:a="http://schemas.openxmlformats.org/drawingml/2006/main">
              <a:ext uri="{FF2B5EF4-FFF2-40B4-BE49-F238E27FC236}">
                <a16:creationId xmlns:a16="http://schemas.microsoft.com/office/drawing/2014/main" id="{32664003-D88C-40A4-A4D2-B7CE62A1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1050" y="3181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FINDING</a:t>
            </a:r>
          </a:p>
        </p:txBody>
      </p:sp>
      <p:sp>
        <p:nvSpPr>
          <p:cNvPr id="14" name="hypothesis-finding">
            <a:extLst xmlns:a="http://schemas.openxmlformats.org/drawingml/2006/main">
              <a:ext uri="{FF2B5EF4-FFF2-40B4-BE49-F238E27FC236}">
                <a16:creationId xmlns:a16="http://schemas.microsoft.com/office/drawing/2014/main" id="{25345A49-613D-478F-B899-23E1156D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1050" y="3638550"/>
            <a:ext cx="93305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H1 is partly supported: grounding missed its 0.85 threshold. H2 holds for precision, compactness and 95/95 hit coverage.</a:t>
            </a:r>
          </a:p>
        </p:txBody>
      </p:sp>
      <p:sp>
        <p:nvSpPr>
          <p:cNvPr id="15" name="methodology-label-marker">
            <a:extLst xmlns:a="http://schemas.openxmlformats.org/drawingml/2006/main">
              <a:ext uri="{FF2B5EF4-FFF2-40B4-BE49-F238E27FC236}">
                <a16:creationId xmlns:a16="http://schemas.microsoft.com/office/drawing/2014/main" id="{A9C07F33-6280-41C6-A5B2-2E8EE2DD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95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hodology-label">
            <a:extLst xmlns:a="http://schemas.openxmlformats.org/drawingml/2006/main">
              <a:ext uri="{FF2B5EF4-FFF2-40B4-BE49-F238E27FC236}">
                <a16:creationId xmlns:a16="http://schemas.microsoft.com/office/drawing/2014/main" id="{365443B0-B5A3-40B8-A919-7EF81CD0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81625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17" name="methodology-data">
            <a:extLst xmlns:a="http://schemas.openxmlformats.org/drawingml/2006/main">
              <a:ext uri="{FF2B5EF4-FFF2-40B4-BE49-F238E27FC236}">
                <a16:creationId xmlns:a16="http://schemas.microsoft.com/office/drawing/2014/main" id="{4F68801E-02AB-4BA4-83AD-302EA4E5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57825"/>
            <a:ext cx="2318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2600" b="1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100 questions  |  30 publicly available legal PDFs  |  590 pages  |  95 with page annotations</a:t>
            </a:r>
          </a:p>
        </p:txBody>
      </p:sp>
      <p:sp>
        <p:nvSpPr>
          <p:cNvPr id="18" name="methodology-rule">
            <a:extLst xmlns:a="http://schemas.openxmlformats.org/drawingml/2006/main">
              <a:ext uri="{FF2B5EF4-FFF2-40B4-BE49-F238E27FC236}">
                <a16:creationId xmlns:a16="http://schemas.microsoft.com/office/drawing/2014/main" id="{247BC103-5D8C-4783-A9F5-A29361A1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2852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ipeline-arrow-1">
            <a:extLst xmlns:a="http://schemas.openxmlformats.org/drawingml/2006/main">
              <a:ext uri="{FF2B5EF4-FFF2-40B4-BE49-F238E27FC236}">
                <a16:creationId xmlns:a16="http://schemas.microsoft.com/office/drawing/2014/main" id="{A7517C81-50F9-47D4-80FC-6A1ADC6E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050" y="7286625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ipeline-arrow-2">
            <a:extLst xmlns:a="http://schemas.openxmlformats.org/drawingml/2006/main">
              <a:ext uri="{FF2B5EF4-FFF2-40B4-BE49-F238E27FC236}">
                <a16:creationId xmlns:a16="http://schemas.microsoft.com/office/drawing/2014/main" id="{E782801B-F287-40E9-BE26-A1DEBF2F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250" y="7286625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ipeline-arrow-3">
            <a:extLst xmlns:a="http://schemas.openxmlformats.org/drawingml/2006/main">
              <a:ext uri="{FF2B5EF4-FFF2-40B4-BE49-F238E27FC236}">
                <a16:creationId xmlns:a16="http://schemas.microsoft.com/office/drawing/2014/main" id="{28401050-9C40-4AE2-8392-2A8AE61A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3200" y="7286625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arrow-4">
            <a:extLst xmlns:a="http://schemas.openxmlformats.org/drawingml/2006/main">
              <a:ext uri="{FF2B5EF4-FFF2-40B4-BE49-F238E27FC236}">
                <a16:creationId xmlns:a16="http://schemas.microsoft.com/office/drawing/2014/main" id="{DAEC22C3-F3CF-4101-A74A-ADD72C04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400" y="7286625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arrow-5">
            <a:extLst xmlns:a="http://schemas.openxmlformats.org/drawingml/2006/main">
              <a:ext uri="{FF2B5EF4-FFF2-40B4-BE49-F238E27FC236}">
                <a16:creationId xmlns:a16="http://schemas.microsoft.com/office/drawing/2014/main" id="{451E9844-8481-477F-B4B9-00CE14B4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5350" y="7286625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rovenance-rail">
            <a:extLst xmlns:a="http://schemas.openxmlformats.org/drawingml/2006/main">
              <a:ext uri="{FF2B5EF4-FFF2-40B4-BE49-F238E27FC236}">
                <a16:creationId xmlns:a16="http://schemas.microsoft.com/office/drawing/2014/main" id="{0E72F519-7532-4F10-9957-182107E2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400" y="9277350"/>
            <a:ext cx="271272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rovenance-dot-1">
            <a:extLst xmlns:a="http://schemas.openxmlformats.org/drawingml/2006/main">
              <a:ext uri="{FF2B5EF4-FFF2-40B4-BE49-F238E27FC236}">
                <a16:creationId xmlns:a16="http://schemas.microsoft.com/office/drawing/2014/main" id="{8CB782A8-508D-43E2-9BF9-D13F6957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500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6" name="provenance-dot-2">
            <a:extLst xmlns:a="http://schemas.openxmlformats.org/drawingml/2006/main">
              <a:ext uri="{FF2B5EF4-FFF2-40B4-BE49-F238E27FC236}">
                <a16:creationId xmlns:a16="http://schemas.microsoft.com/office/drawing/2014/main" id="{B9FC3073-1D2E-407C-93AB-59D4BEA9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700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7" name="provenance-dot-3">
            <a:extLst xmlns:a="http://schemas.openxmlformats.org/drawingml/2006/main">
              <a:ext uri="{FF2B5EF4-FFF2-40B4-BE49-F238E27FC236}">
                <a16:creationId xmlns:a16="http://schemas.microsoft.com/office/drawing/2014/main" id="{98C2806C-F125-4212-B8DA-79169141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4775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8" name="provenance-dot-4">
            <a:extLst xmlns:a="http://schemas.openxmlformats.org/drawingml/2006/main">
              <a:ext uri="{FF2B5EF4-FFF2-40B4-BE49-F238E27FC236}">
                <a16:creationId xmlns:a16="http://schemas.microsoft.com/office/drawing/2014/main" id="{4B93665F-8889-4502-8864-C8F2B180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5850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9" name="provenance-dot-5">
            <a:extLst xmlns:a="http://schemas.openxmlformats.org/drawingml/2006/main">
              <a:ext uri="{FF2B5EF4-FFF2-40B4-BE49-F238E27FC236}">
                <a16:creationId xmlns:a16="http://schemas.microsoft.com/office/drawing/2014/main" id="{30BC0FF9-4EE7-4C5D-90E2-15A7DFBF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6925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0" name="provenance-dot-6">
            <a:extLst xmlns:a="http://schemas.openxmlformats.org/drawingml/2006/main">
              <a:ext uri="{FF2B5EF4-FFF2-40B4-BE49-F238E27FC236}">
                <a16:creationId xmlns:a16="http://schemas.microsoft.com/office/drawing/2014/main" id="{7A251960-A83D-4B42-91FD-8853BFE8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9925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1" name="stage-1-box">
            <a:extLst xmlns:a="http://schemas.openxmlformats.org/drawingml/2006/main">
              <a:ext uri="{FF2B5EF4-FFF2-40B4-BE49-F238E27FC236}">
                <a16:creationId xmlns:a16="http://schemas.microsoft.com/office/drawing/2014/main" id="{208789F0-18CB-492A-8175-A268C924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00" y="6286500"/>
            <a:ext cx="39052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32" name="stage-1-accent">
            <a:extLst xmlns:a="http://schemas.openxmlformats.org/drawingml/2006/main">
              <a:ext uri="{FF2B5EF4-FFF2-40B4-BE49-F238E27FC236}">
                <a16:creationId xmlns:a16="http://schemas.microsoft.com/office/drawing/2014/main" id="{687F7C42-473C-4196-B789-A9990AC1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0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EB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tage-1-kicker">
            <a:extLst xmlns:a="http://schemas.openxmlformats.org/drawingml/2006/main">
              <a:ext uri="{FF2B5EF4-FFF2-40B4-BE49-F238E27FC236}">
                <a16:creationId xmlns:a16="http://schemas.microsoft.com/office/drawing/2014/main" id="{F9F686B1-2EFC-4F98-BF7D-F209C196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450" y="6524625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  SOURCE</a:t>
            </a:r>
          </a:p>
        </p:txBody>
      </p:sp>
      <p:sp>
        <p:nvSpPr>
          <p:cNvPr id="34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7B145AB8-1F83-4E80-8FFB-F11AE157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450" y="701040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Page-stable ingestion</a:t>
            </a:r>
          </a:p>
        </p:txBody>
      </p:sp>
      <p:sp>
        <p:nvSpPr>
          <p:cNvPr id="35" name="stage-1-body">
            <a:extLst xmlns:a="http://schemas.openxmlformats.org/drawingml/2006/main">
              <a:ext uri="{FF2B5EF4-FFF2-40B4-BE49-F238E27FC236}">
                <a16:creationId xmlns:a16="http://schemas.microsoft.com/office/drawing/2014/main" id="{A64DE7D3-AAFC-493E-878C-36D1E7A3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450" y="777240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Native text + tables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OCR fallback available</a:t>
            </a:r>
          </a:p>
        </p:txBody>
      </p:sp>
      <p:sp>
        <p:nvSpPr>
          <p:cNvPr id="36" name="stage-2-box">
            <a:extLst xmlns:a="http://schemas.openxmlformats.org/drawingml/2006/main">
              <a:ext uri="{FF2B5EF4-FFF2-40B4-BE49-F238E27FC236}">
                <a16:creationId xmlns:a16="http://schemas.microsoft.com/office/drawing/2014/main" id="{526B8D1E-1F8C-47E7-BD3B-6D7AB8EB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900" y="6286500"/>
            <a:ext cx="39052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37" name="stage-2-accent">
            <a:extLst xmlns:a="http://schemas.openxmlformats.org/drawingml/2006/main">
              <a:ext uri="{FF2B5EF4-FFF2-40B4-BE49-F238E27FC236}">
                <a16:creationId xmlns:a16="http://schemas.microsoft.com/office/drawing/2014/main" id="{DBB27391-471F-4305-96BD-0DED34F9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90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tage-2-kicker">
            <a:extLst xmlns:a="http://schemas.openxmlformats.org/drawingml/2006/main">
              <a:ext uri="{FF2B5EF4-FFF2-40B4-BE49-F238E27FC236}">
                <a16:creationId xmlns:a16="http://schemas.microsoft.com/office/drawing/2014/main" id="{86DC6627-6180-4F5F-81A4-3F5118B8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650" y="6524625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  REPRESENT</a:t>
            </a:r>
          </a:p>
        </p:txBody>
      </p:sp>
      <p:sp>
        <p:nvSpPr>
          <p:cNvPr id="39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29FA13C0-39FD-48DF-B184-27B6CE5A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650" y="701040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Multi-view index</a:t>
            </a:r>
          </a:p>
        </p:txBody>
      </p:sp>
      <p:sp>
        <p:nvSpPr>
          <p:cNvPr id="40" name="stage-2-body">
            <a:extLst xmlns:a="http://schemas.openxmlformats.org/drawingml/2006/main">
              <a:ext uri="{FF2B5EF4-FFF2-40B4-BE49-F238E27FC236}">
                <a16:creationId xmlns:a16="http://schemas.microsoft.com/office/drawing/2014/main" id="{9A7979AD-C0F1-49E0-A320-2F78BC70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650" y="777240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Page, section, clause,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microchunk and table</a:t>
            </a:r>
          </a:p>
        </p:txBody>
      </p:sp>
      <p:sp>
        <p:nvSpPr>
          <p:cNvPr id="41" name="stage-3-box">
            <a:extLst xmlns:a="http://schemas.openxmlformats.org/drawingml/2006/main">
              <a:ext uri="{FF2B5EF4-FFF2-40B4-BE49-F238E27FC236}">
                <a16:creationId xmlns:a16="http://schemas.microsoft.com/office/drawing/2014/main" id="{BF0A959E-8337-466C-AC0F-07BD8DDB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100" y="6286500"/>
            <a:ext cx="4953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AF8FC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42" name="stage-3-accent">
            <a:extLst xmlns:a="http://schemas.openxmlformats.org/drawingml/2006/main">
              <a:ext uri="{FF2B5EF4-FFF2-40B4-BE49-F238E27FC236}">
                <a16:creationId xmlns:a16="http://schemas.microsoft.com/office/drawing/2014/main" id="{DC3632FA-88A1-4127-ADF4-1BE27EFD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10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tage-3-kicker">
            <a:extLst xmlns:a="http://schemas.openxmlformats.org/drawingml/2006/main">
              <a:ext uri="{FF2B5EF4-FFF2-40B4-BE49-F238E27FC236}">
                <a16:creationId xmlns:a16="http://schemas.microsoft.com/office/drawing/2014/main" id="{1F6BCBA7-2D99-4D01-9226-54FBA2C5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850" y="6524625"/>
            <a:ext cx="442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  RETRIEVE</a:t>
            </a:r>
          </a:p>
        </p:txBody>
      </p:sp>
      <p:sp>
        <p:nvSpPr>
          <p:cNvPr id="44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940319C9-51D1-4E89-909F-B18808CF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850" y="7010400"/>
            <a:ext cx="442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Hybrid retrieve + rerank</a:t>
            </a:r>
          </a:p>
        </p:txBody>
      </p:sp>
      <p:sp>
        <p:nvSpPr>
          <p:cNvPr id="45" name="stage-3-body">
            <a:extLst xmlns:a="http://schemas.openxmlformats.org/drawingml/2006/main">
              <a:ext uri="{FF2B5EF4-FFF2-40B4-BE49-F238E27FC236}">
                <a16:creationId xmlns:a16="http://schemas.microsoft.com/office/drawing/2014/main" id="{194C1B05-42D0-4B03-B18D-AEC4141E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850" y="7772400"/>
            <a:ext cx="442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BM25 + Qwen3 Embedding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RRF + Qwen3 Reranker</a:t>
            </a:r>
          </a:p>
        </p:txBody>
      </p:sp>
      <p:sp>
        <p:nvSpPr>
          <p:cNvPr id="46" name="stage-4-box">
            <a:extLst xmlns:a="http://schemas.openxmlformats.org/drawingml/2006/main">
              <a:ext uri="{FF2B5EF4-FFF2-40B4-BE49-F238E27FC236}">
                <a16:creationId xmlns:a16="http://schemas.microsoft.com/office/drawing/2014/main" id="{892CEA1C-8EB3-46B2-89ED-FB9E0C8A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7050" y="6286500"/>
            <a:ext cx="39052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47" name="stage-4-accent">
            <a:extLst xmlns:a="http://schemas.openxmlformats.org/drawingml/2006/main">
              <a:ext uri="{FF2B5EF4-FFF2-40B4-BE49-F238E27FC236}">
                <a16:creationId xmlns:a16="http://schemas.microsoft.com/office/drawing/2014/main" id="{380522B4-062E-420B-A60B-30CD6FD2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705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tage-4-kicker">
            <a:extLst xmlns:a="http://schemas.openxmlformats.org/drawingml/2006/main">
              <a:ext uri="{FF2B5EF4-FFF2-40B4-BE49-F238E27FC236}">
                <a16:creationId xmlns:a16="http://schemas.microsoft.com/office/drawing/2014/main" id="{CBD7C5EA-712F-470F-B0AD-FD1B7E08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2800" y="6524625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  ANSWER</a:t>
            </a:r>
          </a:p>
        </p:txBody>
      </p:sp>
      <p:sp>
        <p:nvSpPr>
          <p:cNvPr id="49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33A26FFF-8F7E-4695-96DC-D7D2158C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2800" y="701040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Typed answer</a:t>
            </a:r>
          </a:p>
        </p:txBody>
      </p:sp>
      <p:sp>
        <p:nvSpPr>
          <p:cNvPr id="50" name="stage-4-body">
            <a:extLst xmlns:a="http://schemas.openxmlformats.org/drawingml/2006/main">
              <a:ext uri="{FF2B5EF4-FFF2-40B4-BE49-F238E27FC236}">
                <a16:creationId xmlns:a16="http://schemas.microsoft.com/office/drawing/2014/main" id="{F0CD0CEA-5785-48C3-9B15-8CC6F47B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2800" y="777240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gpt-5.4-mini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strict JSON + validators</a:t>
            </a:r>
          </a:p>
        </p:txBody>
      </p:sp>
      <p:sp>
        <p:nvSpPr>
          <p:cNvPr id="51" name="stage-5-box">
            <a:extLst xmlns:a="http://schemas.openxmlformats.org/drawingml/2006/main">
              <a:ext uri="{FF2B5EF4-FFF2-40B4-BE49-F238E27FC236}">
                <a16:creationId xmlns:a16="http://schemas.microsoft.com/office/drawing/2014/main" id="{94B4A200-4968-419F-90F7-7E4B7A9D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4250" y="6286500"/>
            <a:ext cx="4953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2" name="stage-5-accent">
            <a:extLst xmlns:a="http://schemas.openxmlformats.org/drawingml/2006/main">
              <a:ext uri="{FF2B5EF4-FFF2-40B4-BE49-F238E27FC236}">
                <a16:creationId xmlns:a16="http://schemas.microsoft.com/office/drawing/2014/main" id="{C4D0AC62-55BB-4965-B87A-13FA1B45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425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tage-5-kicker">
            <a:extLst xmlns:a="http://schemas.openxmlformats.org/drawingml/2006/main">
              <a:ext uri="{FF2B5EF4-FFF2-40B4-BE49-F238E27FC236}">
                <a16:creationId xmlns:a16="http://schemas.microsoft.com/office/drawing/2014/main" id="{7A887FCB-0D58-45E0-84DE-E390FD0E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0000" y="6524625"/>
            <a:ext cx="442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  ATTRIBUTE</a:t>
            </a:r>
          </a:p>
        </p:txBody>
      </p:sp>
      <p:sp>
        <p:nvSpPr>
          <p:cNvPr id="54" name="stage-5-title">
            <a:extLst xmlns:a="http://schemas.openxmlformats.org/drawingml/2006/main">
              <a:ext uri="{FF2B5EF4-FFF2-40B4-BE49-F238E27FC236}">
                <a16:creationId xmlns:a16="http://schemas.microsoft.com/office/drawing/2014/main" id="{68434D02-C68B-4BFF-8E6E-EE2E411F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0000" y="7010400"/>
            <a:ext cx="442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Answer-aware pages</a:t>
            </a:r>
          </a:p>
        </p:txBody>
      </p:sp>
      <p:sp>
        <p:nvSpPr>
          <p:cNvPr id="55" name="stage-5-body">
            <a:extLst xmlns:a="http://schemas.openxmlformats.org/drawingml/2006/main">
              <a:ext uri="{FF2B5EF4-FFF2-40B4-BE49-F238E27FC236}">
                <a16:creationId xmlns:a16="http://schemas.microsoft.com/office/drawing/2014/main" id="{34A7FCF4-893C-4218-BF37-914204FF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0000" y="7772400"/>
            <a:ext cx="442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 check + fallback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raw -&gt; filter -&gt; final</a:t>
            </a:r>
          </a:p>
        </p:txBody>
      </p:sp>
      <p:sp>
        <p:nvSpPr>
          <p:cNvPr id="56" name="stage-6-box">
            <a:extLst xmlns:a="http://schemas.openxmlformats.org/drawingml/2006/main">
              <a:ext uri="{FF2B5EF4-FFF2-40B4-BE49-F238E27FC236}">
                <a16:creationId xmlns:a16="http://schemas.microsoft.com/office/drawing/2014/main" id="{5256CF87-3960-42F7-87BD-B72D0FA7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9200" y="6286500"/>
            <a:ext cx="42291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57" name="stage-6-accent">
            <a:extLst xmlns:a="http://schemas.openxmlformats.org/drawingml/2006/main">
              <a:ext uri="{FF2B5EF4-FFF2-40B4-BE49-F238E27FC236}">
                <a16:creationId xmlns:a16="http://schemas.microsoft.com/office/drawing/2014/main" id="{8304AB89-8C83-4483-B995-5CF3E92E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920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tage-6-kicker">
            <a:extLst xmlns:a="http://schemas.openxmlformats.org/drawingml/2006/main">
              <a:ext uri="{FF2B5EF4-FFF2-40B4-BE49-F238E27FC236}">
                <a16:creationId xmlns:a16="http://schemas.microsoft.com/office/drawing/2014/main" id="{A299CC83-5FFE-4CFC-A9A4-A89D3EEB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4950" y="6524625"/>
            <a:ext cx="3705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06  VERIFY</a:t>
            </a:r>
          </a:p>
        </p:txBody>
      </p:sp>
      <p:sp>
        <p:nvSpPr>
          <p:cNvPr id="59" name="stage-6-title">
            <a:extLst xmlns:a="http://schemas.openxmlformats.org/drawingml/2006/main">
              <a:ext uri="{FF2B5EF4-FFF2-40B4-BE49-F238E27FC236}">
                <a16:creationId xmlns:a16="http://schemas.microsoft.com/office/drawing/2014/main" id="{57B264CF-AE19-45CE-B750-899BB9F1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4950" y="7010400"/>
            <a:ext cx="37052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Auditable output</a:t>
            </a:r>
          </a:p>
        </p:txBody>
      </p:sp>
      <p:sp>
        <p:nvSpPr>
          <p:cNvPr id="60" name="stage-6-body">
            <a:extLst xmlns:a="http://schemas.openxmlformats.org/drawingml/2006/main">
              <a:ext uri="{FF2B5EF4-FFF2-40B4-BE49-F238E27FC236}">
                <a16:creationId xmlns:a16="http://schemas.microsoft.com/office/drawing/2014/main" id="{CB9FDCDC-2226-4415-8886-36B12EAA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4950" y="7772400"/>
            <a:ext cx="37052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Answer + pages + trace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validity + TTFT</a:t>
            </a:r>
          </a:p>
        </p:txBody>
      </p:sp>
      <p:sp>
        <p:nvSpPr>
          <p:cNvPr id="61" name="provenance-label">
            <a:extLst xmlns:a="http://schemas.openxmlformats.org/drawingml/2006/main">
              <a:ext uri="{FF2B5EF4-FFF2-40B4-BE49-F238E27FC236}">
                <a16:creationId xmlns:a16="http://schemas.microsoft.com/office/drawing/2014/main" id="{75E66A06-06D4-451E-AF8B-2ECCABBD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8953500"/>
            <a:ext cx="1504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CONTINUOUS PROVENANCE  |  document_id + page_number</a:t>
            </a:r>
          </a:p>
        </p:txBody>
      </p:sp>
      <p:sp>
        <p:nvSpPr>
          <p:cNvPr id="62" name="provenance-explanation">
            <a:extLst xmlns:a="http://schemas.openxmlformats.org/drawingml/2006/main">
              <a:ext uri="{FF2B5EF4-FFF2-40B4-BE49-F238E27FC236}">
                <a16:creationId xmlns:a16="http://schemas.microsoft.com/office/drawing/2014/main" id="{C6A39F79-06ED-4189-AD1B-C531E62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9572625"/>
            <a:ext cx="2090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5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same identifiers survive every stage, so a final citation can be traced back to the exact PDF page.</a:t>
            </a:r>
          </a:p>
        </p:txBody>
      </p:sp>
      <p:sp>
        <p:nvSpPr>
          <p:cNvPr id="63" name="evaluation-design">
            <a:extLst xmlns:a="http://schemas.openxmlformats.org/drawingml/2006/main">
              <a:ext uri="{FF2B5EF4-FFF2-40B4-BE49-F238E27FC236}">
                <a16:creationId xmlns:a16="http://schemas.microsoft.com/office/drawing/2014/main" id="{B58A85DE-F877-4756-9CAB-CA939099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0096500"/>
            <a:ext cx="2528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Evaluation A: end-to-end profile on 100 questions.  Evaluation B: paired raw -&gt; filter -&gt; final page sets on the same 95 annotated questions.</a:t>
            </a:r>
          </a:p>
        </p:txBody>
      </p:sp>
      <p:sp>
        <p:nvSpPr>
          <p:cNvPr id="64" name="results-top-rule">
            <a:extLst xmlns:a="http://schemas.openxmlformats.org/drawingml/2006/main">
              <a:ext uri="{FF2B5EF4-FFF2-40B4-BE49-F238E27FC236}">
                <a16:creationId xmlns:a16="http://schemas.microsoft.com/office/drawing/2014/main" id="{AA86B4AC-132D-4CE1-B2E5-BB8DFF8D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858500"/>
            <a:ext cx="2852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results-bottom-rule">
            <a:extLst xmlns:a="http://schemas.openxmlformats.org/drawingml/2006/main">
              <a:ext uri="{FF2B5EF4-FFF2-40B4-BE49-F238E27FC236}">
                <a16:creationId xmlns:a16="http://schemas.microsoft.com/office/drawing/2014/main" id="{3125A488-63C1-44D6-94A8-161707BA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0"/>
            <a:ext cx="2852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results-separator-1">
            <a:extLst xmlns:a="http://schemas.openxmlformats.org/drawingml/2006/main">
              <a:ext uri="{FF2B5EF4-FFF2-40B4-BE49-F238E27FC236}">
                <a16:creationId xmlns:a16="http://schemas.microsoft.com/office/drawing/2014/main" id="{03AAB489-F762-4098-B0FD-7B8A0CD1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068050"/>
            <a:ext cx="1905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results-separator-2">
            <a:extLst xmlns:a="http://schemas.openxmlformats.org/drawingml/2006/main">
              <a:ext uri="{FF2B5EF4-FFF2-40B4-BE49-F238E27FC236}">
                <a16:creationId xmlns:a16="http://schemas.microsoft.com/office/drawing/2014/main" id="{66BB397F-7F6F-4D7D-856C-588A1D7E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9700" y="11068050"/>
            <a:ext cx="1905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results-system-label">
            <a:extLst xmlns:a="http://schemas.openxmlformats.org/drawingml/2006/main">
              <a:ext uri="{FF2B5EF4-FFF2-40B4-BE49-F238E27FC236}">
                <a16:creationId xmlns:a16="http://schemas.microsoft.com/office/drawing/2014/main" id="{C634303D-FE46-4D5F-BF04-1243B9BB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087100"/>
            <a:ext cx="845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RESULTS  |  SYSTEM</a:t>
            </a:r>
          </a:p>
        </p:txBody>
      </p:sp>
      <p:sp>
        <p:nvSpPr>
          <p:cNvPr id="69" name="results-system-title">
            <a:extLst xmlns:a="http://schemas.openxmlformats.org/drawingml/2006/main">
              <a:ext uri="{FF2B5EF4-FFF2-40B4-BE49-F238E27FC236}">
                <a16:creationId xmlns:a16="http://schemas.microsoft.com/office/drawing/2014/main" id="{D02F4369-E71F-4C0C-A65D-7F7E4DD3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525250"/>
            <a:ext cx="845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Grounding limits an otherwise strong system</a:t>
            </a:r>
          </a:p>
        </p:txBody>
      </p:sp>
      <p:sp>
        <p:nvSpPr>
          <p:cNvPr id="70" name="system-equation-panel">
            <a:extLst xmlns:a="http://schemas.openxmlformats.org/drawingml/2006/main">
              <a:ext uri="{FF2B5EF4-FFF2-40B4-BE49-F238E27FC236}">
                <a16:creationId xmlns:a16="http://schemas.microsoft.com/office/drawing/2014/main" id="{3DA5BB9B-88CE-4104-8E33-72D99F09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268200"/>
            <a:ext cx="8401050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eq-times-1">
            <a:extLst xmlns:a="http://schemas.openxmlformats.org/drawingml/2006/main">
              <a:ext uri="{FF2B5EF4-FFF2-40B4-BE49-F238E27FC236}">
                <a16:creationId xmlns:a16="http://schemas.microsoft.com/office/drawing/2014/main" id="{13094DF0-4892-4B34-94D3-B56C2C41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25825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700" b="1" i="0">
                <a:solidFill>
                  <a:srgbClr val="AEB5C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AEB5C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2" name="eq-times-2">
            <a:extLst xmlns:a="http://schemas.openxmlformats.org/drawingml/2006/main">
              <a:ext uri="{FF2B5EF4-FFF2-40B4-BE49-F238E27FC236}">
                <a16:creationId xmlns:a16="http://schemas.microsoft.com/office/drawing/2014/main" id="{5DC6F1EF-4464-49E0-86FE-ED47E5E6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25825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700" b="1" i="0">
                <a:solidFill>
                  <a:srgbClr val="AEB5C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AEB5C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3" name="eq-times-3">
            <a:extLst xmlns:a="http://schemas.openxmlformats.org/drawingml/2006/main">
              <a:ext uri="{FF2B5EF4-FFF2-40B4-BE49-F238E27FC236}">
                <a16:creationId xmlns:a16="http://schemas.microsoft.com/office/drawing/2014/main" id="{1B76DC45-DF86-437F-9C5C-7C7680A0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25825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700" b="1" i="0">
                <a:solidFill>
                  <a:srgbClr val="AEB5C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AEB5C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4" name="eq-equals">
            <a:extLst xmlns:a="http://schemas.openxmlformats.org/drawingml/2006/main">
              <a:ext uri="{FF2B5EF4-FFF2-40B4-BE49-F238E27FC236}">
                <a16:creationId xmlns:a16="http://schemas.microsoft.com/office/drawing/2014/main" id="{6B7B027F-ADD7-474D-BFEC-D05C4D1B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2553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75" name="equation-1-value">
            <a:extLst xmlns:a="http://schemas.openxmlformats.org/drawingml/2006/main">
              <a:ext uri="{FF2B5EF4-FFF2-40B4-BE49-F238E27FC236}">
                <a16:creationId xmlns:a16="http://schemas.microsoft.com/office/drawing/2014/main" id="{5C603DCB-799F-43B0-A60D-06F51A3F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5158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3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0.956</a:t>
            </a:r>
          </a:p>
        </p:txBody>
      </p:sp>
      <p:sp>
        <p:nvSpPr>
          <p:cNvPr id="76" name="equation-1-label">
            <a:extLst xmlns:a="http://schemas.openxmlformats.org/drawingml/2006/main">
              <a:ext uri="{FF2B5EF4-FFF2-40B4-BE49-F238E27FC236}">
                <a16:creationId xmlns:a16="http://schemas.microsoft.com/office/drawing/2014/main" id="{A049B672-4406-4788-8157-737A692E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31254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answer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77" name="equation-2-value">
            <a:extLst xmlns:a="http://schemas.openxmlformats.org/drawingml/2006/main">
              <a:ext uri="{FF2B5EF4-FFF2-40B4-BE49-F238E27FC236}">
                <a16:creationId xmlns:a16="http://schemas.microsoft.com/office/drawing/2014/main" id="{A8F7EDB2-E50C-4592-9A37-A4A94C6A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5158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3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0.847</a:t>
            </a:r>
          </a:p>
        </p:txBody>
      </p:sp>
      <p:sp>
        <p:nvSpPr>
          <p:cNvPr id="78" name="equation-2-label">
            <a:extLst xmlns:a="http://schemas.openxmlformats.org/drawingml/2006/main">
              <a:ext uri="{FF2B5EF4-FFF2-40B4-BE49-F238E27FC236}">
                <a16:creationId xmlns:a16="http://schemas.microsoft.com/office/drawing/2014/main" id="{34863F74-4F34-4569-B027-81F99E06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31254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grounding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100 answers</a:t>
            </a:r>
          </a:p>
        </p:txBody>
      </p:sp>
      <p:sp>
        <p:nvSpPr>
          <p:cNvPr id="79" name="equation-3-value">
            <a:extLst xmlns:a="http://schemas.openxmlformats.org/drawingml/2006/main">
              <a:ext uri="{FF2B5EF4-FFF2-40B4-BE49-F238E27FC236}">
                <a16:creationId xmlns:a16="http://schemas.microsoft.com/office/drawing/2014/main" id="{CC3E3337-CFE4-4EB2-AFA7-770BA06E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25158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3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1.000</a:t>
            </a:r>
          </a:p>
        </p:txBody>
      </p:sp>
      <p:sp>
        <p:nvSpPr>
          <p:cNvPr id="80" name="equation-3-label">
            <a:extLst xmlns:a="http://schemas.openxmlformats.org/drawingml/2006/main">
              <a:ext uri="{FF2B5EF4-FFF2-40B4-BE49-F238E27FC236}">
                <a16:creationId xmlns:a16="http://schemas.microsoft.com/office/drawing/2014/main" id="{279034F5-D727-4EE0-89A6-A3AD7729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31254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valid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81" name="equation-4-value">
            <a:extLst xmlns:a="http://schemas.openxmlformats.org/drawingml/2006/main">
              <a:ext uri="{FF2B5EF4-FFF2-40B4-BE49-F238E27FC236}">
                <a16:creationId xmlns:a16="http://schemas.microsoft.com/office/drawing/2014/main" id="{FE7E26F2-B437-4BEB-BF0F-B8F9DE0F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5158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3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0.938</a:t>
            </a:r>
          </a:p>
        </p:txBody>
      </p:sp>
      <p:sp>
        <p:nvSpPr>
          <p:cNvPr id="82" name="equation-4-label">
            <a:extLst xmlns:a="http://schemas.openxmlformats.org/drawingml/2006/main">
              <a:ext uri="{FF2B5EF4-FFF2-40B4-BE49-F238E27FC236}">
                <a16:creationId xmlns:a16="http://schemas.microsoft.com/office/drawing/2014/main" id="{A20F50E6-B897-43D2-847C-3F56537E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31254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latency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multiplier</a:t>
            </a:r>
          </a:p>
        </p:txBody>
      </p:sp>
      <p:sp>
        <p:nvSpPr>
          <p:cNvPr id="83" name="equation-5-value">
            <a:extLst xmlns:a="http://schemas.openxmlformats.org/drawingml/2006/main">
              <a:ext uri="{FF2B5EF4-FFF2-40B4-BE49-F238E27FC236}">
                <a16:creationId xmlns:a16="http://schemas.microsoft.com/office/drawing/2014/main" id="{D3F2AAE9-3362-40CE-8531-612A3C60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251585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6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0.759</a:t>
            </a:r>
          </a:p>
        </p:txBody>
      </p:sp>
      <p:sp>
        <p:nvSpPr>
          <p:cNvPr id="84" name="equation-5-label">
            <a:extLst xmlns:a="http://schemas.openxmlformats.org/drawingml/2006/main">
              <a:ext uri="{FF2B5EF4-FFF2-40B4-BE49-F238E27FC236}">
                <a16:creationId xmlns:a16="http://schemas.microsoft.com/office/drawing/2014/main" id="{B9EF7502-E44B-41F6-8C1C-B91FA8AD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3125450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total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85" name="grounding-warning">
            <a:extLst xmlns:a="http://schemas.openxmlformats.org/drawingml/2006/main">
              <a:ext uri="{FF2B5EF4-FFF2-40B4-BE49-F238E27FC236}">
                <a16:creationId xmlns:a16="http://schemas.microsoft.com/office/drawing/2014/main" id="{8956F124-0A54-4C55-BDA4-CBDA663B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3887450"/>
            <a:ext cx="13525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grounding-threshold">
            <a:extLst xmlns:a="http://schemas.openxmlformats.org/drawingml/2006/main">
              <a:ext uri="{FF2B5EF4-FFF2-40B4-BE49-F238E27FC236}">
                <a16:creationId xmlns:a16="http://schemas.microsoft.com/office/drawing/2014/main" id="{153D202C-EEE9-4272-9A35-050BD002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4049375"/>
            <a:ext cx="1790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H1 target 0.85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missed by 0.003</a:t>
            </a:r>
          </a:p>
        </p:txBody>
      </p:sp>
      <p:sp>
        <p:nvSpPr>
          <p:cNvPr id="87" name="valid-detail">
            <a:extLst xmlns:a="http://schemas.openxmlformats.org/drawingml/2006/main">
              <a:ext uri="{FF2B5EF4-FFF2-40B4-BE49-F238E27FC236}">
                <a16:creationId xmlns:a16="http://schemas.microsoft.com/office/drawing/2014/main" id="{B6F296D6-3FF5-4A0A-A84D-D57AEE57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049375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100/100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valid outputs</a:t>
            </a:r>
          </a:p>
        </p:txBody>
      </p:sp>
      <p:sp>
        <p:nvSpPr>
          <p:cNvPr id="88" name="latency-detail">
            <a:extLst xmlns:a="http://schemas.openxmlformats.org/drawingml/2006/main">
              <a:ext uri="{FF2B5EF4-FFF2-40B4-BE49-F238E27FC236}">
                <a16:creationId xmlns:a16="http://schemas.microsoft.com/office/drawing/2014/main" id="{D01557FD-69CD-4F8E-8152-1115BAD8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4049375"/>
            <a:ext cx="161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Mean TTFT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6.39 s</a:t>
            </a:r>
          </a:p>
        </p:txBody>
      </p:sp>
      <p:sp>
        <p:nvSpPr>
          <p:cNvPr id="89" name="answer-detail">
            <a:extLst xmlns:a="http://schemas.openxmlformats.org/drawingml/2006/main">
              <a:ext uri="{FF2B5EF4-FFF2-40B4-BE49-F238E27FC236}">
                <a16:creationId xmlns:a16="http://schemas.microsoft.com/office/drawing/2014/main" id="{3A356601-1D79-44CA-8E36-529D047B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240000"/>
            <a:ext cx="830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0.943 deterministic  |  0.987 free text</a:t>
            </a:r>
          </a:p>
        </p:txBody>
      </p:sp>
      <p:sp>
        <p:nvSpPr>
          <p:cNvPr id="90" name="system-interpretation">
            <a:extLst xmlns:a="http://schemas.openxmlformats.org/drawingml/2006/main">
              <a:ext uri="{FF2B5EF4-FFF2-40B4-BE49-F238E27FC236}">
                <a16:creationId xmlns:a16="http://schemas.microsoft.com/office/drawing/2014/main" id="{68E054AA-5DD6-45C3-B272-89C6E1A1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716250"/>
            <a:ext cx="8305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5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H1 is partly supported: quality, validity and latency pass; benchmark grounding misses 0.85.</a:t>
            </a:r>
          </a:p>
        </p:txBody>
      </p:sp>
      <p:sp>
        <p:nvSpPr>
          <p:cNvPr id="91" name="results-attribution-label">
            <a:extLst xmlns:a="http://schemas.openxmlformats.org/drawingml/2006/main">
              <a:ext uri="{FF2B5EF4-FFF2-40B4-BE49-F238E27FC236}">
                <a16:creationId xmlns:a16="http://schemas.microsoft.com/office/drawing/2014/main" id="{AC1608FE-36C0-4BB5-AB4F-91C8FDBC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0871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RESULTS  |  ATTRIBUTION</a:t>
            </a:r>
          </a:p>
        </p:txBody>
      </p:sp>
      <p:sp>
        <p:nvSpPr>
          <p:cNvPr id="92" name="results-attribution-title">
            <a:extLst xmlns:a="http://schemas.openxmlformats.org/drawingml/2006/main">
              <a:ext uri="{FF2B5EF4-FFF2-40B4-BE49-F238E27FC236}">
                <a16:creationId xmlns:a16="http://schemas.microsoft.com/office/drawing/2014/main" id="{E1C287D1-A93C-4A5B-975E-71F052D2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5252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Answer-aware selection removes citation noise</a:t>
            </a:r>
          </a:p>
        </p:txBody>
      </p:sp>
      <p:sp>
        <p:nvSpPr>
          <p:cNvPr id="93" name="attribution-sample">
            <a:extLst xmlns:a="http://schemas.openxmlformats.org/drawingml/2006/main">
              <a:ext uri="{FF2B5EF4-FFF2-40B4-BE49-F238E27FC236}">
                <a16:creationId xmlns:a16="http://schemas.microsoft.com/office/drawing/2014/main" id="{88543C9F-9176-4DA3-A7F6-0AB262EA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2001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Macro averages  |  n = 95 annotated questions</a:t>
            </a:r>
          </a:p>
        </p:txBody>
      </p:sp>
      <p:sp>
        <p:nvSpPr>
          <p:cNvPr id="94" name="plot-stage-1">
            <a:extLst xmlns:a="http://schemas.openxmlformats.org/drawingml/2006/main">
              <a:ext uri="{FF2B5EF4-FFF2-40B4-BE49-F238E27FC236}">
                <a16:creationId xmlns:a16="http://schemas.microsoft.com/office/drawing/2014/main" id="{0368BE9A-3013-47C1-BA65-A8537B42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2363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AEB5C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AEB5C0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95" name="plot-stage-2">
            <a:extLst xmlns:a="http://schemas.openxmlformats.org/drawingml/2006/main">
              <a:ext uri="{FF2B5EF4-FFF2-40B4-BE49-F238E27FC236}">
                <a16:creationId xmlns:a16="http://schemas.microsoft.com/office/drawing/2014/main" id="{E04EEB7B-3773-40DF-8F53-D2A71D91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12363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69C5E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69C5E8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96" name="plot-stage-3">
            <a:extLst xmlns:a="http://schemas.openxmlformats.org/drawingml/2006/main">
              <a:ext uri="{FF2B5EF4-FFF2-40B4-BE49-F238E27FC236}">
                <a16:creationId xmlns:a16="http://schemas.microsoft.com/office/drawing/2014/main" id="{93F920B2-D731-4B07-B366-EB5520A4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12363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FINAL</a:t>
            </a:r>
          </a:p>
        </p:txBody>
      </p:sp>
      <p:sp>
        <p:nvSpPr>
          <p:cNvPr id="97" name="precision-row-label">
            <a:extLst xmlns:a="http://schemas.openxmlformats.org/drawingml/2006/main">
              <a:ext uri="{FF2B5EF4-FFF2-40B4-BE49-F238E27FC236}">
                <a16:creationId xmlns:a16="http://schemas.microsoft.com/office/drawing/2014/main" id="{6DDC6D90-3A29-41FD-8B89-686DCE99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28206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98" name="precision-line-1">
            <a:extLst xmlns:a="http://schemas.openxmlformats.org/drawingml/2006/main">
              <a:ext uri="{FF2B5EF4-FFF2-40B4-BE49-F238E27FC236}">
                <a16:creationId xmlns:a16="http://schemas.microsoft.com/office/drawing/2014/main" id="{81B13883-FC5D-4BD7-90FD-DF3B3C23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63500" y="13029486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EB5C0"/>
            </a:solidFill>
            <a:prstDash val="solid"/>
          </a:ln>
        </p:spPr>
      </p:sp>
      <p:sp>
        <p:nvSpPr>
          <p:cNvPr id="99" name="precision-line-2">
            <a:extLst xmlns:a="http://schemas.openxmlformats.org/drawingml/2006/main">
              <a:ext uri="{FF2B5EF4-FFF2-40B4-BE49-F238E27FC236}">
                <a16:creationId xmlns:a16="http://schemas.microsoft.com/office/drawing/2014/main" id="{E5F95B2A-B07A-4BE9-BA2E-F437A4C5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716250" y="12825055"/>
            <a:ext cx="2952750" cy="2044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00" name="precision-dot-1">
            <a:extLst xmlns:a="http://schemas.openxmlformats.org/drawingml/2006/main">
              <a:ext uri="{FF2B5EF4-FFF2-40B4-BE49-F238E27FC236}">
                <a16:creationId xmlns:a16="http://schemas.microsoft.com/office/drawing/2014/main" id="{36D517F4-5BCC-49CE-801B-5A3D0F45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12915186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1" name="precision-value-1">
            <a:extLst xmlns:a="http://schemas.openxmlformats.org/drawingml/2006/main">
              <a:ext uri="{FF2B5EF4-FFF2-40B4-BE49-F238E27FC236}">
                <a16:creationId xmlns:a16="http://schemas.microsoft.com/office/drawing/2014/main" id="{33216CAA-0286-4A6A-94AA-45AC4DC9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2629436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63.8%</a:t>
            </a:r>
          </a:p>
        </p:txBody>
      </p:sp>
      <p:sp>
        <p:nvSpPr>
          <p:cNvPr id="102" name="precision-dot-2">
            <a:extLst xmlns:a="http://schemas.openxmlformats.org/drawingml/2006/main">
              <a:ext uri="{FF2B5EF4-FFF2-40B4-BE49-F238E27FC236}">
                <a16:creationId xmlns:a16="http://schemas.microsoft.com/office/drawing/2014/main" id="{F95620C8-60BD-4AEA-86D0-4FE55B67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12915186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C5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3" name="precision-value-2">
            <a:extLst xmlns:a="http://schemas.openxmlformats.org/drawingml/2006/main">
              <a:ext uri="{FF2B5EF4-FFF2-40B4-BE49-F238E27FC236}">
                <a16:creationId xmlns:a16="http://schemas.microsoft.com/office/drawing/2014/main" id="{E5019FED-63B8-4915-A047-E91920B5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12629436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63.8%</a:t>
            </a:r>
          </a:p>
        </p:txBody>
      </p:sp>
      <p:sp>
        <p:nvSpPr>
          <p:cNvPr id="104" name="precision-dot-3">
            <a:extLst xmlns:a="http://schemas.openxmlformats.org/drawingml/2006/main">
              <a:ext uri="{FF2B5EF4-FFF2-40B4-BE49-F238E27FC236}">
                <a16:creationId xmlns:a16="http://schemas.microsoft.com/office/drawing/2014/main" id="{5A64E241-536C-49A9-80D6-C5BA6BDB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700" y="1271075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5" name="precision-value-3">
            <a:extLst xmlns:a="http://schemas.openxmlformats.org/drawingml/2006/main">
              <a:ext uri="{FF2B5EF4-FFF2-40B4-BE49-F238E27FC236}">
                <a16:creationId xmlns:a16="http://schemas.microsoft.com/office/drawing/2014/main" id="{2897B051-50B5-4D7A-B726-300EFC63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1242500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73.9%</a:t>
            </a:r>
          </a:p>
        </p:txBody>
      </p:sp>
      <p:sp>
        <p:nvSpPr>
          <p:cNvPr id="106" name="recall-row-label">
            <a:extLst xmlns:a="http://schemas.openxmlformats.org/drawingml/2006/main">
              <a:ext uri="{FF2B5EF4-FFF2-40B4-BE49-F238E27FC236}">
                <a16:creationId xmlns:a16="http://schemas.microsoft.com/office/drawing/2014/main" id="{FE60996A-D986-4409-BBCC-8A507B32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35064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107" name="recall-line-1">
            <a:extLst xmlns:a="http://schemas.openxmlformats.org/drawingml/2006/main">
              <a:ext uri="{FF2B5EF4-FFF2-40B4-BE49-F238E27FC236}">
                <a16:creationId xmlns:a16="http://schemas.microsoft.com/office/drawing/2014/main" id="{16AC0336-48FE-46A2-B8D7-14B708B6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63500" y="13565505"/>
            <a:ext cx="2952750" cy="485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EB5C0"/>
            </a:solidFill>
            <a:prstDash val="solid"/>
          </a:ln>
        </p:spPr>
      </p:sp>
      <p:sp>
        <p:nvSpPr>
          <p:cNvPr id="108" name="recall-line-2">
            <a:extLst xmlns:a="http://schemas.openxmlformats.org/drawingml/2006/main">
              <a:ext uri="{FF2B5EF4-FFF2-40B4-BE49-F238E27FC236}">
                <a16:creationId xmlns:a16="http://schemas.microsoft.com/office/drawing/2014/main" id="{3171671E-4CAA-4272-AB13-28E60466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16250" y="13614083"/>
            <a:ext cx="2952750" cy="809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09" name="recall-dot-1">
            <a:extLst xmlns:a="http://schemas.openxmlformats.org/drawingml/2006/main">
              <a:ext uri="{FF2B5EF4-FFF2-40B4-BE49-F238E27FC236}">
                <a16:creationId xmlns:a16="http://schemas.microsoft.com/office/drawing/2014/main" id="{F3AF2C9E-60A8-4211-9612-2C0FA2FF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1345120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0" name="recall-value-1">
            <a:extLst xmlns:a="http://schemas.openxmlformats.org/drawingml/2006/main">
              <a:ext uri="{FF2B5EF4-FFF2-40B4-BE49-F238E27FC236}">
                <a16:creationId xmlns:a16="http://schemas.microsoft.com/office/drawing/2014/main" id="{93675CDF-9497-476F-8D14-8403CB7F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316545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96.8%</a:t>
            </a:r>
          </a:p>
        </p:txBody>
      </p:sp>
      <p:sp>
        <p:nvSpPr>
          <p:cNvPr id="111" name="recall-dot-2">
            <a:extLst xmlns:a="http://schemas.openxmlformats.org/drawingml/2006/main">
              <a:ext uri="{FF2B5EF4-FFF2-40B4-BE49-F238E27FC236}">
                <a16:creationId xmlns:a16="http://schemas.microsoft.com/office/drawing/2014/main" id="{EACEC4EA-7814-49C5-9B17-7239A236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13499783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C5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2" name="recall-value-2">
            <a:extLst xmlns:a="http://schemas.openxmlformats.org/drawingml/2006/main">
              <a:ext uri="{FF2B5EF4-FFF2-40B4-BE49-F238E27FC236}">
                <a16:creationId xmlns:a16="http://schemas.microsoft.com/office/drawing/2014/main" id="{D2A53BF8-0471-479C-BC65-EB04AC0A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13214033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96.2%</a:t>
            </a:r>
          </a:p>
        </p:txBody>
      </p:sp>
      <p:sp>
        <p:nvSpPr>
          <p:cNvPr id="113" name="recall-dot-3">
            <a:extLst xmlns:a="http://schemas.openxmlformats.org/drawingml/2006/main">
              <a:ext uri="{FF2B5EF4-FFF2-40B4-BE49-F238E27FC236}">
                <a16:creationId xmlns:a16="http://schemas.microsoft.com/office/drawing/2014/main" id="{8C660FD2-FC6A-461A-BB08-6581270B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700" y="1358074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4" name="recall-value-3">
            <a:extLst xmlns:a="http://schemas.openxmlformats.org/drawingml/2006/main">
              <a:ext uri="{FF2B5EF4-FFF2-40B4-BE49-F238E27FC236}">
                <a16:creationId xmlns:a16="http://schemas.microsoft.com/office/drawing/2014/main" id="{A8C788DA-12FD-42B1-BD8E-4DDEABCA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1329499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95.2%</a:t>
            </a:r>
          </a:p>
        </p:txBody>
      </p:sp>
      <p:sp>
        <p:nvSpPr>
          <p:cNvPr id="115" name="fbeta-row-label">
            <a:extLst xmlns:a="http://schemas.openxmlformats.org/drawingml/2006/main">
              <a:ext uri="{FF2B5EF4-FFF2-40B4-BE49-F238E27FC236}">
                <a16:creationId xmlns:a16="http://schemas.microsoft.com/office/drawing/2014/main" id="{0EE5DC73-5702-4ECA-8706-9FAEA723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41922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F-beta</a:t>
            </a:r>
          </a:p>
        </p:txBody>
      </p:sp>
      <p:sp>
        <p:nvSpPr>
          <p:cNvPr id="116" name="fbeta-line-1">
            <a:extLst xmlns:a="http://schemas.openxmlformats.org/drawingml/2006/main">
              <a:ext uri="{FF2B5EF4-FFF2-40B4-BE49-F238E27FC236}">
                <a16:creationId xmlns:a16="http://schemas.microsoft.com/office/drawing/2014/main" id="{7B79D9D2-C4FB-4D09-B3F4-E17C0090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63500" y="14366966"/>
            <a:ext cx="2952750" cy="370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EB5C0"/>
            </a:solidFill>
            <a:prstDash val="solid"/>
          </a:ln>
        </p:spPr>
      </p:sp>
      <p:sp>
        <p:nvSpPr>
          <p:cNvPr id="117" name="fbeta-line-2">
            <a:extLst xmlns:a="http://schemas.openxmlformats.org/drawingml/2006/main">
              <a:ext uri="{FF2B5EF4-FFF2-40B4-BE49-F238E27FC236}">
                <a16:creationId xmlns:a16="http://schemas.microsoft.com/office/drawing/2014/main" id="{7BCC0256-16C2-4986-B127-DD1B4705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716250" y="14228173"/>
            <a:ext cx="2952750" cy="1758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18" name="fbeta-dot-1">
            <a:extLst xmlns:a="http://schemas.openxmlformats.org/drawingml/2006/main">
              <a:ext uri="{FF2B5EF4-FFF2-40B4-BE49-F238E27FC236}">
                <a16:creationId xmlns:a16="http://schemas.microsoft.com/office/drawing/2014/main" id="{4F74B2B0-C697-44C2-9DC4-8EF5F937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14252666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9" name="fbeta-value-1">
            <a:extLst xmlns:a="http://schemas.openxmlformats.org/drawingml/2006/main">
              <a:ext uri="{FF2B5EF4-FFF2-40B4-BE49-F238E27FC236}">
                <a16:creationId xmlns:a16="http://schemas.microsoft.com/office/drawing/2014/main" id="{FCA7DC52-65F0-4DBE-957F-49804E92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3966916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87.7%</a:t>
            </a:r>
          </a:p>
        </p:txBody>
      </p:sp>
      <p:sp>
        <p:nvSpPr>
          <p:cNvPr id="120" name="fbeta-dot-2">
            <a:extLst xmlns:a="http://schemas.openxmlformats.org/drawingml/2006/main">
              <a:ext uri="{FF2B5EF4-FFF2-40B4-BE49-F238E27FC236}">
                <a16:creationId xmlns:a16="http://schemas.microsoft.com/office/drawing/2014/main" id="{7DDCEA21-3134-4F91-ADF1-7E7604B5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14289677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C5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1" name="fbeta-value-2">
            <a:extLst xmlns:a="http://schemas.openxmlformats.org/drawingml/2006/main">
              <a:ext uri="{FF2B5EF4-FFF2-40B4-BE49-F238E27FC236}">
                <a16:creationId xmlns:a16="http://schemas.microsoft.com/office/drawing/2014/main" id="{98CE0FDC-D241-4716-83A6-52CB2B6E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14003927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87.3%</a:t>
            </a:r>
          </a:p>
        </p:txBody>
      </p:sp>
      <p:sp>
        <p:nvSpPr>
          <p:cNvPr id="122" name="fbeta-dot-3">
            <a:extLst xmlns:a="http://schemas.openxmlformats.org/drawingml/2006/main">
              <a:ext uri="{FF2B5EF4-FFF2-40B4-BE49-F238E27FC236}">
                <a16:creationId xmlns:a16="http://schemas.microsoft.com/office/drawing/2014/main" id="{9BD060E5-9CA9-4F8D-BB0C-07BDB013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700" y="14113873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3" name="fbeta-value-3">
            <a:extLst xmlns:a="http://schemas.openxmlformats.org/drawingml/2006/main">
              <a:ext uri="{FF2B5EF4-FFF2-40B4-BE49-F238E27FC236}">
                <a16:creationId xmlns:a16="http://schemas.microsoft.com/office/drawing/2014/main" id="{DC8C1967-9434-4BC7-B399-411394DF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13828123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89.2%</a:t>
            </a:r>
          </a:p>
        </p:txBody>
      </p:sp>
      <p:sp>
        <p:nvSpPr>
          <p:cNvPr id="124" name="pages-row-label">
            <a:extLst xmlns:a="http://schemas.openxmlformats.org/drawingml/2006/main">
              <a:ext uri="{FF2B5EF4-FFF2-40B4-BE49-F238E27FC236}">
                <a16:creationId xmlns:a16="http://schemas.microsoft.com/office/drawing/2014/main" id="{2C1DBEF5-424C-4FAC-BD44-7E355B62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48780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Pages / Q</a:t>
            </a:r>
          </a:p>
        </p:txBody>
      </p:sp>
      <p:sp>
        <p:nvSpPr>
          <p:cNvPr id="125" name="pages-line-1">
            <a:extLst xmlns:a="http://schemas.openxmlformats.org/drawingml/2006/main">
              <a:ext uri="{FF2B5EF4-FFF2-40B4-BE49-F238E27FC236}">
                <a16:creationId xmlns:a16="http://schemas.microsoft.com/office/drawing/2014/main" id="{906F0E9F-97C9-4F4C-BB4B-EAE42E87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63500" y="14898243"/>
            <a:ext cx="2952750" cy="129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EB5C0"/>
            </a:solidFill>
            <a:prstDash val="solid"/>
          </a:ln>
        </p:spPr>
      </p:sp>
      <p:sp>
        <p:nvSpPr>
          <p:cNvPr id="126" name="pages-line-2">
            <a:extLst xmlns:a="http://schemas.openxmlformats.org/drawingml/2006/main">
              <a:ext uri="{FF2B5EF4-FFF2-40B4-BE49-F238E27FC236}">
                <a16:creationId xmlns:a16="http://schemas.microsoft.com/office/drawing/2014/main" id="{362D9E47-2548-4EE8-B076-6ACC6EFA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16250" y="14911197"/>
            <a:ext cx="2952750" cy="2007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27" name="pages-dot-1">
            <a:extLst xmlns:a="http://schemas.openxmlformats.org/drawingml/2006/main">
              <a:ext uri="{FF2B5EF4-FFF2-40B4-BE49-F238E27FC236}">
                <a16:creationId xmlns:a16="http://schemas.microsoft.com/office/drawing/2014/main" id="{03C33AB2-9323-497E-94AD-12422D66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14783943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8" name="pages-value-1">
            <a:extLst xmlns:a="http://schemas.openxmlformats.org/drawingml/2006/main">
              <a:ext uri="{FF2B5EF4-FFF2-40B4-BE49-F238E27FC236}">
                <a16:creationId xmlns:a16="http://schemas.microsoft.com/office/drawing/2014/main" id="{D769C10C-D6FE-4957-BE83-6D9642D4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4498193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2.56</a:t>
            </a:r>
          </a:p>
        </p:txBody>
      </p:sp>
      <p:sp>
        <p:nvSpPr>
          <p:cNvPr id="129" name="pages-dot-2">
            <a:extLst xmlns:a="http://schemas.openxmlformats.org/drawingml/2006/main">
              <a:ext uri="{FF2B5EF4-FFF2-40B4-BE49-F238E27FC236}">
                <a16:creationId xmlns:a16="http://schemas.microsoft.com/office/drawing/2014/main" id="{1DF16806-67EE-4B9C-A8F8-6B851E7D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14796897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C5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0" name="pages-value-2">
            <a:extLst xmlns:a="http://schemas.openxmlformats.org/drawingml/2006/main">
              <a:ext uri="{FF2B5EF4-FFF2-40B4-BE49-F238E27FC236}">
                <a16:creationId xmlns:a16="http://schemas.microsoft.com/office/drawing/2014/main" id="{7CE05103-F04B-47A9-80A0-67B0DFB6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14511147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2.54</a:t>
            </a:r>
          </a:p>
        </p:txBody>
      </p:sp>
      <p:sp>
        <p:nvSpPr>
          <p:cNvPr id="131" name="pages-dot-3">
            <a:extLst xmlns:a="http://schemas.openxmlformats.org/drawingml/2006/main">
              <a:ext uri="{FF2B5EF4-FFF2-40B4-BE49-F238E27FC236}">
                <a16:creationId xmlns:a16="http://schemas.microsoft.com/office/drawing/2014/main" id="{81181FB1-9A0E-4CE4-BBB3-5CBAB729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700" y="14997684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2" name="pages-value-3">
            <a:extLst xmlns:a="http://schemas.openxmlformats.org/drawingml/2006/main">
              <a:ext uri="{FF2B5EF4-FFF2-40B4-BE49-F238E27FC236}">
                <a16:creationId xmlns:a16="http://schemas.microsoft.com/office/drawing/2014/main" id="{4FC62114-0BC6-4D83-AEA0-7B48D51D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14711934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2.23</a:t>
            </a:r>
          </a:p>
        </p:txBody>
      </p:sp>
      <p:sp>
        <p:nvSpPr>
          <p:cNvPr id="133" name="attribution-callout-rule">
            <a:extLst xmlns:a="http://schemas.openxmlformats.org/drawingml/2006/main">
              <a:ext uri="{FF2B5EF4-FFF2-40B4-BE49-F238E27FC236}">
                <a16:creationId xmlns:a16="http://schemas.microsoft.com/office/drawing/2014/main" id="{561EE792-4A45-4AFD-8F19-C8BA9846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5733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callout-accent-1">
            <a:extLst xmlns:a="http://schemas.openxmlformats.org/drawingml/2006/main">
              <a:ext uri="{FF2B5EF4-FFF2-40B4-BE49-F238E27FC236}">
                <a16:creationId xmlns:a16="http://schemas.microsoft.com/office/drawing/2014/main" id="{25AF1A6E-9164-44B1-9624-7BE9F4A9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7162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callout-value-1">
            <a:extLst xmlns:a="http://schemas.openxmlformats.org/drawingml/2006/main">
              <a:ext uri="{FF2B5EF4-FFF2-40B4-BE49-F238E27FC236}">
                <a16:creationId xmlns:a16="http://schemas.microsoft.com/office/drawing/2014/main" id="{4C4BD8CC-2E82-4D9C-B85B-B737A84C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5659100"/>
            <a:ext cx="320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+10.2 pp</a:t>
            </a:r>
          </a:p>
        </p:txBody>
      </p:sp>
      <p:sp>
        <p:nvSpPr>
          <p:cNvPr id="136" name="callout-label-1">
            <a:extLst xmlns:a="http://schemas.openxmlformats.org/drawingml/2006/main">
              <a:ext uri="{FF2B5EF4-FFF2-40B4-BE49-F238E27FC236}">
                <a16:creationId xmlns:a16="http://schemas.microsoft.com/office/drawing/2014/main" id="{995B1EC0-98D3-4FF3-AF60-A6B9CD7C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078200"/>
            <a:ext cx="320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precision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95% CI +6.3 to +14.4</a:t>
            </a:r>
          </a:p>
        </p:txBody>
      </p:sp>
      <p:sp>
        <p:nvSpPr>
          <p:cNvPr id="137" name="callout-accent-2">
            <a:extLst xmlns:a="http://schemas.openxmlformats.org/drawingml/2006/main">
              <a:ext uri="{FF2B5EF4-FFF2-40B4-BE49-F238E27FC236}">
                <a16:creationId xmlns:a16="http://schemas.microsoft.com/office/drawing/2014/main" id="{22FD0B49-D280-4A4C-8C69-F4CE3EDC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3250" y="157162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callout-value-2">
            <a:extLst xmlns:a="http://schemas.openxmlformats.org/drawingml/2006/main">
              <a:ext uri="{FF2B5EF4-FFF2-40B4-BE49-F238E27FC236}">
                <a16:creationId xmlns:a16="http://schemas.microsoft.com/office/drawing/2014/main" id="{3CA5416E-DD57-4E1C-A1B6-2F657310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2800" y="15659100"/>
            <a:ext cx="320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-0.33</a:t>
            </a:r>
          </a:p>
        </p:txBody>
      </p:sp>
      <p:sp>
        <p:nvSpPr>
          <p:cNvPr id="139" name="callout-label-2">
            <a:extLst xmlns:a="http://schemas.openxmlformats.org/drawingml/2006/main">
              <a:ext uri="{FF2B5EF4-FFF2-40B4-BE49-F238E27FC236}">
                <a16:creationId xmlns:a16="http://schemas.microsoft.com/office/drawing/2014/main" id="{5F92E967-FEA9-43CA-B6C7-9B78C0C8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2800" y="16078200"/>
            <a:ext cx="320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pages / question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95% CI -0.46 to -0.20</a:t>
            </a:r>
          </a:p>
        </p:txBody>
      </p:sp>
      <p:sp>
        <p:nvSpPr>
          <p:cNvPr id="140" name="callout-accent-3">
            <a:extLst xmlns:a="http://schemas.openxmlformats.org/drawingml/2006/main">
              <a:ext uri="{FF2B5EF4-FFF2-40B4-BE49-F238E27FC236}">
                <a16:creationId xmlns:a16="http://schemas.microsoft.com/office/drawing/2014/main" id="{7285EF9E-10C1-446E-A0A2-FAA2BA22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5750" y="157162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callout-value-3">
            <a:extLst xmlns:a="http://schemas.openxmlformats.org/drawingml/2006/main">
              <a:ext uri="{FF2B5EF4-FFF2-40B4-BE49-F238E27FC236}">
                <a16:creationId xmlns:a16="http://schemas.microsoft.com/office/drawing/2014/main" id="{21E3080C-A3E5-418C-B72A-B9C75347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5300" y="15659100"/>
            <a:ext cx="320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1" i="0">
                <a:solidFill>
                  <a:srgbClr val="69C5E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69C5E8"/>
                </a:solidFill>
                <a:latin typeface="Arial"/>
                <a:ea typeface="Arial"/>
                <a:cs typeface="Arial"/>
              </a:rPr>
              <a:t>95/95</a:t>
            </a:r>
          </a:p>
        </p:txBody>
      </p:sp>
      <p:sp>
        <p:nvSpPr>
          <p:cNvPr id="142" name="callout-label-3">
            <a:extLst xmlns:a="http://schemas.openxmlformats.org/drawingml/2006/main">
              <a:ext uri="{FF2B5EF4-FFF2-40B4-BE49-F238E27FC236}">
                <a16:creationId xmlns:a16="http://schemas.microsoft.com/office/drawing/2014/main" id="{5E00BDCF-F069-4094-9B8F-B3F2119B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5300" y="16078200"/>
            <a:ext cx="320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retain at least one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correct page</a:t>
            </a:r>
          </a:p>
        </p:txBody>
      </p:sp>
      <p:sp>
        <p:nvSpPr>
          <p:cNvPr id="143" name="results-boundary-label">
            <a:extLst xmlns:a="http://schemas.openxmlformats.org/drawingml/2006/main">
              <a:ext uri="{FF2B5EF4-FFF2-40B4-BE49-F238E27FC236}">
                <a16:creationId xmlns:a16="http://schemas.microsoft.com/office/drawing/2014/main" id="{6C3AB6B5-D1ED-4B1F-9F04-D1907E15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1087100"/>
            <a:ext cx="865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RESULTS  |  BOUNDARY</a:t>
            </a:r>
          </a:p>
        </p:txBody>
      </p:sp>
      <p:sp>
        <p:nvSpPr>
          <p:cNvPr id="144" name="results-boundary-title">
            <a:extLst xmlns:a="http://schemas.openxmlformats.org/drawingml/2006/main">
              <a:ext uri="{FF2B5EF4-FFF2-40B4-BE49-F238E27FC236}">
                <a16:creationId xmlns:a16="http://schemas.microsoft.com/office/drawing/2014/main" id="{0FDEFEC8-18FE-4038-A515-78D23912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1525250"/>
            <a:ext cx="865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30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Narrowing helps local - and hurts distributed evidence</a:t>
            </a:r>
          </a:p>
        </p:txBody>
      </p:sp>
      <p:sp>
        <p:nvSpPr>
          <p:cNvPr id="145" name="boundary-subtitle">
            <a:extLst xmlns:a="http://schemas.openxmlformats.org/drawingml/2006/main">
              <a:ext uri="{FF2B5EF4-FFF2-40B4-BE49-F238E27FC236}">
                <a16:creationId xmlns:a16="http://schemas.microsoft.com/office/drawing/2014/main" id="{7E604D2A-DFD8-4A96-A976-E7A60C42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2334875"/>
            <a:ext cx="865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Exploratory F-beta change, raw -&gt; final</a:t>
            </a:r>
          </a:p>
        </p:txBody>
      </p:sp>
      <p:sp>
        <p:nvSpPr>
          <p:cNvPr id="146" name="boundary-zero-line">
            <a:extLst xmlns:a="http://schemas.openxmlformats.org/drawingml/2006/main">
              <a:ext uri="{FF2B5EF4-FFF2-40B4-BE49-F238E27FC236}">
                <a16:creationId xmlns:a16="http://schemas.microsoft.com/office/drawing/2014/main" id="{33C159F8-0A11-4EEB-9E71-6F8DA864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025" y="12715875"/>
            <a:ext cx="2857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single-page-label">
            <a:extLst xmlns:a="http://schemas.openxmlformats.org/drawingml/2006/main">
              <a:ext uri="{FF2B5EF4-FFF2-40B4-BE49-F238E27FC236}">
                <a16:creationId xmlns:a16="http://schemas.microsoft.com/office/drawing/2014/main" id="{C243AC3A-EB9B-4759-8D3D-CDD4AB27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2801600"/>
            <a:ext cx="2714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Single page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 = 59</a:t>
            </a:r>
          </a:p>
        </p:txBody>
      </p:sp>
      <p:sp>
        <p:nvSpPr>
          <p:cNvPr id="148" name="single-page-bar">
            <a:extLst xmlns:a="http://schemas.openxmlformats.org/drawingml/2006/main">
              <a:ext uri="{FF2B5EF4-FFF2-40B4-BE49-F238E27FC236}">
                <a16:creationId xmlns:a16="http://schemas.microsoft.com/office/drawing/2014/main" id="{B52D4413-287A-41A7-87BF-AA8D31DB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025" y="12906375"/>
            <a:ext cx="274320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single-page-value">
            <a:extLst xmlns:a="http://schemas.openxmlformats.org/drawingml/2006/main">
              <a:ext uri="{FF2B5EF4-FFF2-40B4-BE49-F238E27FC236}">
                <a16:creationId xmlns:a16="http://schemas.microsoft.com/office/drawing/2014/main" id="{9E225C1C-D996-41B5-A17E-4D1105AB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2575" y="128587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+4.0 pp</a:t>
            </a:r>
          </a:p>
        </p:txBody>
      </p:sp>
      <p:sp>
        <p:nvSpPr>
          <p:cNvPr id="150" name="multi-page-label">
            <a:extLst xmlns:a="http://schemas.openxmlformats.org/drawingml/2006/main">
              <a:ext uri="{FF2B5EF4-FFF2-40B4-BE49-F238E27FC236}">
                <a16:creationId xmlns:a16="http://schemas.microsoft.com/office/drawing/2014/main" id="{A6FBEC8D-DDF4-4997-A743-836E55AA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3487400"/>
            <a:ext cx="2714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Multi page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 = 36</a:t>
            </a:r>
          </a:p>
        </p:txBody>
      </p:sp>
      <p:sp>
        <p:nvSpPr>
          <p:cNvPr id="151" name="multi-page-bar">
            <a:extLst xmlns:a="http://schemas.openxmlformats.org/drawingml/2006/main">
              <a:ext uri="{FF2B5EF4-FFF2-40B4-BE49-F238E27FC236}">
                <a16:creationId xmlns:a16="http://schemas.microsoft.com/office/drawing/2014/main" id="{83FA3F12-FA18-4DF8-9273-6D7AF789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2945" y="13592175"/>
            <a:ext cx="178308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multi-page-value">
            <a:extLst xmlns:a="http://schemas.openxmlformats.org/drawingml/2006/main">
              <a:ext uri="{FF2B5EF4-FFF2-40B4-BE49-F238E27FC236}">
                <a16:creationId xmlns:a16="http://schemas.microsoft.com/office/drawing/2014/main" id="{311B91A0-F6A3-48A0-824C-8059E64B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1395" y="135445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-2.6 pp</a:t>
            </a:r>
          </a:p>
        </p:txBody>
      </p:sp>
      <p:sp>
        <p:nvSpPr>
          <p:cNvPr id="153" name="single-doc-label">
            <a:extLst xmlns:a="http://schemas.openxmlformats.org/drawingml/2006/main">
              <a:ext uri="{FF2B5EF4-FFF2-40B4-BE49-F238E27FC236}">
                <a16:creationId xmlns:a16="http://schemas.microsoft.com/office/drawing/2014/main" id="{27E1E36F-FC61-4BB5-ACB5-E7D68060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4173200"/>
            <a:ext cx="2714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Single document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 = 60</a:t>
            </a:r>
          </a:p>
        </p:txBody>
      </p:sp>
      <p:sp>
        <p:nvSpPr>
          <p:cNvPr id="154" name="single-doc-bar">
            <a:extLst xmlns:a="http://schemas.openxmlformats.org/drawingml/2006/main">
              <a:ext uri="{FF2B5EF4-FFF2-40B4-BE49-F238E27FC236}">
                <a16:creationId xmlns:a16="http://schemas.microsoft.com/office/drawing/2014/main" id="{1355C24D-7AAF-4245-A5B1-6989DC89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025" y="14277975"/>
            <a:ext cx="219456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single-doc-value">
            <a:extLst xmlns:a="http://schemas.openxmlformats.org/drawingml/2006/main">
              <a:ext uri="{FF2B5EF4-FFF2-40B4-BE49-F238E27FC236}">
                <a16:creationId xmlns:a16="http://schemas.microsoft.com/office/drawing/2014/main" id="{FBDEF9D6-CDCC-4DC1-A8D0-13EF8924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3935" y="142303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+3.2 pp</a:t>
            </a:r>
          </a:p>
        </p:txBody>
      </p:sp>
      <p:sp>
        <p:nvSpPr>
          <p:cNvPr id="156" name="multi-doc-label">
            <a:extLst xmlns:a="http://schemas.openxmlformats.org/drawingml/2006/main">
              <a:ext uri="{FF2B5EF4-FFF2-40B4-BE49-F238E27FC236}">
                <a16:creationId xmlns:a16="http://schemas.microsoft.com/office/drawing/2014/main" id="{233106D0-631F-4E0B-A7F7-C6FF2D1E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4859000"/>
            <a:ext cx="2714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Multi document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 = 35</a:t>
            </a:r>
          </a:p>
        </p:txBody>
      </p:sp>
      <p:sp>
        <p:nvSpPr>
          <p:cNvPr id="157" name="multi-doc-bar">
            <a:extLst xmlns:a="http://schemas.openxmlformats.org/drawingml/2006/main">
              <a:ext uri="{FF2B5EF4-FFF2-40B4-BE49-F238E27FC236}">
                <a16:creationId xmlns:a16="http://schemas.microsoft.com/office/drawing/2014/main" id="{0055B1FB-B827-47E0-B7DF-0DD44456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5905" y="14963775"/>
            <a:ext cx="96012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multi-doc-value">
            <a:extLst xmlns:a="http://schemas.openxmlformats.org/drawingml/2006/main">
              <a:ext uri="{FF2B5EF4-FFF2-40B4-BE49-F238E27FC236}">
                <a16:creationId xmlns:a16="http://schemas.microsoft.com/office/drawing/2014/main" id="{9B29956A-2389-4488-8EFB-E217899A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4355" y="149161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-1.4 pp</a:t>
            </a:r>
          </a:p>
        </p:txBody>
      </p:sp>
      <p:sp>
        <p:nvSpPr>
          <p:cNvPr id="159" name="boundary-axis-left">
            <a:extLst xmlns:a="http://schemas.openxmlformats.org/drawingml/2006/main">
              <a:ext uri="{FF2B5EF4-FFF2-40B4-BE49-F238E27FC236}">
                <a16:creationId xmlns:a16="http://schemas.microsoft.com/office/drawing/2014/main" id="{0F3A640E-0F17-4E27-A38F-5A18695B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7650" y="157638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-3 pp</a:t>
            </a:r>
          </a:p>
        </p:txBody>
      </p:sp>
      <p:sp>
        <p:nvSpPr>
          <p:cNvPr id="160" name="boundary-axis-zero">
            <a:extLst xmlns:a="http://schemas.openxmlformats.org/drawingml/2006/main">
              <a:ext uri="{FF2B5EF4-FFF2-40B4-BE49-F238E27FC236}">
                <a16:creationId xmlns:a16="http://schemas.microsoft.com/office/drawing/2014/main" id="{DC614655-58E9-4DFA-8AFD-7F868BBF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0275" y="1576387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1" name="boundary-axis-right">
            <a:extLst xmlns:a="http://schemas.openxmlformats.org/drawingml/2006/main">
              <a:ext uri="{FF2B5EF4-FFF2-40B4-BE49-F238E27FC236}">
                <a16:creationId xmlns:a16="http://schemas.microsoft.com/office/drawing/2014/main" id="{42B43841-5C35-410D-80CC-E0D062D7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0" y="157638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+5 pp</a:t>
            </a:r>
          </a:p>
        </p:txBody>
      </p:sp>
      <p:sp>
        <p:nvSpPr>
          <p:cNvPr id="162" name="boundary-conclusion">
            <a:extLst xmlns:a="http://schemas.openxmlformats.org/drawingml/2006/main">
              <a:ext uri="{FF2B5EF4-FFF2-40B4-BE49-F238E27FC236}">
                <a16:creationId xmlns:a16="http://schemas.microsoft.com/office/drawing/2014/main" id="{771B6F61-4740-411F-8B9B-37D89687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6211550"/>
            <a:ext cx="865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Multi-page regression (-2.6 pp) is the clearest failure boundary.</a:t>
            </a:r>
          </a:p>
        </p:txBody>
      </p:sp>
      <p:sp>
        <p:nvSpPr>
          <p:cNvPr id="163" name="metric-distinction-bg">
            <a:extLst xmlns:a="http://schemas.openxmlformats.org/drawingml/2006/main">
              <a:ext uri="{FF2B5EF4-FFF2-40B4-BE49-F238E27FC236}">
                <a16:creationId xmlns:a16="http://schemas.microsoft.com/office/drawing/2014/main" id="{EFF4849A-E8BA-4451-8437-865C5EEA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44950"/>
            <a:ext cx="28523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metric-distinction">
            <a:extLst xmlns:a="http://schemas.openxmlformats.org/drawingml/2006/main">
              <a:ext uri="{FF2B5EF4-FFF2-40B4-BE49-F238E27FC236}">
                <a16:creationId xmlns:a16="http://schemas.microsoft.com/office/drawing/2014/main" id="{2B2A38CE-3F26-455F-ACEC-FD145D8E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821150"/>
            <a:ext cx="2795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Do not conflate: benchmark grounding 0.847 = all 100 answers; macro page F-beta 0.892 = final attribution on 95 annotated questions.</a:t>
            </a:r>
          </a:p>
        </p:txBody>
      </p:sp>
      <p:sp>
        <p:nvSpPr>
          <p:cNvPr id="165" name="decision-strip">
            <a:extLst xmlns:a="http://schemas.openxmlformats.org/drawingml/2006/main">
              <a:ext uri="{FF2B5EF4-FFF2-40B4-BE49-F238E27FC236}">
                <a16:creationId xmlns:a16="http://schemas.microsoft.com/office/drawing/2014/main" id="{61C8A994-DEF2-4A73-942E-F63A61CD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83125"/>
            <a:ext cx="285234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D1065BD0-3502-4566-8ED5-47EE6D11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6022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1" i="0">
                <a:solidFill>
                  <a:srgbClr val="69C5E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69C5E8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67" name="decision-text">
            <a:extLst xmlns:a="http://schemas.openxmlformats.org/drawingml/2006/main">
              <a:ext uri="{FF2B5EF4-FFF2-40B4-BE49-F238E27FC236}">
                <a16:creationId xmlns:a16="http://schemas.microsoft.com/office/drawing/2014/main" id="{4BC2AD46-AE99-4275-B8FD-2FFC1DD9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573625"/>
            <a:ext cx="2509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 broadly. Attribute explicitly. Narrow conservatively when evidence spans pages or documents.</a:t>
            </a:r>
          </a:p>
        </p:txBody>
      </p:sp>
      <p:sp>
        <p:nvSpPr>
          <p:cNvPr id="168" name="limitations-label">
            <a:extLst xmlns:a="http://schemas.openxmlformats.org/drawingml/2006/main">
              <a:ext uri="{FF2B5EF4-FFF2-40B4-BE49-F238E27FC236}">
                <a16:creationId xmlns:a16="http://schemas.microsoft.com/office/drawing/2014/main" id="{72DCA79A-B7B5-490E-850D-5046612D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169" name="limitation-rule-1">
            <a:extLst xmlns:a="http://schemas.openxmlformats.org/drawingml/2006/main">
              <a:ext uri="{FF2B5EF4-FFF2-40B4-BE49-F238E27FC236}">
                <a16:creationId xmlns:a16="http://schemas.microsoft.com/office/drawing/2014/main" id="{11A5E509-C3D6-47A4-BB9C-34A2CF4A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88100"/>
            <a:ext cx="8096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limitation-head-1">
            <a:extLst xmlns:a="http://schemas.openxmlformats.org/drawingml/2006/main">
              <a:ext uri="{FF2B5EF4-FFF2-40B4-BE49-F238E27FC236}">
                <a16:creationId xmlns:a16="http://schemas.microsoft.com/office/drawing/2014/main" id="{F540B224-A459-4E76-8ED1-B5FD8BED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59550"/>
            <a:ext cx="92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ONE SAVED RUN</a:t>
            </a:r>
          </a:p>
        </p:txBody>
      </p:sp>
      <p:sp>
        <p:nvSpPr>
          <p:cNvPr id="171" name="limitation-body-1">
            <a:extLst xmlns:a="http://schemas.openxmlformats.org/drawingml/2006/main">
              <a:ext uri="{FF2B5EF4-FFF2-40B4-BE49-F238E27FC236}">
                <a16:creationId xmlns:a16="http://schemas.microsoft.com/office/drawing/2014/main" id="{B891BF8B-66E3-4A6A-8AC2-9E319D5C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0"/>
            <a:ext cx="92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Retrospective thresholds and questions; no repeated seeds.</a:t>
            </a:r>
          </a:p>
        </p:txBody>
      </p:sp>
      <p:sp>
        <p:nvSpPr>
          <p:cNvPr id="172" name="limitation-rule-2">
            <a:extLst xmlns:a="http://schemas.openxmlformats.org/drawingml/2006/main">
              <a:ext uri="{FF2B5EF4-FFF2-40B4-BE49-F238E27FC236}">
                <a16:creationId xmlns:a16="http://schemas.microsoft.com/office/drawing/2014/main" id="{2E701BAC-FF06-4729-8FE6-8960673E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100" y="19088100"/>
            <a:ext cx="8096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limitation-head-2">
            <a:extLst xmlns:a="http://schemas.openxmlformats.org/drawingml/2006/main">
              <a:ext uri="{FF2B5EF4-FFF2-40B4-BE49-F238E27FC236}">
                <a16:creationId xmlns:a16="http://schemas.microsoft.com/office/drawing/2014/main" id="{93AED1D3-C0B5-4846-8FC0-397B9A96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100" y="19259550"/>
            <a:ext cx="92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NO CAUSAL ABLATION</a:t>
            </a:r>
          </a:p>
        </p:txBody>
      </p:sp>
      <p:sp>
        <p:nvSpPr>
          <p:cNvPr id="174" name="limitation-body-2">
            <a:extLst xmlns:a="http://schemas.openxmlformats.org/drawingml/2006/main">
              <a:ext uri="{FF2B5EF4-FFF2-40B4-BE49-F238E27FC236}">
                <a16:creationId xmlns:a16="http://schemas.microsoft.com/office/drawing/2014/main" id="{5A12D114-F902-43A8-AADD-CCB7D9FA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100" y="19621500"/>
            <a:ext cx="92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Pipeline stages were not independently compared against a baseline.</a:t>
            </a:r>
          </a:p>
        </p:txBody>
      </p:sp>
      <p:sp>
        <p:nvSpPr>
          <p:cNvPr id="175" name="limitation-rule-3">
            <a:extLst xmlns:a="http://schemas.openxmlformats.org/drawingml/2006/main">
              <a:ext uri="{FF2B5EF4-FFF2-40B4-BE49-F238E27FC236}">
                <a16:creationId xmlns:a16="http://schemas.microsoft.com/office/drawing/2014/main" id="{7A8C5AAC-7BD1-4C64-92AE-808195BC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5900" y="19088100"/>
            <a:ext cx="8096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limitation-head-3">
            <a:extLst xmlns:a="http://schemas.openxmlformats.org/drawingml/2006/main">
              <a:ext uri="{FF2B5EF4-FFF2-40B4-BE49-F238E27FC236}">
                <a16:creationId xmlns:a16="http://schemas.microsoft.com/office/drawing/2014/main" id="{6E5482E0-BA2B-42FC-8F01-5F111A48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5900" y="19259550"/>
            <a:ext cx="92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LIMITED GENERALITY</a:t>
            </a:r>
          </a:p>
        </p:txBody>
      </p:sp>
      <p:sp>
        <p:nvSpPr>
          <p:cNvPr id="177" name="limitation-body-3">
            <a:extLst xmlns:a="http://schemas.openxmlformats.org/drawingml/2006/main">
              <a:ext uri="{FF2B5EF4-FFF2-40B4-BE49-F238E27FC236}">
                <a16:creationId xmlns:a16="http://schemas.microsoft.com/office/drawing/2014/main" id="{02E69382-E4F4-4C44-B617-48075808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5900" y="19621500"/>
            <a:ext cx="92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TTFT only; OCR not exercised; one DIFC corpus and one language setting.</a:t>
            </a:r>
          </a:p>
        </p:txBody>
      </p:sp>
      <p:sp>
        <p:nvSpPr>
          <p:cNvPr id="178" name="references-rule">
            <a:extLst xmlns:a="http://schemas.openxmlformats.org/drawingml/2006/main">
              <a:ext uri="{FF2B5EF4-FFF2-40B4-BE49-F238E27FC236}">
                <a16:creationId xmlns:a16="http://schemas.microsoft.com/office/drawing/2014/main" id="{8F3D961D-139D-4E8E-84C7-648CE7D2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45400"/>
            <a:ext cx="2852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references-line-1">
            <a:extLst xmlns:a="http://schemas.openxmlformats.org/drawingml/2006/main">
              <a:ext uri="{FF2B5EF4-FFF2-40B4-BE49-F238E27FC236}">
                <a16:creationId xmlns:a16="http://schemas.microsoft.com/office/drawing/2014/main" id="{307E4291-2E7C-4013-BD47-7F8E469F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69225"/>
            <a:ext cx="2852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[1] Lewis et al., NeurIPS 2020   [2] Karpukhin et al., EMNLP 2020   [3] Cormack et al., SIGIR 2009   [4] Gao et al., EMNLP 2023</a:t>
            </a:r>
          </a:p>
        </p:txBody>
      </p:sp>
      <p:sp>
        <p:nvSpPr>
          <p:cNvPr id="180" name="references-line-2">
            <a:extLst xmlns:a="http://schemas.openxmlformats.org/drawingml/2006/main">
              <a:ext uri="{FF2B5EF4-FFF2-40B4-BE49-F238E27FC236}">
                <a16:creationId xmlns:a16="http://schemas.microsoft.com/office/drawing/2014/main" id="{83E46445-A877-4BF8-89FF-94A7B0D9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821650"/>
            <a:ext cx="2852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[5] Pipitone &amp; Alami, LegalBench-RAG 2024   [6] Zhang et al., Qwen3 Embedding 2025   |   Full references in appendix.</a:t>
            </a:r>
          </a:p>
        </p:txBody>
      </p:sp>
    </p:spTree>
    <p:extLst>
      <p:ext uri="{BB962C8B-B14F-4D97-AF65-F5344CB8AC3E}">
        <p14:creationId xmlns:p14="http://schemas.microsoft.com/office/powerpoint/2010/main" val="4391081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2026-09-03T23:25:13.6930000Z</dcterms:created>
  <dcterms:modified xsi:type="dcterms:W3CDTF">2026-09-03T23:25:13.6930000Z</dcterms:modified>
</coreProperties>
</file>