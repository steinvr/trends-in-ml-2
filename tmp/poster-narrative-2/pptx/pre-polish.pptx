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aa2462083b42f0" /><Relationship Type="http://schemas.openxmlformats.org/officeDocument/2006/relationships/extended-properties" Target="/docProps/app.xml" Id="Rd78b58f3f1eb40e1" /><Relationship Type="http://schemas.openxmlformats.org/officeDocument/2006/relationships/officeDocument" Target="/ppt/presentation.xml" Id="R610af264fd304f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424114ec6e4645"/>
  </p:sldMasterIdLst>
  <p:notesMasterIdLst>
    <p:notesMasterId xmlns:r="http://schemas.openxmlformats.org/officeDocument/2006/relationships" r:id="Rd95313ccacdb485a"/>
  </p:notesMasterIdLst>
  <p:sldIdLst>
    <p:sldId xmlns:r="http://schemas.openxmlformats.org/officeDocument/2006/relationships" id="256" r:id="R2561dacb477d404d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c6822fd55d4f6b" /><Relationship Type="http://schemas.openxmlformats.org/officeDocument/2006/relationships/slideMaster" Target="/ppt/slideMasters/slideMaster1.xml" Id="Rc0424114ec6e4645" /><Relationship Type="http://schemas.openxmlformats.org/officeDocument/2006/relationships/notesMaster" Target="/ppt/notesMasters/notesMaster1.xml" Id="Rd95313ccacdb485a" /><Relationship Type="http://schemas.openxmlformats.org/officeDocument/2006/relationships/presProps" Target="/ppt/presProps.xml" Id="R3d3be317084249da" /><Relationship Type="http://schemas.openxmlformats.org/officeDocument/2006/relationships/tableStyles" Target="/ppt/tableStyles.xml" Id="Rc7ce2187433d4433" /><Relationship Type="http://schemas.openxmlformats.org/officeDocument/2006/relationships/slide" Target="/ppt/slides/slide1.xml" Id="R2561dacb477d40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5348d959ec4a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8e6b4f39a34a81" /><Relationship Type="http://schemas.openxmlformats.org/officeDocument/2006/relationships/notesMaster" Target="/ppt/notesMasters/notesMaster1.xml" Id="R667bacc027fa49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 of truth: /Users/steinv/Uni-Trier/Trends-In-ML-2/poster-narrative-2.md</a:t>
            </a:r>
          </a:p>
          <a:p xmlns:a="http://schemas.openxmlformats.org/drawingml/2006/main">
            <a:r>
              <a:t>Formal requirements: /Users/steinv/Uni-Trier/Trends-In-ML-2/Poster-Examination-Guidelines.pdf</a:t>
            </a:r>
          </a:p>
          <a:p xmlns:a="http://schemas.openxmlformats.org/drawingml/2006/main">
            <a:r>
              <a:t>Primary run report: artifacts/warmup_runs/runs/submission_e2e_20260424_solver_narrowing_no_guard/eval/benchmark_report.json</a:t>
            </a:r>
          </a:p>
          <a:p xmlns:a="http://schemas.openxmlformats.org/drawingml/2006/main">
            <a:r>
              <a:t>Primary page ledger: artifacts/warmup_runs/runs/submission_e2e_20260424_solver_narrowing_no_guard/grounding/ledger.csv</a:t>
            </a:r>
          </a:p>
          <a:p xmlns:a="http://schemas.openxmlformats.org/drawingml/2006/main">
            <a:r>
              <a:t>Lewis et al. (2020), https://proceedings.neurips.cc/paper/2020/hash/6b493230205f780e1bc26945df7481e5-Abstract.html</a:t>
            </a:r>
          </a:p>
          <a:p xmlns:a="http://schemas.openxmlformats.org/drawingml/2006/main">
            <a:r>
              <a:t>Karpukhin et al. (2020), https://aclanthology.org/2020.emnlp-main.550/</a:t>
            </a:r>
          </a:p>
          <a:p xmlns:a="http://schemas.openxmlformats.org/drawingml/2006/main">
            <a:r>
              <a:t>Cormack et al. (2009), https://doi.org/10.1145/1571941.1572114</a:t>
            </a:r>
          </a:p>
          <a:p xmlns:a="http://schemas.openxmlformats.org/drawingml/2006/main">
            <a:r>
              <a:t>Gao et al. (2023), https://aclanthology.org/2023.emnlp-main.398/</a:t>
            </a:r>
          </a:p>
          <a:p xmlns:a="http://schemas.openxmlformats.org/drawingml/2006/main">
            <a:r>
              <a:t>Pipitone and Houir Alami (2024), https://arxiv.org/abs/2408.10343</a:t>
            </a:r>
          </a:p>
          <a:p xmlns:a="http://schemas.openxmlformats.org/drawingml/2006/main">
            <a:r>
              <a:t>Zhang et al. (2025), https://arxiv.org/abs/2506.05176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0f8e6178242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5fe62984bd4c00" /><Relationship Type="http://schemas.openxmlformats.org/officeDocument/2006/relationships/slideLayout" Target="/ppt/slideLayouts/slideLayout1.xml" Id="R17caa32bbc774e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caa32bbc774e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73c0354eb4a87" /><Relationship Type="http://schemas.openxmlformats.org/officeDocument/2006/relationships/notesSlide" Target="/ppt/notesSlides/notesSlide1.xml" Id="Rde4a68e4817845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eyebrow">
            <a:extLst xmlns:a="http://schemas.openxmlformats.org/drawingml/2006/main">
              <a:ext uri="{FF2B5EF4-FFF2-40B4-BE49-F238E27FC236}">
                <a16:creationId xmlns:a16="http://schemas.microsoft.com/office/drawing/2014/main" id="{DCB2A60C-9CE3-40A8-A96A-DBD90822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POSTER  |  NATURAL LANGUAGE PROCESSING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A5AFA5-CD6B-45A9-AF77-77816783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2247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72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From Legal PDFs to Verifiable Answers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82DED84-6148-4C90-A76C-4EDA8401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190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Evaluating answer quality, page-level grounding and latency across 100 legal questions</a:t>
            </a:r>
          </a:p>
        </p:txBody>
      </p:sp>
      <p:sp>
        <p:nvSpPr>
          <p:cNvPr id="4" name="repository">
            <a:extLst xmlns:a="http://schemas.openxmlformats.org/drawingml/2006/main">
              <a:ext uri="{FF2B5EF4-FFF2-40B4-BE49-F238E27FC236}">
                <a16:creationId xmlns:a16="http://schemas.microsoft.com/office/drawing/2014/main" id="{ABFF4015-317D-4AB3-8A4B-AAB31DE0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700" y="1428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github.com/SteinVR/Agentic-RAG-Challenge</a:t>
            </a:r>
          </a:p>
        </p:txBody>
      </p:sp>
      <p:sp>
        <p:nvSpPr>
          <p:cNvPr id="5" name="affiliation">
            <a:extLst xmlns:a="http://schemas.openxmlformats.org/drawingml/2006/main">
              <a:ext uri="{FF2B5EF4-FFF2-40B4-BE49-F238E27FC236}">
                <a16:creationId xmlns:a16="http://schemas.microsoft.com/office/drawing/2014/main" id="{4EE72F55-F0F4-4954-A972-9DCCC18F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700" y="1924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Trends in Machine Learning II  |  Universität Trier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DDB5C14-2AC7-428B-B694-828CD7E4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852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ypothesis-bg">
            <a:extLst xmlns:a="http://schemas.openxmlformats.org/drawingml/2006/main">
              <a:ext uri="{FF2B5EF4-FFF2-40B4-BE49-F238E27FC236}">
                <a16:creationId xmlns:a16="http://schemas.microsoft.com/office/drawing/2014/main" id="{557827BC-7CF6-4712-865F-E635DDAF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234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ypothesis-label-marker">
            <a:extLst xmlns:a="http://schemas.openxmlformats.org/drawingml/2006/main">
              <a:ext uri="{FF2B5EF4-FFF2-40B4-BE49-F238E27FC236}">
                <a16:creationId xmlns:a16="http://schemas.microsoft.com/office/drawing/2014/main" id="{DD21ACD9-0BEB-416D-B678-F3A5BD2F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95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ypothesis-label">
            <a:extLst xmlns:a="http://schemas.openxmlformats.org/drawingml/2006/main">
              <a:ext uri="{FF2B5EF4-FFF2-40B4-BE49-F238E27FC236}">
                <a16:creationId xmlns:a16="http://schemas.microsoft.com/office/drawing/2014/main" id="{6957CD1D-0188-4A20-89F4-0E370C3F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0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AF95319E-56D1-49EF-B6C7-B153255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1447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Can a page-traceable Legal RAG pipeline balance answer quality, source grounding, validity and latency?</a:t>
            </a:r>
          </a:p>
        </p:txBody>
      </p:sp>
      <p:sp>
        <p:nvSpPr>
          <p:cNvPr id="11" name="secondary-question">
            <a:extLst xmlns:a="http://schemas.openxmlformats.org/drawingml/2006/main">
              <a:ext uri="{FF2B5EF4-FFF2-40B4-BE49-F238E27FC236}">
                <a16:creationId xmlns:a16="http://schemas.microsoft.com/office/drawing/2014/main" id="{E15076BD-CED5-4441-96C3-C5845936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38600"/>
            <a:ext cx="1447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H2: Does answer-aware attribution sharpen citations while retaining at least one correct page per annotated question?</a:t>
            </a:r>
          </a:p>
        </p:txBody>
      </p:sp>
      <p:sp>
        <p:nvSpPr>
          <p:cNvPr id="12" name="hypothesis-divider">
            <a:extLst xmlns:a="http://schemas.openxmlformats.org/drawingml/2006/main">
              <a:ext uri="{FF2B5EF4-FFF2-40B4-BE49-F238E27FC236}">
                <a16:creationId xmlns:a16="http://schemas.microsoft.com/office/drawing/2014/main" id="{D9E9C12E-F8F0-48D5-BA3C-4435185E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0050" y="3219450"/>
            <a:ext cx="285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ypothesis-finding-label">
            <a:extLst xmlns:a="http://schemas.openxmlformats.org/drawingml/2006/main">
              <a:ext uri="{FF2B5EF4-FFF2-40B4-BE49-F238E27FC236}">
                <a16:creationId xmlns:a16="http://schemas.microsoft.com/office/drawing/2014/main" id="{43FE30D0-F55A-4323-9295-8781BF8A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3181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14" name="hypothesis-finding">
            <a:extLst xmlns:a="http://schemas.openxmlformats.org/drawingml/2006/main">
              <a:ext uri="{FF2B5EF4-FFF2-40B4-BE49-F238E27FC236}">
                <a16:creationId xmlns:a16="http://schemas.microsoft.com/office/drawing/2014/main" id="{F4C0383E-4BE0-454A-8BE3-9B2A0856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3638550"/>
            <a:ext cx="93305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H1 is partly supported: grounding missed its 0.85 threshold. H2 holds for precision, compactness and 95/95 hit coverage.</a:t>
            </a:r>
          </a:p>
        </p:txBody>
      </p:sp>
      <p:sp>
        <p:nvSpPr>
          <p:cNvPr id="15" name="methodology-label-marker">
            <a:extLst xmlns:a="http://schemas.openxmlformats.org/drawingml/2006/main">
              <a:ext uri="{FF2B5EF4-FFF2-40B4-BE49-F238E27FC236}">
                <a16:creationId xmlns:a16="http://schemas.microsoft.com/office/drawing/2014/main" id="{B886620E-8AB6-412A-A8CC-C3A54E89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5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ology-label">
            <a:extLst xmlns:a="http://schemas.openxmlformats.org/drawingml/2006/main">
              <a:ext uri="{FF2B5EF4-FFF2-40B4-BE49-F238E27FC236}">
                <a16:creationId xmlns:a16="http://schemas.microsoft.com/office/drawing/2014/main" id="{97893EBB-72B0-492E-83A8-45A117EE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81625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7" name="methodology-data">
            <a:extLst xmlns:a="http://schemas.openxmlformats.org/drawingml/2006/main">
              <a:ext uri="{FF2B5EF4-FFF2-40B4-BE49-F238E27FC236}">
                <a16:creationId xmlns:a16="http://schemas.microsoft.com/office/drawing/2014/main" id="{ADF805AB-B18C-41B1-9C4C-28596C7A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57825"/>
            <a:ext cx="2318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600" b="1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100 questions  |  30 publicly available legal PDFs  |  590 pages  |  95 with page annotations</a:t>
            </a:r>
          </a:p>
        </p:txBody>
      </p:sp>
      <p:sp>
        <p:nvSpPr>
          <p:cNvPr id="18" name="methodology-rule">
            <a:extLst xmlns:a="http://schemas.openxmlformats.org/drawingml/2006/main">
              <a:ext uri="{FF2B5EF4-FFF2-40B4-BE49-F238E27FC236}">
                <a16:creationId xmlns:a16="http://schemas.microsoft.com/office/drawing/2014/main" id="{D7B147DE-F2C4-4C83-839D-72B8DF95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87B38587-DB6B-4C28-A4F0-8257ACD8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0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B0D0AA78-1829-480A-9B4D-75B5AA75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2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663643A5-2F7B-4522-B44F-EEBEED76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20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arrow-4">
            <a:extLst xmlns:a="http://schemas.openxmlformats.org/drawingml/2006/main">
              <a:ext uri="{FF2B5EF4-FFF2-40B4-BE49-F238E27FC236}">
                <a16:creationId xmlns:a16="http://schemas.microsoft.com/office/drawing/2014/main" id="{13568F46-CFFC-4A00-9421-2EB7DFBA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40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arrow-5">
            <a:extLst xmlns:a="http://schemas.openxmlformats.org/drawingml/2006/main">
              <a:ext uri="{FF2B5EF4-FFF2-40B4-BE49-F238E27FC236}">
                <a16:creationId xmlns:a16="http://schemas.microsoft.com/office/drawing/2014/main" id="{CB96C8B5-521D-4A60-B011-30661673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3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venance-rail">
            <a:extLst xmlns:a="http://schemas.openxmlformats.org/drawingml/2006/main">
              <a:ext uri="{FF2B5EF4-FFF2-40B4-BE49-F238E27FC236}">
                <a16:creationId xmlns:a16="http://schemas.microsoft.com/office/drawing/2014/main" id="{C471D55B-7573-4C34-B276-E927047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00" y="9277350"/>
            <a:ext cx="27127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venance-dot-1">
            <a:extLst xmlns:a="http://schemas.openxmlformats.org/drawingml/2006/main">
              <a:ext uri="{FF2B5EF4-FFF2-40B4-BE49-F238E27FC236}">
                <a16:creationId xmlns:a16="http://schemas.microsoft.com/office/drawing/2014/main" id="{EDD70F9D-2D4A-448C-9B98-371D0C07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50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provenance-dot-2">
            <a:extLst xmlns:a="http://schemas.openxmlformats.org/drawingml/2006/main">
              <a:ext uri="{FF2B5EF4-FFF2-40B4-BE49-F238E27FC236}">
                <a16:creationId xmlns:a16="http://schemas.microsoft.com/office/drawing/2014/main" id="{C5021E5A-C82B-49D4-9EE0-94B0F03C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70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provenance-dot-3">
            <a:extLst xmlns:a="http://schemas.openxmlformats.org/drawingml/2006/main">
              <a:ext uri="{FF2B5EF4-FFF2-40B4-BE49-F238E27FC236}">
                <a16:creationId xmlns:a16="http://schemas.microsoft.com/office/drawing/2014/main" id="{91FE169C-FBF6-4C86-9728-FE602358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477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provenance-dot-4">
            <a:extLst xmlns:a="http://schemas.openxmlformats.org/drawingml/2006/main">
              <a:ext uri="{FF2B5EF4-FFF2-40B4-BE49-F238E27FC236}">
                <a16:creationId xmlns:a16="http://schemas.microsoft.com/office/drawing/2014/main" id="{A0E1C48B-6F03-4336-B803-E7244FAB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585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9" name="provenance-dot-5">
            <a:extLst xmlns:a="http://schemas.openxmlformats.org/drawingml/2006/main">
              <a:ext uri="{FF2B5EF4-FFF2-40B4-BE49-F238E27FC236}">
                <a16:creationId xmlns:a16="http://schemas.microsoft.com/office/drawing/2014/main" id="{A125E153-5C14-4D57-AB00-98C67263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692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0" name="provenance-dot-6">
            <a:extLst xmlns:a="http://schemas.openxmlformats.org/drawingml/2006/main">
              <a:ext uri="{FF2B5EF4-FFF2-40B4-BE49-F238E27FC236}">
                <a16:creationId xmlns:a16="http://schemas.microsoft.com/office/drawing/2014/main" id="{B4241F98-D724-423D-B028-AC1E9EC9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92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1" name="stage-1-box">
            <a:extLst xmlns:a="http://schemas.openxmlformats.org/drawingml/2006/main">
              <a:ext uri="{FF2B5EF4-FFF2-40B4-BE49-F238E27FC236}">
                <a16:creationId xmlns:a16="http://schemas.microsoft.com/office/drawing/2014/main" id="{6BA8CAB6-5680-4A57-A9DD-85910980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32" name="stage-1-accent">
            <a:extLst xmlns:a="http://schemas.openxmlformats.org/drawingml/2006/main">
              <a:ext uri="{FF2B5EF4-FFF2-40B4-BE49-F238E27FC236}">
                <a16:creationId xmlns:a16="http://schemas.microsoft.com/office/drawing/2014/main" id="{40802F8B-A4E6-47FF-BB3F-4FE95D6D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tage-1-kicker">
            <a:extLst xmlns:a="http://schemas.openxmlformats.org/drawingml/2006/main">
              <a:ext uri="{FF2B5EF4-FFF2-40B4-BE49-F238E27FC236}">
                <a16:creationId xmlns:a16="http://schemas.microsoft.com/office/drawing/2014/main" id="{03C86017-9E35-4BDE-B239-7E618208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  SOURCE</a:t>
            </a:r>
          </a:p>
        </p:txBody>
      </p:sp>
      <p:sp>
        <p:nvSpPr>
          <p:cNvPr id="34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D18DD271-9652-4BA9-8FDC-7899EF84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Page-stable ingestion</a:t>
            </a:r>
          </a:p>
        </p:txBody>
      </p:sp>
      <p:sp>
        <p:nvSpPr>
          <p:cNvPr id="35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4F8DF1DE-C64E-4894-89D6-7780FD06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Native text + tables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OCR fallback available</a:t>
            </a:r>
          </a:p>
        </p:txBody>
      </p:sp>
      <p:sp>
        <p:nvSpPr>
          <p:cNvPr id="36" name="stage-2-box">
            <a:extLst xmlns:a="http://schemas.openxmlformats.org/drawingml/2006/main">
              <a:ext uri="{FF2B5EF4-FFF2-40B4-BE49-F238E27FC236}">
                <a16:creationId xmlns:a16="http://schemas.microsoft.com/office/drawing/2014/main" id="{A366738F-94E9-4055-A00D-8F68B6B9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0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37" name="stage-2-accent">
            <a:extLst xmlns:a="http://schemas.openxmlformats.org/drawingml/2006/main">
              <a:ext uri="{FF2B5EF4-FFF2-40B4-BE49-F238E27FC236}">
                <a16:creationId xmlns:a16="http://schemas.microsoft.com/office/drawing/2014/main" id="{E6205968-83BC-4025-8A51-0FBB45D8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ge-2-kicker">
            <a:extLst xmlns:a="http://schemas.openxmlformats.org/drawingml/2006/main">
              <a:ext uri="{FF2B5EF4-FFF2-40B4-BE49-F238E27FC236}">
                <a16:creationId xmlns:a16="http://schemas.microsoft.com/office/drawing/2014/main" id="{C3B01764-EE22-4997-A731-9DD132A1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  REPRESENT</a:t>
            </a:r>
          </a:p>
        </p:txBody>
      </p:sp>
      <p:sp>
        <p:nvSpPr>
          <p:cNvPr id="39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8D94062E-D5A8-48BE-8EB6-23793101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Multi-view index</a:t>
            </a:r>
          </a:p>
        </p:txBody>
      </p:sp>
      <p:sp>
        <p:nvSpPr>
          <p:cNvPr id="40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6D997238-B666-4363-A338-9CE55A58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Page, section, clause,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microchunk and table</a:t>
            </a:r>
          </a:p>
        </p:txBody>
      </p:sp>
      <p:sp>
        <p:nvSpPr>
          <p:cNvPr id="41" name="stage-3-box">
            <a:extLst xmlns:a="http://schemas.openxmlformats.org/drawingml/2006/main">
              <a:ext uri="{FF2B5EF4-FFF2-40B4-BE49-F238E27FC236}">
                <a16:creationId xmlns:a16="http://schemas.microsoft.com/office/drawing/2014/main" id="{C9E0B5A4-E4AA-4712-BA1C-751E7B66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0" y="6286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42" name="stage-3-accent">
            <a:extLst xmlns:a="http://schemas.openxmlformats.org/drawingml/2006/main">
              <a:ext uri="{FF2B5EF4-FFF2-40B4-BE49-F238E27FC236}">
                <a16:creationId xmlns:a16="http://schemas.microsoft.com/office/drawing/2014/main" id="{C536884A-DE4A-4FF2-B46D-49368512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tage-3-kicker">
            <a:extLst xmlns:a="http://schemas.openxmlformats.org/drawingml/2006/main">
              <a:ext uri="{FF2B5EF4-FFF2-40B4-BE49-F238E27FC236}">
                <a16:creationId xmlns:a16="http://schemas.microsoft.com/office/drawing/2014/main" id="{C953C8F3-B89D-4680-A875-D291E799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652462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  RETRIEVE</a:t>
            </a:r>
          </a:p>
        </p:txBody>
      </p:sp>
      <p:sp>
        <p:nvSpPr>
          <p:cNvPr id="44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6451676C-AEC7-4266-B51D-C7EC5127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70104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Hybrid retrieve + rerank</a:t>
            </a:r>
          </a:p>
        </p:txBody>
      </p:sp>
      <p:sp>
        <p:nvSpPr>
          <p:cNvPr id="45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79A8D5E4-AC88-4B6E-9DA1-1036F7E6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777240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BM25 + Qwen3 Embedding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RRF + Qwen3 Reranker</a:t>
            </a:r>
          </a:p>
        </p:txBody>
      </p:sp>
      <p:sp>
        <p:nvSpPr>
          <p:cNvPr id="46" name="stage-4-box">
            <a:extLst xmlns:a="http://schemas.openxmlformats.org/drawingml/2006/main">
              <a:ext uri="{FF2B5EF4-FFF2-40B4-BE49-F238E27FC236}">
                <a16:creationId xmlns:a16="http://schemas.microsoft.com/office/drawing/2014/main" id="{037DC34A-7F36-4AC8-9941-B56E392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05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47" name="stage-4-accent">
            <a:extLst xmlns:a="http://schemas.openxmlformats.org/drawingml/2006/main">
              <a:ext uri="{FF2B5EF4-FFF2-40B4-BE49-F238E27FC236}">
                <a16:creationId xmlns:a16="http://schemas.microsoft.com/office/drawing/2014/main" id="{9F06A9A6-82BA-4E7A-ABD9-E0418CFA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05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tage-4-kicker">
            <a:extLst xmlns:a="http://schemas.openxmlformats.org/drawingml/2006/main">
              <a:ext uri="{FF2B5EF4-FFF2-40B4-BE49-F238E27FC236}">
                <a16:creationId xmlns:a16="http://schemas.microsoft.com/office/drawing/2014/main" id="{DC899954-2B0C-42F1-B1D0-A4E7ACEF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  ANSWER</a:t>
            </a:r>
          </a:p>
        </p:txBody>
      </p:sp>
      <p:sp>
        <p:nvSpPr>
          <p:cNvPr id="49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B9F41DD4-EFC8-4074-94A3-0D043540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Typed answer</a:t>
            </a:r>
          </a:p>
        </p:txBody>
      </p:sp>
      <p:sp>
        <p:nvSpPr>
          <p:cNvPr id="50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6DDEDE20-43D0-4F01-BD0E-2728DDA7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gpt-5.4-mini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strict JSON + validators</a:t>
            </a:r>
          </a:p>
        </p:txBody>
      </p:sp>
      <p:sp>
        <p:nvSpPr>
          <p:cNvPr id="51" name="stage-5-box">
            <a:extLst xmlns:a="http://schemas.openxmlformats.org/drawingml/2006/main">
              <a:ext uri="{FF2B5EF4-FFF2-40B4-BE49-F238E27FC236}">
                <a16:creationId xmlns:a16="http://schemas.microsoft.com/office/drawing/2014/main" id="{0AD894C2-A2BD-4099-8319-E1C4C7C2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250" y="6286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2" name="stage-5-accent">
            <a:extLst xmlns:a="http://schemas.openxmlformats.org/drawingml/2006/main">
              <a:ext uri="{FF2B5EF4-FFF2-40B4-BE49-F238E27FC236}">
                <a16:creationId xmlns:a16="http://schemas.microsoft.com/office/drawing/2014/main" id="{70DCE0A5-1105-4104-89FF-59360833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25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tage-5-kicker">
            <a:extLst xmlns:a="http://schemas.openxmlformats.org/drawingml/2006/main">
              <a:ext uri="{FF2B5EF4-FFF2-40B4-BE49-F238E27FC236}">
                <a16:creationId xmlns:a16="http://schemas.microsoft.com/office/drawing/2014/main" id="{C6D0A46D-FCF8-4B09-BFCB-9FC6FF6B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652462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  ATTRIBUTE</a:t>
            </a:r>
          </a:p>
        </p:txBody>
      </p:sp>
      <p:sp>
        <p:nvSpPr>
          <p:cNvPr id="54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FE8E984C-C66A-4E03-B6D1-91A6BF40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70104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Answer-aware pages</a:t>
            </a:r>
          </a:p>
        </p:txBody>
      </p:sp>
      <p:sp>
        <p:nvSpPr>
          <p:cNvPr id="55" name="stage-5-body">
            <a:extLst xmlns:a="http://schemas.openxmlformats.org/drawingml/2006/main">
              <a:ext uri="{FF2B5EF4-FFF2-40B4-BE49-F238E27FC236}">
                <a16:creationId xmlns:a16="http://schemas.microsoft.com/office/drawing/2014/main" id="{2528DDE4-038E-4F29-9B4D-1E44B1CB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777240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check + fallback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-&gt; filter -&gt; final</a:t>
            </a:r>
          </a:p>
        </p:txBody>
      </p:sp>
      <p:sp>
        <p:nvSpPr>
          <p:cNvPr id="56" name="stage-6-box">
            <a:extLst xmlns:a="http://schemas.openxmlformats.org/drawingml/2006/main">
              <a:ext uri="{FF2B5EF4-FFF2-40B4-BE49-F238E27FC236}">
                <a16:creationId xmlns:a16="http://schemas.microsoft.com/office/drawing/2014/main" id="{C91F6FDD-7CE0-40A2-B42F-A07B7A8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9200" y="6286500"/>
            <a:ext cx="42291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57" name="stage-6-accent">
            <a:extLst xmlns:a="http://schemas.openxmlformats.org/drawingml/2006/main">
              <a:ext uri="{FF2B5EF4-FFF2-40B4-BE49-F238E27FC236}">
                <a16:creationId xmlns:a16="http://schemas.microsoft.com/office/drawing/2014/main" id="{CBBA51F8-7BE5-4DA4-8E20-F5CE0F49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92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tage-6-kicker">
            <a:extLst xmlns:a="http://schemas.openxmlformats.org/drawingml/2006/main">
              <a:ext uri="{FF2B5EF4-FFF2-40B4-BE49-F238E27FC236}">
                <a16:creationId xmlns:a16="http://schemas.microsoft.com/office/drawing/2014/main" id="{93B62472-51F5-45CE-B340-76E3C515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6524625"/>
            <a:ext cx="3705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  VERIFY</a:t>
            </a:r>
          </a:p>
        </p:txBody>
      </p:sp>
      <p:sp>
        <p:nvSpPr>
          <p:cNvPr id="59" name="stage-6-title">
            <a:extLst xmlns:a="http://schemas.openxmlformats.org/drawingml/2006/main">
              <a:ext uri="{FF2B5EF4-FFF2-40B4-BE49-F238E27FC236}">
                <a16:creationId xmlns:a16="http://schemas.microsoft.com/office/drawing/2014/main" id="{89C3F241-C5F4-4426-84CE-41AF19C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7010400"/>
            <a:ext cx="3705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Auditable output</a:t>
            </a:r>
          </a:p>
        </p:txBody>
      </p:sp>
      <p:sp>
        <p:nvSpPr>
          <p:cNvPr id="60" name="stage-6-body">
            <a:extLst xmlns:a="http://schemas.openxmlformats.org/drawingml/2006/main">
              <a:ext uri="{FF2B5EF4-FFF2-40B4-BE49-F238E27FC236}">
                <a16:creationId xmlns:a16="http://schemas.microsoft.com/office/drawing/2014/main" id="{63B91990-1590-47AC-8C2B-4E0C65B0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7772400"/>
            <a:ext cx="3705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Answer + pages + trace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validity + TTFT</a:t>
            </a:r>
          </a:p>
        </p:txBody>
      </p:sp>
      <p:sp>
        <p:nvSpPr>
          <p:cNvPr id="61" name="provenance-label">
            <a:extLst xmlns:a="http://schemas.openxmlformats.org/drawingml/2006/main">
              <a:ext uri="{FF2B5EF4-FFF2-40B4-BE49-F238E27FC236}">
                <a16:creationId xmlns:a16="http://schemas.microsoft.com/office/drawing/2014/main" id="{846B6992-0FCC-485E-8DBC-34A659E0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953500"/>
            <a:ext cx="1504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CONTINUOUS PROVENANCE  |  document_id + page_number</a:t>
            </a:r>
          </a:p>
        </p:txBody>
      </p:sp>
      <p:sp>
        <p:nvSpPr>
          <p:cNvPr id="62" name="provenance-explanation">
            <a:extLst xmlns:a="http://schemas.openxmlformats.org/drawingml/2006/main">
              <a:ext uri="{FF2B5EF4-FFF2-40B4-BE49-F238E27FC236}">
                <a16:creationId xmlns:a16="http://schemas.microsoft.com/office/drawing/2014/main" id="{145F0704-F064-4216-AA71-B3C23D76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9572625"/>
            <a:ext cx="2090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same identifiers survive every stage, so a final citation can be traced back to the exact PDF page.</a:t>
            </a:r>
          </a:p>
        </p:txBody>
      </p:sp>
      <p:sp>
        <p:nvSpPr>
          <p:cNvPr id="63" name="evaluation-design">
            <a:extLst xmlns:a="http://schemas.openxmlformats.org/drawingml/2006/main">
              <a:ext uri="{FF2B5EF4-FFF2-40B4-BE49-F238E27FC236}">
                <a16:creationId xmlns:a16="http://schemas.microsoft.com/office/drawing/2014/main" id="{56F07C3B-2CAA-459E-B58A-68A6BEFD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0096500"/>
            <a:ext cx="2528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Evaluation A: end-to-end profile on 100 questions.  Evaluation B: paired raw -&gt; filter -&gt; final page sets on the same 95 annotated questions.</a:t>
            </a:r>
          </a:p>
        </p:txBody>
      </p:sp>
      <p:sp>
        <p:nvSpPr>
          <p:cNvPr id="64" name="results-top-rule">
            <a:extLst xmlns:a="http://schemas.openxmlformats.org/drawingml/2006/main">
              <a:ext uri="{FF2B5EF4-FFF2-40B4-BE49-F238E27FC236}">
                <a16:creationId xmlns:a16="http://schemas.microsoft.com/office/drawing/2014/main" id="{6EC7C326-5DA8-460B-993B-2429F303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0"/>
            <a:ext cx="2852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esults-bottom-rule">
            <a:extLst xmlns:a="http://schemas.openxmlformats.org/drawingml/2006/main">
              <a:ext uri="{FF2B5EF4-FFF2-40B4-BE49-F238E27FC236}">
                <a16:creationId xmlns:a16="http://schemas.microsoft.com/office/drawing/2014/main" id="{CA5E4C6F-3A2C-4656-ACC3-61D4EBEB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0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results-separator-1">
            <a:extLst xmlns:a="http://schemas.openxmlformats.org/drawingml/2006/main">
              <a:ext uri="{FF2B5EF4-FFF2-40B4-BE49-F238E27FC236}">
                <a16:creationId xmlns:a16="http://schemas.microsoft.com/office/drawing/2014/main" id="{E47FF28F-BFF5-4AC2-AF15-4EECA6E5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068050"/>
            <a:ext cx="19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results-separator-2">
            <a:extLst xmlns:a="http://schemas.openxmlformats.org/drawingml/2006/main">
              <a:ext uri="{FF2B5EF4-FFF2-40B4-BE49-F238E27FC236}">
                <a16:creationId xmlns:a16="http://schemas.microsoft.com/office/drawing/2014/main" id="{836383E7-3C34-4E19-BDAA-9585BB80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11068050"/>
            <a:ext cx="19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results-system-label">
            <a:extLst xmlns:a="http://schemas.openxmlformats.org/drawingml/2006/main">
              <a:ext uri="{FF2B5EF4-FFF2-40B4-BE49-F238E27FC236}">
                <a16:creationId xmlns:a16="http://schemas.microsoft.com/office/drawing/2014/main" id="{C98DF508-E764-466E-898C-72F8B2DA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087100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  |  SYSTEM</a:t>
            </a:r>
          </a:p>
        </p:txBody>
      </p:sp>
      <p:sp>
        <p:nvSpPr>
          <p:cNvPr id="69" name="results-system-title">
            <a:extLst xmlns:a="http://schemas.openxmlformats.org/drawingml/2006/main">
              <a:ext uri="{FF2B5EF4-FFF2-40B4-BE49-F238E27FC236}">
                <a16:creationId xmlns:a16="http://schemas.microsoft.com/office/drawing/2014/main" id="{39D8DEE9-1D90-4F8A-8643-11A0668D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5252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Grounding limits an otherwise strong system</a:t>
            </a:r>
          </a:p>
        </p:txBody>
      </p:sp>
      <p:sp>
        <p:nvSpPr>
          <p:cNvPr id="70" name="system-equation-panel">
            <a:extLst xmlns:a="http://schemas.openxmlformats.org/drawingml/2006/main">
              <a:ext uri="{FF2B5EF4-FFF2-40B4-BE49-F238E27FC236}">
                <a16:creationId xmlns:a16="http://schemas.microsoft.com/office/drawing/2014/main" id="{AB11CBB2-2CDB-4326-8006-05CBEDC2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268200"/>
            <a:ext cx="840105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eq-times-1">
            <a:extLst xmlns:a="http://schemas.openxmlformats.org/drawingml/2006/main">
              <a:ext uri="{FF2B5EF4-FFF2-40B4-BE49-F238E27FC236}">
                <a16:creationId xmlns:a16="http://schemas.microsoft.com/office/drawing/2014/main" id="{FD278F0C-D4D0-4EAD-B2A4-FC804ED6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2" name="eq-times-2">
            <a:extLst xmlns:a="http://schemas.openxmlformats.org/drawingml/2006/main">
              <a:ext uri="{FF2B5EF4-FFF2-40B4-BE49-F238E27FC236}">
                <a16:creationId xmlns:a16="http://schemas.microsoft.com/office/drawing/2014/main" id="{9DC875E4-BC28-48C7-83E2-D0FA84E3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3" name="eq-times-3">
            <a:extLst xmlns:a="http://schemas.openxmlformats.org/drawingml/2006/main">
              <a:ext uri="{FF2B5EF4-FFF2-40B4-BE49-F238E27FC236}">
                <a16:creationId xmlns:a16="http://schemas.microsoft.com/office/drawing/2014/main" id="{E1C5AA19-1B8D-4868-91D2-3A09E58E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4" name="eq-equals">
            <a:extLst xmlns:a="http://schemas.openxmlformats.org/drawingml/2006/main">
              <a:ext uri="{FF2B5EF4-FFF2-40B4-BE49-F238E27FC236}">
                <a16:creationId xmlns:a16="http://schemas.microsoft.com/office/drawing/2014/main" id="{8FDDD6C0-F4A6-431F-9154-2C9AB7A4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2553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75" name="equation-1-value">
            <a:extLst xmlns:a="http://schemas.openxmlformats.org/drawingml/2006/main">
              <a:ext uri="{FF2B5EF4-FFF2-40B4-BE49-F238E27FC236}">
                <a16:creationId xmlns:a16="http://schemas.microsoft.com/office/drawing/2014/main" id="{DE4E6F20-22F1-4F5F-847A-1820C5E5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0.956</a:t>
            </a:r>
          </a:p>
        </p:txBody>
      </p:sp>
      <p:sp>
        <p:nvSpPr>
          <p:cNvPr id="76" name="equation-1-label">
            <a:extLst xmlns:a="http://schemas.openxmlformats.org/drawingml/2006/main">
              <a:ext uri="{FF2B5EF4-FFF2-40B4-BE49-F238E27FC236}">
                <a16:creationId xmlns:a16="http://schemas.microsoft.com/office/drawing/2014/main" id="{37B5B118-35FB-4705-9615-8D040628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answer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77" name="equation-2-value">
            <a:extLst xmlns:a="http://schemas.openxmlformats.org/drawingml/2006/main">
              <a:ext uri="{FF2B5EF4-FFF2-40B4-BE49-F238E27FC236}">
                <a16:creationId xmlns:a16="http://schemas.microsoft.com/office/drawing/2014/main" id="{E56BA73E-5B97-4EDC-BEF3-68D27C22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0.847</a:t>
            </a:r>
          </a:p>
        </p:txBody>
      </p:sp>
      <p:sp>
        <p:nvSpPr>
          <p:cNvPr id="78" name="equation-2-label">
            <a:extLst xmlns:a="http://schemas.openxmlformats.org/drawingml/2006/main">
              <a:ext uri="{FF2B5EF4-FFF2-40B4-BE49-F238E27FC236}">
                <a16:creationId xmlns:a16="http://schemas.microsoft.com/office/drawing/2014/main" id="{0401EDAF-D91C-44ED-AC4C-B061142D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grounding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n = 100</a:t>
            </a:r>
          </a:p>
        </p:txBody>
      </p:sp>
      <p:sp>
        <p:nvSpPr>
          <p:cNvPr id="79" name="equation-3-value">
            <a:extLst xmlns:a="http://schemas.openxmlformats.org/drawingml/2006/main">
              <a:ext uri="{FF2B5EF4-FFF2-40B4-BE49-F238E27FC236}">
                <a16:creationId xmlns:a16="http://schemas.microsoft.com/office/drawing/2014/main" id="{3D103E5D-97D2-4D59-98F0-19079C31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80" name="equation-3-label">
            <a:extLst xmlns:a="http://schemas.openxmlformats.org/drawingml/2006/main">
              <a:ext uri="{FF2B5EF4-FFF2-40B4-BE49-F238E27FC236}">
                <a16:creationId xmlns:a16="http://schemas.microsoft.com/office/drawing/2014/main" id="{17388E1A-EDE9-4598-8FFE-3FE2962E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valid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81" name="equation-4-value">
            <a:extLst xmlns:a="http://schemas.openxmlformats.org/drawingml/2006/main">
              <a:ext uri="{FF2B5EF4-FFF2-40B4-BE49-F238E27FC236}">
                <a16:creationId xmlns:a16="http://schemas.microsoft.com/office/drawing/2014/main" id="{449F4C6B-E680-46A0-B143-59BC6BDC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0.938</a:t>
            </a:r>
          </a:p>
        </p:txBody>
      </p:sp>
      <p:sp>
        <p:nvSpPr>
          <p:cNvPr id="82" name="equation-4-label">
            <a:extLst xmlns:a="http://schemas.openxmlformats.org/drawingml/2006/main">
              <a:ext uri="{FF2B5EF4-FFF2-40B4-BE49-F238E27FC236}">
                <a16:creationId xmlns:a16="http://schemas.microsoft.com/office/drawing/2014/main" id="{59E86B02-BF3B-42DD-A905-612F67F7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latency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multiplier</a:t>
            </a:r>
          </a:p>
        </p:txBody>
      </p:sp>
      <p:sp>
        <p:nvSpPr>
          <p:cNvPr id="83" name="equation-5-value">
            <a:extLst xmlns:a="http://schemas.openxmlformats.org/drawingml/2006/main">
              <a:ext uri="{FF2B5EF4-FFF2-40B4-BE49-F238E27FC236}">
                <a16:creationId xmlns:a16="http://schemas.microsoft.com/office/drawing/2014/main" id="{7BF84C4E-2388-4336-918F-F405639A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251585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0.759</a:t>
            </a:r>
          </a:p>
        </p:txBody>
      </p:sp>
      <p:sp>
        <p:nvSpPr>
          <p:cNvPr id="84" name="equation-5-label">
            <a:extLst xmlns:a="http://schemas.openxmlformats.org/drawingml/2006/main">
              <a:ext uri="{FF2B5EF4-FFF2-40B4-BE49-F238E27FC236}">
                <a16:creationId xmlns:a16="http://schemas.microsoft.com/office/drawing/2014/main" id="{F417AC10-9757-4586-822E-74367B3B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1254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total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85" name="grounding-warning">
            <a:extLst xmlns:a="http://schemas.openxmlformats.org/drawingml/2006/main">
              <a:ext uri="{FF2B5EF4-FFF2-40B4-BE49-F238E27FC236}">
                <a16:creationId xmlns:a16="http://schemas.microsoft.com/office/drawing/2014/main" id="{0BF29989-1088-4D90-89C2-11524304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887450"/>
            <a:ext cx="13525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grounding-threshold">
            <a:extLst xmlns:a="http://schemas.openxmlformats.org/drawingml/2006/main">
              <a:ext uri="{FF2B5EF4-FFF2-40B4-BE49-F238E27FC236}">
                <a16:creationId xmlns:a16="http://schemas.microsoft.com/office/drawing/2014/main" id="{BA5EFDCA-A1D5-406B-B589-6459ED76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4116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0.847 &lt; 0.850</a:t>
            </a:r>
          </a:p>
        </p:txBody>
      </p:sp>
      <p:sp>
        <p:nvSpPr>
          <p:cNvPr id="87" name="valid-detail">
            <a:extLst xmlns:a="http://schemas.openxmlformats.org/drawingml/2006/main">
              <a:ext uri="{FF2B5EF4-FFF2-40B4-BE49-F238E27FC236}">
                <a16:creationId xmlns:a16="http://schemas.microsoft.com/office/drawing/2014/main" id="{E7CE0169-91C4-4786-969F-F2AB125C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04937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100/100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valid outputs</a:t>
            </a:r>
          </a:p>
        </p:txBody>
      </p:sp>
      <p:sp>
        <p:nvSpPr>
          <p:cNvPr id="88" name="latency-detail">
            <a:extLst xmlns:a="http://schemas.openxmlformats.org/drawingml/2006/main">
              <a:ext uri="{FF2B5EF4-FFF2-40B4-BE49-F238E27FC236}">
                <a16:creationId xmlns:a16="http://schemas.microsoft.com/office/drawing/2014/main" id="{AD15FE16-6C89-4596-AEE9-4FB5C969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049375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Mean TTFT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6.39 s</a:t>
            </a:r>
          </a:p>
        </p:txBody>
      </p:sp>
      <p:sp>
        <p:nvSpPr>
          <p:cNvPr id="89" name="answer-detail">
            <a:extLst xmlns:a="http://schemas.openxmlformats.org/drawingml/2006/main">
              <a:ext uri="{FF2B5EF4-FFF2-40B4-BE49-F238E27FC236}">
                <a16:creationId xmlns:a16="http://schemas.microsoft.com/office/drawing/2014/main" id="{F1904377-885D-4F86-9AF8-CFA6298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0"/>
            <a:ext cx="830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0.943 deterministic  |  0.987 free text</a:t>
            </a:r>
          </a:p>
        </p:txBody>
      </p:sp>
      <p:sp>
        <p:nvSpPr>
          <p:cNvPr id="90" name="system-interpretation">
            <a:extLst xmlns:a="http://schemas.openxmlformats.org/drawingml/2006/main">
              <a:ext uri="{FF2B5EF4-FFF2-40B4-BE49-F238E27FC236}">
                <a16:creationId xmlns:a16="http://schemas.microsoft.com/office/drawing/2014/main" id="{A8172654-1596-4EE6-B8B8-DA7112BE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0"/>
            <a:ext cx="830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H1 is partly supported: quality, validity and latency pass; benchmark grounding misses 0.85.</a:t>
            </a:r>
          </a:p>
        </p:txBody>
      </p:sp>
      <p:sp>
        <p:nvSpPr>
          <p:cNvPr id="91" name="results-attribution-label">
            <a:extLst xmlns:a="http://schemas.openxmlformats.org/drawingml/2006/main">
              <a:ext uri="{FF2B5EF4-FFF2-40B4-BE49-F238E27FC236}">
                <a16:creationId xmlns:a16="http://schemas.microsoft.com/office/drawing/2014/main" id="{15D06B52-AE34-4F8F-BC90-4ADECCE0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0871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  |  ATTRIBUTION</a:t>
            </a:r>
          </a:p>
        </p:txBody>
      </p:sp>
      <p:sp>
        <p:nvSpPr>
          <p:cNvPr id="92" name="results-attribution-title">
            <a:extLst xmlns:a="http://schemas.openxmlformats.org/drawingml/2006/main">
              <a:ext uri="{FF2B5EF4-FFF2-40B4-BE49-F238E27FC236}">
                <a16:creationId xmlns:a16="http://schemas.microsoft.com/office/drawing/2014/main" id="{6A71EF7A-6729-4126-82A2-6723293B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5252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Answer-aware selection removes citation noise</a:t>
            </a:r>
          </a:p>
        </p:txBody>
      </p:sp>
      <p:sp>
        <p:nvSpPr>
          <p:cNvPr id="93" name="attribution-sample">
            <a:extLst xmlns:a="http://schemas.openxmlformats.org/drawingml/2006/main">
              <a:ext uri="{FF2B5EF4-FFF2-40B4-BE49-F238E27FC236}">
                <a16:creationId xmlns:a16="http://schemas.microsoft.com/office/drawing/2014/main" id="{B4290A65-016A-4C0E-9347-986C687E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001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Macro averages  |  n = 95 annotated questions</a:t>
            </a:r>
          </a:p>
        </p:txBody>
      </p:sp>
      <p:sp>
        <p:nvSpPr>
          <p:cNvPr id="94" name="plot-stage-1">
            <a:extLst xmlns:a="http://schemas.openxmlformats.org/drawingml/2006/main">
              <a:ext uri="{FF2B5EF4-FFF2-40B4-BE49-F238E27FC236}">
                <a16:creationId xmlns:a16="http://schemas.microsoft.com/office/drawing/2014/main" id="{9C2B91CF-6858-443C-AB1F-B0731B77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2401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95" name="plot-stage-2">
            <a:extLst xmlns:a="http://schemas.openxmlformats.org/drawingml/2006/main">
              <a:ext uri="{FF2B5EF4-FFF2-40B4-BE49-F238E27FC236}">
                <a16:creationId xmlns:a16="http://schemas.microsoft.com/office/drawing/2014/main" id="{541BC4F5-D845-4EB0-B7CE-1514666A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2401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96" name="plot-stage-3">
            <a:extLst xmlns:a="http://schemas.openxmlformats.org/drawingml/2006/main">
              <a:ext uri="{FF2B5EF4-FFF2-40B4-BE49-F238E27FC236}">
                <a16:creationId xmlns:a16="http://schemas.microsoft.com/office/drawing/2014/main" id="{954679BC-5513-444A-B5EE-AFC87596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12401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97" name="precision-row-label">
            <a:extLst xmlns:a="http://schemas.openxmlformats.org/drawingml/2006/main">
              <a:ext uri="{FF2B5EF4-FFF2-40B4-BE49-F238E27FC236}">
                <a16:creationId xmlns:a16="http://schemas.microsoft.com/office/drawing/2014/main" id="{66F0583B-3361-46B6-8E5B-DA30A357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0397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98" name="precision-line-1">
            <a:extLst xmlns:a="http://schemas.openxmlformats.org/drawingml/2006/main">
              <a:ext uri="{FF2B5EF4-FFF2-40B4-BE49-F238E27FC236}">
                <a16:creationId xmlns:a16="http://schemas.microsoft.com/office/drawing/2014/main" id="{9D40601B-76E4-4A24-8C85-6DC9D2E4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3248561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99" name="precision-line-2">
            <a:extLst xmlns:a="http://schemas.openxmlformats.org/drawingml/2006/main">
              <a:ext uri="{FF2B5EF4-FFF2-40B4-BE49-F238E27FC236}">
                <a16:creationId xmlns:a16="http://schemas.microsoft.com/office/drawing/2014/main" id="{E473C156-8199-45D0-9AE2-E65DBD30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0" y="13044130"/>
            <a:ext cx="2952750" cy="204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00" name="precision-dot-1">
            <a:extLst xmlns:a="http://schemas.openxmlformats.org/drawingml/2006/main">
              <a:ext uri="{FF2B5EF4-FFF2-40B4-BE49-F238E27FC236}">
                <a16:creationId xmlns:a16="http://schemas.microsoft.com/office/drawing/2014/main" id="{BBB40835-B52F-447A-825F-C22232F6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3134261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1" name="precision-value-1">
            <a:extLst xmlns:a="http://schemas.openxmlformats.org/drawingml/2006/main">
              <a:ext uri="{FF2B5EF4-FFF2-40B4-BE49-F238E27FC236}">
                <a16:creationId xmlns:a16="http://schemas.microsoft.com/office/drawing/2014/main" id="{10854AE2-5EAF-4D44-87E3-6B5ACEC2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2848511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63.8%</a:t>
            </a:r>
          </a:p>
        </p:txBody>
      </p:sp>
      <p:sp>
        <p:nvSpPr>
          <p:cNvPr id="102" name="precision-dot-2">
            <a:extLst xmlns:a="http://schemas.openxmlformats.org/drawingml/2006/main">
              <a:ext uri="{FF2B5EF4-FFF2-40B4-BE49-F238E27FC236}">
                <a16:creationId xmlns:a16="http://schemas.microsoft.com/office/drawing/2014/main" id="{0D85682E-BA55-433F-9762-C902405B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3134261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3" name="precision-value-2">
            <a:extLst xmlns:a="http://schemas.openxmlformats.org/drawingml/2006/main">
              <a:ext uri="{FF2B5EF4-FFF2-40B4-BE49-F238E27FC236}">
                <a16:creationId xmlns:a16="http://schemas.microsoft.com/office/drawing/2014/main" id="{953864CD-1434-4CF7-B556-60AD76A2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2848511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63.8%</a:t>
            </a:r>
          </a:p>
        </p:txBody>
      </p:sp>
      <p:sp>
        <p:nvSpPr>
          <p:cNvPr id="104" name="precision-dot-3">
            <a:extLst xmlns:a="http://schemas.openxmlformats.org/drawingml/2006/main">
              <a:ext uri="{FF2B5EF4-FFF2-40B4-BE49-F238E27FC236}">
                <a16:creationId xmlns:a16="http://schemas.microsoft.com/office/drawing/2014/main" id="{78E41BB7-34FD-4C2F-AA34-D4D54BBF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292983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5" name="precision-value-3">
            <a:extLst xmlns:a="http://schemas.openxmlformats.org/drawingml/2006/main">
              <a:ext uri="{FF2B5EF4-FFF2-40B4-BE49-F238E27FC236}">
                <a16:creationId xmlns:a16="http://schemas.microsoft.com/office/drawing/2014/main" id="{34360934-97F0-4947-8B18-D8C82423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264408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73.9%</a:t>
            </a:r>
          </a:p>
        </p:txBody>
      </p:sp>
      <p:sp>
        <p:nvSpPr>
          <p:cNvPr id="106" name="recall-row-label">
            <a:extLst xmlns:a="http://schemas.openxmlformats.org/drawingml/2006/main">
              <a:ext uri="{FF2B5EF4-FFF2-40B4-BE49-F238E27FC236}">
                <a16:creationId xmlns:a16="http://schemas.microsoft.com/office/drawing/2014/main" id="{1A58780C-D9A3-47B8-B8D5-8B51F62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7064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07" name="recall-line-1">
            <a:extLst xmlns:a="http://schemas.openxmlformats.org/drawingml/2006/main">
              <a:ext uri="{FF2B5EF4-FFF2-40B4-BE49-F238E27FC236}">
                <a16:creationId xmlns:a16="http://schemas.microsoft.com/office/drawing/2014/main" id="{4903A67E-E12B-4738-904A-3552409A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3765530"/>
            <a:ext cx="2952750" cy="48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08" name="recall-line-2">
            <a:extLst xmlns:a="http://schemas.openxmlformats.org/drawingml/2006/main">
              <a:ext uri="{FF2B5EF4-FFF2-40B4-BE49-F238E27FC236}">
                <a16:creationId xmlns:a16="http://schemas.microsoft.com/office/drawing/2014/main" id="{333FA68B-7B5F-4400-BE10-D4E78E0E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0" y="13814108"/>
            <a:ext cx="2952750" cy="809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09" name="recall-dot-1">
            <a:extLst xmlns:a="http://schemas.openxmlformats.org/drawingml/2006/main">
              <a:ext uri="{FF2B5EF4-FFF2-40B4-BE49-F238E27FC236}">
                <a16:creationId xmlns:a16="http://schemas.microsoft.com/office/drawing/2014/main" id="{601B2880-C352-481C-AFBD-7AC1C753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365123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0" name="recall-value-1">
            <a:extLst xmlns:a="http://schemas.openxmlformats.org/drawingml/2006/main">
              <a:ext uri="{FF2B5EF4-FFF2-40B4-BE49-F238E27FC236}">
                <a16:creationId xmlns:a16="http://schemas.microsoft.com/office/drawing/2014/main" id="{486795B0-0FF8-4482-8921-B7D0254F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336548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96.8%</a:t>
            </a:r>
          </a:p>
        </p:txBody>
      </p:sp>
      <p:sp>
        <p:nvSpPr>
          <p:cNvPr id="111" name="recall-dot-2">
            <a:extLst xmlns:a="http://schemas.openxmlformats.org/drawingml/2006/main">
              <a:ext uri="{FF2B5EF4-FFF2-40B4-BE49-F238E27FC236}">
                <a16:creationId xmlns:a16="http://schemas.microsoft.com/office/drawing/2014/main" id="{EAA6E773-C301-4FB8-B9D1-B13AB987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369980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2" name="recall-value-2">
            <a:extLst xmlns:a="http://schemas.openxmlformats.org/drawingml/2006/main">
              <a:ext uri="{FF2B5EF4-FFF2-40B4-BE49-F238E27FC236}">
                <a16:creationId xmlns:a16="http://schemas.microsoft.com/office/drawing/2014/main" id="{C463432B-CE84-4751-8E73-B572EE59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341405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96.2%</a:t>
            </a:r>
          </a:p>
        </p:txBody>
      </p:sp>
      <p:sp>
        <p:nvSpPr>
          <p:cNvPr id="113" name="recall-dot-3">
            <a:extLst xmlns:a="http://schemas.openxmlformats.org/drawingml/2006/main">
              <a:ext uri="{FF2B5EF4-FFF2-40B4-BE49-F238E27FC236}">
                <a16:creationId xmlns:a16="http://schemas.microsoft.com/office/drawing/2014/main" id="{D951255D-0B3A-460E-B82B-D0F1362C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378077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4" name="recall-value-3">
            <a:extLst xmlns:a="http://schemas.openxmlformats.org/drawingml/2006/main">
              <a:ext uri="{FF2B5EF4-FFF2-40B4-BE49-F238E27FC236}">
                <a16:creationId xmlns:a16="http://schemas.microsoft.com/office/drawing/2014/main" id="{0910681C-BF73-4ADD-86DE-B08B5CE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349502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95.2%</a:t>
            </a:r>
          </a:p>
        </p:txBody>
      </p:sp>
      <p:sp>
        <p:nvSpPr>
          <p:cNvPr id="115" name="fbeta-row-label">
            <a:extLst xmlns:a="http://schemas.openxmlformats.org/drawingml/2006/main">
              <a:ext uri="{FF2B5EF4-FFF2-40B4-BE49-F238E27FC236}">
                <a16:creationId xmlns:a16="http://schemas.microsoft.com/office/drawing/2014/main" id="{D1F9EFE4-B2EC-41FE-87FE-B67B5B45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3732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F-beta</a:t>
            </a:r>
          </a:p>
        </p:txBody>
      </p:sp>
      <p:sp>
        <p:nvSpPr>
          <p:cNvPr id="116" name="fbeta-line-1">
            <a:extLst xmlns:a="http://schemas.openxmlformats.org/drawingml/2006/main">
              <a:ext uri="{FF2B5EF4-FFF2-40B4-BE49-F238E27FC236}">
                <a16:creationId xmlns:a16="http://schemas.microsoft.com/office/drawing/2014/main" id="{1221660C-A1B8-41AD-9412-0C13E6DB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4547941"/>
            <a:ext cx="2952750" cy="37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17" name="fbeta-line-2">
            <a:extLst xmlns:a="http://schemas.openxmlformats.org/drawingml/2006/main">
              <a:ext uri="{FF2B5EF4-FFF2-40B4-BE49-F238E27FC236}">
                <a16:creationId xmlns:a16="http://schemas.microsoft.com/office/drawing/2014/main" id="{2B87ECFF-B023-48BC-80D0-716B26F5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0" y="14409148"/>
            <a:ext cx="2952750" cy="1758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18" name="fbeta-dot-1">
            <a:extLst xmlns:a="http://schemas.openxmlformats.org/drawingml/2006/main">
              <a:ext uri="{FF2B5EF4-FFF2-40B4-BE49-F238E27FC236}">
                <a16:creationId xmlns:a16="http://schemas.microsoft.com/office/drawing/2014/main" id="{5A76E85F-6143-402A-AF44-F45DE7F6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4433641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9" name="fbeta-value-1">
            <a:extLst xmlns:a="http://schemas.openxmlformats.org/drawingml/2006/main">
              <a:ext uri="{FF2B5EF4-FFF2-40B4-BE49-F238E27FC236}">
                <a16:creationId xmlns:a16="http://schemas.microsoft.com/office/drawing/2014/main" id="{FD536DD1-C315-4383-841B-C75C1581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147891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87.7%</a:t>
            </a:r>
          </a:p>
        </p:txBody>
      </p:sp>
      <p:sp>
        <p:nvSpPr>
          <p:cNvPr id="120" name="fbeta-dot-2">
            <a:extLst xmlns:a="http://schemas.openxmlformats.org/drawingml/2006/main">
              <a:ext uri="{FF2B5EF4-FFF2-40B4-BE49-F238E27FC236}">
                <a16:creationId xmlns:a16="http://schemas.microsoft.com/office/drawing/2014/main" id="{587BF93E-0FB0-43D4-AE10-DD7C18C4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4470652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1" name="fbeta-value-2">
            <a:extLst xmlns:a="http://schemas.openxmlformats.org/drawingml/2006/main">
              <a:ext uri="{FF2B5EF4-FFF2-40B4-BE49-F238E27FC236}">
                <a16:creationId xmlns:a16="http://schemas.microsoft.com/office/drawing/2014/main" id="{B017C56A-0616-4D33-BAE3-DE754864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4184902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87.3%</a:t>
            </a:r>
          </a:p>
        </p:txBody>
      </p:sp>
      <p:sp>
        <p:nvSpPr>
          <p:cNvPr id="122" name="fbeta-dot-3">
            <a:extLst xmlns:a="http://schemas.openxmlformats.org/drawingml/2006/main">
              <a:ext uri="{FF2B5EF4-FFF2-40B4-BE49-F238E27FC236}">
                <a16:creationId xmlns:a16="http://schemas.microsoft.com/office/drawing/2014/main" id="{5B5CAB38-6267-458B-A031-DCC4CCC2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429484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3" name="fbeta-value-3">
            <a:extLst xmlns:a="http://schemas.openxmlformats.org/drawingml/2006/main">
              <a:ext uri="{FF2B5EF4-FFF2-40B4-BE49-F238E27FC236}">
                <a16:creationId xmlns:a16="http://schemas.microsoft.com/office/drawing/2014/main" id="{6EF32981-52D6-4F5C-836E-B5A928C7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400909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89.2%</a:t>
            </a:r>
          </a:p>
        </p:txBody>
      </p:sp>
      <p:sp>
        <p:nvSpPr>
          <p:cNvPr id="124" name="pages-row-label">
            <a:extLst xmlns:a="http://schemas.openxmlformats.org/drawingml/2006/main">
              <a:ext uri="{FF2B5EF4-FFF2-40B4-BE49-F238E27FC236}">
                <a16:creationId xmlns:a16="http://schemas.microsoft.com/office/drawing/2014/main" id="{D1FF8E7B-29E7-4626-A758-C513519B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0399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Pages / Q</a:t>
            </a:r>
          </a:p>
        </p:txBody>
      </p:sp>
      <p:sp>
        <p:nvSpPr>
          <p:cNvPr id="125" name="pages-line-1">
            <a:extLst xmlns:a="http://schemas.openxmlformats.org/drawingml/2006/main">
              <a:ext uri="{FF2B5EF4-FFF2-40B4-BE49-F238E27FC236}">
                <a16:creationId xmlns:a16="http://schemas.microsoft.com/office/drawing/2014/main" id="{3AE668A0-C282-4EFE-90DA-A92E4338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5060168"/>
            <a:ext cx="2952750" cy="129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26" name="pages-line-2">
            <a:extLst xmlns:a="http://schemas.openxmlformats.org/drawingml/2006/main">
              <a:ext uri="{FF2B5EF4-FFF2-40B4-BE49-F238E27FC236}">
                <a16:creationId xmlns:a16="http://schemas.microsoft.com/office/drawing/2014/main" id="{03F810ED-BB0C-4D14-A34B-0695FC8B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0" y="15073122"/>
            <a:ext cx="2952750" cy="2007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27" name="pages-dot-1">
            <a:extLst xmlns:a="http://schemas.openxmlformats.org/drawingml/2006/main">
              <a:ext uri="{FF2B5EF4-FFF2-40B4-BE49-F238E27FC236}">
                <a16:creationId xmlns:a16="http://schemas.microsoft.com/office/drawing/2014/main" id="{C149DBC4-E9D6-4A2C-8A63-4E6ACF31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494586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8" name="pages-value-1">
            <a:extLst xmlns:a="http://schemas.openxmlformats.org/drawingml/2006/main">
              <a:ext uri="{FF2B5EF4-FFF2-40B4-BE49-F238E27FC236}">
                <a16:creationId xmlns:a16="http://schemas.microsoft.com/office/drawing/2014/main" id="{6F294D32-962D-48D2-A797-6DEA971E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66011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2.56</a:t>
            </a:r>
          </a:p>
        </p:txBody>
      </p:sp>
      <p:sp>
        <p:nvSpPr>
          <p:cNvPr id="129" name="pages-dot-2">
            <a:extLst xmlns:a="http://schemas.openxmlformats.org/drawingml/2006/main">
              <a:ext uri="{FF2B5EF4-FFF2-40B4-BE49-F238E27FC236}">
                <a16:creationId xmlns:a16="http://schemas.microsoft.com/office/drawing/2014/main" id="{FF5ACF81-9DF5-40C5-A930-BFC17225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4958822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0" name="pages-value-2">
            <a:extLst xmlns:a="http://schemas.openxmlformats.org/drawingml/2006/main">
              <a:ext uri="{FF2B5EF4-FFF2-40B4-BE49-F238E27FC236}">
                <a16:creationId xmlns:a16="http://schemas.microsoft.com/office/drawing/2014/main" id="{5FF63A83-DE15-467E-9CB8-ED4040DF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4673072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2.54</a:t>
            </a:r>
          </a:p>
        </p:txBody>
      </p:sp>
      <p:sp>
        <p:nvSpPr>
          <p:cNvPr id="131" name="pages-dot-3">
            <a:extLst xmlns:a="http://schemas.openxmlformats.org/drawingml/2006/main">
              <a:ext uri="{FF2B5EF4-FFF2-40B4-BE49-F238E27FC236}">
                <a16:creationId xmlns:a16="http://schemas.microsoft.com/office/drawing/2014/main" id="{457B6BCC-0124-43A3-8262-DFCBBFEB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5159609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2" name="pages-value-3">
            <a:extLst xmlns:a="http://schemas.openxmlformats.org/drawingml/2006/main">
              <a:ext uri="{FF2B5EF4-FFF2-40B4-BE49-F238E27FC236}">
                <a16:creationId xmlns:a16="http://schemas.microsoft.com/office/drawing/2014/main" id="{24B5CD5D-D8FC-4327-BA05-DA481E13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4873859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133" name="attribution-callout-rule">
            <a:extLst xmlns:a="http://schemas.openxmlformats.org/drawingml/2006/main">
              <a:ext uri="{FF2B5EF4-FFF2-40B4-BE49-F238E27FC236}">
                <a16:creationId xmlns:a16="http://schemas.microsoft.com/office/drawing/2014/main" id="{107E8B32-3CDC-40EA-BEE9-59857E87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6400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callout-accent-1">
            <a:extLst xmlns:a="http://schemas.openxmlformats.org/drawingml/2006/main">
              <a:ext uri="{FF2B5EF4-FFF2-40B4-BE49-F238E27FC236}">
                <a16:creationId xmlns:a16="http://schemas.microsoft.com/office/drawing/2014/main" id="{52BE7363-548F-4A00-BA1C-A8F65471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7829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callout-value-1">
            <a:extLst xmlns:a="http://schemas.openxmlformats.org/drawingml/2006/main">
              <a:ext uri="{FF2B5EF4-FFF2-40B4-BE49-F238E27FC236}">
                <a16:creationId xmlns:a16="http://schemas.microsoft.com/office/drawing/2014/main" id="{D2FC3FD8-DCFE-41D3-9715-DB3F01C9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5725775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+10.2 pp</a:t>
            </a:r>
          </a:p>
        </p:txBody>
      </p:sp>
      <p:sp>
        <p:nvSpPr>
          <p:cNvPr id="136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7639FFC8-343D-4DE2-85BD-A29B48AC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144875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precision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95% CI +6.3 to +14.4</a:t>
            </a:r>
          </a:p>
        </p:txBody>
      </p:sp>
      <p:sp>
        <p:nvSpPr>
          <p:cNvPr id="137" name="callout-accent-2">
            <a:extLst xmlns:a="http://schemas.openxmlformats.org/drawingml/2006/main">
              <a:ext uri="{FF2B5EF4-FFF2-40B4-BE49-F238E27FC236}">
                <a16:creationId xmlns:a16="http://schemas.microsoft.com/office/drawing/2014/main" id="{59193082-BF5A-4B55-83F7-6DB64ECB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3250" y="157829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callout-value-2">
            <a:extLst xmlns:a="http://schemas.openxmlformats.org/drawingml/2006/main">
              <a:ext uri="{FF2B5EF4-FFF2-40B4-BE49-F238E27FC236}">
                <a16:creationId xmlns:a16="http://schemas.microsoft.com/office/drawing/2014/main" id="{215DEA81-C140-4496-A002-43EE9420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800" y="15725775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-0.33</a:t>
            </a:r>
          </a:p>
        </p:txBody>
      </p:sp>
      <p:sp>
        <p:nvSpPr>
          <p:cNvPr id="139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3D006C7C-63DC-4216-932E-E4FA9D17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800" y="16144875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pages / question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95% CI -0.46 to -0.20</a:t>
            </a:r>
          </a:p>
        </p:txBody>
      </p:sp>
      <p:sp>
        <p:nvSpPr>
          <p:cNvPr id="140" name="callout-accent-3">
            <a:extLst xmlns:a="http://schemas.openxmlformats.org/drawingml/2006/main">
              <a:ext uri="{FF2B5EF4-FFF2-40B4-BE49-F238E27FC236}">
                <a16:creationId xmlns:a16="http://schemas.microsoft.com/office/drawing/2014/main" id="{5959B934-403B-4277-831F-D8942FBC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5750" y="157829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callout-value-3">
            <a:extLst xmlns:a="http://schemas.openxmlformats.org/drawingml/2006/main">
              <a:ext uri="{FF2B5EF4-FFF2-40B4-BE49-F238E27FC236}">
                <a16:creationId xmlns:a16="http://schemas.microsoft.com/office/drawing/2014/main" id="{642E50E3-1BA7-438D-BC5F-6DD21501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300" y="15725775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95/95</a:t>
            </a:r>
          </a:p>
        </p:txBody>
      </p:sp>
      <p:sp>
        <p:nvSpPr>
          <p:cNvPr id="142" name="callout-label-3">
            <a:extLst xmlns:a="http://schemas.openxmlformats.org/drawingml/2006/main">
              <a:ext uri="{FF2B5EF4-FFF2-40B4-BE49-F238E27FC236}">
                <a16:creationId xmlns:a16="http://schemas.microsoft.com/office/drawing/2014/main" id="{ECBCA844-6726-47EC-928C-D6164350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300" y="16144875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hit coverage retained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F-beta gain uncertain</a:t>
            </a:r>
          </a:p>
        </p:txBody>
      </p:sp>
      <p:sp>
        <p:nvSpPr>
          <p:cNvPr id="143" name="results-boundary-label">
            <a:extLst xmlns:a="http://schemas.openxmlformats.org/drawingml/2006/main">
              <a:ext uri="{FF2B5EF4-FFF2-40B4-BE49-F238E27FC236}">
                <a16:creationId xmlns:a16="http://schemas.microsoft.com/office/drawing/2014/main" id="{454CD152-5315-4904-BF9C-1939ADBB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1087100"/>
            <a:ext cx="865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RESULTS  |  BOUNDARY</a:t>
            </a:r>
          </a:p>
        </p:txBody>
      </p:sp>
      <p:sp>
        <p:nvSpPr>
          <p:cNvPr id="144" name="results-boundary-title">
            <a:extLst xmlns:a="http://schemas.openxmlformats.org/drawingml/2006/main">
              <a:ext uri="{FF2B5EF4-FFF2-40B4-BE49-F238E27FC236}">
                <a16:creationId xmlns:a16="http://schemas.microsoft.com/office/drawing/2014/main" id="{D209CF5C-D0BF-4A9A-B8B0-9356A39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1525250"/>
            <a:ext cx="865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Narrowing helps local - and hurts distributed evidence</a:t>
            </a:r>
          </a:p>
        </p:txBody>
      </p:sp>
      <p:sp>
        <p:nvSpPr>
          <p:cNvPr id="145" name="boundary-subtitle">
            <a:extLst xmlns:a="http://schemas.openxmlformats.org/drawingml/2006/main">
              <a:ext uri="{FF2B5EF4-FFF2-40B4-BE49-F238E27FC236}">
                <a16:creationId xmlns:a16="http://schemas.microsoft.com/office/drawing/2014/main" id="{33168737-13C0-40C5-96EB-7E541EED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2334875"/>
            <a:ext cx="865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Exploratory F-beta change, raw -&gt; final</a:t>
            </a:r>
          </a:p>
        </p:txBody>
      </p:sp>
      <p:sp>
        <p:nvSpPr>
          <p:cNvPr id="146" name="boundary-zero-line">
            <a:extLst xmlns:a="http://schemas.openxmlformats.org/drawingml/2006/main">
              <a:ext uri="{FF2B5EF4-FFF2-40B4-BE49-F238E27FC236}">
                <a16:creationId xmlns:a16="http://schemas.microsoft.com/office/drawing/2014/main" id="{C060B975-24BF-43CE-9009-4B577437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2715875"/>
            <a:ext cx="2857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single-page-label">
            <a:extLst xmlns:a="http://schemas.openxmlformats.org/drawingml/2006/main">
              <a:ext uri="{FF2B5EF4-FFF2-40B4-BE49-F238E27FC236}">
                <a16:creationId xmlns:a16="http://schemas.microsoft.com/office/drawing/2014/main" id="{FA371580-E9C0-4FDE-A084-A7FCB4FF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28016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Single page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59</a:t>
            </a:r>
          </a:p>
        </p:txBody>
      </p:sp>
      <p:sp>
        <p:nvSpPr>
          <p:cNvPr id="148" name="single-page-bar">
            <a:extLst xmlns:a="http://schemas.openxmlformats.org/drawingml/2006/main">
              <a:ext uri="{FF2B5EF4-FFF2-40B4-BE49-F238E27FC236}">
                <a16:creationId xmlns:a16="http://schemas.microsoft.com/office/drawing/2014/main" id="{9D5EE631-E73E-49A1-99A3-3248574F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2906375"/>
            <a:ext cx="27432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single-page-value">
            <a:extLst xmlns:a="http://schemas.openxmlformats.org/drawingml/2006/main">
              <a:ext uri="{FF2B5EF4-FFF2-40B4-BE49-F238E27FC236}">
                <a16:creationId xmlns:a16="http://schemas.microsoft.com/office/drawing/2014/main" id="{94000DB2-BAEA-4F73-B1BA-00E9A99C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2575" y="128587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+4.0 pp</a:t>
            </a:r>
          </a:p>
        </p:txBody>
      </p:sp>
      <p:sp>
        <p:nvSpPr>
          <p:cNvPr id="150" name="multi-page-label">
            <a:extLst xmlns:a="http://schemas.openxmlformats.org/drawingml/2006/main">
              <a:ext uri="{FF2B5EF4-FFF2-40B4-BE49-F238E27FC236}">
                <a16:creationId xmlns:a16="http://schemas.microsoft.com/office/drawing/2014/main" id="{1F1EBB1D-3DF2-4902-A9F9-F6A02696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34874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 page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36</a:t>
            </a:r>
          </a:p>
        </p:txBody>
      </p:sp>
      <p:sp>
        <p:nvSpPr>
          <p:cNvPr id="151" name="multi-page-bar">
            <a:extLst xmlns:a="http://schemas.openxmlformats.org/drawingml/2006/main">
              <a:ext uri="{FF2B5EF4-FFF2-40B4-BE49-F238E27FC236}">
                <a16:creationId xmlns:a16="http://schemas.microsoft.com/office/drawing/2014/main" id="{F991AF1D-2A0C-4FC8-BFF6-9857ED0B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2945" y="13592175"/>
            <a:ext cx="178308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multi-page-value">
            <a:extLst xmlns:a="http://schemas.openxmlformats.org/drawingml/2006/main">
              <a:ext uri="{FF2B5EF4-FFF2-40B4-BE49-F238E27FC236}">
                <a16:creationId xmlns:a16="http://schemas.microsoft.com/office/drawing/2014/main" id="{8FD56FE6-E040-4C97-B8BF-A6519DA3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1395" y="135445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-2.6 pp</a:t>
            </a:r>
          </a:p>
        </p:txBody>
      </p:sp>
      <p:sp>
        <p:nvSpPr>
          <p:cNvPr id="153" name="single-doc-label">
            <a:extLst xmlns:a="http://schemas.openxmlformats.org/drawingml/2006/main">
              <a:ext uri="{FF2B5EF4-FFF2-40B4-BE49-F238E27FC236}">
                <a16:creationId xmlns:a16="http://schemas.microsoft.com/office/drawing/2014/main" id="{5D77C90A-196B-49DA-BCA2-26527348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41732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Single document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60</a:t>
            </a:r>
          </a:p>
        </p:txBody>
      </p:sp>
      <p:sp>
        <p:nvSpPr>
          <p:cNvPr id="154" name="single-doc-bar">
            <a:extLst xmlns:a="http://schemas.openxmlformats.org/drawingml/2006/main">
              <a:ext uri="{FF2B5EF4-FFF2-40B4-BE49-F238E27FC236}">
                <a16:creationId xmlns:a16="http://schemas.microsoft.com/office/drawing/2014/main" id="{134E21D7-4EDD-4198-A60B-D3F005A8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4277975"/>
            <a:ext cx="219456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single-doc-value">
            <a:extLst xmlns:a="http://schemas.openxmlformats.org/drawingml/2006/main">
              <a:ext uri="{FF2B5EF4-FFF2-40B4-BE49-F238E27FC236}">
                <a16:creationId xmlns:a16="http://schemas.microsoft.com/office/drawing/2014/main" id="{51FC7BE2-5976-4636-AA00-69EE94B3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3935" y="142303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+3.2 pp</a:t>
            </a:r>
          </a:p>
        </p:txBody>
      </p:sp>
      <p:sp>
        <p:nvSpPr>
          <p:cNvPr id="156" name="multi-doc-label">
            <a:extLst xmlns:a="http://schemas.openxmlformats.org/drawingml/2006/main">
              <a:ext uri="{FF2B5EF4-FFF2-40B4-BE49-F238E27FC236}">
                <a16:creationId xmlns:a16="http://schemas.microsoft.com/office/drawing/2014/main" id="{5F2332B2-5A83-4DA5-B1AA-F936CC20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48590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 document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35</a:t>
            </a:r>
          </a:p>
        </p:txBody>
      </p:sp>
      <p:sp>
        <p:nvSpPr>
          <p:cNvPr id="157" name="multi-doc-bar">
            <a:extLst xmlns:a="http://schemas.openxmlformats.org/drawingml/2006/main">
              <a:ext uri="{FF2B5EF4-FFF2-40B4-BE49-F238E27FC236}">
                <a16:creationId xmlns:a16="http://schemas.microsoft.com/office/drawing/2014/main" id="{852863E3-DF68-4584-B9F9-4B2B81A6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5905" y="14963775"/>
            <a:ext cx="96012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multi-doc-value">
            <a:extLst xmlns:a="http://schemas.openxmlformats.org/drawingml/2006/main">
              <a:ext uri="{FF2B5EF4-FFF2-40B4-BE49-F238E27FC236}">
                <a16:creationId xmlns:a16="http://schemas.microsoft.com/office/drawing/2014/main" id="{944930D6-71EA-4F64-A3F8-A2982321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4355" y="149161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-1.4 pp</a:t>
            </a:r>
          </a:p>
        </p:txBody>
      </p:sp>
      <p:sp>
        <p:nvSpPr>
          <p:cNvPr id="159" name="boundary-axis-left">
            <a:extLst xmlns:a="http://schemas.openxmlformats.org/drawingml/2006/main">
              <a:ext uri="{FF2B5EF4-FFF2-40B4-BE49-F238E27FC236}">
                <a16:creationId xmlns:a16="http://schemas.microsoft.com/office/drawing/2014/main" id="{D1A038B4-3E68-4F06-B64F-00513097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7650" y="157638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-3 pp</a:t>
            </a:r>
          </a:p>
        </p:txBody>
      </p:sp>
      <p:sp>
        <p:nvSpPr>
          <p:cNvPr id="160" name="boundary-axis-zero">
            <a:extLst xmlns:a="http://schemas.openxmlformats.org/drawingml/2006/main">
              <a:ext uri="{FF2B5EF4-FFF2-40B4-BE49-F238E27FC236}">
                <a16:creationId xmlns:a16="http://schemas.microsoft.com/office/drawing/2014/main" id="{489FD93D-9141-41AF-8426-21487560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0275" y="157638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1" name="boundary-axis-right">
            <a:extLst xmlns:a="http://schemas.openxmlformats.org/drawingml/2006/main">
              <a:ext uri="{FF2B5EF4-FFF2-40B4-BE49-F238E27FC236}">
                <a16:creationId xmlns:a16="http://schemas.microsoft.com/office/drawing/2014/main" id="{C620E24A-2658-4678-8216-E6D7F437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0" y="157638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+5 pp</a:t>
            </a:r>
          </a:p>
        </p:txBody>
      </p:sp>
      <p:sp>
        <p:nvSpPr>
          <p:cNvPr id="162" name="boundary-conclusion">
            <a:extLst xmlns:a="http://schemas.openxmlformats.org/drawingml/2006/main">
              <a:ext uri="{FF2B5EF4-FFF2-40B4-BE49-F238E27FC236}">
                <a16:creationId xmlns:a16="http://schemas.microsoft.com/office/drawing/2014/main" id="{4263B041-0E27-4B02-B412-0514D6A8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6211550"/>
            <a:ext cx="865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Multi-page: -2.6 pp - the clearest failure boundary.</a:t>
            </a:r>
          </a:p>
        </p:txBody>
      </p:sp>
      <p:sp>
        <p:nvSpPr>
          <p:cNvPr id="163" name="metric-distinction-bg">
            <a:extLst xmlns:a="http://schemas.openxmlformats.org/drawingml/2006/main">
              <a:ext uri="{FF2B5EF4-FFF2-40B4-BE49-F238E27FC236}">
                <a16:creationId xmlns:a16="http://schemas.microsoft.com/office/drawing/2014/main" id="{AB8A74E8-AE70-4CFF-9BC1-487883DD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44950"/>
            <a:ext cx="2852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metric-distinction">
            <a:extLst xmlns:a="http://schemas.openxmlformats.org/drawingml/2006/main">
              <a:ext uri="{FF2B5EF4-FFF2-40B4-BE49-F238E27FC236}">
                <a16:creationId xmlns:a16="http://schemas.microsoft.com/office/drawing/2014/main" id="{4313355C-5B0A-4DCC-A91B-9B8308A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821150"/>
            <a:ext cx="2795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Do not conflate: benchmark grounding 0.847 = all 100 answers; macro page F-beta 0.892 = final attribution on 95 annotated questions.</a:t>
            </a:r>
          </a:p>
        </p:txBody>
      </p:sp>
      <p:sp>
        <p:nvSpPr>
          <p:cNvPr id="165" name="decision-strip">
            <a:extLst xmlns:a="http://schemas.openxmlformats.org/drawingml/2006/main">
              <a:ext uri="{FF2B5EF4-FFF2-40B4-BE49-F238E27FC236}">
                <a16:creationId xmlns:a16="http://schemas.microsoft.com/office/drawing/2014/main" id="{40308A62-C308-48CF-A861-B2EDA6EF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83125"/>
            <a:ext cx="285234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58C0E13E-D84D-47F5-AA7D-75C133B5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022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67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2EE41FAE-1BE1-4785-AF55-7918432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573625"/>
            <a:ext cx="2509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 broadly. Attribute explicitly. Narrow conservatively when evidence spans pages or documents.</a:t>
            </a:r>
          </a:p>
        </p:txBody>
      </p:sp>
      <p:sp>
        <p:nvSpPr>
          <p:cNvPr id="168" name="limitations-label">
            <a:extLst xmlns:a="http://schemas.openxmlformats.org/drawingml/2006/main">
              <a:ext uri="{FF2B5EF4-FFF2-40B4-BE49-F238E27FC236}">
                <a16:creationId xmlns:a16="http://schemas.microsoft.com/office/drawing/2014/main" id="{EE95E441-D40A-42A6-A19E-566AC390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69" name="limitation-rule-1">
            <a:extLst xmlns:a="http://schemas.openxmlformats.org/drawingml/2006/main">
              <a:ext uri="{FF2B5EF4-FFF2-40B4-BE49-F238E27FC236}">
                <a16:creationId xmlns:a16="http://schemas.microsoft.com/office/drawing/2014/main" id="{560EC8F0-33AE-4289-ACBC-749952CA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limitation-head-1">
            <a:extLst xmlns:a="http://schemas.openxmlformats.org/drawingml/2006/main">
              <a:ext uri="{FF2B5EF4-FFF2-40B4-BE49-F238E27FC236}">
                <a16:creationId xmlns:a16="http://schemas.microsoft.com/office/drawing/2014/main" id="{76DB126C-486D-42F2-A1DE-2D50CCC9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ONE SAVED RUN</a:t>
            </a:r>
          </a:p>
        </p:txBody>
      </p:sp>
      <p:sp>
        <p:nvSpPr>
          <p:cNvPr id="171" name="limitation-body-1">
            <a:extLst xmlns:a="http://schemas.openxmlformats.org/drawingml/2006/main">
              <a:ext uri="{FF2B5EF4-FFF2-40B4-BE49-F238E27FC236}">
                <a16:creationId xmlns:a16="http://schemas.microsoft.com/office/drawing/2014/main" id="{ED667595-CAF7-4E56-9202-7FD0190D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Retrospective thresholds and questions; no repeated seeds.</a:t>
            </a:r>
          </a:p>
        </p:txBody>
      </p:sp>
      <p:sp>
        <p:nvSpPr>
          <p:cNvPr id="172" name="limitation-rule-2">
            <a:extLst xmlns:a="http://schemas.openxmlformats.org/drawingml/2006/main">
              <a:ext uri="{FF2B5EF4-FFF2-40B4-BE49-F238E27FC236}">
                <a16:creationId xmlns:a16="http://schemas.microsoft.com/office/drawing/2014/main" id="{F1C3460C-6656-482C-9F77-ED57A5C7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limitation-head-2">
            <a:extLst xmlns:a="http://schemas.openxmlformats.org/drawingml/2006/main">
              <a:ext uri="{FF2B5EF4-FFF2-40B4-BE49-F238E27FC236}">
                <a16:creationId xmlns:a16="http://schemas.microsoft.com/office/drawing/2014/main" id="{697BF8A0-1CBF-4F60-B5F5-86B69590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 CAUSAL ABLATION</a:t>
            </a:r>
          </a:p>
        </p:txBody>
      </p:sp>
      <p:sp>
        <p:nvSpPr>
          <p:cNvPr id="174" name="limitation-body-2">
            <a:extLst xmlns:a="http://schemas.openxmlformats.org/drawingml/2006/main">
              <a:ext uri="{FF2B5EF4-FFF2-40B4-BE49-F238E27FC236}">
                <a16:creationId xmlns:a16="http://schemas.microsoft.com/office/drawing/2014/main" id="{FE6F2D1C-6E17-460F-BEBE-59F6FEEE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Pipeline stages were not independently compared against a baseline.</a:t>
            </a:r>
          </a:p>
        </p:txBody>
      </p:sp>
      <p:sp>
        <p:nvSpPr>
          <p:cNvPr id="175" name="limitation-rule-3">
            <a:extLst xmlns:a="http://schemas.openxmlformats.org/drawingml/2006/main">
              <a:ext uri="{FF2B5EF4-FFF2-40B4-BE49-F238E27FC236}">
                <a16:creationId xmlns:a16="http://schemas.microsoft.com/office/drawing/2014/main" id="{7E25435C-E87B-4C55-9001-74E86EE8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limitation-head-3">
            <a:extLst xmlns:a="http://schemas.openxmlformats.org/drawingml/2006/main">
              <a:ext uri="{FF2B5EF4-FFF2-40B4-BE49-F238E27FC236}">
                <a16:creationId xmlns:a16="http://schemas.microsoft.com/office/drawing/2014/main" id="{E3AE148F-2635-485C-8474-02D5E1B3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LIMITED GENERALITY</a:t>
            </a:r>
          </a:p>
        </p:txBody>
      </p:sp>
      <p:sp>
        <p:nvSpPr>
          <p:cNvPr id="177" name="limitation-body-3">
            <a:extLst xmlns:a="http://schemas.openxmlformats.org/drawingml/2006/main">
              <a:ext uri="{FF2B5EF4-FFF2-40B4-BE49-F238E27FC236}">
                <a16:creationId xmlns:a16="http://schemas.microsoft.com/office/drawing/2014/main" id="{FBF11E3C-056B-4462-8995-897E6D6B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TTFT only; OCR not exercised; one DIFC corpus and one language setting.</a:t>
            </a:r>
          </a:p>
        </p:txBody>
      </p:sp>
      <p:sp>
        <p:nvSpPr>
          <p:cNvPr id="178" name="references-rule">
            <a:extLst xmlns:a="http://schemas.openxmlformats.org/drawingml/2006/main">
              <a:ext uri="{FF2B5EF4-FFF2-40B4-BE49-F238E27FC236}">
                <a16:creationId xmlns:a16="http://schemas.microsoft.com/office/drawing/2014/main" id="{DF108501-2524-4DC8-91CF-FE062B2D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45400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references-line-1">
            <a:extLst xmlns:a="http://schemas.openxmlformats.org/drawingml/2006/main">
              <a:ext uri="{FF2B5EF4-FFF2-40B4-BE49-F238E27FC236}">
                <a16:creationId xmlns:a16="http://schemas.microsoft.com/office/drawing/2014/main" id="{8D02CAE0-41DE-4A57-B4E1-7369763C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69225"/>
            <a:ext cx="2852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[1] Lewis et al., NeurIPS 2020   [2] Karpukhin et al., EMNLP 2020   [3] Cormack et al., SIGIR 2009   [4] Gao et al., EMNLP 2023</a:t>
            </a:r>
          </a:p>
        </p:txBody>
      </p:sp>
      <p:sp>
        <p:nvSpPr>
          <p:cNvPr id="180" name="references-line-2">
            <a:extLst xmlns:a="http://schemas.openxmlformats.org/drawingml/2006/main">
              <a:ext uri="{FF2B5EF4-FFF2-40B4-BE49-F238E27FC236}">
                <a16:creationId xmlns:a16="http://schemas.microsoft.com/office/drawing/2014/main" id="{4E55738F-E149-42E3-B50D-9F3D7192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821650"/>
            <a:ext cx="2852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[5] Pipitone &amp; Alami, LegalBench-RAG 2024   [6] Zhang et al., Qwen3 Embedding 2025   |   Full references in appendix.</a:t>
            </a:r>
          </a:p>
        </p:txBody>
      </p:sp>
    </p:spTree>
    <p:extLst>
      <p:ext uri="{BB962C8B-B14F-4D97-AF65-F5344CB8AC3E}">
        <p14:creationId xmlns:p14="http://schemas.microsoft.com/office/powerpoint/2010/main" val="1398708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2026-09-03T23:30:39.8160000Z</dcterms:created>
  <dcterms:modified xsi:type="dcterms:W3CDTF">2026-09-03T23:30:39.8170000Z</dcterms:modified>
</coreProperties>
</file>