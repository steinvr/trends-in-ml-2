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94f4a1034d49a4" /><Relationship Type="http://schemas.openxmlformats.org/officeDocument/2006/relationships/extended-properties" Target="/docProps/app.xml" Id="Rd4c88557472f471e" /><Relationship Type="http://schemas.openxmlformats.org/officeDocument/2006/relationships/officeDocument" Target="/ppt/presentation.xml" Id="R86cae17a764740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6d00e6793d4f9d"/>
  </p:sldMasterIdLst>
  <p:notesMasterIdLst>
    <p:notesMasterId xmlns:r="http://schemas.openxmlformats.org/officeDocument/2006/relationships" r:id="Rd12ce862a9e742b3"/>
  </p:notesMasterIdLst>
  <p:sldIdLst>
    <p:sldId xmlns:r="http://schemas.openxmlformats.org/officeDocument/2006/relationships" id="256" r:id="R34a0d45a3c724941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ce09463894056" /><Relationship Type="http://schemas.openxmlformats.org/officeDocument/2006/relationships/slideMaster" Target="/ppt/slideMasters/slideMaster1.xml" Id="Rb96d00e6793d4f9d" /><Relationship Type="http://schemas.openxmlformats.org/officeDocument/2006/relationships/notesMaster" Target="/ppt/notesMasters/notesMaster1.xml" Id="Rd12ce862a9e742b3" /><Relationship Type="http://schemas.openxmlformats.org/officeDocument/2006/relationships/presProps" Target="/ppt/presProps.xml" Id="Rb43282fee6f1462c" /><Relationship Type="http://schemas.openxmlformats.org/officeDocument/2006/relationships/tableStyles" Target="/ppt/tableStyles.xml" Id="Ra14df0badb0446f7" /><Relationship Type="http://schemas.openxmlformats.org/officeDocument/2006/relationships/slide" Target="/ppt/slides/slide1.xml" Id="R34a0d45a3c7249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1f4f61b5eb4e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052e54adb74321" /><Relationship Type="http://schemas.openxmlformats.org/officeDocument/2006/relationships/notesMaster" Target="/ppt/notesMasters/notesMaster1.xml" Id="R73f2e2355e004f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 of truth: /Users/steinv/Uni-Trier/Trends-In-ML-2/poster-narrative-2.md</a:t>
            </a:r>
          </a:p>
          <a:p xmlns:a="http://schemas.openxmlformats.org/drawingml/2006/main">
            <a:r>
              <a:t>Formal requirements: /Users/steinv/Uni-Trier/Trends-In-ML-2/Poster-Examination-Guidelines.pdf</a:t>
            </a:r>
          </a:p>
          <a:p xmlns:a="http://schemas.openxmlformats.org/drawingml/2006/main">
            <a:r>
              <a:t>Primary run report: artifacts/warmup_runs/runs/submission_e2e_20260424_solver_narrowing_no_guard/eval/benchmark_report.json</a:t>
            </a:r>
          </a:p>
          <a:p xmlns:a="http://schemas.openxmlformats.org/drawingml/2006/main">
            <a:r>
              <a:t>Primary page ledger: artifacts/warmup_runs/runs/submission_e2e_20260424_solver_narrowing_no_guard/grounding/ledger.csv</a:t>
            </a:r>
          </a:p>
          <a:p xmlns:a="http://schemas.openxmlformats.org/drawingml/2006/main">
            <a:r>
              <a:t>Lewis et al. (2020), https://proceedings.neurips.cc/paper/2020/hash/6b493230205f780e1bc26945df7481e5-Abstract.html</a:t>
            </a:r>
          </a:p>
          <a:p xmlns:a="http://schemas.openxmlformats.org/drawingml/2006/main">
            <a:r>
              <a:t>Karpukhin et al. (2020), https://aclanthology.org/2020.emnlp-main.550/</a:t>
            </a:r>
          </a:p>
          <a:p xmlns:a="http://schemas.openxmlformats.org/drawingml/2006/main">
            <a:r>
              <a:t>Cormack et al. (2009), https://doi.org/10.1145/1571941.1572114</a:t>
            </a:r>
          </a:p>
          <a:p xmlns:a="http://schemas.openxmlformats.org/drawingml/2006/main">
            <a:r>
              <a:t>Gao et al. (2023), https://aclanthology.org/2023.emnlp-main.398/</a:t>
            </a:r>
          </a:p>
          <a:p xmlns:a="http://schemas.openxmlformats.org/drawingml/2006/main">
            <a:r>
              <a:t>Pipitone and Houir Alami (2024), https://arxiv.org/abs/2408.10343</a:t>
            </a:r>
          </a:p>
          <a:p xmlns:a="http://schemas.openxmlformats.org/drawingml/2006/main">
            <a:r>
              <a:t>Zhang et al. (2025), https://arxiv.org/abs/2506.05176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62a623c0c46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5aa8f22b734f20" /><Relationship Type="http://schemas.openxmlformats.org/officeDocument/2006/relationships/slideLayout" Target="/ppt/slideLayouts/slideLayout1.xml" Id="R3c2e137a3b3343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2e137a3b3343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5118df96b450b" /><Relationship Type="http://schemas.openxmlformats.org/officeDocument/2006/relationships/notesSlide" Target="/ppt/notesSlides/notesSlide1.xml" Id="R5e5f47bff2fe40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eyebrow">
            <a:extLst xmlns:a="http://schemas.openxmlformats.org/drawingml/2006/main">
              <a:ext uri="{FF2B5EF4-FFF2-40B4-BE49-F238E27FC236}">
                <a16:creationId xmlns:a16="http://schemas.microsoft.com/office/drawing/2014/main" id="{5884BA0A-8EE6-47D2-AD08-8FD06EE1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POSTER  |  NATURAL LANGUAGE PROCESSING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3B554F-E490-4C0C-8E55-F4B91E1D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2247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72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From Legal PDFs to Verifiable Answers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8A005A4-74D1-40F4-A772-48F5DBD2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190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Evaluating answer quality, page-level grounding and latency across 100 legal questions</a:t>
            </a:r>
          </a:p>
        </p:txBody>
      </p:sp>
      <p:sp>
        <p:nvSpPr>
          <p:cNvPr id="4" name="repository">
            <a:extLst xmlns:a="http://schemas.openxmlformats.org/drawingml/2006/main">
              <a:ext uri="{FF2B5EF4-FFF2-40B4-BE49-F238E27FC236}">
                <a16:creationId xmlns:a16="http://schemas.microsoft.com/office/drawing/2014/main" id="{5EB660E4-1EF6-43F6-A5F3-04587A01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700" y="1428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github.com/SteinVR/Agentic-RAG-Challenge</a:t>
            </a:r>
          </a:p>
        </p:txBody>
      </p:sp>
      <p:sp>
        <p:nvSpPr>
          <p:cNvPr id="5" name="affiliation">
            <a:extLst xmlns:a="http://schemas.openxmlformats.org/drawingml/2006/main">
              <a:ext uri="{FF2B5EF4-FFF2-40B4-BE49-F238E27FC236}">
                <a16:creationId xmlns:a16="http://schemas.microsoft.com/office/drawing/2014/main" id="{F74E1234-81FE-43A7-AC88-24787900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700" y="1924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Trends in Machine Learning II  |  Universitaet Trier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0F75EAF-9C64-466F-BA2F-11CFCFF1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852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ypothesis-bg">
            <a:extLst xmlns:a="http://schemas.openxmlformats.org/drawingml/2006/main">
              <a:ext uri="{FF2B5EF4-FFF2-40B4-BE49-F238E27FC236}">
                <a16:creationId xmlns:a16="http://schemas.microsoft.com/office/drawing/2014/main" id="{D0821E98-F4F7-4A10-955F-B353097F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234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ypothesis-label-marker">
            <a:extLst xmlns:a="http://schemas.openxmlformats.org/drawingml/2006/main">
              <a:ext uri="{FF2B5EF4-FFF2-40B4-BE49-F238E27FC236}">
                <a16:creationId xmlns:a16="http://schemas.microsoft.com/office/drawing/2014/main" id="{280663D6-5482-4AB4-B8FC-F882940F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95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ypothesis-label">
            <a:extLst xmlns:a="http://schemas.openxmlformats.org/drawingml/2006/main">
              <a:ext uri="{FF2B5EF4-FFF2-40B4-BE49-F238E27FC236}">
                <a16:creationId xmlns:a16="http://schemas.microsoft.com/office/drawing/2014/main" id="{BDF03750-0400-4A7E-A417-60C58590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0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A9267106-AE19-47E4-8D15-AEEC33E6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1447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Can a page-traceable Legal RAG pipeline balance answer quality, source grounding, validity and latency?</a:t>
            </a:r>
          </a:p>
        </p:txBody>
      </p:sp>
      <p:sp>
        <p:nvSpPr>
          <p:cNvPr id="11" name="secondary-question">
            <a:extLst xmlns:a="http://schemas.openxmlformats.org/drawingml/2006/main">
              <a:ext uri="{FF2B5EF4-FFF2-40B4-BE49-F238E27FC236}">
                <a16:creationId xmlns:a16="http://schemas.microsoft.com/office/drawing/2014/main" id="{A778BF8B-CB3D-4E0E-859B-0462B9CB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38600"/>
            <a:ext cx="1447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H2: Does answer-aware attribution sharpen citations while retaining at least one correct page per annotated question?</a:t>
            </a:r>
          </a:p>
        </p:txBody>
      </p:sp>
      <p:sp>
        <p:nvSpPr>
          <p:cNvPr id="12" name="hypothesis-divider">
            <a:extLst xmlns:a="http://schemas.openxmlformats.org/drawingml/2006/main">
              <a:ext uri="{FF2B5EF4-FFF2-40B4-BE49-F238E27FC236}">
                <a16:creationId xmlns:a16="http://schemas.microsoft.com/office/drawing/2014/main" id="{C4A39FCC-6E64-475B-9801-E386BA87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0050" y="3219450"/>
            <a:ext cx="285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ypothesis-finding-label">
            <a:extLst xmlns:a="http://schemas.openxmlformats.org/drawingml/2006/main">
              <a:ext uri="{FF2B5EF4-FFF2-40B4-BE49-F238E27FC236}">
                <a16:creationId xmlns:a16="http://schemas.microsoft.com/office/drawing/2014/main" id="{1382AF7F-FC54-4DB4-962F-4B32FE67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3181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14" name="hypothesis-finding">
            <a:extLst xmlns:a="http://schemas.openxmlformats.org/drawingml/2006/main">
              <a:ext uri="{FF2B5EF4-FFF2-40B4-BE49-F238E27FC236}">
                <a16:creationId xmlns:a16="http://schemas.microsoft.com/office/drawing/2014/main" id="{AB76C0A8-83A9-4E3B-9970-5AE2438B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3638550"/>
            <a:ext cx="93305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H1 is partly supported: grounding missed its 0.85 threshold. H2 holds for precision, compactness and 95/95 hit coverage.</a:t>
            </a:r>
          </a:p>
        </p:txBody>
      </p:sp>
      <p:sp>
        <p:nvSpPr>
          <p:cNvPr id="15" name="methodology-label-marker">
            <a:extLst xmlns:a="http://schemas.openxmlformats.org/drawingml/2006/main">
              <a:ext uri="{FF2B5EF4-FFF2-40B4-BE49-F238E27FC236}">
                <a16:creationId xmlns:a16="http://schemas.microsoft.com/office/drawing/2014/main" id="{F2243B28-C30B-461E-8954-E015AB6B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5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ology-label">
            <a:extLst xmlns:a="http://schemas.openxmlformats.org/drawingml/2006/main">
              <a:ext uri="{FF2B5EF4-FFF2-40B4-BE49-F238E27FC236}">
                <a16:creationId xmlns:a16="http://schemas.microsoft.com/office/drawing/2014/main" id="{5EF781F0-21DE-45A3-8569-49D35A35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81625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7" name="methodology-data">
            <a:extLst xmlns:a="http://schemas.openxmlformats.org/drawingml/2006/main">
              <a:ext uri="{FF2B5EF4-FFF2-40B4-BE49-F238E27FC236}">
                <a16:creationId xmlns:a16="http://schemas.microsoft.com/office/drawing/2014/main" id="{3A59DEA7-C482-424C-B43C-13CF1EF6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57825"/>
            <a:ext cx="2318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600" b="1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100 questions  |  30 publicly available legal PDFs  |  590 pages  |  95 with page annotations</a:t>
            </a:r>
          </a:p>
        </p:txBody>
      </p:sp>
      <p:sp>
        <p:nvSpPr>
          <p:cNvPr id="18" name="methodology-rule">
            <a:extLst xmlns:a="http://schemas.openxmlformats.org/drawingml/2006/main">
              <a:ext uri="{FF2B5EF4-FFF2-40B4-BE49-F238E27FC236}">
                <a16:creationId xmlns:a16="http://schemas.microsoft.com/office/drawing/2014/main" id="{57FB400D-A56D-4BDB-BD13-DB46734A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8FD8F1B8-AB00-4308-A76B-07D6E8A2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0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35F6D6DC-582F-40C4-8736-34BFF30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2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129BD6B1-36A7-4A7A-B7DD-3F7840AB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20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arrow-4">
            <a:extLst xmlns:a="http://schemas.openxmlformats.org/drawingml/2006/main">
              <a:ext uri="{FF2B5EF4-FFF2-40B4-BE49-F238E27FC236}">
                <a16:creationId xmlns:a16="http://schemas.microsoft.com/office/drawing/2014/main" id="{051F7068-B9A2-4B15-B5EB-61AE30BF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40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arrow-5">
            <a:extLst xmlns:a="http://schemas.openxmlformats.org/drawingml/2006/main">
              <a:ext uri="{FF2B5EF4-FFF2-40B4-BE49-F238E27FC236}">
                <a16:creationId xmlns:a16="http://schemas.microsoft.com/office/drawing/2014/main" id="{06FFD762-4815-48E2-9253-6F7CE5B3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3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venance-rail">
            <a:extLst xmlns:a="http://schemas.openxmlformats.org/drawingml/2006/main">
              <a:ext uri="{FF2B5EF4-FFF2-40B4-BE49-F238E27FC236}">
                <a16:creationId xmlns:a16="http://schemas.microsoft.com/office/drawing/2014/main" id="{78298C24-C337-41AD-8C82-93FB7D5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00" y="9277350"/>
            <a:ext cx="27127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venance-dot-1">
            <a:extLst xmlns:a="http://schemas.openxmlformats.org/drawingml/2006/main">
              <a:ext uri="{FF2B5EF4-FFF2-40B4-BE49-F238E27FC236}">
                <a16:creationId xmlns:a16="http://schemas.microsoft.com/office/drawing/2014/main" id="{7AC53112-A56D-4C53-AFB7-0CCE2A36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50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provenance-dot-2">
            <a:extLst xmlns:a="http://schemas.openxmlformats.org/drawingml/2006/main">
              <a:ext uri="{FF2B5EF4-FFF2-40B4-BE49-F238E27FC236}">
                <a16:creationId xmlns:a16="http://schemas.microsoft.com/office/drawing/2014/main" id="{6C8DD63A-6EDF-4B5A-BE17-EF67F576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70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provenance-dot-3">
            <a:extLst xmlns:a="http://schemas.openxmlformats.org/drawingml/2006/main">
              <a:ext uri="{FF2B5EF4-FFF2-40B4-BE49-F238E27FC236}">
                <a16:creationId xmlns:a16="http://schemas.microsoft.com/office/drawing/2014/main" id="{78A71464-A905-40C7-AE98-8AF9E03A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477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provenance-dot-4">
            <a:extLst xmlns:a="http://schemas.openxmlformats.org/drawingml/2006/main">
              <a:ext uri="{FF2B5EF4-FFF2-40B4-BE49-F238E27FC236}">
                <a16:creationId xmlns:a16="http://schemas.microsoft.com/office/drawing/2014/main" id="{236064EE-7145-4B73-BBED-2EF118C1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585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9" name="provenance-dot-5">
            <a:extLst xmlns:a="http://schemas.openxmlformats.org/drawingml/2006/main">
              <a:ext uri="{FF2B5EF4-FFF2-40B4-BE49-F238E27FC236}">
                <a16:creationId xmlns:a16="http://schemas.microsoft.com/office/drawing/2014/main" id="{AA757BED-6988-4E49-953C-334C5FE1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692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0" name="provenance-dot-6">
            <a:extLst xmlns:a="http://schemas.openxmlformats.org/drawingml/2006/main">
              <a:ext uri="{FF2B5EF4-FFF2-40B4-BE49-F238E27FC236}">
                <a16:creationId xmlns:a16="http://schemas.microsoft.com/office/drawing/2014/main" id="{E8B67843-54B0-4016-9883-B3A1899D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92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1" name="stage-1-box">
            <a:extLst xmlns:a="http://schemas.openxmlformats.org/drawingml/2006/main">
              <a:ext uri="{FF2B5EF4-FFF2-40B4-BE49-F238E27FC236}">
                <a16:creationId xmlns:a16="http://schemas.microsoft.com/office/drawing/2014/main" id="{971F9DD0-8B5D-490B-9C5C-888D6272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32" name="stage-1-accent">
            <a:extLst xmlns:a="http://schemas.openxmlformats.org/drawingml/2006/main">
              <a:ext uri="{FF2B5EF4-FFF2-40B4-BE49-F238E27FC236}">
                <a16:creationId xmlns:a16="http://schemas.microsoft.com/office/drawing/2014/main" id="{B3CBC771-5EBE-4AE3-B8F5-90584D87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tage-1-kicker">
            <a:extLst xmlns:a="http://schemas.openxmlformats.org/drawingml/2006/main">
              <a:ext uri="{FF2B5EF4-FFF2-40B4-BE49-F238E27FC236}">
                <a16:creationId xmlns:a16="http://schemas.microsoft.com/office/drawing/2014/main" id="{533217D4-8B25-4EEF-ACF9-56E1ED55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  SOURCE</a:t>
            </a:r>
          </a:p>
        </p:txBody>
      </p:sp>
      <p:sp>
        <p:nvSpPr>
          <p:cNvPr id="34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654C6C62-121E-4133-A08F-D2140D38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Page-stable ingestion</a:t>
            </a:r>
          </a:p>
        </p:txBody>
      </p:sp>
      <p:sp>
        <p:nvSpPr>
          <p:cNvPr id="35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34F46C06-92CB-4CC8-82B2-581E7C76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Native text + tables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OCR fallback available</a:t>
            </a:r>
          </a:p>
        </p:txBody>
      </p:sp>
      <p:sp>
        <p:nvSpPr>
          <p:cNvPr id="36" name="stage-2-box">
            <a:extLst xmlns:a="http://schemas.openxmlformats.org/drawingml/2006/main">
              <a:ext uri="{FF2B5EF4-FFF2-40B4-BE49-F238E27FC236}">
                <a16:creationId xmlns:a16="http://schemas.microsoft.com/office/drawing/2014/main" id="{CF6A4338-FC04-48CD-9F4E-F6CB6A15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0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37" name="stage-2-accent">
            <a:extLst xmlns:a="http://schemas.openxmlformats.org/drawingml/2006/main">
              <a:ext uri="{FF2B5EF4-FFF2-40B4-BE49-F238E27FC236}">
                <a16:creationId xmlns:a16="http://schemas.microsoft.com/office/drawing/2014/main" id="{58842D38-4E28-4786-8A7D-6970EE05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ge-2-kicker">
            <a:extLst xmlns:a="http://schemas.openxmlformats.org/drawingml/2006/main">
              <a:ext uri="{FF2B5EF4-FFF2-40B4-BE49-F238E27FC236}">
                <a16:creationId xmlns:a16="http://schemas.microsoft.com/office/drawing/2014/main" id="{BFA6D11E-8033-4321-BAC1-FF2F21C3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  REPRESENT</a:t>
            </a:r>
          </a:p>
        </p:txBody>
      </p:sp>
      <p:sp>
        <p:nvSpPr>
          <p:cNvPr id="39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B6C771C3-717A-4AEC-BA92-007AC4E0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Multi-view index</a:t>
            </a:r>
          </a:p>
        </p:txBody>
      </p:sp>
      <p:sp>
        <p:nvSpPr>
          <p:cNvPr id="40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E3B145AF-59A9-47BF-B307-942838A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Page, section, clause,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microchunk and table</a:t>
            </a:r>
          </a:p>
        </p:txBody>
      </p:sp>
      <p:sp>
        <p:nvSpPr>
          <p:cNvPr id="41" name="stage-3-box">
            <a:extLst xmlns:a="http://schemas.openxmlformats.org/drawingml/2006/main">
              <a:ext uri="{FF2B5EF4-FFF2-40B4-BE49-F238E27FC236}">
                <a16:creationId xmlns:a16="http://schemas.microsoft.com/office/drawing/2014/main" id="{7E0ABE29-4C09-4707-98A3-FC034D28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0" y="6286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42" name="stage-3-accent">
            <a:extLst xmlns:a="http://schemas.openxmlformats.org/drawingml/2006/main">
              <a:ext uri="{FF2B5EF4-FFF2-40B4-BE49-F238E27FC236}">
                <a16:creationId xmlns:a16="http://schemas.microsoft.com/office/drawing/2014/main" id="{4D5F6E9B-4119-4DBB-B367-2225D922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tage-3-kicker">
            <a:extLst xmlns:a="http://schemas.openxmlformats.org/drawingml/2006/main">
              <a:ext uri="{FF2B5EF4-FFF2-40B4-BE49-F238E27FC236}">
                <a16:creationId xmlns:a16="http://schemas.microsoft.com/office/drawing/2014/main" id="{F4529142-E28E-4EB2-98E5-4866300F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652462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  RETRIEVE</a:t>
            </a:r>
          </a:p>
        </p:txBody>
      </p:sp>
      <p:sp>
        <p:nvSpPr>
          <p:cNvPr id="44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51399F16-28EB-42B3-8BB1-73544717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70104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Hybrid retrieve + rerank</a:t>
            </a:r>
          </a:p>
        </p:txBody>
      </p:sp>
      <p:sp>
        <p:nvSpPr>
          <p:cNvPr id="45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5F0E316D-CCE5-4629-AF71-1E580610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777240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BM25 + Qwen3 Embedding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RRF + Qwen3 Reranker</a:t>
            </a:r>
          </a:p>
        </p:txBody>
      </p:sp>
      <p:sp>
        <p:nvSpPr>
          <p:cNvPr id="46" name="stage-4-box">
            <a:extLst xmlns:a="http://schemas.openxmlformats.org/drawingml/2006/main">
              <a:ext uri="{FF2B5EF4-FFF2-40B4-BE49-F238E27FC236}">
                <a16:creationId xmlns:a16="http://schemas.microsoft.com/office/drawing/2014/main" id="{45DC4346-7F89-4D64-84D8-4302E6B8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05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47" name="stage-4-accent">
            <a:extLst xmlns:a="http://schemas.openxmlformats.org/drawingml/2006/main">
              <a:ext uri="{FF2B5EF4-FFF2-40B4-BE49-F238E27FC236}">
                <a16:creationId xmlns:a16="http://schemas.microsoft.com/office/drawing/2014/main" id="{1D160CF2-97FE-496F-BA6F-04724769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05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tage-4-kicker">
            <a:extLst xmlns:a="http://schemas.openxmlformats.org/drawingml/2006/main">
              <a:ext uri="{FF2B5EF4-FFF2-40B4-BE49-F238E27FC236}">
                <a16:creationId xmlns:a16="http://schemas.microsoft.com/office/drawing/2014/main" id="{1BA005E6-17DC-46B6-9866-009E26DE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  ANSWER</a:t>
            </a:r>
          </a:p>
        </p:txBody>
      </p:sp>
      <p:sp>
        <p:nvSpPr>
          <p:cNvPr id="49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0F959F6F-DC69-4049-AF60-4BF06717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Typed answer</a:t>
            </a:r>
          </a:p>
        </p:txBody>
      </p:sp>
      <p:sp>
        <p:nvSpPr>
          <p:cNvPr id="50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0847E4BC-B2DD-4221-9807-59E9C9AF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gpt-5.4-mini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strict JSON + validators</a:t>
            </a:r>
          </a:p>
        </p:txBody>
      </p:sp>
      <p:sp>
        <p:nvSpPr>
          <p:cNvPr id="51" name="stage-5-box">
            <a:extLst xmlns:a="http://schemas.openxmlformats.org/drawingml/2006/main">
              <a:ext uri="{FF2B5EF4-FFF2-40B4-BE49-F238E27FC236}">
                <a16:creationId xmlns:a16="http://schemas.microsoft.com/office/drawing/2014/main" id="{FDEB86C6-B7B7-4376-80CE-C826D26D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250" y="6286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2" name="stage-5-accent">
            <a:extLst xmlns:a="http://schemas.openxmlformats.org/drawingml/2006/main">
              <a:ext uri="{FF2B5EF4-FFF2-40B4-BE49-F238E27FC236}">
                <a16:creationId xmlns:a16="http://schemas.microsoft.com/office/drawing/2014/main" id="{9D365191-8865-4C83-BAC4-FBF19494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25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tage-5-kicker">
            <a:extLst xmlns:a="http://schemas.openxmlformats.org/drawingml/2006/main">
              <a:ext uri="{FF2B5EF4-FFF2-40B4-BE49-F238E27FC236}">
                <a16:creationId xmlns:a16="http://schemas.microsoft.com/office/drawing/2014/main" id="{2A0335ED-B40E-4C56-90D6-CF5A390C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652462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  ATTRIBUTE</a:t>
            </a:r>
          </a:p>
        </p:txBody>
      </p:sp>
      <p:sp>
        <p:nvSpPr>
          <p:cNvPr id="54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AC8DC6CC-BA3F-4E2E-9618-2DB55DC4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70104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Answer-aware pages</a:t>
            </a:r>
          </a:p>
        </p:txBody>
      </p:sp>
      <p:sp>
        <p:nvSpPr>
          <p:cNvPr id="55" name="stage-5-body">
            <a:extLst xmlns:a="http://schemas.openxmlformats.org/drawingml/2006/main">
              <a:ext uri="{FF2B5EF4-FFF2-40B4-BE49-F238E27FC236}">
                <a16:creationId xmlns:a16="http://schemas.microsoft.com/office/drawing/2014/main" id="{E0BEB149-08D0-468C-A9AF-C1D415D3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777240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check + fallback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-&gt; filter -&gt; final</a:t>
            </a:r>
          </a:p>
        </p:txBody>
      </p:sp>
      <p:sp>
        <p:nvSpPr>
          <p:cNvPr id="56" name="stage-6-box">
            <a:extLst xmlns:a="http://schemas.openxmlformats.org/drawingml/2006/main">
              <a:ext uri="{FF2B5EF4-FFF2-40B4-BE49-F238E27FC236}">
                <a16:creationId xmlns:a16="http://schemas.microsoft.com/office/drawing/2014/main" id="{40739745-F8C9-49F6-AB2A-C624B7A3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9200" y="6286500"/>
            <a:ext cx="42291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57" name="stage-6-accent">
            <a:extLst xmlns:a="http://schemas.openxmlformats.org/drawingml/2006/main">
              <a:ext uri="{FF2B5EF4-FFF2-40B4-BE49-F238E27FC236}">
                <a16:creationId xmlns:a16="http://schemas.microsoft.com/office/drawing/2014/main" id="{42FD861B-654F-4107-9357-6DFCD02B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92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tage-6-kicker">
            <a:extLst xmlns:a="http://schemas.openxmlformats.org/drawingml/2006/main">
              <a:ext uri="{FF2B5EF4-FFF2-40B4-BE49-F238E27FC236}">
                <a16:creationId xmlns:a16="http://schemas.microsoft.com/office/drawing/2014/main" id="{1E61E481-AF35-467E-A5C5-DD13DBFA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6524625"/>
            <a:ext cx="3705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  VERIFY</a:t>
            </a:r>
          </a:p>
        </p:txBody>
      </p:sp>
      <p:sp>
        <p:nvSpPr>
          <p:cNvPr id="59" name="stage-6-title">
            <a:extLst xmlns:a="http://schemas.openxmlformats.org/drawingml/2006/main">
              <a:ext uri="{FF2B5EF4-FFF2-40B4-BE49-F238E27FC236}">
                <a16:creationId xmlns:a16="http://schemas.microsoft.com/office/drawing/2014/main" id="{CF8A437F-6884-4511-B0BF-9EB704C9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7010400"/>
            <a:ext cx="3705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Auditable output</a:t>
            </a:r>
          </a:p>
        </p:txBody>
      </p:sp>
      <p:sp>
        <p:nvSpPr>
          <p:cNvPr id="60" name="stage-6-body">
            <a:extLst xmlns:a="http://schemas.openxmlformats.org/drawingml/2006/main">
              <a:ext uri="{FF2B5EF4-FFF2-40B4-BE49-F238E27FC236}">
                <a16:creationId xmlns:a16="http://schemas.microsoft.com/office/drawing/2014/main" id="{1A17F78A-A28E-41A5-AF88-3F82D61B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7772400"/>
            <a:ext cx="3705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Answer + pages + trace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validity + TTFT</a:t>
            </a:r>
          </a:p>
        </p:txBody>
      </p:sp>
      <p:sp>
        <p:nvSpPr>
          <p:cNvPr id="61" name="provenance-label">
            <a:extLst xmlns:a="http://schemas.openxmlformats.org/drawingml/2006/main">
              <a:ext uri="{FF2B5EF4-FFF2-40B4-BE49-F238E27FC236}">
                <a16:creationId xmlns:a16="http://schemas.microsoft.com/office/drawing/2014/main" id="{288CF2F0-CADE-43D3-AB30-E07F65AA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953500"/>
            <a:ext cx="1504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CONTINUOUS PROVENANCE  |  document_id + page_number</a:t>
            </a:r>
          </a:p>
        </p:txBody>
      </p:sp>
      <p:sp>
        <p:nvSpPr>
          <p:cNvPr id="62" name="provenance-explanation">
            <a:extLst xmlns:a="http://schemas.openxmlformats.org/drawingml/2006/main">
              <a:ext uri="{FF2B5EF4-FFF2-40B4-BE49-F238E27FC236}">
                <a16:creationId xmlns:a16="http://schemas.microsoft.com/office/drawing/2014/main" id="{F8C19B2C-CDB3-4327-ADC3-241394B7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9572625"/>
            <a:ext cx="2090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same identifiers survive every stage, so a final citation can be traced back to the exact PDF page.</a:t>
            </a:r>
          </a:p>
        </p:txBody>
      </p:sp>
      <p:sp>
        <p:nvSpPr>
          <p:cNvPr id="63" name="evaluation-design">
            <a:extLst xmlns:a="http://schemas.openxmlformats.org/drawingml/2006/main">
              <a:ext uri="{FF2B5EF4-FFF2-40B4-BE49-F238E27FC236}">
                <a16:creationId xmlns:a16="http://schemas.microsoft.com/office/drawing/2014/main" id="{99609D60-87E0-440C-99CC-7F197028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0096500"/>
            <a:ext cx="2528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Evaluation A: end-to-end profile on 100 questions.  Evaluation B: paired raw -&gt; filter -&gt; final page sets on the same 95 annotated questions.</a:t>
            </a:r>
          </a:p>
        </p:txBody>
      </p:sp>
      <p:sp>
        <p:nvSpPr>
          <p:cNvPr id="64" name="results-top-rule">
            <a:extLst xmlns:a="http://schemas.openxmlformats.org/drawingml/2006/main">
              <a:ext uri="{FF2B5EF4-FFF2-40B4-BE49-F238E27FC236}">
                <a16:creationId xmlns:a16="http://schemas.microsoft.com/office/drawing/2014/main" id="{C6E64AF1-638D-4A8C-A6B4-BB0804C9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0"/>
            <a:ext cx="2852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esults-bottom-rule">
            <a:extLst xmlns:a="http://schemas.openxmlformats.org/drawingml/2006/main">
              <a:ext uri="{FF2B5EF4-FFF2-40B4-BE49-F238E27FC236}">
                <a16:creationId xmlns:a16="http://schemas.microsoft.com/office/drawing/2014/main" id="{D251500E-53F2-4949-8E98-7EBF2C9F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0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results-separator-1">
            <a:extLst xmlns:a="http://schemas.openxmlformats.org/drawingml/2006/main">
              <a:ext uri="{FF2B5EF4-FFF2-40B4-BE49-F238E27FC236}">
                <a16:creationId xmlns:a16="http://schemas.microsoft.com/office/drawing/2014/main" id="{0C93B49E-83ED-46A6-9261-6C20CA92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068050"/>
            <a:ext cx="19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results-separator-2">
            <a:extLst xmlns:a="http://schemas.openxmlformats.org/drawingml/2006/main">
              <a:ext uri="{FF2B5EF4-FFF2-40B4-BE49-F238E27FC236}">
                <a16:creationId xmlns:a16="http://schemas.microsoft.com/office/drawing/2014/main" id="{2DAE62C3-7F9C-4C7A-AD0A-E18FD8AA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11068050"/>
            <a:ext cx="19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results-system-label">
            <a:extLst xmlns:a="http://schemas.openxmlformats.org/drawingml/2006/main">
              <a:ext uri="{FF2B5EF4-FFF2-40B4-BE49-F238E27FC236}">
                <a16:creationId xmlns:a16="http://schemas.microsoft.com/office/drawing/2014/main" id="{EEBC352D-B2B4-4159-884E-6DC210E9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087100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  |  SYSTEM</a:t>
            </a:r>
          </a:p>
        </p:txBody>
      </p:sp>
      <p:sp>
        <p:nvSpPr>
          <p:cNvPr id="69" name="results-system-title">
            <a:extLst xmlns:a="http://schemas.openxmlformats.org/drawingml/2006/main">
              <a:ext uri="{FF2B5EF4-FFF2-40B4-BE49-F238E27FC236}">
                <a16:creationId xmlns:a16="http://schemas.microsoft.com/office/drawing/2014/main" id="{9B8E3106-54D1-49EA-BCE9-9DE79AD2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525250"/>
            <a:ext cx="8458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Strong answers; grounding limits the product</a:t>
            </a:r>
          </a:p>
        </p:txBody>
      </p:sp>
      <p:sp>
        <p:nvSpPr>
          <p:cNvPr id="70" name="system-equation-panel">
            <a:extLst xmlns:a="http://schemas.openxmlformats.org/drawingml/2006/main">
              <a:ext uri="{FF2B5EF4-FFF2-40B4-BE49-F238E27FC236}">
                <a16:creationId xmlns:a16="http://schemas.microsoft.com/office/drawing/2014/main" id="{42E56DE0-55EC-4D12-BFBC-9CDAED39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401550"/>
            <a:ext cx="840105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eq-times-1">
            <a:extLst xmlns:a="http://schemas.openxmlformats.org/drawingml/2006/main">
              <a:ext uri="{FF2B5EF4-FFF2-40B4-BE49-F238E27FC236}">
                <a16:creationId xmlns:a16="http://schemas.microsoft.com/office/drawing/2014/main" id="{802E01FF-0379-411B-87F9-E4533F65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2792075"/>
            <a:ext cx="28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0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2" name="eq-times-2">
            <a:extLst xmlns:a="http://schemas.openxmlformats.org/drawingml/2006/main">
              <a:ext uri="{FF2B5EF4-FFF2-40B4-BE49-F238E27FC236}">
                <a16:creationId xmlns:a16="http://schemas.microsoft.com/office/drawing/2014/main" id="{58595990-0A9F-400E-9B87-C5E27016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792075"/>
            <a:ext cx="28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0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3" name="eq-times-3">
            <a:extLst xmlns:a="http://schemas.openxmlformats.org/drawingml/2006/main">
              <a:ext uri="{FF2B5EF4-FFF2-40B4-BE49-F238E27FC236}">
                <a16:creationId xmlns:a16="http://schemas.microsoft.com/office/drawing/2014/main" id="{8E963C2E-5FCE-4D25-8E7C-A4C3896A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792075"/>
            <a:ext cx="28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0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4" name="eq-equals">
            <a:extLst xmlns:a="http://schemas.openxmlformats.org/drawingml/2006/main">
              <a:ext uri="{FF2B5EF4-FFF2-40B4-BE49-F238E27FC236}">
                <a16:creationId xmlns:a16="http://schemas.microsoft.com/office/drawing/2014/main" id="{9EE747F9-F1EB-48A9-926A-0CE0DBD5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730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75" name="equation-1-value">
            <a:extLst xmlns:a="http://schemas.openxmlformats.org/drawingml/2006/main">
              <a:ext uri="{FF2B5EF4-FFF2-40B4-BE49-F238E27FC236}">
                <a16:creationId xmlns:a16="http://schemas.microsoft.com/office/drawing/2014/main" id="{9C39F4F9-6632-4ADE-9D6D-9DFF8CDA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706350"/>
            <a:ext cx="1257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0.956</a:t>
            </a:r>
          </a:p>
        </p:txBody>
      </p:sp>
      <p:sp>
        <p:nvSpPr>
          <p:cNvPr id="76" name="equation-1-label">
            <a:extLst xmlns:a="http://schemas.openxmlformats.org/drawingml/2006/main">
              <a:ext uri="{FF2B5EF4-FFF2-40B4-BE49-F238E27FC236}">
                <a16:creationId xmlns:a16="http://schemas.microsoft.com/office/drawing/2014/main" id="{2FE12988-80B8-4D8A-82C4-7060FED3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363575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answer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77" name="equation-2-value">
            <a:extLst xmlns:a="http://schemas.openxmlformats.org/drawingml/2006/main">
              <a:ext uri="{FF2B5EF4-FFF2-40B4-BE49-F238E27FC236}">
                <a16:creationId xmlns:a16="http://schemas.microsoft.com/office/drawing/2014/main" id="{20DAEFA5-4ADB-4C47-B775-62EF1984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2706350"/>
            <a:ext cx="1257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0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0.847</a:t>
            </a:r>
          </a:p>
        </p:txBody>
      </p:sp>
      <p:sp>
        <p:nvSpPr>
          <p:cNvPr id="78" name="equation-2-label">
            <a:extLst xmlns:a="http://schemas.openxmlformats.org/drawingml/2006/main">
              <a:ext uri="{FF2B5EF4-FFF2-40B4-BE49-F238E27FC236}">
                <a16:creationId xmlns:a16="http://schemas.microsoft.com/office/drawing/2014/main" id="{649B253E-1247-4A72-8B6C-8525FCAB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3363575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grounding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100 answers</a:t>
            </a:r>
          </a:p>
        </p:txBody>
      </p:sp>
      <p:sp>
        <p:nvSpPr>
          <p:cNvPr id="79" name="equation-3-value">
            <a:extLst xmlns:a="http://schemas.openxmlformats.org/drawingml/2006/main">
              <a:ext uri="{FF2B5EF4-FFF2-40B4-BE49-F238E27FC236}">
                <a16:creationId xmlns:a16="http://schemas.microsoft.com/office/drawing/2014/main" id="{DDD98F59-8DAE-448E-8B37-60A62EEF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2706350"/>
            <a:ext cx="1257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80" name="equation-3-label">
            <a:extLst xmlns:a="http://schemas.openxmlformats.org/drawingml/2006/main">
              <a:ext uri="{FF2B5EF4-FFF2-40B4-BE49-F238E27FC236}">
                <a16:creationId xmlns:a16="http://schemas.microsoft.com/office/drawing/2014/main" id="{FBBD08E7-BBDB-4D11-8ADB-9D93CE0B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3363575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valid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81" name="equation-4-value">
            <a:extLst xmlns:a="http://schemas.openxmlformats.org/drawingml/2006/main">
              <a:ext uri="{FF2B5EF4-FFF2-40B4-BE49-F238E27FC236}">
                <a16:creationId xmlns:a16="http://schemas.microsoft.com/office/drawing/2014/main" id="{B41AE207-0C1C-4E97-8DA1-86828A61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2706350"/>
            <a:ext cx="1257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0.938</a:t>
            </a:r>
          </a:p>
        </p:txBody>
      </p:sp>
      <p:sp>
        <p:nvSpPr>
          <p:cNvPr id="82" name="equation-4-label">
            <a:extLst xmlns:a="http://schemas.openxmlformats.org/drawingml/2006/main">
              <a:ext uri="{FF2B5EF4-FFF2-40B4-BE49-F238E27FC236}">
                <a16:creationId xmlns:a16="http://schemas.microsoft.com/office/drawing/2014/main" id="{C3FC8801-5A5E-4109-BA55-40C1F852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363575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latency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multiplier</a:t>
            </a:r>
          </a:p>
        </p:txBody>
      </p:sp>
      <p:sp>
        <p:nvSpPr>
          <p:cNvPr id="83" name="equation-5-value">
            <a:extLst xmlns:a="http://schemas.openxmlformats.org/drawingml/2006/main">
              <a:ext uri="{FF2B5EF4-FFF2-40B4-BE49-F238E27FC236}">
                <a16:creationId xmlns:a16="http://schemas.microsoft.com/office/drawing/2014/main" id="{6963AE74-F46E-4A58-81B0-13B16A0E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70635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0.759</a:t>
            </a:r>
          </a:p>
        </p:txBody>
      </p:sp>
      <p:sp>
        <p:nvSpPr>
          <p:cNvPr id="84" name="equation-5-label">
            <a:extLst xmlns:a="http://schemas.openxmlformats.org/drawingml/2006/main">
              <a:ext uri="{FF2B5EF4-FFF2-40B4-BE49-F238E27FC236}">
                <a16:creationId xmlns:a16="http://schemas.microsoft.com/office/drawing/2014/main" id="{923A1923-FD98-4B50-93E2-68FDE2F3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363575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total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85" name="grounding-warning">
            <a:extLst xmlns:a="http://schemas.openxmlformats.org/drawingml/2006/main">
              <a:ext uri="{FF2B5EF4-FFF2-40B4-BE49-F238E27FC236}">
                <a16:creationId xmlns:a16="http://schemas.microsoft.com/office/drawing/2014/main" id="{96D1E94E-4A88-4523-8654-CB086DE5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211300"/>
            <a:ext cx="13716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grounding-threshold">
            <a:extLst xmlns:a="http://schemas.openxmlformats.org/drawingml/2006/main">
              <a:ext uri="{FF2B5EF4-FFF2-40B4-BE49-F238E27FC236}">
                <a16:creationId xmlns:a16="http://schemas.microsoft.com/office/drawing/2014/main" id="{4B700D10-AE52-4697-87D3-3B803554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38275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H1 target 0.85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missed by 0.003</a:t>
            </a:r>
          </a:p>
        </p:txBody>
      </p:sp>
      <p:sp>
        <p:nvSpPr>
          <p:cNvPr id="87" name="valid-detail">
            <a:extLst xmlns:a="http://schemas.openxmlformats.org/drawingml/2006/main">
              <a:ext uri="{FF2B5EF4-FFF2-40B4-BE49-F238E27FC236}">
                <a16:creationId xmlns:a16="http://schemas.microsoft.com/office/drawing/2014/main" id="{48342F8E-011B-422F-B9B9-08112355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382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100/100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valid outputs</a:t>
            </a:r>
          </a:p>
        </p:txBody>
      </p:sp>
      <p:sp>
        <p:nvSpPr>
          <p:cNvPr id="88" name="latency-detail">
            <a:extLst xmlns:a="http://schemas.openxmlformats.org/drawingml/2006/main">
              <a:ext uri="{FF2B5EF4-FFF2-40B4-BE49-F238E27FC236}">
                <a16:creationId xmlns:a16="http://schemas.microsoft.com/office/drawing/2014/main" id="{F01F2276-66B4-4416-9C53-14202CFB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3827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Mean TTFT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6.39 s</a:t>
            </a:r>
          </a:p>
        </p:txBody>
      </p:sp>
      <p:sp>
        <p:nvSpPr>
          <p:cNvPr id="89" name="answer-detail">
            <a:extLst xmlns:a="http://schemas.openxmlformats.org/drawingml/2006/main">
              <a:ext uri="{FF2B5EF4-FFF2-40B4-BE49-F238E27FC236}">
                <a16:creationId xmlns:a16="http://schemas.microsoft.com/office/drawing/2014/main" id="{E46D911B-F12C-4017-8D0A-5E788E77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57337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0.943 deterministic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0.987 free text</a:t>
            </a:r>
          </a:p>
        </p:txBody>
      </p:sp>
      <p:sp>
        <p:nvSpPr>
          <p:cNvPr id="90" name="system-interpretation">
            <a:extLst xmlns:a="http://schemas.openxmlformats.org/drawingml/2006/main">
              <a:ext uri="{FF2B5EF4-FFF2-40B4-BE49-F238E27FC236}">
                <a16:creationId xmlns:a16="http://schemas.microsoft.com/office/drawing/2014/main" id="{33A38F2D-7CE3-449D-9148-2654790E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468600"/>
            <a:ext cx="5219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H1: partly supported. High answer quality cannot compensate for weaker grounding in a multiplicative score.</a:t>
            </a:r>
          </a:p>
        </p:txBody>
      </p:sp>
      <p:sp>
        <p:nvSpPr>
          <p:cNvPr id="91" name="results-attribution-label">
            <a:extLst xmlns:a="http://schemas.openxmlformats.org/drawingml/2006/main">
              <a:ext uri="{FF2B5EF4-FFF2-40B4-BE49-F238E27FC236}">
                <a16:creationId xmlns:a16="http://schemas.microsoft.com/office/drawing/2014/main" id="{BA1EA610-1ADB-4E76-B51E-1E2632C5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0871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  |  ATTRIBUTION</a:t>
            </a:r>
          </a:p>
        </p:txBody>
      </p:sp>
      <p:sp>
        <p:nvSpPr>
          <p:cNvPr id="92" name="results-attribution-title">
            <a:extLst xmlns:a="http://schemas.openxmlformats.org/drawingml/2006/main">
              <a:ext uri="{FF2B5EF4-FFF2-40B4-BE49-F238E27FC236}">
                <a16:creationId xmlns:a16="http://schemas.microsoft.com/office/drawing/2014/main" id="{BBA0694E-9EDB-492A-8D26-D2993D83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5252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Answer-aware selection removes citation noise</a:t>
            </a:r>
          </a:p>
        </p:txBody>
      </p:sp>
      <p:sp>
        <p:nvSpPr>
          <p:cNvPr id="93" name="attribution-sample">
            <a:extLst xmlns:a="http://schemas.openxmlformats.org/drawingml/2006/main">
              <a:ext uri="{FF2B5EF4-FFF2-40B4-BE49-F238E27FC236}">
                <a16:creationId xmlns:a16="http://schemas.microsoft.com/office/drawing/2014/main" id="{E8BDC838-F0B9-4704-AE2D-70A9DEA3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001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Macro averages  |  n = 95 annotated questions</a:t>
            </a:r>
          </a:p>
        </p:txBody>
      </p:sp>
      <p:sp>
        <p:nvSpPr>
          <p:cNvPr id="94" name="plot-stage-1">
            <a:extLst xmlns:a="http://schemas.openxmlformats.org/drawingml/2006/main">
              <a:ext uri="{FF2B5EF4-FFF2-40B4-BE49-F238E27FC236}">
                <a16:creationId xmlns:a16="http://schemas.microsoft.com/office/drawing/2014/main" id="{AF4C6FA2-EE99-4F85-A5EB-EC9982D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2363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95" name="plot-stage-2">
            <a:extLst xmlns:a="http://schemas.openxmlformats.org/drawingml/2006/main">
              <a:ext uri="{FF2B5EF4-FFF2-40B4-BE49-F238E27FC236}">
                <a16:creationId xmlns:a16="http://schemas.microsoft.com/office/drawing/2014/main" id="{1433DC5D-3972-40FB-B12D-3B86553B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2363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96" name="plot-stage-3">
            <a:extLst xmlns:a="http://schemas.openxmlformats.org/drawingml/2006/main">
              <a:ext uri="{FF2B5EF4-FFF2-40B4-BE49-F238E27FC236}">
                <a16:creationId xmlns:a16="http://schemas.microsoft.com/office/drawing/2014/main" id="{C76BF81B-EEDA-4590-BBA3-BBDBBEEB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12363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97" name="precision-row-label">
            <a:extLst xmlns:a="http://schemas.openxmlformats.org/drawingml/2006/main">
              <a:ext uri="{FF2B5EF4-FFF2-40B4-BE49-F238E27FC236}">
                <a16:creationId xmlns:a16="http://schemas.microsoft.com/office/drawing/2014/main" id="{91B2399C-D914-44B1-BA98-56A235D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925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98" name="precision-line-1">
            <a:extLst xmlns:a="http://schemas.openxmlformats.org/drawingml/2006/main">
              <a:ext uri="{FF2B5EF4-FFF2-40B4-BE49-F238E27FC236}">
                <a16:creationId xmlns:a16="http://schemas.microsoft.com/office/drawing/2014/main" id="{C921A077-3F82-4759-B513-6CCE07C3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3192363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99" name="precision-line-2">
            <a:extLst xmlns:a="http://schemas.openxmlformats.org/drawingml/2006/main">
              <a:ext uri="{FF2B5EF4-FFF2-40B4-BE49-F238E27FC236}">
                <a16:creationId xmlns:a16="http://schemas.microsoft.com/office/drawing/2014/main" id="{36AC69FB-85A5-4077-BF76-68472E95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0" y="12939832"/>
            <a:ext cx="2952750" cy="2525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00" name="precision-dot-1">
            <a:extLst xmlns:a="http://schemas.openxmlformats.org/drawingml/2006/main">
              <a:ext uri="{FF2B5EF4-FFF2-40B4-BE49-F238E27FC236}">
                <a16:creationId xmlns:a16="http://schemas.microsoft.com/office/drawing/2014/main" id="{09C9EED5-9574-40E9-8C53-2600E0D2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307806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1" name="precision-value-1">
            <a:extLst xmlns:a="http://schemas.openxmlformats.org/drawingml/2006/main">
              <a:ext uri="{FF2B5EF4-FFF2-40B4-BE49-F238E27FC236}">
                <a16:creationId xmlns:a16="http://schemas.microsoft.com/office/drawing/2014/main" id="{90DCADE3-A052-49AB-ADC4-D8B801F1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2792313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63.8%</a:t>
            </a:r>
          </a:p>
        </p:txBody>
      </p:sp>
      <p:sp>
        <p:nvSpPr>
          <p:cNvPr id="102" name="precision-dot-2">
            <a:extLst xmlns:a="http://schemas.openxmlformats.org/drawingml/2006/main">
              <a:ext uri="{FF2B5EF4-FFF2-40B4-BE49-F238E27FC236}">
                <a16:creationId xmlns:a16="http://schemas.microsoft.com/office/drawing/2014/main" id="{F4C59B9F-4255-4C8B-AECA-FE713DBD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307806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3" name="precision-value-2">
            <a:extLst xmlns:a="http://schemas.openxmlformats.org/drawingml/2006/main">
              <a:ext uri="{FF2B5EF4-FFF2-40B4-BE49-F238E27FC236}">
                <a16:creationId xmlns:a16="http://schemas.microsoft.com/office/drawing/2014/main" id="{A026941A-549F-402D-BC7B-A3596C0E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2792313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63.8%</a:t>
            </a:r>
          </a:p>
        </p:txBody>
      </p:sp>
      <p:sp>
        <p:nvSpPr>
          <p:cNvPr id="104" name="precision-dot-3">
            <a:extLst xmlns:a="http://schemas.openxmlformats.org/drawingml/2006/main">
              <a:ext uri="{FF2B5EF4-FFF2-40B4-BE49-F238E27FC236}">
                <a16:creationId xmlns:a16="http://schemas.microsoft.com/office/drawing/2014/main" id="{72C2FF95-B41E-4C06-8BAF-998DB631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2825532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5" name="precision-value-3">
            <a:extLst xmlns:a="http://schemas.openxmlformats.org/drawingml/2006/main">
              <a:ext uri="{FF2B5EF4-FFF2-40B4-BE49-F238E27FC236}">
                <a16:creationId xmlns:a16="http://schemas.microsoft.com/office/drawing/2014/main" id="{213603F6-E3F9-4C23-BBE4-7148F20D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2539782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73.9%</a:t>
            </a:r>
          </a:p>
        </p:txBody>
      </p:sp>
      <p:sp>
        <p:nvSpPr>
          <p:cNvPr id="106" name="recall-row-label">
            <a:extLst xmlns:a="http://schemas.openxmlformats.org/drawingml/2006/main">
              <a:ext uri="{FF2B5EF4-FFF2-40B4-BE49-F238E27FC236}">
                <a16:creationId xmlns:a16="http://schemas.microsoft.com/office/drawing/2014/main" id="{8E4FBFA4-911D-47FE-A9B7-8C699988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687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07" name="recall-line-1">
            <a:extLst xmlns:a="http://schemas.openxmlformats.org/drawingml/2006/main">
              <a:ext uri="{FF2B5EF4-FFF2-40B4-BE49-F238E27FC236}">
                <a16:creationId xmlns:a16="http://schemas.microsoft.com/office/drawing/2014/main" id="{C68CB3A2-1952-4304-883C-CC0E879B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3769340"/>
            <a:ext cx="2952750" cy="600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08" name="recall-line-2">
            <a:extLst xmlns:a="http://schemas.openxmlformats.org/drawingml/2006/main">
              <a:ext uri="{FF2B5EF4-FFF2-40B4-BE49-F238E27FC236}">
                <a16:creationId xmlns:a16="http://schemas.microsoft.com/office/drawing/2014/main" id="{2943F57F-50D5-4822-ADB4-5504523B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0" y="13829347"/>
            <a:ext cx="2952750" cy="1000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09" name="recall-dot-1">
            <a:extLst xmlns:a="http://schemas.openxmlformats.org/drawingml/2006/main">
              <a:ext uri="{FF2B5EF4-FFF2-40B4-BE49-F238E27FC236}">
                <a16:creationId xmlns:a16="http://schemas.microsoft.com/office/drawing/2014/main" id="{C8D5BE3F-F015-4A04-8290-0265CD4A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365504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0" name="recall-value-1">
            <a:extLst xmlns:a="http://schemas.openxmlformats.org/drawingml/2006/main">
              <a:ext uri="{FF2B5EF4-FFF2-40B4-BE49-F238E27FC236}">
                <a16:creationId xmlns:a16="http://schemas.microsoft.com/office/drawing/2014/main" id="{4E90E6B0-E995-4E38-8626-F99FE976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336929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96.8%</a:t>
            </a:r>
          </a:p>
        </p:txBody>
      </p:sp>
      <p:sp>
        <p:nvSpPr>
          <p:cNvPr id="111" name="recall-dot-2">
            <a:extLst xmlns:a="http://schemas.openxmlformats.org/drawingml/2006/main">
              <a:ext uri="{FF2B5EF4-FFF2-40B4-BE49-F238E27FC236}">
                <a16:creationId xmlns:a16="http://schemas.microsoft.com/office/drawing/2014/main" id="{79561D98-3280-4FCF-8386-5630A07C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3715047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2" name="recall-value-2">
            <a:extLst xmlns:a="http://schemas.openxmlformats.org/drawingml/2006/main">
              <a:ext uri="{FF2B5EF4-FFF2-40B4-BE49-F238E27FC236}">
                <a16:creationId xmlns:a16="http://schemas.microsoft.com/office/drawing/2014/main" id="{AC890FE3-AD2F-4C50-9B42-7307A619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3429297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96.2%</a:t>
            </a:r>
          </a:p>
        </p:txBody>
      </p:sp>
      <p:sp>
        <p:nvSpPr>
          <p:cNvPr id="113" name="recall-dot-3">
            <a:extLst xmlns:a="http://schemas.openxmlformats.org/drawingml/2006/main">
              <a:ext uri="{FF2B5EF4-FFF2-40B4-BE49-F238E27FC236}">
                <a16:creationId xmlns:a16="http://schemas.microsoft.com/office/drawing/2014/main" id="{F745DC5D-A608-46C9-9C8A-4436E33C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381506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4" name="recall-value-3">
            <a:extLst xmlns:a="http://schemas.openxmlformats.org/drawingml/2006/main">
              <a:ext uri="{FF2B5EF4-FFF2-40B4-BE49-F238E27FC236}">
                <a16:creationId xmlns:a16="http://schemas.microsoft.com/office/drawing/2014/main" id="{C231E3EE-9A0C-4436-8519-5F8A5DFA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352931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95.2%</a:t>
            </a:r>
          </a:p>
        </p:txBody>
      </p:sp>
      <p:sp>
        <p:nvSpPr>
          <p:cNvPr id="115" name="fbeta-row-label">
            <a:extLst xmlns:a="http://schemas.openxmlformats.org/drawingml/2006/main">
              <a:ext uri="{FF2B5EF4-FFF2-40B4-BE49-F238E27FC236}">
                <a16:creationId xmlns:a16="http://schemas.microsoft.com/office/drawing/2014/main" id="{A92C87AF-1750-4918-A564-A216B0AB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449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F-beta</a:t>
            </a:r>
          </a:p>
        </p:txBody>
      </p:sp>
      <p:sp>
        <p:nvSpPr>
          <p:cNvPr id="116" name="fbeta-line-1">
            <a:extLst xmlns:a="http://schemas.openxmlformats.org/drawingml/2006/main">
              <a:ext uri="{FF2B5EF4-FFF2-40B4-BE49-F238E27FC236}">
                <a16:creationId xmlns:a16="http://schemas.microsoft.com/office/drawing/2014/main" id="{F6B3477A-7D23-4635-BC32-453CD370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4674215"/>
            <a:ext cx="2952750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17" name="fbeta-line-2">
            <a:extLst xmlns:a="http://schemas.openxmlformats.org/drawingml/2006/main">
              <a:ext uri="{FF2B5EF4-FFF2-40B4-BE49-F238E27FC236}">
                <a16:creationId xmlns:a16="http://schemas.microsoft.com/office/drawing/2014/main" id="{4CFDA906-C690-4635-969E-EBA670BF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0" y="14502765"/>
            <a:ext cx="2952750" cy="2171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18" name="fbeta-dot-1">
            <a:extLst xmlns:a="http://schemas.openxmlformats.org/drawingml/2006/main">
              <a:ext uri="{FF2B5EF4-FFF2-40B4-BE49-F238E27FC236}">
                <a16:creationId xmlns:a16="http://schemas.microsoft.com/office/drawing/2014/main" id="{56817C20-7B2D-4248-AA23-CA099E2F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455991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9" name="fbeta-value-1">
            <a:extLst xmlns:a="http://schemas.openxmlformats.org/drawingml/2006/main">
              <a:ext uri="{FF2B5EF4-FFF2-40B4-BE49-F238E27FC236}">
                <a16:creationId xmlns:a16="http://schemas.microsoft.com/office/drawing/2014/main" id="{13B72FDA-42C3-4AC6-BBDB-28734036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27416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87.7%</a:t>
            </a:r>
          </a:p>
        </p:txBody>
      </p:sp>
      <p:sp>
        <p:nvSpPr>
          <p:cNvPr id="120" name="fbeta-dot-2">
            <a:extLst xmlns:a="http://schemas.openxmlformats.org/drawingml/2006/main">
              <a:ext uri="{FF2B5EF4-FFF2-40B4-BE49-F238E27FC236}">
                <a16:creationId xmlns:a16="http://schemas.microsoft.com/office/drawing/2014/main" id="{0B9BC408-6217-49F6-A73E-139A37A8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460563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1" name="fbeta-value-2">
            <a:extLst xmlns:a="http://schemas.openxmlformats.org/drawingml/2006/main">
              <a:ext uri="{FF2B5EF4-FFF2-40B4-BE49-F238E27FC236}">
                <a16:creationId xmlns:a16="http://schemas.microsoft.com/office/drawing/2014/main" id="{AC78EF38-3701-42F1-8309-A7F229B0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431988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87.3%</a:t>
            </a:r>
          </a:p>
        </p:txBody>
      </p:sp>
      <p:sp>
        <p:nvSpPr>
          <p:cNvPr id="122" name="fbeta-dot-3">
            <a:extLst xmlns:a="http://schemas.openxmlformats.org/drawingml/2006/main">
              <a:ext uri="{FF2B5EF4-FFF2-40B4-BE49-F238E27FC236}">
                <a16:creationId xmlns:a16="http://schemas.microsoft.com/office/drawing/2014/main" id="{FF0333D9-BFEC-4489-96AA-9683C6BD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438846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3" name="fbeta-value-3">
            <a:extLst xmlns:a="http://schemas.openxmlformats.org/drawingml/2006/main">
              <a:ext uri="{FF2B5EF4-FFF2-40B4-BE49-F238E27FC236}">
                <a16:creationId xmlns:a16="http://schemas.microsoft.com/office/drawing/2014/main" id="{E095D0C2-0B8F-42A4-B8FF-587D5F98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410271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89.2%</a:t>
            </a:r>
          </a:p>
        </p:txBody>
      </p:sp>
      <p:sp>
        <p:nvSpPr>
          <p:cNvPr id="124" name="pages-row-label">
            <a:extLst xmlns:a="http://schemas.openxmlformats.org/drawingml/2006/main">
              <a:ext uri="{FF2B5EF4-FFF2-40B4-BE49-F238E27FC236}">
                <a16:creationId xmlns:a16="http://schemas.microsoft.com/office/drawing/2014/main" id="{D160BBC0-810F-4B1C-973E-A22D6953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211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Pages / Q</a:t>
            </a:r>
          </a:p>
        </p:txBody>
      </p:sp>
      <p:sp>
        <p:nvSpPr>
          <p:cNvPr id="125" name="pages-line-1">
            <a:extLst xmlns:a="http://schemas.openxmlformats.org/drawingml/2006/main">
              <a:ext uri="{FF2B5EF4-FFF2-40B4-BE49-F238E27FC236}">
                <a16:creationId xmlns:a16="http://schemas.microsoft.com/office/drawing/2014/main" id="{E78A9C9F-743F-4E17-BD5E-841E1ACF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5245334"/>
            <a:ext cx="2952750" cy="16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26" name="pages-line-2">
            <a:extLst xmlns:a="http://schemas.openxmlformats.org/drawingml/2006/main">
              <a:ext uri="{FF2B5EF4-FFF2-40B4-BE49-F238E27FC236}">
                <a16:creationId xmlns:a16="http://schemas.microsoft.com/office/drawing/2014/main" id="{C7FA0BE7-F945-41E1-B7D1-62CEB29D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0" y="15261336"/>
            <a:ext cx="2952750" cy="2480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27" name="pages-dot-1">
            <a:extLst xmlns:a="http://schemas.openxmlformats.org/drawingml/2006/main">
              <a:ext uri="{FF2B5EF4-FFF2-40B4-BE49-F238E27FC236}">
                <a16:creationId xmlns:a16="http://schemas.microsoft.com/office/drawing/2014/main" id="{279232AC-6C3D-4A9E-B007-C8F472FA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5131034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8" name="pages-value-1">
            <a:extLst xmlns:a="http://schemas.openxmlformats.org/drawingml/2006/main">
              <a:ext uri="{FF2B5EF4-FFF2-40B4-BE49-F238E27FC236}">
                <a16:creationId xmlns:a16="http://schemas.microsoft.com/office/drawing/2014/main" id="{FE0D4D17-F4E5-4744-A65F-74C58F83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845284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2.56</a:t>
            </a:r>
          </a:p>
        </p:txBody>
      </p:sp>
      <p:sp>
        <p:nvSpPr>
          <p:cNvPr id="129" name="pages-dot-2">
            <a:extLst xmlns:a="http://schemas.openxmlformats.org/drawingml/2006/main">
              <a:ext uri="{FF2B5EF4-FFF2-40B4-BE49-F238E27FC236}">
                <a16:creationId xmlns:a16="http://schemas.microsoft.com/office/drawing/2014/main" id="{84B2C5FD-DC0A-4F01-8721-CD489FD9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5147036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0" name="pages-value-2">
            <a:extLst xmlns:a="http://schemas.openxmlformats.org/drawingml/2006/main">
              <a:ext uri="{FF2B5EF4-FFF2-40B4-BE49-F238E27FC236}">
                <a16:creationId xmlns:a16="http://schemas.microsoft.com/office/drawing/2014/main" id="{D341584D-682D-49DE-88C9-4541393D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4861286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2.54</a:t>
            </a:r>
          </a:p>
        </p:txBody>
      </p:sp>
      <p:sp>
        <p:nvSpPr>
          <p:cNvPr id="131" name="pages-dot-3">
            <a:extLst xmlns:a="http://schemas.openxmlformats.org/drawingml/2006/main">
              <a:ext uri="{FF2B5EF4-FFF2-40B4-BE49-F238E27FC236}">
                <a16:creationId xmlns:a16="http://schemas.microsoft.com/office/drawing/2014/main" id="{28A159F9-1C52-4D60-A6FB-37EC4F42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5395067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2" name="pages-value-3">
            <a:extLst xmlns:a="http://schemas.openxmlformats.org/drawingml/2006/main">
              <a:ext uri="{FF2B5EF4-FFF2-40B4-BE49-F238E27FC236}">
                <a16:creationId xmlns:a16="http://schemas.microsoft.com/office/drawing/2014/main" id="{1018A485-73CE-41FA-9E00-7DF3B245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5109317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133" name="attribution-callout-rule">
            <a:extLst xmlns:a="http://schemas.openxmlformats.org/drawingml/2006/main">
              <a:ext uri="{FF2B5EF4-FFF2-40B4-BE49-F238E27FC236}">
                <a16:creationId xmlns:a16="http://schemas.microsoft.com/office/drawing/2014/main" id="{3C045FEA-3609-44E8-B6DD-78F05EE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9067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callout-accent-1">
            <a:extLst xmlns:a="http://schemas.openxmlformats.org/drawingml/2006/main">
              <a:ext uri="{FF2B5EF4-FFF2-40B4-BE49-F238E27FC236}">
                <a16:creationId xmlns:a16="http://schemas.microsoft.com/office/drawing/2014/main" id="{F546753C-BE23-4C79-87DC-57BDBE47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2582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callout-value-1">
            <a:extLst xmlns:a="http://schemas.openxmlformats.org/drawingml/2006/main">
              <a:ext uri="{FF2B5EF4-FFF2-40B4-BE49-F238E27FC236}">
                <a16:creationId xmlns:a16="http://schemas.microsoft.com/office/drawing/2014/main" id="{4825B2FB-DF92-4731-93A1-48235270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040100"/>
            <a:ext cx="320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+10.2 pp</a:t>
            </a:r>
          </a:p>
        </p:txBody>
      </p:sp>
      <p:sp>
        <p:nvSpPr>
          <p:cNvPr id="136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655F3617-E68A-4B52-8A1E-A3AB8971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478250"/>
            <a:ext cx="320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precision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95% CI +6.3 to +14.4</a:t>
            </a:r>
          </a:p>
        </p:txBody>
      </p:sp>
      <p:sp>
        <p:nvSpPr>
          <p:cNvPr id="137" name="callout-accent-2">
            <a:extLst xmlns:a="http://schemas.openxmlformats.org/drawingml/2006/main">
              <a:ext uri="{FF2B5EF4-FFF2-40B4-BE49-F238E27FC236}">
                <a16:creationId xmlns:a16="http://schemas.microsoft.com/office/drawing/2014/main" id="{32F49EFD-7DFF-4D27-80BD-1FACFB63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3250" y="1612582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callout-value-2">
            <a:extLst xmlns:a="http://schemas.openxmlformats.org/drawingml/2006/main">
              <a:ext uri="{FF2B5EF4-FFF2-40B4-BE49-F238E27FC236}">
                <a16:creationId xmlns:a16="http://schemas.microsoft.com/office/drawing/2014/main" id="{D1EEBCFC-C56D-4EAE-A897-703F12A5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800" y="16040100"/>
            <a:ext cx="320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-0.33</a:t>
            </a:r>
          </a:p>
        </p:txBody>
      </p:sp>
      <p:sp>
        <p:nvSpPr>
          <p:cNvPr id="139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52804F54-0F65-457B-A8CD-1B35F5A0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800" y="16478250"/>
            <a:ext cx="320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pages / question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95% CI -0.46 to -0.20</a:t>
            </a:r>
          </a:p>
        </p:txBody>
      </p:sp>
      <p:sp>
        <p:nvSpPr>
          <p:cNvPr id="140" name="callout-accent-3">
            <a:extLst xmlns:a="http://schemas.openxmlformats.org/drawingml/2006/main">
              <a:ext uri="{FF2B5EF4-FFF2-40B4-BE49-F238E27FC236}">
                <a16:creationId xmlns:a16="http://schemas.microsoft.com/office/drawing/2014/main" id="{22B180D6-1BB5-4711-9615-FBEEFE67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5750" y="1612582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callout-value-3">
            <a:extLst xmlns:a="http://schemas.openxmlformats.org/drawingml/2006/main">
              <a:ext uri="{FF2B5EF4-FFF2-40B4-BE49-F238E27FC236}">
                <a16:creationId xmlns:a16="http://schemas.microsoft.com/office/drawing/2014/main" id="{71C0CA9B-7545-4BBB-B976-0CBB3381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300" y="16040100"/>
            <a:ext cx="320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95/95</a:t>
            </a:r>
          </a:p>
        </p:txBody>
      </p:sp>
      <p:sp>
        <p:nvSpPr>
          <p:cNvPr id="142" name="callout-label-3">
            <a:extLst xmlns:a="http://schemas.openxmlformats.org/drawingml/2006/main">
              <a:ext uri="{FF2B5EF4-FFF2-40B4-BE49-F238E27FC236}">
                <a16:creationId xmlns:a16="http://schemas.microsoft.com/office/drawing/2014/main" id="{2B69BD04-965B-4764-9B08-CB6F17EA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300" y="16478250"/>
            <a:ext cx="320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retain at least one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correct page</a:t>
            </a:r>
          </a:p>
        </p:txBody>
      </p:sp>
      <p:sp>
        <p:nvSpPr>
          <p:cNvPr id="143" name="results-boundary-label">
            <a:extLst xmlns:a="http://schemas.openxmlformats.org/drawingml/2006/main">
              <a:ext uri="{FF2B5EF4-FFF2-40B4-BE49-F238E27FC236}">
                <a16:creationId xmlns:a16="http://schemas.microsoft.com/office/drawing/2014/main" id="{A7D29CB4-8807-4262-AEF4-2A3ADD3E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1087100"/>
            <a:ext cx="865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RESULTS  |  BOUNDARY</a:t>
            </a:r>
          </a:p>
        </p:txBody>
      </p:sp>
      <p:sp>
        <p:nvSpPr>
          <p:cNvPr id="144" name="results-boundary-title">
            <a:extLst xmlns:a="http://schemas.openxmlformats.org/drawingml/2006/main">
              <a:ext uri="{FF2B5EF4-FFF2-40B4-BE49-F238E27FC236}">
                <a16:creationId xmlns:a16="http://schemas.microsoft.com/office/drawing/2014/main" id="{31C9A948-4856-491C-BC67-3DA4E137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1525250"/>
            <a:ext cx="865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3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Narrowing helps local evidence - and hurts distributed support</a:t>
            </a:r>
          </a:p>
        </p:txBody>
      </p:sp>
      <p:sp>
        <p:nvSpPr>
          <p:cNvPr id="145" name="boundary-subtitle">
            <a:extLst xmlns:a="http://schemas.openxmlformats.org/drawingml/2006/main">
              <a:ext uri="{FF2B5EF4-FFF2-40B4-BE49-F238E27FC236}">
                <a16:creationId xmlns:a16="http://schemas.microsoft.com/office/drawing/2014/main" id="{898CA34C-5DE8-4EBA-9453-676055BC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2430125"/>
            <a:ext cx="865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Exploratory F-beta change, raw -&gt; final</a:t>
            </a:r>
          </a:p>
        </p:txBody>
      </p:sp>
      <p:sp>
        <p:nvSpPr>
          <p:cNvPr id="146" name="boundary-zero-line">
            <a:extLst xmlns:a="http://schemas.openxmlformats.org/drawingml/2006/main">
              <a:ext uri="{FF2B5EF4-FFF2-40B4-BE49-F238E27FC236}">
                <a16:creationId xmlns:a16="http://schemas.microsoft.com/office/drawing/2014/main" id="{930CE59A-C7C0-45CC-83C5-A2A1C05F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2858750"/>
            <a:ext cx="285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single-page-label">
            <a:extLst xmlns:a="http://schemas.openxmlformats.org/drawingml/2006/main">
              <a:ext uri="{FF2B5EF4-FFF2-40B4-BE49-F238E27FC236}">
                <a16:creationId xmlns:a16="http://schemas.microsoft.com/office/drawing/2014/main" id="{2F80C592-70B2-4859-82C6-AA72751E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3020675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Single page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59</a:t>
            </a:r>
          </a:p>
        </p:txBody>
      </p:sp>
      <p:sp>
        <p:nvSpPr>
          <p:cNvPr id="148" name="single-page-bar">
            <a:extLst xmlns:a="http://schemas.openxmlformats.org/drawingml/2006/main">
              <a:ext uri="{FF2B5EF4-FFF2-40B4-BE49-F238E27FC236}">
                <a16:creationId xmlns:a16="http://schemas.microsoft.com/office/drawing/2014/main" id="{9FB57CDF-51B1-4B30-844B-B645DE44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3125450"/>
            <a:ext cx="27432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single-page-value">
            <a:extLst xmlns:a="http://schemas.openxmlformats.org/drawingml/2006/main">
              <a:ext uri="{FF2B5EF4-FFF2-40B4-BE49-F238E27FC236}">
                <a16:creationId xmlns:a16="http://schemas.microsoft.com/office/drawing/2014/main" id="{7D28A3C1-B4A7-4C99-8AF0-ECC0C2F0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2575" y="1307782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+4.0 pp</a:t>
            </a:r>
          </a:p>
        </p:txBody>
      </p:sp>
      <p:sp>
        <p:nvSpPr>
          <p:cNvPr id="150" name="multi-page-label">
            <a:extLst xmlns:a="http://schemas.openxmlformats.org/drawingml/2006/main">
              <a:ext uri="{FF2B5EF4-FFF2-40B4-BE49-F238E27FC236}">
                <a16:creationId xmlns:a16="http://schemas.microsoft.com/office/drawing/2014/main" id="{68EF2979-7ED7-40C5-AE86-34AD8147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381125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 page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36</a:t>
            </a:r>
          </a:p>
        </p:txBody>
      </p:sp>
      <p:sp>
        <p:nvSpPr>
          <p:cNvPr id="151" name="multi-page-bar">
            <a:extLst xmlns:a="http://schemas.openxmlformats.org/drawingml/2006/main">
              <a:ext uri="{FF2B5EF4-FFF2-40B4-BE49-F238E27FC236}">
                <a16:creationId xmlns:a16="http://schemas.microsoft.com/office/drawing/2014/main" id="{DA30BB00-476F-499E-B0D7-FA7B88AB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2945" y="13916025"/>
            <a:ext cx="178308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multi-page-value">
            <a:extLst xmlns:a="http://schemas.openxmlformats.org/drawingml/2006/main">
              <a:ext uri="{FF2B5EF4-FFF2-40B4-BE49-F238E27FC236}">
                <a16:creationId xmlns:a16="http://schemas.microsoft.com/office/drawing/2014/main" id="{8EAEB585-926C-4A7B-AB2E-53E6E3CF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1395" y="138684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-2.6 pp</a:t>
            </a:r>
          </a:p>
        </p:txBody>
      </p:sp>
      <p:sp>
        <p:nvSpPr>
          <p:cNvPr id="153" name="single-doc-label">
            <a:extLst xmlns:a="http://schemas.openxmlformats.org/drawingml/2006/main">
              <a:ext uri="{FF2B5EF4-FFF2-40B4-BE49-F238E27FC236}">
                <a16:creationId xmlns:a16="http://schemas.microsoft.com/office/drawing/2014/main" id="{B4F85D9B-E490-4CB1-B54E-7EFF9913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4601825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Single document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60</a:t>
            </a:r>
          </a:p>
        </p:txBody>
      </p:sp>
      <p:sp>
        <p:nvSpPr>
          <p:cNvPr id="154" name="single-doc-bar">
            <a:extLst xmlns:a="http://schemas.openxmlformats.org/drawingml/2006/main">
              <a:ext uri="{FF2B5EF4-FFF2-40B4-BE49-F238E27FC236}">
                <a16:creationId xmlns:a16="http://schemas.microsoft.com/office/drawing/2014/main" id="{5CF99164-289C-41DD-8F8F-2278402F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4706600"/>
            <a:ext cx="219456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single-doc-value">
            <a:extLst xmlns:a="http://schemas.openxmlformats.org/drawingml/2006/main">
              <a:ext uri="{FF2B5EF4-FFF2-40B4-BE49-F238E27FC236}">
                <a16:creationId xmlns:a16="http://schemas.microsoft.com/office/drawing/2014/main" id="{08D7CB31-80B1-43F7-BF92-164A4435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3935" y="1465897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+3.2 pp</a:t>
            </a:r>
          </a:p>
        </p:txBody>
      </p:sp>
      <p:sp>
        <p:nvSpPr>
          <p:cNvPr id="156" name="multi-doc-label">
            <a:extLst xmlns:a="http://schemas.openxmlformats.org/drawingml/2006/main">
              <a:ext uri="{FF2B5EF4-FFF2-40B4-BE49-F238E27FC236}">
                <a16:creationId xmlns:a16="http://schemas.microsoft.com/office/drawing/2014/main" id="{05A398B6-A4EE-4331-A4E4-83BAFBB6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53924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 document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35</a:t>
            </a:r>
          </a:p>
        </p:txBody>
      </p:sp>
      <p:sp>
        <p:nvSpPr>
          <p:cNvPr id="157" name="multi-doc-bar">
            <a:extLst xmlns:a="http://schemas.openxmlformats.org/drawingml/2006/main">
              <a:ext uri="{FF2B5EF4-FFF2-40B4-BE49-F238E27FC236}">
                <a16:creationId xmlns:a16="http://schemas.microsoft.com/office/drawing/2014/main" id="{F53E2FDF-54D9-4BD1-9B97-FC00E1FC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5905" y="15497175"/>
            <a:ext cx="96012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multi-doc-value">
            <a:extLst xmlns:a="http://schemas.openxmlformats.org/drawingml/2006/main">
              <a:ext uri="{FF2B5EF4-FFF2-40B4-BE49-F238E27FC236}">
                <a16:creationId xmlns:a16="http://schemas.microsoft.com/office/drawing/2014/main" id="{C6047DEB-E8C2-40D5-9316-9A281A8D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4355" y="154495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-1.4 pp</a:t>
            </a:r>
          </a:p>
        </p:txBody>
      </p:sp>
      <p:sp>
        <p:nvSpPr>
          <p:cNvPr id="159" name="boundary-axis-left">
            <a:extLst xmlns:a="http://schemas.openxmlformats.org/drawingml/2006/main">
              <a:ext uri="{FF2B5EF4-FFF2-40B4-BE49-F238E27FC236}">
                <a16:creationId xmlns:a16="http://schemas.microsoft.com/office/drawing/2014/main" id="{BC4AD2CF-2C0C-4386-B68B-8D1F2DB5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7650" y="161258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-3 pp</a:t>
            </a:r>
          </a:p>
        </p:txBody>
      </p:sp>
      <p:sp>
        <p:nvSpPr>
          <p:cNvPr id="160" name="boundary-axis-zero">
            <a:extLst xmlns:a="http://schemas.openxmlformats.org/drawingml/2006/main">
              <a:ext uri="{FF2B5EF4-FFF2-40B4-BE49-F238E27FC236}">
                <a16:creationId xmlns:a16="http://schemas.microsoft.com/office/drawing/2014/main" id="{3702B74E-540F-4C05-8A9A-717BC8F8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0275" y="161258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1" name="boundary-axis-right">
            <a:extLst xmlns:a="http://schemas.openxmlformats.org/drawingml/2006/main">
              <a:ext uri="{FF2B5EF4-FFF2-40B4-BE49-F238E27FC236}">
                <a16:creationId xmlns:a16="http://schemas.microsoft.com/office/drawing/2014/main" id="{4541FEAC-BDC5-4846-BFDF-73DB1C30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0" y="161258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+5 pp</a:t>
            </a:r>
          </a:p>
        </p:txBody>
      </p:sp>
      <p:sp>
        <p:nvSpPr>
          <p:cNvPr id="162" name="boundary-conclusion">
            <a:extLst xmlns:a="http://schemas.openxmlformats.org/drawingml/2006/main">
              <a:ext uri="{FF2B5EF4-FFF2-40B4-BE49-F238E27FC236}">
                <a16:creationId xmlns:a16="http://schemas.microsoft.com/office/drawing/2014/main" id="{C1BD0D86-410B-4DF5-9B28-4CBF31FC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6573500"/>
            <a:ext cx="865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Multi-page regression (-2.6 pp) is the clearest failure boundary.</a:t>
            </a:r>
          </a:p>
        </p:txBody>
      </p:sp>
      <p:sp>
        <p:nvSpPr>
          <p:cNvPr id="163" name="metric-distinction-bg">
            <a:extLst xmlns:a="http://schemas.openxmlformats.org/drawingml/2006/main">
              <a:ext uri="{FF2B5EF4-FFF2-40B4-BE49-F238E27FC236}">
                <a16:creationId xmlns:a16="http://schemas.microsoft.com/office/drawing/2014/main" id="{7CFD54AA-4FEB-49EE-BB3C-84E41F89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0"/>
            <a:ext cx="2852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metric-distinction">
            <a:extLst xmlns:a="http://schemas.openxmlformats.org/drawingml/2006/main">
              <a:ext uri="{FF2B5EF4-FFF2-40B4-BE49-F238E27FC236}">
                <a16:creationId xmlns:a16="http://schemas.microsoft.com/office/drawing/2014/main" id="{C72445C5-C20A-44A5-9638-8E33B1C4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840200"/>
            <a:ext cx="2795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Do not conflate: benchmark grounding 0.847 = all 100 answers; macro page F-beta 0.892 = final attribution on 95 annotated questions.</a:t>
            </a:r>
          </a:p>
        </p:txBody>
      </p:sp>
      <p:sp>
        <p:nvSpPr>
          <p:cNvPr id="165" name="decision-strip">
            <a:extLst xmlns:a="http://schemas.openxmlformats.org/drawingml/2006/main">
              <a:ext uri="{FF2B5EF4-FFF2-40B4-BE49-F238E27FC236}">
                <a16:creationId xmlns:a16="http://schemas.microsoft.com/office/drawing/2014/main" id="{99EF2D1C-6D16-4C44-9862-922C15CF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0"/>
            <a:ext cx="285234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53EFEF9B-3717-4D15-B008-D96762EE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68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67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A69C397D-54DE-4B55-97EC-E98F1B3A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640300"/>
            <a:ext cx="2509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 broadly. Attribute explicitly. Narrow conservatively when evidence spans pages or documents.</a:t>
            </a:r>
          </a:p>
        </p:txBody>
      </p:sp>
      <p:sp>
        <p:nvSpPr>
          <p:cNvPr id="168" name="limitations-label">
            <a:extLst xmlns:a="http://schemas.openxmlformats.org/drawingml/2006/main">
              <a:ext uri="{FF2B5EF4-FFF2-40B4-BE49-F238E27FC236}">
                <a16:creationId xmlns:a16="http://schemas.microsoft.com/office/drawing/2014/main" id="{62E8330A-51E9-4875-BE81-8C78E276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16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69" name="limitation-rule-1">
            <a:extLst xmlns:a="http://schemas.openxmlformats.org/drawingml/2006/main">
              <a:ext uri="{FF2B5EF4-FFF2-40B4-BE49-F238E27FC236}">
                <a16:creationId xmlns:a16="http://schemas.microsoft.com/office/drawing/2014/main" id="{BB6E7C23-7C9E-4648-9206-40E63DDB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limitation-head-1">
            <a:extLst xmlns:a="http://schemas.openxmlformats.org/drawingml/2006/main">
              <a:ext uri="{FF2B5EF4-FFF2-40B4-BE49-F238E27FC236}">
                <a16:creationId xmlns:a16="http://schemas.microsoft.com/office/drawing/2014/main" id="{8F899B84-C215-4872-88D2-1E0000C8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500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ONE SAVED RUN</a:t>
            </a:r>
          </a:p>
        </p:txBody>
      </p:sp>
      <p:sp>
        <p:nvSpPr>
          <p:cNvPr id="171" name="limitation-body-1">
            <a:extLst xmlns:a="http://schemas.openxmlformats.org/drawingml/2006/main">
              <a:ext uri="{FF2B5EF4-FFF2-40B4-BE49-F238E27FC236}">
                <a16:creationId xmlns:a16="http://schemas.microsoft.com/office/drawing/2014/main" id="{BEC137D5-3C5E-4398-B829-4B3E8544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21525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Retrospective thresholds and questions; no repeated seeds.</a:t>
            </a:r>
          </a:p>
        </p:txBody>
      </p:sp>
      <p:sp>
        <p:nvSpPr>
          <p:cNvPr id="172" name="limitation-rule-2">
            <a:extLst xmlns:a="http://schemas.openxmlformats.org/drawingml/2006/main">
              <a:ext uri="{FF2B5EF4-FFF2-40B4-BE49-F238E27FC236}">
                <a16:creationId xmlns:a16="http://schemas.microsoft.com/office/drawing/2014/main" id="{617C28DA-1E14-4210-9235-E2D487D2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2405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limitation-head-2">
            <a:extLst xmlns:a="http://schemas.openxmlformats.org/drawingml/2006/main">
              <a:ext uri="{FF2B5EF4-FFF2-40B4-BE49-F238E27FC236}">
                <a16:creationId xmlns:a16="http://schemas.microsoft.com/office/drawing/2014/main" id="{306A3983-4EC9-450F-832B-7980DCD1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4500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 CAUSAL ABLATION</a:t>
            </a:r>
          </a:p>
        </p:txBody>
      </p:sp>
      <p:sp>
        <p:nvSpPr>
          <p:cNvPr id="174" name="limitation-body-2">
            <a:extLst xmlns:a="http://schemas.openxmlformats.org/drawingml/2006/main">
              <a:ext uri="{FF2B5EF4-FFF2-40B4-BE49-F238E27FC236}">
                <a16:creationId xmlns:a16="http://schemas.microsoft.com/office/drawing/2014/main" id="{69CDDAFD-8220-4406-8258-2CB70AD7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821525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Pipeline stages were not independently compared against a baseline.</a:t>
            </a:r>
          </a:p>
        </p:txBody>
      </p:sp>
      <p:sp>
        <p:nvSpPr>
          <p:cNvPr id="175" name="limitation-rule-3">
            <a:extLst xmlns:a="http://schemas.openxmlformats.org/drawingml/2006/main">
              <a:ext uri="{FF2B5EF4-FFF2-40B4-BE49-F238E27FC236}">
                <a16:creationId xmlns:a16="http://schemas.microsoft.com/office/drawing/2014/main" id="{8F761992-7F19-4E0A-8025-2DD1785D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2405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limitation-head-3">
            <a:extLst xmlns:a="http://schemas.openxmlformats.org/drawingml/2006/main">
              <a:ext uri="{FF2B5EF4-FFF2-40B4-BE49-F238E27FC236}">
                <a16:creationId xmlns:a16="http://schemas.microsoft.com/office/drawing/2014/main" id="{319F5ACD-5BE7-4A7A-923A-C6DC5935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4500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LIMITED GENERALITY</a:t>
            </a:r>
          </a:p>
        </p:txBody>
      </p:sp>
      <p:sp>
        <p:nvSpPr>
          <p:cNvPr id="177" name="limitation-body-3">
            <a:extLst xmlns:a="http://schemas.openxmlformats.org/drawingml/2006/main">
              <a:ext uri="{FF2B5EF4-FFF2-40B4-BE49-F238E27FC236}">
                <a16:creationId xmlns:a16="http://schemas.microsoft.com/office/drawing/2014/main" id="{D89543E6-3D68-4666-9D8B-AEA1444B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821525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TTFT only; OCR not exercised; one DIFC corpus and one language setting.</a:t>
            </a:r>
          </a:p>
        </p:txBody>
      </p:sp>
      <p:sp>
        <p:nvSpPr>
          <p:cNvPr id="178" name="references-rule">
            <a:extLst xmlns:a="http://schemas.openxmlformats.org/drawingml/2006/main">
              <a:ext uri="{FF2B5EF4-FFF2-40B4-BE49-F238E27FC236}">
                <a16:creationId xmlns:a16="http://schemas.microsoft.com/office/drawing/2014/main" id="{3262CA06-0E6C-4829-AFE1-E3BC7833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0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references-line-1">
            <a:extLst xmlns:a="http://schemas.openxmlformats.org/drawingml/2006/main">
              <a:ext uri="{FF2B5EF4-FFF2-40B4-BE49-F238E27FC236}">
                <a16:creationId xmlns:a16="http://schemas.microsoft.com/office/drawing/2014/main" id="{370D4238-1456-4D9B-918C-9BBA3FF6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16875"/>
            <a:ext cx="2852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[1] Lewis et al., NeurIPS 2020   [2] Karpukhin et al., EMNLP 2020   [3] Cormack et al., SIGIR 2009   [4] Gao et al., EMNLP 2023</a:t>
            </a:r>
          </a:p>
        </p:txBody>
      </p:sp>
      <p:sp>
        <p:nvSpPr>
          <p:cNvPr id="180" name="references-line-2">
            <a:extLst xmlns:a="http://schemas.openxmlformats.org/drawingml/2006/main">
              <a:ext uri="{FF2B5EF4-FFF2-40B4-BE49-F238E27FC236}">
                <a16:creationId xmlns:a16="http://schemas.microsoft.com/office/drawing/2014/main" id="{EC56A689-BC72-47BD-B3C5-715B1008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0"/>
            <a:ext cx="2852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[5] Pipitone &amp; Alami, LegalBench-RAG 2024   [6] Zhang et al., Qwen3 Embedding 2025   |   Full references in appendix.</a:t>
            </a:r>
          </a:p>
        </p:txBody>
      </p:sp>
    </p:spTree>
    <p:extLst>
      <p:ext uri="{BB962C8B-B14F-4D97-AF65-F5344CB8AC3E}">
        <p14:creationId xmlns:p14="http://schemas.microsoft.com/office/powerpoint/2010/main" val="1017762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2026-09-03T23:23:02.6180000Z</dcterms:created>
  <dcterms:modified xsi:type="dcterms:W3CDTF">2026-09-03T23:23:02.6180000Z</dcterms:modified>
</coreProperties>
</file>