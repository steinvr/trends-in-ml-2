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238e1b9ccf44d2" /><Relationship Type="http://schemas.openxmlformats.org/officeDocument/2006/relationships/extended-properties" Target="/docProps/app.xml" Id="R6c6eca5b249d482a" /><Relationship Type="http://schemas.openxmlformats.org/officeDocument/2006/relationships/officeDocument" Target="/ppt/presentation.xml" Id="R0a79505cff01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d4c53886aa4189"/>
  </p:sldMasterIdLst>
  <p:notesMasterIdLst>
    <p:notesMasterId xmlns:r="http://schemas.openxmlformats.org/officeDocument/2006/relationships" r:id="Rb9c1d9c6529443a4"/>
  </p:notesMasterIdLst>
  <p:sldIdLst>
    <p:sldId xmlns:r="http://schemas.openxmlformats.org/officeDocument/2006/relationships" id="256" r:id="R92a191b695054a34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9267cd7e9140e1" /><Relationship Type="http://schemas.openxmlformats.org/officeDocument/2006/relationships/slideMaster" Target="/ppt/slideMasters/slideMaster1.xml" Id="R90d4c53886aa4189" /><Relationship Type="http://schemas.openxmlformats.org/officeDocument/2006/relationships/notesMaster" Target="/ppt/notesMasters/notesMaster1.xml" Id="Rb9c1d9c6529443a4" /><Relationship Type="http://schemas.openxmlformats.org/officeDocument/2006/relationships/presProps" Target="/ppt/presProps.xml" Id="R0e658c7cb671481b" /><Relationship Type="http://schemas.openxmlformats.org/officeDocument/2006/relationships/tableStyles" Target="/ppt/tableStyles.xml" Id="R77b12a4d9b944e44" /><Relationship Type="http://schemas.openxmlformats.org/officeDocument/2006/relationships/slide" Target="/ppt/slides/slide1.xml" Id="R92a191b69505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cf4f90de3f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f7bf0f9684cc8" /><Relationship Type="http://schemas.openxmlformats.org/officeDocument/2006/relationships/notesMaster" Target="/ppt/notesMasters/notesMaster1.xml" Id="R1e60b3d3db1846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 of truth: /Users/steinv/Uni-Trier/Trends-In-ML-2/poster-narrative-2.md</a:t>
            </a:r>
          </a:p>
          <a:p xmlns:a="http://schemas.openxmlformats.org/drawingml/2006/main">
            <a:r>
              <a:t>Formal requirements: /Users/steinv/Uni-Trier/Trends-In-ML-2/Poster-Examination-Guidelines.pdf</a:t>
            </a:r>
          </a:p>
          <a:p xmlns:a="http://schemas.openxmlformats.org/drawingml/2006/main">
            <a:r>
              <a:t>Primary run report: artifacts/warmup_runs/runs/submission_e2e_20260424_solver_narrowing_no_guard/eval/benchmark_report.json</a:t>
            </a:r>
          </a:p>
          <a:p xmlns:a="http://schemas.openxmlformats.org/drawingml/2006/main">
            <a:r>
              <a:t>Primary page ledger: artifacts/warmup_runs/runs/submission_e2e_20260424_solver_narrowing_no_guard/grounding/ledger.csv</a:t>
            </a:r>
          </a:p>
          <a:p xmlns:a="http://schemas.openxmlformats.org/drawingml/2006/main">
            <a:r>
              <a:t>Lewis et al. (2020), https://proceedings.neurips.cc/paper/2020/hash/6b493230205f780e1bc26945df7481e5-Abstract.html</a:t>
            </a:r>
          </a:p>
          <a:p xmlns:a="http://schemas.openxmlformats.org/drawingml/2006/main">
            <a:r>
              <a:t>Karpukhin et al. (2020), https://aclanthology.org/2020.emnlp-main.550/</a:t>
            </a:r>
          </a:p>
          <a:p xmlns:a="http://schemas.openxmlformats.org/drawingml/2006/main">
            <a:r>
              <a:t>Cormack et al. (2009), https://doi.org/10.1145/1571941.1572114</a:t>
            </a:r>
          </a:p>
          <a:p xmlns:a="http://schemas.openxmlformats.org/drawingml/2006/main">
            <a:r>
              <a:t>Gao et al. (2023), https://aclanthology.org/2023.emnlp-main.398/</a:t>
            </a:r>
          </a:p>
          <a:p xmlns:a="http://schemas.openxmlformats.org/drawingml/2006/main">
            <a:r>
              <a:t>Pipitone and Houir Alami (2024), https://arxiv.org/abs/2408.10343</a:t>
            </a:r>
          </a:p>
          <a:p xmlns:a="http://schemas.openxmlformats.org/drawingml/2006/main">
            <a:r>
              <a:t>Zhang et al. (2025), https://arxiv.org/abs/2506.05176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ba364c9a34e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0fda3711e4981" /><Relationship Type="http://schemas.openxmlformats.org/officeDocument/2006/relationships/slideLayout" Target="/ppt/slideLayouts/slideLayout1.xml" Id="Rbcc6ee3384b749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c6ee3384b749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fbd4b674b4cc5" /><Relationship Type="http://schemas.openxmlformats.org/officeDocument/2006/relationships/notesSlide" Target="/ppt/notesSlides/notesSlide1.xml" Id="Rddccb41223ae40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eyebrow">
            <a:extLst xmlns:a="http://schemas.openxmlformats.org/drawingml/2006/main">
              <a:ext uri="{FF2B5EF4-FFF2-40B4-BE49-F238E27FC236}">
                <a16:creationId xmlns:a16="http://schemas.microsoft.com/office/drawing/2014/main" id="{E926ACAC-8DC8-4E47-BC6F-30DE963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POSTER  |  NATURAL LANGUAGE PROCESSING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94EB9C-57A0-49E0-BFFC-37632BCD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2247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72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From Legal PDFs to Verifiable Answers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3979D2B-EDE3-40E5-BC93-C001DE72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190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Evaluating answer quality, page-level grounding and latency across 100 legal questions</a:t>
            </a:r>
          </a:p>
        </p:txBody>
      </p:sp>
      <p:sp>
        <p:nvSpPr>
          <p:cNvPr id="4" name="repository">
            <a:extLst xmlns:a="http://schemas.openxmlformats.org/drawingml/2006/main">
              <a:ext uri="{FF2B5EF4-FFF2-40B4-BE49-F238E27FC236}">
                <a16:creationId xmlns:a16="http://schemas.microsoft.com/office/drawing/2014/main" id="{F9BD481A-B8D3-49B2-A834-50E271E0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428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github.com/SteinVR/Agentic-RAG-Challenge</a:t>
            </a:r>
          </a:p>
        </p:txBody>
      </p:sp>
      <p:sp>
        <p:nvSpPr>
          <p:cNvPr id="5" name="affiliation">
            <a:extLst xmlns:a="http://schemas.openxmlformats.org/drawingml/2006/main">
              <a:ext uri="{FF2B5EF4-FFF2-40B4-BE49-F238E27FC236}">
                <a16:creationId xmlns:a16="http://schemas.microsoft.com/office/drawing/2014/main" id="{F1530B2A-BC67-485C-9640-DC7CA038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924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Trends in Machine Learning II  |  Universität Trier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A84D4FC-DE64-4136-9FE0-BB552DD4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ypothesis-bg">
            <a:extLst xmlns:a="http://schemas.openxmlformats.org/drawingml/2006/main">
              <a:ext uri="{FF2B5EF4-FFF2-40B4-BE49-F238E27FC236}">
                <a16:creationId xmlns:a16="http://schemas.microsoft.com/office/drawing/2014/main" id="{7D0EF714-54BE-478E-91E4-620B049B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234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ypothesis-label-marker">
            <a:extLst xmlns:a="http://schemas.openxmlformats.org/drawingml/2006/main">
              <a:ext uri="{FF2B5EF4-FFF2-40B4-BE49-F238E27FC236}">
                <a16:creationId xmlns:a16="http://schemas.microsoft.com/office/drawing/2014/main" id="{23688F43-D341-410B-9A25-C1DC1DAE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ypothesis-label">
            <a:extLst xmlns:a="http://schemas.openxmlformats.org/drawingml/2006/main">
              <a:ext uri="{FF2B5EF4-FFF2-40B4-BE49-F238E27FC236}">
                <a16:creationId xmlns:a16="http://schemas.microsoft.com/office/drawing/2014/main" id="{C3A94E65-4070-47E7-9343-CFCF514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B40674B6-3B42-42FD-AFB4-12F30A0E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1447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Can a page-traceable Legal RAG pipeline balance answer quality, source grounding, validity and latency?</a:t>
            </a:r>
          </a:p>
        </p:txBody>
      </p:sp>
      <p:sp>
        <p:nvSpPr>
          <p:cNvPr id="11" name="secondary-question">
            <a:extLst xmlns:a="http://schemas.openxmlformats.org/drawingml/2006/main">
              <a:ext uri="{FF2B5EF4-FFF2-40B4-BE49-F238E27FC236}">
                <a16:creationId xmlns:a16="http://schemas.microsoft.com/office/drawing/2014/main" id="{A73914C7-3DD6-439F-A8BB-6225A23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H2: Does answer-aware attribution sharpen citations while retaining at least one correct page per annotated question?</a:t>
            </a:r>
          </a:p>
        </p:txBody>
      </p:sp>
      <p:sp>
        <p:nvSpPr>
          <p:cNvPr id="12" name="hypothesis-divider">
            <a:extLst xmlns:a="http://schemas.openxmlformats.org/drawingml/2006/main">
              <a:ext uri="{FF2B5EF4-FFF2-40B4-BE49-F238E27FC236}">
                <a16:creationId xmlns:a16="http://schemas.microsoft.com/office/drawing/2014/main" id="{D26A6D57-8A6E-462D-BD53-0E5F384D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0050" y="3219450"/>
            <a:ext cx="28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ypothesis-finding-label">
            <a:extLst xmlns:a="http://schemas.openxmlformats.org/drawingml/2006/main">
              <a:ext uri="{FF2B5EF4-FFF2-40B4-BE49-F238E27FC236}">
                <a16:creationId xmlns:a16="http://schemas.microsoft.com/office/drawing/2014/main" id="{B80F5478-5B6A-4FC4-A18C-A050853E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181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14" name="hypothesis-finding">
            <a:extLst xmlns:a="http://schemas.openxmlformats.org/drawingml/2006/main">
              <a:ext uri="{FF2B5EF4-FFF2-40B4-BE49-F238E27FC236}">
                <a16:creationId xmlns:a16="http://schemas.microsoft.com/office/drawing/2014/main" id="{A41C8F88-0646-4570-AE4D-22EC2DDD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638550"/>
            <a:ext cx="93305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grounding missed its 0.85 threshold. H2 holds for precision, compactness and 95/95 hit coverage.</a:t>
            </a:r>
          </a:p>
        </p:txBody>
      </p:sp>
      <p:sp>
        <p:nvSpPr>
          <p:cNvPr id="15" name="methodology-label-marker">
            <a:extLst xmlns:a="http://schemas.openxmlformats.org/drawingml/2006/main">
              <a:ext uri="{FF2B5EF4-FFF2-40B4-BE49-F238E27FC236}">
                <a16:creationId xmlns:a16="http://schemas.microsoft.com/office/drawing/2014/main" id="{9B4106AD-FC45-4D16-9E2C-8A26B003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ology-label">
            <a:extLst xmlns:a="http://schemas.openxmlformats.org/drawingml/2006/main">
              <a:ext uri="{FF2B5EF4-FFF2-40B4-BE49-F238E27FC236}">
                <a16:creationId xmlns:a16="http://schemas.microsoft.com/office/drawing/2014/main" id="{FB2B1EDF-4B99-4CD7-ADD9-E4F25990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81625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7" name="methodology-data">
            <a:extLst xmlns:a="http://schemas.openxmlformats.org/drawingml/2006/main">
              <a:ext uri="{FF2B5EF4-FFF2-40B4-BE49-F238E27FC236}">
                <a16:creationId xmlns:a16="http://schemas.microsoft.com/office/drawing/2014/main" id="{79FF169D-90AE-4E6A-8C06-3CE1EFEA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57825"/>
            <a:ext cx="2318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6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100 questions  |  30 publicly available legal PDFs  |  590 pages  |  95 with page annotations</a:t>
            </a:r>
          </a:p>
        </p:txBody>
      </p:sp>
      <p:sp>
        <p:nvSpPr>
          <p:cNvPr id="18" name="methodology-rule">
            <a:extLst xmlns:a="http://schemas.openxmlformats.org/drawingml/2006/main">
              <a:ext uri="{FF2B5EF4-FFF2-40B4-BE49-F238E27FC236}">
                <a16:creationId xmlns:a16="http://schemas.microsoft.com/office/drawing/2014/main" id="{55245575-9781-4E2D-8D5A-C367BDD4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4F3C67EB-698A-4F33-8956-8D95A698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0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0965D617-7BD6-46FD-9FD2-2B990E65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2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14CC4811-C98A-4BCB-9B15-0AFA606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2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364BCD6D-1D3E-48E2-B412-4E273585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4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arrow-5">
            <a:extLst xmlns:a="http://schemas.openxmlformats.org/drawingml/2006/main">
              <a:ext uri="{FF2B5EF4-FFF2-40B4-BE49-F238E27FC236}">
                <a16:creationId xmlns:a16="http://schemas.microsoft.com/office/drawing/2014/main" id="{0BD94ACD-921E-4FB3-972E-C7693CCA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3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venance-rail">
            <a:extLst xmlns:a="http://schemas.openxmlformats.org/drawingml/2006/main">
              <a:ext uri="{FF2B5EF4-FFF2-40B4-BE49-F238E27FC236}">
                <a16:creationId xmlns:a16="http://schemas.microsoft.com/office/drawing/2014/main" id="{C007FBF9-CDA9-440E-B7D2-4E9042EF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00" y="9277350"/>
            <a:ext cx="27127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venance-dot-1">
            <a:extLst xmlns:a="http://schemas.openxmlformats.org/drawingml/2006/main">
              <a:ext uri="{FF2B5EF4-FFF2-40B4-BE49-F238E27FC236}">
                <a16:creationId xmlns:a16="http://schemas.microsoft.com/office/drawing/2014/main" id="{A7E6C3CE-10D2-4415-BCC7-41C1183C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5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provenance-dot-2">
            <a:extLst xmlns:a="http://schemas.openxmlformats.org/drawingml/2006/main">
              <a:ext uri="{FF2B5EF4-FFF2-40B4-BE49-F238E27FC236}">
                <a16:creationId xmlns:a16="http://schemas.microsoft.com/office/drawing/2014/main" id="{9695ADDF-0882-4EED-865F-D9B8E9BD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provenance-dot-3">
            <a:extLst xmlns:a="http://schemas.openxmlformats.org/drawingml/2006/main">
              <a:ext uri="{FF2B5EF4-FFF2-40B4-BE49-F238E27FC236}">
                <a16:creationId xmlns:a16="http://schemas.microsoft.com/office/drawing/2014/main" id="{813E497A-9730-401C-910B-D44144AE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77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provenance-dot-4">
            <a:extLst xmlns:a="http://schemas.openxmlformats.org/drawingml/2006/main">
              <a:ext uri="{FF2B5EF4-FFF2-40B4-BE49-F238E27FC236}">
                <a16:creationId xmlns:a16="http://schemas.microsoft.com/office/drawing/2014/main" id="{DA364853-E06A-4073-9124-B9BBF6BF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85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provenance-dot-5">
            <a:extLst xmlns:a="http://schemas.openxmlformats.org/drawingml/2006/main">
              <a:ext uri="{FF2B5EF4-FFF2-40B4-BE49-F238E27FC236}">
                <a16:creationId xmlns:a16="http://schemas.microsoft.com/office/drawing/2014/main" id="{7E3CCDC1-3E6A-422B-BB5C-AFFF7655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provenance-dot-6">
            <a:extLst xmlns:a="http://schemas.openxmlformats.org/drawingml/2006/main">
              <a:ext uri="{FF2B5EF4-FFF2-40B4-BE49-F238E27FC236}">
                <a16:creationId xmlns:a16="http://schemas.microsoft.com/office/drawing/2014/main" id="{10C0F7B1-549A-46B8-80B4-DF8074D6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1" name="stage-1-box">
            <a:extLst xmlns:a="http://schemas.openxmlformats.org/drawingml/2006/main">
              <a:ext uri="{FF2B5EF4-FFF2-40B4-BE49-F238E27FC236}">
                <a16:creationId xmlns:a16="http://schemas.microsoft.com/office/drawing/2014/main" id="{64A94319-C47E-43EA-B9C2-B192F95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2" name="stage-1-accent">
            <a:extLst xmlns:a="http://schemas.openxmlformats.org/drawingml/2006/main">
              <a:ext uri="{FF2B5EF4-FFF2-40B4-BE49-F238E27FC236}">
                <a16:creationId xmlns:a16="http://schemas.microsoft.com/office/drawing/2014/main" id="{6EB614E9-B91C-4ACE-BC5F-7B8189AD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ge-1-kicker">
            <a:extLst xmlns:a="http://schemas.openxmlformats.org/drawingml/2006/main">
              <a:ext uri="{FF2B5EF4-FFF2-40B4-BE49-F238E27FC236}">
                <a16:creationId xmlns:a16="http://schemas.microsoft.com/office/drawing/2014/main" id="{723F24A0-D2CB-4313-AACD-DC106955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 SOURCE</a:t>
            </a:r>
          </a:p>
        </p:txBody>
      </p:sp>
      <p:sp>
        <p:nvSpPr>
          <p:cNvPr id="34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CBAE90E2-AF93-43B1-BFDF-26A17D62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Page-stable ingestion</a:t>
            </a:r>
          </a:p>
        </p:txBody>
      </p:sp>
      <p:sp>
        <p:nvSpPr>
          <p:cNvPr id="35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104016F6-6A66-4FCE-814E-27AE1AF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Native text + tables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OCR fallback available</a:t>
            </a:r>
          </a:p>
        </p:txBody>
      </p:sp>
      <p:sp>
        <p:nvSpPr>
          <p:cNvPr id="36" name="stage-2-box">
            <a:extLst xmlns:a="http://schemas.openxmlformats.org/drawingml/2006/main">
              <a:ext uri="{FF2B5EF4-FFF2-40B4-BE49-F238E27FC236}">
                <a16:creationId xmlns:a16="http://schemas.microsoft.com/office/drawing/2014/main" id="{7763E688-2C06-4C2F-9554-CC45F360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7" name="stage-2-accent">
            <a:extLst xmlns:a="http://schemas.openxmlformats.org/drawingml/2006/main">
              <a:ext uri="{FF2B5EF4-FFF2-40B4-BE49-F238E27FC236}">
                <a16:creationId xmlns:a16="http://schemas.microsoft.com/office/drawing/2014/main" id="{5120E600-D410-46FF-8943-0804D770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ge-2-kicker">
            <a:extLst xmlns:a="http://schemas.openxmlformats.org/drawingml/2006/main">
              <a:ext uri="{FF2B5EF4-FFF2-40B4-BE49-F238E27FC236}">
                <a16:creationId xmlns:a16="http://schemas.microsoft.com/office/drawing/2014/main" id="{BE1859D1-EA88-4B18-A124-F7E88D5E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 REPRESENT</a:t>
            </a:r>
          </a:p>
        </p:txBody>
      </p:sp>
      <p:sp>
        <p:nvSpPr>
          <p:cNvPr id="3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CA75DCA7-B678-4DF9-B0DB-691B23B3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Multi-view index</a:t>
            </a:r>
          </a:p>
        </p:txBody>
      </p:sp>
      <p:sp>
        <p:nvSpPr>
          <p:cNvPr id="40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682C29E6-F54C-42E2-87A2-99C19B0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Page, section, clause,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microchunk and table</a:t>
            </a:r>
          </a:p>
        </p:txBody>
      </p:sp>
      <p:sp>
        <p:nvSpPr>
          <p:cNvPr id="41" name="stage-3-box">
            <a:extLst xmlns:a="http://schemas.openxmlformats.org/drawingml/2006/main">
              <a:ext uri="{FF2B5EF4-FFF2-40B4-BE49-F238E27FC236}">
                <a16:creationId xmlns:a16="http://schemas.microsoft.com/office/drawing/2014/main" id="{44937145-F745-4D79-907E-B0765526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2" name="stage-3-accent">
            <a:extLst xmlns:a="http://schemas.openxmlformats.org/drawingml/2006/main">
              <a:ext uri="{FF2B5EF4-FFF2-40B4-BE49-F238E27FC236}">
                <a16:creationId xmlns:a16="http://schemas.microsoft.com/office/drawing/2014/main" id="{6471431C-1893-4E3B-B89D-0566FA75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ge-3-kicker">
            <a:extLst xmlns:a="http://schemas.openxmlformats.org/drawingml/2006/main">
              <a:ext uri="{FF2B5EF4-FFF2-40B4-BE49-F238E27FC236}">
                <a16:creationId xmlns:a16="http://schemas.microsoft.com/office/drawing/2014/main" id="{A0A29563-10DA-462E-9EDF-9334E51C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 RETRIEVE</a:t>
            </a:r>
          </a:p>
        </p:txBody>
      </p:sp>
      <p:sp>
        <p:nvSpPr>
          <p:cNvPr id="4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64A0ED30-9409-45AC-8D13-BA3BF79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Hybrid retrieve + rerank</a:t>
            </a:r>
          </a:p>
        </p:txBody>
      </p:sp>
      <p:sp>
        <p:nvSpPr>
          <p:cNvPr id="45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CD10DB5F-FC6E-4F03-ADC1-E3E834B9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BM25 + Qwen3 Embedding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RRF + Qwen3 Reranker</a:t>
            </a:r>
          </a:p>
        </p:txBody>
      </p:sp>
      <p:sp>
        <p:nvSpPr>
          <p:cNvPr id="46" name="stage-4-box">
            <a:extLst xmlns:a="http://schemas.openxmlformats.org/drawingml/2006/main">
              <a:ext uri="{FF2B5EF4-FFF2-40B4-BE49-F238E27FC236}">
                <a16:creationId xmlns:a16="http://schemas.microsoft.com/office/drawing/2014/main" id="{5D7FA18F-5435-46C4-AE1B-5CF2A8A7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7" name="stage-4-accent">
            <a:extLst xmlns:a="http://schemas.openxmlformats.org/drawingml/2006/main">
              <a:ext uri="{FF2B5EF4-FFF2-40B4-BE49-F238E27FC236}">
                <a16:creationId xmlns:a16="http://schemas.microsoft.com/office/drawing/2014/main" id="{126DB289-9030-44BD-816B-7D31B311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tage-4-kicker">
            <a:extLst xmlns:a="http://schemas.openxmlformats.org/drawingml/2006/main">
              <a:ext uri="{FF2B5EF4-FFF2-40B4-BE49-F238E27FC236}">
                <a16:creationId xmlns:a16="http://schemas.microsoft.com/office/drawing/2014/main" id="{1403A187-5ECD-41EB-A6DB-C191238D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ANSWER</a:t>
            </a:r>
          </a:p>
        </p:txBody>
      </p:sp>
      <p:sp>
        <p:nvSpPr>
          <p:cNvPr id="4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8E991998-1DB7-4CE3-B0B3-63C7B2EF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Typed answer</a:t>
            </a:r>
          </a:p>
        </p:txBody>
      </p:sp>
      <p:sp>
        <p:nvSpPr>
          <p:cNvPr id="50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4909DFCC-B7E8-414E-BE14-A9C9F07F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gpt-5.4-mini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strict JSON + validators</a:t>
            </a:r>
          </a:p>
        </p:txBody>
      </p:sp>
      <p:sp>
        <p:nvSpPr>
          <p:cNvPr id="51" name="stage-5-box">
            <a:extLst xmlns:a="http://schemas.openxmlformats.org/drawingml/2006/main">
              <a:ext uri="{FF2B5EF4-FFF2-40B4-BE49-F238E27FC236}">
                <a16:creationId xmlns:a16="http://schemas.microsoft.com/office/drawing/2014/main" id="{251ABF2E-C265-4555-8576-C55813C2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2" name="stage-5-accent">
            <a:extLst xmlns:a="http://schemas.openxmlformats.org/drawingml/2006/main">
              <a:ext uri="{FF2B5EF4-FFF2-40B4-BE49-F238E27FC236}">
                <a16:creationId xmlns:a16="http://schemas.microsoft.com/office/drawing/2014/main" id="{2535F87C-5BED-43B8-A3A2-C032C896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tage-5-kicker">
            <a:extLst xmlns:a="http://schemas.openxmlformats.org/drawingml/2006/main">
              <a:ext uri="{FF2B5EF4-FFF2-40B4-BE49-F238E27FC236}">
                <a16:creationId xmlns:a16="http://schemas.microsoft.com/office/drawing/2014/main" id="{8501BFA5-4426-47C0-8417-CEEB6D61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ATTRIBUTE</a:t>
            </a:r>
          </a:p>
        </p:txBody>
      </p:sp>
      <p:sp>
        <p:nvSpPr>
          <p:cNvPr id="5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C5FA9918-44A5-475D-9794-E7915C2E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Answer-aware pages</a:t>
            </a:r>
          </a:p>
        </p:txBody>
      </p:sp>
      <p:sp>
        <p:nvSpPr>
          <p:cNvPr id="55" name="stage-5-body">
            <a:extLst xmlns:a="http://schemas.openxmlformats.org/drawingml/2006/main">
              <a:ext uri="{FF2B5EF4-FFF2-40B4-BE49-F238E27FC236}">
                <a16:creationId xmlns:a16="http://schemas.microsoft.com/office/drawing/2014/main" id="{F61EB995-AF88-4095-871F-180846F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check + fallback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-&gt; filter -&gt; final</a:t>
            </a:r>
          </a:p>
        </p:txBody>
      </p:sp>
      <p:sp>
        <p:nvSpPr>
          <p:cNvPr id="56" name="stage-6-box">
            <a:extLst xmlns:a="http://schemas.openxmlformats.org/drawingml/2006/main">
              <a:ext uri="{FF2B5EF4-FFF2-40B4-BE49-F238E27FC236}">
                <a16:creationId xmlns:a16="http://schemas.microsoft.com/office/drawing/2014/main" id="{A045811A-284B-4F61-A8DE-9F5E4361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42291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57" name="stage-6-accent">
            <a:extLst xmlns:a="http://schemas.openxmlformats.org/drawingml/2006/main">
              <a:ext uri="{FF2B5EF4-FFF2-40B4-BE49-F238E27FC236}">
                <a16:creationId xmlns:a16="http://schemas.microsoft.com/office/drawing/2014/main" id="{5F6B4788-C970-4987-B269-64FA89E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tage-6-kicker">
            <a:extLst xmlns:a="http://schemas.openxmlformats.org/drawingml/2006/main">
              <a:ext uri="{FF2B5EF4-FFF2-40B4-BE49-F238E27FC236}">
                <a16:creationId xmlns:a16="http://schemas.microsoft.com/office/drawing/2014/main" id="{F9E6801E-B050-463F-B173-7C5D27C0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6524625"/>
            <a:ext cx="3705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  VERIFY</a:t>
            </a:r>
          </a:p>
        </p:txBody>
      </p:sp>
      <p:sp>
        <p:nvSpPr>
          <p:cNvPr id="59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4FD3BC14-C047-4AD5-9DD5-DFB372E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010400"/>
            <a:ext cx="3705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Auditable output</a:t>
            </a:r>
          </a:p>
        </p:txBody>
      </p:sp>
      <p:sp>
        <p:nvSpPr>
          <p:cNvPr id="60" name="stage-6-body">
            <a:extLst xmlns:a="http://schemas.openxmlformats.org/drawingml/2006/main">
              <a:ext uri="{FF2B5EF4-FFF2-40B4-BE49-F238E27FC236}">
                <a16:creationId xmlns:a16="http://schemas.microsoft.com/office/drawing/2014/main" id="{E6762279-8F44-47D8-9B57-5321A210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772400"/>
            <a:ext cx="3705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 + pages + trace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validity + TTFT</a:t>
            </a:r>
          </a:p>
        </p:txBody>
      </p:sp>
      <p:sp>
        <p:nvSpPr>
          <p:cNvPr id="61" name="provenance-label">
            <a:extLst xmlns:a="http://schemas.openxmlformats.org/drawingml/2006/main">
              <a:ext uri="{FF2B5EF4-FFF2-40B4-BE49-F238E27FC236}">
                <a16:creationId xmlns:a16="http://schemas.microsoft.com/office/drawing/2014/main" id="{88DBBD81-AC54-42CD-A148-A928A5A3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953500"/>
            <a:ext cx="1504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CONTINUOUS PROVENANCE  |  document_id + page_number</a:t>
            </a:r>
          </a:p>
        </p:txBody>
      </p:sp>
      <p:sp>
        <p:nvSpPr>
          <p:cNvPr id="62" name="provenance-explanation">
            <a:extLst xmlns:a="http://schemas.openxmlformats.org/drawingml/2006/main">
              <a:ext uri="{FF2B5EF4-FFF2-40B4-BE49-F238E27FC236}">
                <a16:creationId xmlns:a16="http://schemas.microsoft.com/office/drawing/2014/main" id="{A1F088D7-822E-406F-9BFE-786C1A1E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9572625"/>
            <a:ext cx="2090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same identifiers survive every stage, so a final citation can be traced back to the exact PDF page.</a:t>
            </a:r>
          </a:p>
        </p:txBody>
      </p:sp>
      <p:sp>
        <p:nvSpPr>
          <p:cNvPr id="63" name="evaluation-design">
            <a:extLst xmlns:a="http://schemas.openxmlformats.org/drawingml/2006/main">
              <a:ext uri="{FF2B5EF4-FFF2-40B4-BE49-F238E27FC236}">
                <a16:creationId xmlns:a16="http://schemas.microsoft.com/office/drawing/2014/main" id="{31DAD8BA-A718-4EA6-9070-82BB582A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0096500"/>
            <a:ext cx="2528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Evaluation A: end-to-end profile on 100 questions.  Evaluation B: paired raw -&gt; filter -&gt; final page sets on the same 95 annotated questions.</a:t>
            </a:r>
          </a:p>
        </p:txBody>
      </p:sp>
      <p:sp>
        <p:nvSpPr>
          <p:cNvPr id="64" name="results-top-rule">
            <a:extLst xmlns:a="http://schemas.openxmlformats.org/drawingml/2006/main">
              <a:ext uri="{FF2B5EF4-FFF2-40B4-BE49-F238E27FC236}">
                <a16:creationId xmlns:a16="http://schemas.microsoft.com/office/drawing/2014/main" id="{5647629E-DD9C-4881-A1AD-B390211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sults-bottom-rule">
            <a:extLst xmlns:a="http://schemas.openxmlformats.org/drawingml/2006/main">
              <a:ext uri="{FF2B5EF4-FFF2-40B4-BE49-F238E27FC236}">
                <a16:creationId xmlns:a16="http://schemas.microsoft.com/office/drawing/2014/main" id="{733768F9-4FA3-4A66-B1BE-7285AAAB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results-separator-1">
            <a:extLst xmlns:a="http://schemas.openxmlformats.org/drawingml/2006/main">
              <a:ext uri="{FF2B5EF4-FFF2-40B4-BE49-F238E27FC236}">
                <a16:creationId xmlns:a16="http://schemas.microsoft.com/office/drawing/2014/main" id="{6E87B132-38A9-41F1-ABF7-883E5529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esults-separator-2">
            <a:extLst xmlns:a="http://schemas.openxmlformats.org/drawingml/2006/main">
              <a:ext uri="{FF2B5EF4-FFF2-40B4-BE49-F238E27FC236}">
                <a16:creationId xmlns:a16="http://schemas.microsoft.com/office/drawing/2014/main" id="{6F0550F9-D098-40DD-BE3F-C15E9552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results-system-label">
            <a:extLst xmlns:a="http://schemas.openxmlformats.org/drawingml/2006/main">
              <a:ext uri="{FF2B5EF4-FFF2-40B4-BE49-F238E27FC236}">
                <a16:creationId xmlns:a16="http://schemas.microsoft.com/office/drawing/2014/main" id="{89F2C01E-2DCF-4CCE-A86E-801ACB39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08710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SYSTEM</a:t>
            </a:r>
          </a:p>
        </p:txBody>
      </p:sp>
      <p:sp>
        <p:nvSpPr>
          <p:cNvPr id="69" name="results-system-title">
            <a:extLst xmlns:a="http://schemas.openxmlformats.org/drawingml/2006/main">
              <a:ext uri="{FF2B5EF4-FFF2-40B4-BE49-F238E27FC236}">
                <a16:creationId xmlns:a16="http://schemas.microsoft.com/office/drawing/2014/main" id="{0F8F46FE-FA2B-4E4C-895A-72177579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5252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Grounding limits an otherwise strong system</a:t>
            </a:r>
          </a:p>
        </p:txBody>
      </p:sp>
      <p:sp>
        <p:nvSpPr>
          <p:cNvPr id="70" name="system-equation-panel">
            <a:extLst xmlns:a="http://schemas.openxmlformats.org/drawingml/2006/main">
              <a:ext uri="{FF2B5EF4-FFF2-40B4-BE49-F238E27FC236}">
                <a16:creationId xmlns:a16="http://schemas.microsoft.com/office/drawing/2014/main" id="{C6A2DCE7-4655-4783-89CE-EB302EC8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268200"/>
            <a:ext cx="84010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eq-times-1">
            <a:extLst xmlns:a="http://schemas.openxmlformats.org/drawingml/2006/main">
              <a:ext uri="{FF2B5EF4-FFF2-40B4-BE49-F238E27FC236}">
                <a16:creationId xmlns:a16="http://schemas.microsoft.com/office/drawing/2014/main" id="{ABE192E8-D89A-4017-94E6-62345D1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2" name="eq-times-2">
            <a:extLst xmlns:a="http://schemas.openxmlformats.org/drawingml/2006/main">
              <a:ext uri="{FF2B5EF4-FFF2-40B4-BE49-F238E27FC236}">
                <a16:creationId xmlns:a16="http://schemas.microsoft.com/office/drawing/2014/main" id="{F67B9A84-872D-4677-808E-0731B07A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eq-times-3">
            <a:extLst xmlns:a="http://schemas.openxmlformats.org/drawingml/2006/main">
              <a:ext uri="{FF2B5EF4-FFF2-40B4-BE49-F238E27FC236}">
                <a16:creationId xmlns:a16="http://schemas.microsoft.com/office/drawing/2014/main" id="{A5BF9A79-8C33-448B-9B91-93EEB77D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4" name="eq-equals">
            <a:extLst xmlns:a="http://schemas.openxmlformats.org/drawingml/2006/main">
              <a:ext uri="{FF2B5EF4-FFF2-40B4-BE49-F238E27FC236}">
                <a16:creationId xmlns:a16="http://schemas.microsoft.com/office/drawing/2014/main" id="{C0075093-DFE4-4909-B43F-372A7EF4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2553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75" name="equation-1-value">
            <a:extLst xmlns:a="http://schemas.openxmlformats.org/drawingml/2006/main">
              <a:ext uri="{FF2B5EF4-FFF2-40B4-BE49-F238E27FC236}">
                <a16:creationId xmlns:a16="http://schemas.microsoft.com/office/drawing/2014/main" id="{8D21B626-513D-4667-A72A-227D4B95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0.956</a:t>
            </a:r>
          </a:p>
        </p:txBody>
      </p:sp>
      <p:sp>
        <p:nvSpPr>
          <p:cNvPr id="76" name="equation-1-label">
            <a:extLst xmlns:a="http://schemas.openxmlformats.org/drawingml/2006/main">
              <a:ext uri="{FF2B5EF4-FFF2-40B4-BE49-F238E27FC236}">
                <a16:creationId xmlns:a16="http://schemas.microsoft.com/office/drawing/2014/main" id="{BDD2C313-B0C0-4C18-9295-3FA3FD5E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77" name="equation-2-value">
            <a:extLst xmlns:a="http://schemas.openxmlformats.org/drawingml/2006/main">
              <a:ext uri="{FF2B5EF4-FFF2-40B4-BE49-F238E27FC236}">
                <a16:creationId xmlns:a16="http://schemas.microsoft.com/office/drawing/2014/main" id="{6DF9AC29-F515-4BCE-9470-54575052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0.847</a:t>
            </a:r>
          </a:p>
        </p:txBody>
      </p:sp>
      <p:sp>
        <p:nvSpPr>
          <p:cNvPr id="78" name="equation-2-label">
            <a:extLst xmlns:a="http://schemas.openxmlformats.org/drawingml/2006/main">
              <a:ext uri="{FF2B5EF4-FFF2-40B4-BE49-F238E27FC236}">
                <a16:creationId xmlns:a16="http://schemas.microsoft.com/office/drawing/2014/main" id="{CEEC0579-5D56-41F8-A4EF-A7D6E667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grounding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n = 100</a:t>
            </a:r>
          </a:p>
        </p:txBody>
      </p:sp>
      <p:sp>
        <p:nvSpPr>
          <p:cNvPr id="79" name="equation-3-value">
            <a:extLst xmlns:a="http://schemas.openxmlformats.org/drawingml/2006/main">
              <a:ext uri="{FF2B5EF4-FFF2-40B4-BE49-F238E27FC236}">
                <a16:creationId xmlns:a16="http://schemas.microsoft.com/office/drawing/2014/main" id="{2AB941B3-98A6-4AEC-8016-8853240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80" name="equation-3-label">
            <a:extLst xmlns:a="http://schemas.openxmlformats.org/drawingml/2006/main">
              <a:ext uri="{FF2B5EF4-FFF2-40B4-BE49-F238E27FC236}">
                <a16:creationId xmlns:a16="http://schemas.microsoft.com/office/drawing/2014/main" id="{59C031AF-5FB4-4562-82E2-544E80A1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81" name="equation-4-value">
            <a:extLst xmlns:a="http://schemas.openxmlformats.org/drawingml/2006/main">
              <a:ext uri="{FF2B5EF4-FFF2-40B4-BE49-F238E27FC236}">
                <a16:creationId xmlns:a16="http://schemas.microsoft.com/office/drawing/2014/main" id="{153DA5EF-E0FE-4113-9930-83756265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0.938</a:t>
            </a:r>
          </a:p>
        </p:txBody>
      </p:sp>
      <p:sp>
        <p:nvSpPr>
          <p:cNvPr id="82" name="equation-4-label">
            <a:extLst xmlns:a="http://schemas.openxmlformats.org/drawingml/2006/main">
              <a:ext uri="{FF2B5EF4-FFF2-40B4-BE49-F238E27FC236}">
                <a16:creationId xmlns:a16="http://schemas.microsoft.com/office/drawing/2014/main" id="{7D58FC3A-29B6-426C-8FE2-E8FD514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multiplier</a:t>
            </a:r>
          </a:p>
        </p:txBody>
      </p:sp>
      <p:sp>
        <p:nvSpPr>
          <p:cNvPr id="83" name="equation-5-value">
            <a:extLst xmlns:a="http://schemas.openxmlformats.org/drawingml/2006/main">
              <a:ext uri="{FF2B5EF4-FFF2-40B4-BE49-F238E27FC236}">
                <a16:creationId xmlns:a16="http://schemas.microsoft.com/office/drawing/2014/main" id="{B51AF364-8DD6-45B1-AABE-F625F11B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51585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0.759</a:t>
            </a:r>
          </a:p>
        </p:txBody>
      </p:sp>
      <p:sp>
        <p:nvSpPr>
          <p:cNvPr id="84" name="equation-5-label">
            <a:extLst xmlns:a="http://schemas.openxmlformats.org/drawingml/2006/main">
              <a:ext uri="{FF2B5EF4-FFF2-40B4-BE49-F238E27FC236}">
                <a16:creationId xmlns:a16="http://schemas.microsoft.com/office/drawing/2014/main" id="{605568F0-1E12-44CA-98A3-DECF71F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1254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total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85" name="grounding-warning">
            <a:extLst xmlns:a="http://schemas.openxmlformats.org/drawingml/2006/main">
              <a:ext uri="{FF2B5EF4-FFF2-40B4-BE49-F238E27FC236}">
                <a16:creationId xmlns:a16="http://schemas.microsoft.com/office/drawing/2014/main" id="{7603464C-2C67-4D89-BD06-2241A884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887450"/>
            <a:ext cx="13525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grounding-threshold">
            <a:extLst xmlns:a="http://schemas.openxmlformats.org/drawingml/2006/main">
              <a:ext uri="{FF2B5EF4-FFF2-40B4-BE49-F238E27FC236}">
                <a16:creationId xmlns:a16="http://schemas.microsoft.com/office/drawing/2014/main" id="{382A804C-B0AC-4C36-9C4E-3134130D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49375"/>
            <a:ext cx="1790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H1 target 0.85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missed by 0.003</a:t>
            </a:r>
          </a:p>
        </p:txBody>
      </p:sp>
      <p:sp>
        <p:nvSpPr>
          <p:cNvPr id="87" name="valid-detail">
            <a:extLst xmlns:a="http://schemas.openxmlformats.org/drawingml/2006/main">
              <a:ext uri="{FF2B5EF4-FFF2-40B4-BE49-F238E27FC236}">
                <a16:creationId xmlns:a16="http://schemas.microsoft.com/office/drawing/2014/main" id="{AAD65DC5-1BB6-4ADB-9AA2-12E046E6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0493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100/100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 outputs</a:t>
            </a:r>
          </a:p>
        </p:txBody>
      </p:sp>
      <p:sp>
        <p:nvSpPr>
          <p:cNvPr id="88" name="latency-detail">
            <a:extLst xmlns:a="http://schemas.openxmlformats.org/drawingml/2006/main">
              <a:ext uri="{FF2B5EF4-FFF2-40B4-BE49-F238E27FC236}">
                <a16:creationId xmlns:a16="http://schemas.microsoft.com/office/drawing/2014/main" id="{6C9D827D-FE9F-40F5-B081-4E30BB9A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049375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Mean TTFT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6.39 s</a:t>
            </a:r>
          </a:p>
        </p:txBody>
      </p:sp>
      <p:sp>
        <p:nvSpPr>
          <p:cNvPr id="89" name="answer-detail">
            <a:extLst xmlns:a="http://schemas.openxmlformats.org/drawingml/2006/main">
              <a:ext uri="{FF2B5EF4-FFF2-40B4-BE49-F238E27FC236}">
                <a16:creationId xmlns:a16="http://schemas.microsoft.com/office/drawing/2014/main" id="{2CF8237A-0E1F-4EA8-8B13-02FC2DDC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0"/>
            <a:ext cx="830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0.943 deterministic  |  0.987 free text</a:t>
            </a:r>
          </a:p>
        </p:txBody>
      </p:sp>
      <p:sp>
        <p:nvSpPr>
          <p:cNvPr id="90" name="system-interpretation">
            <a:extLst xmlns:a="http://schemas.openxmlformats.org/drawingml/2006/main">
              <a:ext uri="{FF2B5EF4-FFF2-40B4-BE49-F238E27FC236}">
                <a16:creationId xmlns:a16="http://schemas.microsoft.com/office/drawing/2014/main" id="{EDB8699D-DEA7-4122-923A-D7C91FD0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0"/>
            <a:ext cx="830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quality, validity and latency pass; benchmark grounding misses 0.85.</a:t>
            </a:r>
          </a:p>
        </p:txBody>
      </p:sp>
      <p:sp>
        <p:nvSpPr>
          <p:cNvPr id="91" name="results-attribution-label">
            <a:extLst xmlns:a="http://schemas.openxmlformats.org/drawingml/2006/main">
              <a:ext uri="{FF2B5EF4-FFF2-40B4-BE49-F238E27FC236}">
                <a16:creationId xmlns:a16="http://schemas.microsoft.com/office/drawing/2014/main" id="{808772CC-C9FE-4906-AE1C-396651DB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087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ATTRIBUTION</a:t>
            </a:r>
          </a:p>
        </p:txBody>
      </p:sp>
      <p:sp>
        <p:nvSpPr>
          <p:cNvPr id="92" name="results-attribution-title">
            <a:extLst xmlns:a="http://schemas.openxmlformats.org/drawingml/2006/main">
              <a:ext uri="{FF2B5EF4-FFF2-40B4-BE49-F238E27FC236}">
                <a16:creationId xmlns:a16="http://schemas.microsoft.com/office/drawing/2014/main" id="{9930E195-2324-43F3-B756-438B973C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525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Answer-aware selection removes citation noise</a:t>
            </a:r>
          </a:p>
        </p:txBody>
      </p:sp>
      <p:sp>
        <p:nvSpPr>
          <p:cNvPr id="93" name="attribution-sample">
            <a:extLst xmlns:a="http://schemas.openxmlformats.org/drawingml/2006/main">
              <a:ext uri="{FF2B5EF4-FFF2-40B4-BE49-F238E27FC236}">
                <a16:creationId xmlns:a16="http://schemas.microsoft.com/office/drawing/2014/main" id="{F266753C-9575-4407-A172-602AF850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001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Macro averages  |  n = 95 annotated questions</a:t>
            </a:r>
          </a:p>
        </p:txBody>
      </p:sp>
      <p:sp>
        <p:nvSpPr>
          <p:cNvPr id="94" name="plot-stage-1">
            <a:extLst xmlns:a="http://schemas.openxmlformats.org/drawingml/2006/main">
              <a:ext uri="{FF2B5EF4-FFF2-40B4-BE49-F238E27FC236}">
                <a16:creationId xmlns:a16="http://schemas.microsoft.com/office/drawing/2014/main" id="{2220D74E-675F-414A-BC92-AC94A28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95" name="plot-stage-2">
            <a:extLst xmlns:a="http://schemas.openxmlformats.org/drawingml/2006/main">
              <a:ext uri="{FF2B5EF4-FFF2-40B4-BE49-F238E27FC236}">
                <a16:creationId xmlns:a16="http://schemas.microsoft.com/office/drawing/2014/main" id="{010E0AB1-FE14-4E3D-BE72-B82300FD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96" name="plot-stage-3">
            <a:extLst xmlns:a="http://schemas.openxmlformats.org/drawingml/2006/main">
              <a:ext uri="{FF2B5EF4-FFF2-40B4-BE49-F238E27FC236}">
                <a16:creationId xmlns:a16="http://schemas.microsoft.com/office/drawing/2014/main" id="{A97A67A1-B19A-47B5-90DC-2DFF92F0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97" name="precision-row-label">
            <a:extLst xmlns:a="http://schemas.openxmlformats.org/drawingml/2006/main">
              <a:ext uri="{FF2B5EF4-FFF2-40B4-BE49-F238E27FC236}">
                <a16:creationId xmlns:a16="http://schemas.microsoft.com/office/drawing/2014/main" id="{B7413200-91F7-4F27-A9CB-709CEC10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0397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8" name="precision-line-1">
            <a:extLst xmlns:a="http://schemas.openxmlformats.org/drawingml/2006/main">
              <a:ext uri="{FF2B5EF4-FFF2-40B4-BE49-F238E27FC236}">
                <a16:creationId xmlns:a16="http://schemas.microsoft.com/office/drawing/2014/main" id="{71D86CB0-7012-4DAC-9885-8BC8F3E0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248561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99" name="precision-line-2">
            <a:extLst xmlns:a="http://schemas.openxmlformats.org/drawingml/2006/main">
              <a:ext uri="{FF2B5EF4-FFF2-40B4-BE49-F238E27FC236}">
                <a16:creationId xmlns:a16="http://schemas.microsoft.com/office/drawing/2014/main" id="{5BECD8C7-7F11-4D46-95BF-ED9D5DA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3044130"/>
            <a:ext cx="2952750" cy="204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0" name="precision-dot-1">
            <a:extLst xmlns:a="http://schemas.openxmlformats.org/drawingml/2006/main">
              <a:ext uri="{FF2B5EF4-FFF2-40B4-BE49-F238E27FC236}">
                <a16:creationId xmlns:a16="http://schemas.microsoft.com/office/drawing/2014/main" id="{BACDE53F-890D-4E83-8302-16FD7C1A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13426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1" name="precision-value-1">
            <a:extLst xmlns:a="http://schemas.openxmlformats.org/drawingml/2006/main">
              <a:ext uri="{FF2B5EF4-FFF2-40B4-BE49-F238E27FC236}">
                <a16:creationId xmlns:a16="http://schemas.microsoft.com/office/drawing/2014/main" id="{010EB53B-07AB-44BF-8389-639000A8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284851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2" name="precision-dot-2">
            <a:extLst xmlns:a="http://schemas.openxmlformats.org/drawingml/2006/main">
              <a:ext uri="{FF2B5EF4-FFF2-40B4-BE49-F238E27FC236}">
                <a16:creationId xmlns:a16="http://schemas.microsoft.com/office/drawing/2014/main" id="{66FECE17-10AF-426E-9E8E-636BBBE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13426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precision-value-2">
            <a:extLst xmlns:a="http://schemas.openxmlformats.org/drawingml/2006/main">
              <a:ext uri="{FF2B5EF4-FFF2-40B4-BE49-F238E27FC236}">
                <a16:creationId xmlns:a16="http://schemas.microsoft.com/office/drawing/2014/main" id="{F015656D-D3AA-4705-ABCF-71733283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284851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4" name="precision-dot-3">
            <a:extLst xmlns:a="http://schemas.openxmlformats.org/drawingml/2006/main">
              <a:ext uri="{FF2B5EF4-FFF2-40B4-BE49-F238E27FC236}">
                <a16:creationId xmlns:a16="http://schemas.microsoft.com/office/drawing/2014/main" id="{E09D1EA0-3433-4235-9327-28B3002C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292983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5" name="precision-value-3">
            <a:extLst xmlns:a="http://schemas.openxmlformats.org/drawingml/2006/main">
              <a:ext uri="{FF2B5EF4-FFF2-40B4-BE49-F238E27FC236}">
                <a16:creationId xmlns:a16="http://schemas.microsoft.com/office/drawing/2014/main" id="{967C817D-DB21-4623-8CE5-01A9142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264408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73.9%</a:t>
            </a:r>
          </a:p>
        </p:txBody>
      </p:sp>
      <p:sp>
        <p:nvSpPr>
          <p:cNvPr id="106" name="recall-row-label">
            <a:extLst xmlns:a="http://schemas.openxmlformats.org/drawingml/2006/main">
              <a:ext uri="{FF2B5EF4-FFF2-40B4-BE49-F238E27FC236}">
                <a16:creationId xmlns:a16="http://schemas.microsoft.com/office/drawing/2014/main" id="{9D618D6A-11E1-44EE-A587-4DE1C8AD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7064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7" name="recall-line-1">
            <a:extLst xmlns:a="http://schemas.openxmlformats.org/drawingml/2006/main">
              <a:ext uri="{FF2B5EF4-FFF2-40B4-BE49-F238E27FC236}">
                <a16:creationId xmlns:a16="http://schemas.microsoft.com/office/drawing/2014/main" id="{12A8AA0A-2F2D-4277-9758-CC4FB051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765530"/>
            <a:ext cx="2952750" cy="48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08" name="recall-line-2">
            <a:extLst xmlns:a="http://schemas.openxmlformats.org/drawingml/2006/main">
              <a:ext uri="{FF2B5EF4-FFF2-40B4-BE49-F238E27FC236}">
                <a16:creationId xmlns:a16="http://schemas.microsoft.com/office/drawing/2014/main" id="{4D8F896A-87D1-4001-8DB2-1AE77903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3814108"/>
            <a:ext cx="2952750" cy="809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9" name="recall-dot-1">
            <a:extLst xmlns:a="http://schemas.openxmlformats.org/drawingml/2006/main">
              <a:ext uri="{FF2B5EF4-FFF2-40B4-BE49-F238E27FC236}">
                <a16:creationId xmlns:a16="http://schemas.microsoft.com/office/drawing/2014/main" id="{ADFD5C2D-9201-4DEB-9DB8-A42B13F0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65123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0" name="recall-value-1">
            <a:extLst xmlns:a="http://schemas.openxmlformats.org/drawingml/2006/main">
              <a:ext uri="{FF2B5EF4-FFF2-40B4-BE49-F238E27FC236}">
                <a16:creationId xmlns:a16="http://schemas.microsoft.com/office/drawing/2014/main" id="{0288B755-E6DF-41AC-A543-39F3600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336548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96.8%</a:t>
            </a:r>
          </a:p>
        </p:txBody>
      </p:sp>
      <p:sp>
        <p:nvSpPr>
          <p:cNvPr id="111" name="recall-dot-2">
            <a:extLst xmlns:a="http://schemas.openxmlformats.org/drawingml/2006/main">
              <a:ext uri="{FF2B5EF4-FFF2-40B4-BE49-F238E27FC236}">
                <a16:creationId xmlns:a16="http://schemas.microsoft.com/office/drawing/2014/main" id="{777C03D7-77ED-4016-B645-18B2C66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69980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2" name="recall-value-2">
            <a:extLst xmlns:a="http://schemas.openxmlformats.org/drawingml/2006/main">
              <a:ext uri="{FF2B5EF4-FFF2-40B4-BE49-F238E27FC236}">
                <a16:creationId xmlns:a16="http://schemas.microsoft.com/office/drawing/2014/main" id="{7C58E641-4390-4D27-995F-F24410E2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341405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96.2%</a:t>
            </a:r>
          </a:p>
        </p:txBody>
      </p:sp>
      <p:sp>
        <p:nvSpPr>
          <p:cNvPr id="113" name="recall-dot-3">
            <a:extLst xmlns:a="http://schemas.openxmlformats.org/drawingml/2006/main">
              <a:ext uri="{FF2B5EF4-FFF2-40B4-BE49-F238E27FC236}">
                <a16:creationId xmlns:a16="http://schemas.microsoft.com/office/drawing/2014/main" id="{9DA27BA6-9A70-4A3A-93EE-567A4A1B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378077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4" name="recall-value-3">
            <a:extLst xmlns:a="http://schemas.openxmlformats.org/drawingml/2006/main">
              <a:ext uri="{FF2B5EF4-FFF2-40B4-BE49-F238E27FC236}">
                <a16:creationId xmlns:a16="http://schemas.microsoft.com/office/drawing/2014/main" id="{022B607B-0F6F-4D44-B32E-1028C5AF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349502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95.2%</a:t>
            </a:r>
          </a:p>
        </p:txBody>
      </p:sp>
      <p:sp>
        <p:nvSpPr>
          <p:cNvPr id="115" name="fbeta-row-label">
            <a:extLst xmlns:a="http://schemas.openxmlformats.org/drawingml/2006/main">
              <a:ext uri="{FF2B5EF4-FFF2-40B4-BE49-F238E27FC236}">
                <a16:creationId xmlns:a16="http://schemas.microsoft.com/office/drawing/2014/main" id="{14DB33FC-7694-4E67-BC19-2ECBB2BA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3732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F-beta</a:t>
            </a:r>
          </a:p>
        </p:txBody>
      </p:sp>
      <p:sp>
        <p:nvSpPr>
          <p:cNvPr id="116" name="fbeta-line-1">
            <a:extLst xmlns:a="http://schemas.openxmlformats.org/drawingml/2006/main">
              <a:ext uri="{FF2B5EF4-FFF2-40B4-BE49-F238E27FC236}">
                <a16:creationId xmlns:a16="http://schemas.microsoft.com/office/drawing/2014/main" id="{24653E47-900A-4878-AE62-E8D03DCC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4547941"/>
            <a:ext cx="2952750" cy="37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17" name="fbeta-line-2">
            <a:extLst xmlns:a="http://schemas.openxmlformats.org/drawingml/2006/main">
              <a:ext uri="{FF2B5EF4-FFF2-40B4-BE49-F238E27FC236}">
                <a16:creationId xmlns:a16="http://schemas.microsoft.com/office/drawing/2014/main" id="{D43C41EC-B9DA-4572-8AAF-C685A6EB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4409148"/>
            <a:ext cx="2952750" cy="1758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18" name="fbeta-dot-1">
            <a:extLst xmlns:a="http://schemas.openxmlformats.org/drawingml/2006/main">
              <a:ext uri="{FF2B5EF4-FFF2-40B4-BE49-F238E27FC236}">
                <a16:creationId xmlns:a16="http://schemas.microsoft.com/office/drawing/2014/main" id="{3979C451-E06B-44E9-9EB9-FFB1FA8A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43364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9" name="fbeta-value-1">
            <a:extLst xmlns:a="http://schemas.openxmlformats.org/drawingml/2006/main">
              <a:ext uri="{FF2B5EF4-FFF2-40B4-BE49-F238E27FC236}">
                <a16:creationId xmlns:a16="http://schemas.microsoft.com/office/drawing/2014/main" id="{EA751F6C-C6F3-4930-9E8A-37F8EE99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14789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87.7%</a:t>
            </a:r>
          </a:p>
        </p:txBody>
      </p:sp>
      <p:sp>
        <p:nvSpPr>
          <p:cNvPr id="120" name="fbeta-dot-2">
            <a:extLst xmlns:a="http://schemas.openxmlformats.org/drawingml/2006/main">
              <a:ext uri="{FF2B5EF4-FFF2-40B4-BE49-F238E27FC236}">
                <a16:creationId xmlns:a16="http://schemas.microsoft.com/office/drawing/2014/main" id="{25CC63BE-4B2D-4DE4-9A13-D3FFEBCE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47065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1" name="fbeta-value-2">
            <a:extLst xmlns:a="http://schemas.openxmlformats.org/drawingml/2006/main">
              <a:ext uri="{FF2B5EF4-FFF2-40B4-BE49-F238E27FC236}">
                <a16:creationId xmlns:a16="http://schemas.microsoft.com/office/drawing/2014/main" id="{922BC27D-7241-40E7-8D0E-9F9964BB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184902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87.3%</a:t>
            </a:r>
          </a:p>
        </p:txBody>
      </p:sp>
      <p:sp>
        <p:nvSpPr>
          <p:cNvPr id="122" name="fbeta-dot-3">
            <a:extLst xmlns:a="http://schemas.openxmlformats.org/drawingml/2006/main">
              <a:ext uri="{FF2B5EF4-FFF2-40B4-BE49-F238E27FC236}">
                <a16:creationId xmlns:a16="http://schemas.microsoft.com/office/drawing/2014/main" id="{575E225C-9F85-49D6-9BDC-5913E33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429484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3" name="fbeta-value-3">
            <a:extLst xmlns:a="http://schemas.openxmlformats.org/drawingml/2006/main">
              <a:ext uri="{FF2B5EF4-FFF2-40B4-BE49-F238E27FC236}">
                <a16:creationId xmlns:a16="http://schemas.microsoft.com/office/drawing/2014/main" id="{1E39E5A7-8520-4E08-827A-DE2CF23C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00909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89.2%</a:t>
            </a:r>
          </a:p>
        </p:txBody>
      </p:sp>
      <p:sp>
        <p:nvSpPr>
          <p:cNvPr id="124" name="pages-row-label">
            <a:extLst xmlns:a="http://schemas.openxmlformats.org/drawingml/2006/main">
              <a:ext uri="{FF2B5EF4-FFF2-40B4-BE49-F238E27FC236}">
                <a16:creationId xmlns:a16="http://schemas.microsoft.com/office/drawing/2014/main" id="{A09C060D-A19E-45D4-BDB5-8B619959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399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Pages / Q</a:t>
            </a:r>
          </a:p>
        </p:txBody>
      </p:sp>
      <p:sp>
        <p:nvSpPr>
          <p:cNvPr id="125" name="pages-line-1">
            <a:extLst xmlns:a="http://schemas.openxmlformats.org/drawingml/2006/main">
              <a:ext uri="{FF2B5EF4-FFF2-40B4-BE49-F238E27FC236}">
                <a16:creationId xmlns:a16="http://schemas.microsoft.com/office/drawing/2014/main" id="{E51BD78D-F55B-46A3-9875-4D5E2A8B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5060168"/>
            <a:ext cx="2952750" cy="129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26" name="pages-line-2">
            <a:extLst xmlns:a="http://schemas.openxmlformats.org/drawingml/2006/main">
              <a:ext uri="{FF2B5EF4-FFF2-40B4-BE49-F238E27FC236}">
                <a16:creationId xmlns:a16="http://schemas.microsoft.com/office/drawing/2014/main" id="{189068E4-378F-4D33-9D85-0731E523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5073122"/>
            <a:ext cx="2952750" cy="2007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27" name="pages-dot-1">
            <a:extLst xmlns:a="http://schemas.openxmlformats.org/drawingml/2006/main">
              <a:ext uri="{FF2B5EF4-FFF2-40B4-BE49-F238E27FC236}">
                <a16:creationId xmlns:a16="http://schemas.microsoft.com/office/drawing/2014/main" id="{594754A6-619D-4528-96F1-96090AFE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94586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8" name="pages-value-1">
            <a:extLst xmlns:a="http://schemas.openxmlformats.org/drawingml/2006/main">
              <a:ext uri="{FF2B5EF4-FFF2-40B4-BE49-F238E27FC236}">
                <a16:creationId xmlns:a16="http://schemas.microsoft.com/office/drawing/2014/main" id="{68D41D10-C2AE-46AE-AABB-984687AE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66011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2.56</a:t>
            </a:r>
          </a:p>
        </p:txBody>
      </p:sp>
      <p:sp>
        <p:nvSpPr>
          <p:cNvPr id="129" name="pages-dot-2">
            <a:extLst xmlns:a="http://schemas.openxmlformats.org/drawingml/2006/main">
              <a:ext uri="{FF2B5EF4-FFF2-40B4-BE49-F238E27FC236}">
                <a16:creationId xmlns:a16="http://schemas.microsoft.com/office/drawing/2014/main" id="{39E3D120-EC1A-48FF-8475-C3E8B3CB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95882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0" name="pages-value-2">
            <a:extLst xmlns:a="http://schemas.openxmlformats.org/drawingml/2006/main">
              <a:ext uri="{FF2B5EF4-FFF2-40B4-BE49-F238E27FC236}">
                <a16:creationId xmlns:a16="http://schemas.microsoft.com/office/drawing/2014/main" id="{638D30AC-94F0-41FA-B7FB-551839E9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673072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2.54</a:t>
            </a:r>
          </a:p>
        </p:txBody>
      </p:sp>
      <p:sp>
        <p:nvSpPr>
          <p:cNvPr id="131" name="pages-dot-3">
            <a:extLst xmlns:a="http://schemas.openxmlformats.org/drawingml/2006/main">
              <a:ext uri="{FF2B5EF4-FFF2-40B4-BE49-F238E27FC236}">
                <a16:creationId xmlns:a16="http://schemas.microsoft.com/office/drawing/2014/main" id="{70920D12-A277-46DB-9019-3986456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5159609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2" name="pages-value-3">
            <a:extLst xmlns:a="http://schemas.openxmlformats.org/drawingml/2006/main">
              <a:ext uri="{FF2B5EF4-FFF2-40B4-BE49-F238E27FC236}">
                <a16:creationId xmlns:a16="http://schemas.microsoft.com/office/drawing/2014/main" id="{A9FC8080-4733-4709-8797-D83B9F34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873859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133" name="attribution-callout-rule">
            <a:extLst xmlns:a="http://schemas.openxmlformats.org/drawingml/2006/main">
              <a:ext uri="{FF2B5EF4-FFF2-40B4-BE49-F238E27FC236}">
                <a16:creationId xmlns:a16="http://schemas.microsoft.com/office/drawing/2014/main" id="{65048977-20B9-4429-A059-AE941020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400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allout-accent-1">
            <a:extLst xmlns:a="http://schemas.openxmlformats.org/drawingml/2006/main">
              <a:ext uri="{FF2B5EF4-FFF2-40B4-BE49-F238E27FC236}">
                <a16:creationId xmlns:a16="http://schemas.microsoft.com/office/drawing/2014/main" id="{EA16F578-6C8F-4B03-A5E5-76C2D78A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allout-value-1">
            <a:extLst xmlns:a="http://schemas.openxmlformats.org/drawingml/2006/main">
              <a:ext uri="{FF2B5EF4-FFF2-40B4-BE49-F238E27FC236}">
                <a16:creationId xmlns:a16="http://schemas.microsoft.com/office/drawing/2014/main" id="{33A3620F-9002-4FC6-9B9B-74F01044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+10.2 pp</a:t>
            </a:r>
          </a:p>
        </p:txBody>
      </p:sp>
      <p:sp>
        <p:nvSpPr>
          <p:cNvPr id="136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4FE34678-CA20-4CB1-999D-E2328CFB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precision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+6.3 to +14.4</a:t>
            </a:r>
          </a:p>
        </p:txBody>
      </p:sp>
      <p:sp>
        <p:nvSpPr>
          <p:cNvPr id="137" name="callout-accent-2">
            <a:extLst xmlns:a="http://schemas.openxmlformats.org/drawingml/2006/main">
              <a:ext uri="{FF2B5EF4-FFF2-40B4-BE49-F238E27FC236}">
                <a16:creationId xmlns:a16="http://schemas.microsoft.com/office/drawing/2014/main" id="{0D62B4F4-6F0D-4B28-B9FE-074C4DEF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2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callout-value-2">
            <a:extLst xmlns:a="http://schemas.openxmlformats.org/drawingml/2006/main">
              <a:ext uri="{FF2B5EF4-FFF2-40B4-BE49-F238E27FC236}">
                <a16:creationId xmlns:a16="http://schemas.microsoft.com/office/drawing/2014/main" id="{10F4A421-3511-40C1-A821-90FDA83F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-0.33</a:t>
            </a:r>
          </a:p>
        </p:txBody>
      </p:sp>
      <p:sp>
        <p:nvSpPr>
          <p:cNvPr id="139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369A01EC-5FBA-4757-8014-239D7A1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pages / question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-0.46 to -0.20</a:t>
            </a:r>
          </a:p>
        </p:txBody>
      </p:sp>
      <p:sp>
        <p:nvSpPr>
          <p:cNvPr id="140" name="callout-accent-3">
            <a:extLst xmlns:a="http://schemas.openxmlformats.org/drawingml/2006/main">
              <a:ext uri="{FF2B5EF4-FFF2-40B4-BE49-F238E27FC236}">
                <a16:creationId xmlns:a16="http://schemas.microsoft.com/office/drawing/2014/main" id="{E24B2600-89D4-4BC6-85F5-F9D583E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57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allout-value-3">
            <a:extLst xmlns:a="http://schemas.openxmlformats.org/drawingml/2006/main">
              <a:ext uri="{FF2B5EF4-FFF2-40B4-BE49-F238E27FC236}">
                <a16:creationId xmlns:a16="http://schemas.microsoft.com/office/drawing/2014/main" id="{39A3D682-49B0-4BF8-A193-5324E021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95/95</a:t>
            </a:r>
          </a:p>
        </p:txBody>
      </p:sp>
      <p:sp>
        <p:nvSpPr>
          <p:cNvPr id="142" name="callout-label-3">
            <a:extLst xmlns:a="http://schemas.openxmlformats.org/drawingml/2006/main">
              <a:ext uri="{FF2B5EF4-FFF2-40B4-BE49-F238E27FC236}">
                <a16:creationId xmlns:a16="http://schemas.microsoft.com/office/drawing/2014/main" id="{B10CE9CB-3444-4FAD-9049-6447EBA3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hit coverage retained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F-beta gain uncertain</a:t>
            </a:r>
          </a:p>
        </p:txBody>
      </p:sp>
      <p:sp>
        <p:nvSpPr>
          <p:cNvPr id="143" name="results-boundary-label">
            <a:extLst xmlns:a="http://schemas.openxmlformats.org/drawingml/2006/main">
              <a:ext uri="{FF2B5EF4-FFF2-40B4-BE49-F238E27FC236}">
                <a16:creationId xmlns:a16="http://schemas.microsoft.com/office/drawing/2014/main" id="{F4974AF8-96E6-41F4-AC06-3C70D430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087100"/>
            <a:ext cx="865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RESULTS  |  BOUNDARY</a:t>
            </a:r>
          </a:p>
        </p:txBody>
      </p:sp>
      <p:sp>
        <p:nvSpPr>
          <p:cNvPr id="144" name="results-boundary-title">
            <a:extLst xmlns:a="http://schemas.openxmlformats.org/drawingml/2006/main">
              <a:ext uri="{FF2B5EF4-FFF2-40B4-BE49-F238E27FC236}">
                <a16:creationId xmlns:a16="http://schemas.microsoft.com/office/drawing/2014/main" id="{EC216CF2-2FB5-4397-83F8-04600C49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525250"/>
            <a:ext cx="865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Narrowing helps local - and hurts distributed evidence</a:t>
            </a:r>
          </a:p>
        </p:txBody>
      </p:sp>
      <p:sp>
        <p:nvSpPr>
          <p:cNvPr id="145" name="boundary-subtitle">
            <a:extLst xmlns:a="http://schemas.openxmlformats.org/drawingml/2006/main">
              <a:ext uri="{FF2B5EF4-FFF2-40B4-BE49-F238E27FC236}">
                <a16:creationId xmlns:a16="http://schemas.microsoft.com/office/drawing/2014/main" id="{FC61373C-13BB-4A52-A567-F6396E78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334875"/>
            <a:ext cx="865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Exploratory F-beta change, raw -&gt; final</a:t>
            </a:r>
          </a:p>
        </p:txBody>
      </p:sp>
      <p:sp>
        <p:nvSpPr>
          <p:cNvPr id="146" name="boundary-zero-line">
            <a:extLst xmlns:a="http://schemas.openxmlformats.org/drawingml/2006/main">
              <a:ext uri="{FF2B5EF4-FFF2-40B4-BE49-F238E27FC236}">
                <a16:creationId xmlns:a16="http://schemas.microsoft.com/office/drawing/2014/main" id="{9E8AD3B7-CFAD-4983-82BC-B2E5D823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715875"/>
            <a:ext cx="285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single-page-label">
            <a:extLst xmlns:a="http://schemas.openxmlformats.org/drawingml/2006/main">
              <a:ext uri="{FF2B5EF4-FFF2-40B4-BE49-F238E27FC236}">
                <a16:creationId xmlns:a16="http://schemas.microsoft.com/office/drawing/2014/main" id="{CC434631-3CB6-49C5-9CFD-E7C1C412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8016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59</a:t>
            </a:r>
          </a:p>
        </p:txBody>
      </p:sp>
      <p:sp>
        <p:nvSpPr>
          <p:cNvPr id="148" name="single-page-bar">
            <a:extLst xmlns:a="http://schemas.openxmlformats.org/drawingml/2006/main">
              <a:ext uri="{FF2B5EF4-FFF2-40B4-BE49-F238E27FC236}">
                <a16:creationId xmlns:a16="http://schemas.microsoft.com/office/drawing/2014/main" id="{BE3817E3-DF0A-45CB-AE29-58EFD406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906375"/>
            <a:ext cx="27432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single-page-value">
            <a:extLst xmlns:a="http://schemas.openxmlformats.org/drawingml/2006/main">
              <a:ext uri="{FF2B5EF4-FFF2-40B4-BE49-F238E27FC236}">
                <a16:creationId xmlns:a16="http://schemas.microsoft.com/office/drawing/2014/main" id="{8EE2F963-C176-4DB0-A37B-0FB2D8CF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2575" y="12858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+4.0 pp</a:t>
            </a:r>
          </a:p>
        </p:txBody>
      </p:sp>
      <p:sp>
        <p:nvSpPr>
          <p:cNvPr id="150" name="multi-page-label">
            <a:extLst xmlns:a="http://schemas.openxmlformats.org/drawingml/2006/main">
              <a:ext uri="{FF2B5EF4-FFF2-40B4-BE49-F238E27FC236}">
                <a16:creationId xmlns:a16="http://schemas.microsoft.com/office/drawing/2014/main" id="{014C4562-C1D4-478C-8F8D-3961852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34874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36</a:t>
            </a:r>
          </a:p>
        </p:txBody>
      </p:sp>
      <p:sp>
        <p:nvSpPr>
          <p:cNvPr id="151" name="multi-page-bar">
            <a:extLst xmlns:a="http://schemas.openxmlformats.org/drawingml/2006/main">
              <a:ext uri="{FF2B5EF4-FFF2-40B4-BE49-F238E27FC236}">
                <a16:creationId xmlns:a16="http://schemas.microsoft.com/office/drawing/2014/main" id="{846E13D8-1C6F-428B-8555-C8194345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945" y="13592175"/>
            <a:ext cx="178308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multi-page-value">
            <a:extLst xmlns:a="http://schemas.openxmlformats.org/drawingml/2006/main">
              <a:ext uri="{FF2B5EF4-FFF2-40B4-BE49-F238E27FC236}">
                <a16:creationId xmlns:a16="http://schemas.microsoft.com/office/drawing/2014/main" id="{023BBE75-BC3E-4E7D-B32E-D7AAAA7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1395" y="135445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-2.6 pp</a:t>
            </a:r>
          </a:p>
        </p:txBody>
      </p:sp>
      <p:sp>
        <p:nvSpPr>
          <p:cNvPr id="153" name="single-doc-label">
            <a:extLst xmlns:a="http://schemas.openxmlformats.org/drawingml/2006/main">
              <a:ext uri="{FF2B5EF4-FFF2-40B4-BE49-F238E27FC236}">
                <a16:creationId xmlns:a16="http://schemas.microsoft.com/office/drawing/2014/main" id="{F3BB04C1-64B4-47DF-A67F-E051305F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1732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60</a:t>
            </a:r>
          </a:p>
        </p:txBody>
      </p:sp>
      <p:sp>
        <p:nvSpPr>
          <p:cNvPr id="154" name="single-doc-bar">
            <a:extLst xmlns:a="http://schemas.openxmlformats.org/drawingml/2006/main">
              <a:ext uri="{FF2B5EF4-FFF2-40B4-BE49-F238E27FC236}">
                <a16:creationId xmlns:a16="http://schemas.microsoft.com/office/drawing/2014/main" id="{165FEF42-7A8B-4BFD-A924-A8C6BDEF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4277975"/>
            <a:ext cx="219456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ingle-doc-value">
            <a:extLst xmlns:a="http://schemas.openxmlformats.org/drawingml/2006/main">
              <a:ext uri="{FF2B5EF4-FFF2-40B4-BE49-F238E27FC236}">
                <a16:creationId xmlns:a16="http://schemas.microsoft.com/office/drawing/2014/main" id="{8332F61F-5D65-4A87-B5F1-2BC2F841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935" y="14230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+3.2 pp</a:t>
            </a:r>
          </a:p>
        </p:txBody>
      </p:sp>
      <p:sp>
        <p:nvSpPr>
          <p:cNvPr id="156" name="multi-doc-label">
            <a:extLst xmlns:a="http://schemas.openxmlformats.org/drawingml/2006/main">
              <a:ext uri="{FF2B5EF4-FFF2-40B4-BE49-F238E27FC236}">
                <a16:creationId xmlns:a16="http://schemas.microsoft.com/office/drawing/2014/main" id="{6D1940E3-6EA1-4862-BFA5-D0766784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8590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35</a:t>
            </a:r>
          </a:p>
        </p:txBody>
      </p:sp>
      <p:sp>
        <p:nvSpPr>
          <p:cNvPr id="157" name="multi-doc-bar">
            <a:extLst xmlns:a="http://schemas.openxmlformats.org/drawingml/2006/main">
              <a:ext uri="{FF2B5EF4-FFF2-40B4-BE49-F238E27FC236}">
                <a16:creationId xmlns:a16="http://schemas.microsoft.com/office/drawing/2014/main" id="{4E35BE08-8664-452A-B8A0-057AC721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5905" y="14963775"/>
            <a:ext cx="96012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multi-doc-value">
            <a:extLst xmlns:a="http://schemas.openxmlformats.org/drawingml/2006/main">
              <a:ext uri="{FF2B5EF4-FFF2-40B4-BE49-F238E27FC236}">
                <a16:creationId xmlns:a16="http://schemas.microsoft.com/office/drawing/2014/main" id="{40BFF30A-CC6E-473D-B7DD-32397540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4355" y="14916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-1.4 pp</a:t>
            </a:r>
          </a:p>
        </p:txBody>
      </p:sp>
      <p:sp>
        <p:nvSpPr>
          <p:cNvPr id="159" name="boundary-axis-left">
            <a:extLst xmlns:a="http://schemas.openxmlformats.org/drawingml/2006/main">
              <a:ext uri="{FF2B5EF4-FFF2-40B4-BE49-F238E27FC236}">
                <a16:creationId xmlns:a16="http://schemas.microsoft.com/office/drawing/2014/main" id="{87B7D4FC-AA09-4C0F-A2C1-DD9F1DA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7650" y="15763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-3 pp</a:t>
            </a:r>
          </a:p>
        </p:txBody>
      </p:sp>
      <p:sp>
        <p:nvSpPr>
          <p:cNvPr id="160" name="boundary-axis-zero">
            <a:extLst xmlns:a="http://schemas.openxmlformats.org/drawingml/2006/main">
              <a:ext uri="{FF2B5EF4-FFF2-40B4-BE49-F238E27FC236}">
                <a16:creationId xmlns:a16="http://schemas.microsoft.com/office/drawing/2014/main" id="{1CD350E7-FE01-4C07-B1DF-B97ABA3C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0275" y="157638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1" name="boundary-axis-right">
            <a:extLst xmlns:a="http://schemas.openxmlformats.org/drawingml/2006/main">
              <a:ext uri="{FF2B5EF4-FFF2-40B4-BE49-F238E27FC236}">
                <a16:creationId xmlns:a16="http://schemas.microsoft.com/office/drawing/2014/main" id="{81471953-0A41-40B0-8D30-EF12B2AA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0" y="157638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+5 pp</a:t>
            </a:r>
          </a:p>
        </p:txBody>
      </p:sp>
      <p:sp>
        <p:nvSpPr>
          <p:cNvPr id="162" name="boundary-conclusion">
            <a:extLst xmlns:a="http://schemas.openxmlformats.org/drawingml/2006/main">
              <a:ext uri="{FF2B5EF4-FFF2-40B4-BE49-F238E27FC236}">
                <a16:creationId xmlns:a16="http://schemas.microsoft.com/office/drawing/2014/main" id="{21A56606-60F7-49C0-A2DD-239D04F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6211550"/>
            <a:ext cx="865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Multi-page: -2.6 pp - the clearest failure boundary.</a:t>
            </a:r>
          </a:p>
        </p:txBody>
      </p:sp>
      <p:sp>
        <p:nvSpPr>
          <p:cNvPr id="163" name="metric-distinction-bg">
            <a:extLst xmlns:a="http://schemas.openxmlformats.org/drawingml/2006/main">
              <a:ext uri="{FF2B5EF4-FFF2-40B4-BE49-F238E27FC236}">
                <a16:creationId xmlns:a16="http://schemas.microsoft.com/office/drawing/2014/main" id="{2F9098B3-E881-4596-BCC9-4D34F572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44950"/>
            <a:ext cx="2852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metric-distinction">
            <a:extLst xmlns:a="http://schemas.openxmlformats.org/drawingml/2006/main">
              <a:ext uri="{FF2B5EF4-FFF2-40B4-BE49-F238E27FC236}">
                <a16:creationId xmlns:a16="http://schemas.microsoft.com/office/drawing/2014/main" id="{94AF4D4B-A1A9-48E5-83F2-B28CEF4F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821150"/>
            <a:ext cx="2795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Do not conflate: benchmark grounding 0.847 = all 100 answers; macro page F-beta 0.892 = final attribution on 95 annotated questions.</a:t>
            </a:r>
          </a:p>
        </p:txBody>
      </p:sp>
      <p:sp>
        <p:nvSpPr>
          <p:cNvPr id="165" name="decision-strip">
            <a:extLst xmlns:a="http://schemas.openxmlformats.org/drawingml/2006/main">
              <a:ext uri="{FF2B5EF4-FFF2-40B4-BE49-F238E27FC236}">
                <a16:creationId xmlns:a16="http://schemas.microsoft.com/office/drawing/2014/main" id="{2B35DD3D-80D1-477F-B2C1-F2C9F4CA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83125"/>
            <a:ext cx="285234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8CD168D2-E034-47F2-9E63-89E93B43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022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6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9BBA6B38-5187-46EE-90DB-22415BE4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573625"/>
            <a:ext cx="2509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 broadly. Attribute explicitly. Narrow conservatively when evidence spans pages or documents.</a:t>
            </a:r>
          </a:p>
        </p:txBody>
      </p:sp>
      <p:sp>
        <p:nvSpPr>
          <p:cNvPr id="168" name="limitations-label">
            <a:extLst xmlns:a="http://schemas.openxmlformats.org/drawingml/2006/main">
              <a:ext uri="{FF2B5EF4-FFF2-40B4-BE49-F238E27FC236}">
                <a16:creationId xmlns:a16="http://schemas.microsoft.com/office/drawing/2014/main" id="{60EDA482-5DB8-4260-89AA-0A14B502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69" name="limitation-rule-1">
            <a:extLst xmlns:a="http://schemas.openxmlformats.org/drawingml/2006/main">
              <a:ext uri="{FF2B5EF4-FFF2-40B4-BE49-F238E27FC236}">
                <a16:creationId xmlns:a16="http://schemas.microsoft.com/office/drawing/2014/main" id="{3E1AF5A1-CD03-4EFB-AB6B-965013A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limitation-head-1">
            <a:extLst xmlns:a="http://schemas.openxmlformats.org/drawingml/2006/main">
              <a:ext uri="{FF2B5EF4-FFF2-40B4-BE49-F238E27FC236}">
                <a16:creationId xmlns:a16="http://schemas.microsoft.com/office/drawing/2014/main" id="{FD861864-DFFA-4D0B-A332-11AFC76A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ONE SAVED RUN</a:t>
            </a:r>
          </a:p>
        </p:txBody>
      </p:sp>
      <p:sp>
        <p:nvSpPr>
          <p:cNvPr id="171" name="limitation-body-1">
            <a:extLst xmlns:a="http://schemas.openxmlformats.org/drawingml/2006/main">
              <a:ext uri="{FF2B5EF4-FFF2-40B4-BE49-F238E27FC236}">
                <a16:creationId xmlns:a16="http://schemas.microsoft.com/office/drawing/2014/main" id="{396D20CB-8C12-40F9-9219-F55FC495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Retrospective thresholds and questions; no repeated seeds.</a:t>
            </a:r>
          </a:p>
        </p:txBody>
      </p:sp>
      <p:sp>
        <p:nvSpPr>
          <p:cNvPr id="172" name="limitation-rule-2">
            <a:extLst xmlns:a="http://schemas.openxmlformats.org/drawingml/2006/main">
              <a:ext uri="{FF2B5EF4-FFF2-40B4-BE49-F238E27FC236}">
                <a16:creationId xmlns:a16="http://schemas.microsoft.com/office/drawing/2014/main" id="{9E391A07-49C8-466B-80AA-7790F057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limitation-head-2">
            <a:extLst xmlns:a="http://schemas.openxmlformats.org/drawingml/2006/main">
              <a:ext uri="{FF2B5EF4-FFF2-40B4-BE49-F238E27FC236}">
                <a16:creationId xmlns:a16="http://schemas.microsoft.com/office/drawing/2014/main" id="{2B8603DE-98D8-4BCE-B85D-C13F7910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 CAUSAL ABLATION</a:t>
            </a:r>
          </a:p>
        </p:txBody>
      </p:sp>
      <p:sp>
        <p:nvSpPr>
          <p:cNvPr id="174" name="limitation-body-2">
            <a:extLst xmlns:a="http://schemas.openxmlformats.org/drawingml/2006/main">
              <a:ext uri="{FF2B5EF4-FFF2-40B4-BE49-F238E27FC236}">
                <a16:creationId xmlns:a16="http://schemas.microsoft.com/office/drawing/2014/main" id="{891D1FF1-A425-4CF3-9EAA-A12F13E2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Pipeline stages were not independently compared against a baseline.</a:t>
            </a:r>
          </a:p>
        </p:txBody>
      </p:sp>
      <p:sp>
        <p:nvSpPr>
          <p:cNvPr id="175" name="limitation-rule-3">
            <a:extLst xmlns:a="http://schemas.openxmlformats.org/drawingml/2006/main">
              <a:ext uri="{FF2B5EF4-FFF2-40B4-BE49-F238E27FC236}">
                <a16:creationId xmlns:a16="http://schemas.microsoft.com/office/drawing/2014/main" id="{00E76170-6E99-408F-BC02-A93DF8E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limitation-head-3">
            <a:extLst xmlns:a="http://schemas.openxmlformats.org/drawingml/2006/main">
              <a:ext uri="{FF2B5EF4-FFF2-40B4-BE49-F238E27FC236}">
                <a16:creationId xmlns:a16="http://schemas.microsoft.com/office/drawing/2014/main" id="{3C2F03A0-6A53-4EFA-BBE1-A21300B5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LIMITED GENERALITY</a:t>
            </a:r>
          </a:p>
        </p:txBody>
      </p:sp>
      <p:sp>
        <p:nvSpPr>
          <p:cNvPr id="177" name="limitation-body-3">
            <a:extLst xmlns:a="http://schemas.openxmlformats.org/drawingml/2006/main">
              <a:ext uri="{FF2B5EF4-FFF2-40B4-BE49-F238E27FC236}">
                <a16:creationId xmlns:a16="http://schemas.microsoft.com/office/drawing/2014/main" id="{96ECDFD6-CB45-4DE4-A3B0-3D782D15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TTFT only; OCR not exercised; one DIFC corpus and one language setting.</a:t>
            </a:r>
          </a:p>
        </p:txBody>
      </p:sp>
      <p:sp>
        <p:nvSpPr>
          <p:cNvPr id="178" name="references-rule">
            <a:extLst xmlns:a="http://schemas.openxmlformats.org/drawingml/2006/main">
              <a:ext uri="{FF2B5EF4-FFF2-40B4-BE49-F238E27FC236}">
                <a16:creationId xmlns:a16="http://schemas.microsoft.com/office/drawing/2014/main" id="{710B93E1-FB74-484B-9374-B5EB496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4540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references-line-1">
            <a:extLst xmlns:a="http://schemas.openxmlformats.org/drawingml/2006/main">
              <a:ext uri="{FF2B5EF4-FFF2-40B4-BE49-F238E27FC236}">
                <a16:creationId xmlns:a16="http://schemas.microsoft.com/office/drawing/2014/main" id="{A4D5F510-D6FE-4E0A-8DB1-62066E04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69225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[1] Lewis et al., NeurIPS 2020   [2] Karpukhin et al., EMNLP 2020   [3] Cormack et al., SIGIR 2009   [4] Gao et al., EMNLP 2023</a:t>
            </a:r>
          </a:p>
        </p:txBody>
      </p:sp>
      <p:sp>
        <p:nvSpPr>
          <p:cNvPr id="180" name="references-line-2">
            <a:extLst xmlns:a="http://schemas.openxmlformats.org/drawingml/2006/main">
              <a:ext uri="{FF2B5EF4-FFF2-40B4-BE49-F238E27FC236}">
                <a16:creationId xmlns:a16="http://schemas.microsoft.com/office/drawing/2014/main" id="{15B8AB57-CF21-4767-B873-389438A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21650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[5] Pipitone &amp; Alami, LegalBench-RAG 2024   [6] Zhang et al., Qwen3 Embedding 2025   |   Full references in appendix.</a:t>
            </a:r>
          </a:p>
        </p:txBody>
      </p:sp>
    </p:spTree>
    <p:extLst>
      <p:ext uri="{BB962C8B-B14F-4D97-AF65-F5344CB8AC3E}">
        <p14:creationId xmlns:p14="http://schemas.microsoft.com/office/powerpoint/2010/main" val="730344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2026-09-03T23:26:08.8720000Z</dcterms:created>
  <dcterms:modified xsi:type="dcterms:W3CDTF">2026-09-03T23:26:08.8720000Z</dcterms:modified>
</coreProperties>
</file>