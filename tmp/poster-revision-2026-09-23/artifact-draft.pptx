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86bb39667e45ba" /><Relationship Type="http://schemas.openxmlformats.org/officeDocument/2006/relationships/extended-properties" Target="/docProps/app.xml" Id="R2680bd0da831414e" /><Relationship Type="http://schemas.openxmlformats.org/officeDocument/2006/relationships/officeDocument" Target="/ppt/presentation.xml" Id="R4d345bbf1e6a49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b6960b089a47ee"/>
  </p:sldMasterIdLst>
  <p:notesMasterIdLst>
    <p:notesMasterId xmlns:r="http://schemas.openxmlformats.org/officeDocument/2006/relationships" r:id="R88088d9bff8f4335"/>
  </p:notesMasterIdLst>
  <p:sldIdLst>
    <p:sldId xmlns:r="http://schemas.openxmlformats.org/officeDocument/2006/relationships" id="256" r:id="Rf650a51235644f5f"/>
  </p:sldIdLst>
  <p:sldSz cx="21384000" cy="3027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02ddfac4fd483d" /><Relationship Type="http://schemas.openxmlformats.org/officeDocument/2006/relationships/slideMaster" Target="/ppt/slideMasters/slideMaster1.xml" Id="Rbeb6960b089a47ee" /><Relationship Type="http://schemas.openxmlformats.org/officeDocument/2006/relationships/notesMaster" Target="/ppt/notesMasters/notesMaster1.xml" Id="R88088d9bff8f4335" /><Relationship Type="http://schemas.openxmlformats.org/officeDocument/2006/relationships/presProps" Target="/ppt/presProps.xml" Id="R4d7cc079234d4c6b" /><Relationship Type="http://schemas.openxmlformats.org/officeDocument/2006/relationships/tableStyles" Target="/ppt/tableStyles.xml" Id="Rd1247c0af6de4fd3" /><Relationship Type="http://schemas.openxmlformats.org/officeDocument/2006/relationships/slide" Target="/ppt/slides/slide1.xml" Id="Rf650a51235644f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9cd8c29e5f4e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11c10c2c404934" /><Relationship Type="http://schemas.openxmlformats.org/officeDocument/2006/relationships/notesMaster" Target="/ppt/notesMasters/notesMaster1.xml" Id="R38ceb8024d5e4c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Revised from the joint feedback dated 2026-09-23. H1 = retrieval (former H2-H4), H2 = OCR (former H1), H3 = citations (former H6). R5 is reported separately. Source measurements and protocol: https://github.com/SteinVR/Trends-in-NLP-Poster/tree/main/output/poster-narrative-3/results . Research hypothesis IDs in the original paper differ. Figures are preserved source SVGs; the surrounding text and pipeline stages are editable. Logo: https://www.uni-trier.de/typo3conf/ext/zimktheme_unitrier/Resources/Public/Logos/Logo_Universitaet.svg . References: https://arxiv.org/abs/2005.11401 ; https://arxiv.org/abs/2408.10343 ; https://doi.org/10.18653/v1/2023.emnlp-main.398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f6e47622fd4c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cb1737da5a4a58" /><Relationship Type="http://schemas.openxmlformats.org/officeDocument/2006/relationships/slideLayout" Target="/ppt/slideLayouts/slideLayout1.xml" Id="R0485fd55f09046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85fd55f09046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b03ae78014ebd" /><Relationship Type="http://schemas.openxmlformats.org/officeDocument/2006/relationships/image" Target="/ppt/media/image.png" Id="R0534adecd1b242f3" /><Relationship Type="http://schemas.openxmlformats.org/officeDocument/2006/relationships/image" Target="/ppt/media/image.svg" Id="R92f092a850a34458" /><Relationship Type="http://schemas.openxmlformats.org/officeDocument/2006/relationships/image" Target="/ppt/media/image2.png" Id="Rac9eb81ca1a94d58" /><Relationship Type="http://schemas.openxmlformats.org/officeDocument/2006/relationships/image" Target="/ppt/media/image2.svg" Id="R67031e065bd24060" /><Relationship Type="http://schemas.openxmlformats.org/officeDocument/2006/relationships/image" Target="/ppt/media/image3.png" Id="R983723fbe8ad41ef" /><Relationship Type="http://schemas.openxmlformats.org/officeDocument/2006/relationships/image" Target="/ppt/media/image3.svg" Id="R0dc66ca7424d4289" /><Relationship Type="http://schemas.openxmlformats.org/officeDocument/2006/relationships/notesSlide" Target="/ppt/notesSlides/notesSlide1.xml" Id="R54e1b3de95474d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s0">
            <a:extLst xmlns:a="http://schemas.openxmlformats.org/drawingml/2006/main">
              <a:ext uri="{FF2B5EF4-FFF2-40B4-BE49-F238E27FC236}">
                <a16:creationId xmlns:a16="http://schemas.microsoft.com/office/drawing/2014/main" id="{CC78602A-C3B8-4C8C-A905-E71907D0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2486918"/>
            <a:ext cx="2008792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9AA"/>
          </a:solidFill>
          <a:ln xmlns:a="http://schemas.openxmlformats.org/drawingml/2006/main" w="0">
            <a:noFill/>
          </a:ln>
        </p:spPr>
      </p:sp>
      <p:sp>
        <p:nvSpPr>
          <p:cNvPr id="2" name="s1">
            <a:extLst xmlns:a="http://schemas.openxmlformats.org/drawingml/2006/main">
              <a:ext uri="{FF2B5EF4-FFF2-40B4-BE49-F238E27FC236}">
                <a16:creationId xmlns:a16="http://schemas.microsoft.com/office/drawing/2014/main" id="{49C022C6-C025-44AB-A693-19A6580A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5365403"/>
            <a:ext cx="20087927" cy="180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A"/>
          </a:solidFill>
          <a:ln xmlns:a="http://schemas.openxmlformats.org/drawingml/2006/main" w="0">
            <a:noFill/>
          </a:ln>
        </p:spPr>
      </p:sp>
      <p:sp>
        <p:nvSpPr>
          <p:cNvPr id="3" name="s2">
            <a:extLst xmlns:a="http://schemas.openxmlformats.org/drawingml/2006/main">
              <a:ext uri="{FF2B5EF4-FFF2-40B4-BE49-F238E27FC236}">
                <a16:creationId xmlns:a16="http://schemas.microsoft.com/office/drawing/2014/main" id="{72658477-E5B9-4FB3-9961-78C08741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7279928"/>
            <a:ext cx="2008792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9AA"/>
          </a:solidFill>
          <a:ln xmlns:a="http://schemas.openxmlformats.org/drawingml/2006/main" w="0">
            <a:noFill/>
          </a:ln>
        </p:spPr>
      </p:sp>
      <p:sp>
        <p:nvSpPr>
          <p:cNvPr id="4" name="s3">
            <a:extLst xmlns:a="http://schemas.openxmlformats.org/drawingml/2006/main">
              <a:ext uri="{FF2B5EF4-FFF2-40B4-BE49-F238E27FC236}">
                <a16:creationId xmlns:a16="http://schemas.microsoft.com/office/drawing/2014/main" id="{A5E111F9-689A-4549-8A49-BF8F5532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8815834"/>
            <a:ext cx="20087927" cy="934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A"/>
          </a:solidFill>
          <a:ln xmlns:a="http://schemas.openxmlformats.org/drawingml/2006/main" w="0">
            <a:noFill/>
          </a:ln>
        </p:spPr>
      </p:sp>
      <p:sp>
        <p:nvSpPr>
          <p:cNvPr id="5" name="s4">
            <a:extLst xmlns:a="http://schemas.openxmlformats.org/drawingml/2006/main">
              <a:ext uri="{FF2B5EF4-FFF2-40B4-BE49-F238E27FC236}">
                <a16:creationId xmlns:a16="http://schemas.microsoft.com/office/drawing/2014/main" id="{39FB583C-E6EC-422E-A5DF-EE61AED1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10290125"/>
            <a:ext cx="657597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EE8"/>
          </a:solidFill>
          <a:ln xmlns:a="http://schemas.openxmlformats.org/drawingml/2006/main" w="0">
            <a:noFill/>
          </a:ln>
        </p:spPr>
      </p:sp>
      <p:sp>
        <p:nvSpPr>
          <p:cNvPr id="6" name="s5">
            <a:extLst xmlns:a="http://schemas.openxmlformats.org/drawingml/2006/main">
              <a:ext uri="{FF2B5EF4-FFF2-40B4-BE49-F238E27FC236}">
                <a16:creationId xmlns:a16="http://schemas.microsoft.com/office/drawing/2014/main" id="{863F257B-A7FB-4D11-8862-BD7CE275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902" y="10290125"/>
            <a:ext cx="657597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EE8"/>
          </a:solidFill>
          <a:ln xmlns:a="http://schemas.openxmlformats.org/drawingml/2006/main" w="0">
            <a:noFill/>
          </a:ln>
        </p:spPr>
      </p:sp>
      <p:sp>
        <p:nvSpPr>
          <p:cNvPr id="7" name="s6">
            <a:extLst xmlns:a="http://schemas.openxmlformats.org/drawingml/2006/main">
              <a:ext uri="{FF2B5EF4-FFF2-40B4-BE49-F238E27FC236}">
                <a16:creationId xmlns:a16="http://schemas.microsoft.com/office/drawing/2014/main" id="{CE0146ED-6E12-4A8E-AF4F-EED6CF57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9805" y="10290125"/>
            <a:ext cx="319801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EE8"/>
          </a:solidFill>
          <a:ln xmlns:a="http://schemas.openxmlformats.org/drawingml/2006/main" w="0">
            <a:noFill/>
          </a:ln>
        </p:spPr>
      </p:sp>
      <p:sp>
        <p:nvSpPr>
          <p:cNvPr id="8" name="s7">
            <a:extLst xmlns:a="http://schemas.openxmlformats.org/drawingml/2006/main">
              <a:ext uri="{FF2B5EF4-FFF2-40B4-BE49-F238E27FC236}">
                <a16:creationId xmlns:a16="http://schemas.microsoft.com/office/drawing/2014/main" id="{8BAC4DC5-5E17-40F3-825C-B04DF07C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7757" y="10290125"/>
            <a:ext cx="319801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EE8"/>
          </a:solidFill>
          <a:ln xmlns:a="http://schemas.openxmlformats.org/drawingml/2006/main" w="0">
            <a:noFill/>
          </a:ln>
        </p:spPr>
      </p:sp>
      <p:sp>
        <p:nvSpPr>
          <p:cNvPr id="9" name="s8">
            <a:extLst xmlns:a="http://schemas.openxmlformats.org/drawingml/2006/main">
              <a:ext uri="{FF2B5EF4-FFF2-40B4-BE49-F238E27FC236}">
                <a16:creationId xmlns:a16="http://schemas.microsoft.com/office/drawing/2014/main" id="{A3DDF143-9EC1-4349-B632-3373CF81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10371534"/>
            <a:ext cx="319801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C3"/>
          </a:solidFill>
          <a:ln xmlns:a="http://schemas.openxmlformats.org/drawingml/2006/main" w="0">
            <a:noFill/>
          </a:ln>
        </p:spPr>
      </p:sp>
      <p:sp>
        <p:nvSpPr>
          <p:cNvPr id="10" name="s9">
            <a:extLst xmlns:a="http://schemas.openxmlformats.org/drawingml/2006/main">
              <a:ext uri="{FF2B5EF4-FFF2-40B4-BE49-F238E27FC236}">
                <a16:creationId xmlns:a16="http://schemas.microsoft.com/office/drawing/2014/main" id="{738298CD-DA31-41E4-AF78-00FD9956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5950" y="10371534"/>
            <a:ext cx="319801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C3"/>
          </a:solidFill>
          <a:ln xmlns:a="http://schemas.openxmlformats.org/drawingml/2006/main" w="0">
            <a:noFill/>
          </a:ln>
        </p:spPr>
      </p:sp>
      <p:sp>
        <p:nvSpPr>
          <p:cNvPr id="11" name="s10">
            <a:extLst xmlns:a="http://schemas.openxmlformats.org/drawingml/2006/main">
              <a:ext uri="{FF2B5EF4-FFF2-40B4-BE49-F238E27FC236}">
                <a16:creationId xmlns:a16="http://schemas.microsoft.com/office/drawing/2014/main" id="{C534C0F6-D0EA-451F-8D8F-5BC6207C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902" y="10371534"/>
            <a:ext cx="319801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C3"/>
          </a:solidFill>
          <a:ln xmlns:a="http://schemas.openxmlformats.org/drawingml/2006/main" w="0">
            <a:noFill/>
          </a:ln>
        </p:spPr>
      </p:sp>
      <p:sp>
        <p:nvSpPr>
          <p:cNvPr id="12" name="s11">
            <a:extLst xmlns:a="http://schemas.openxmlformats.org/drawingml/2006/main">
              <a:ext uri="{FF2B5EF4-FFF2-40B4-BE49-F238E27FC236}">
                <a16:creationId xmlns:a16="http://schemas.microsoft.com/office/drawing/2014/main" id="{C7CBB585-002D-4F31-9F53-92D4A3CA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1854" y="10371534"/>
            <a:ext cx="319801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C3"/>
          </a:solidFill>
          <a:ln xmlns:a="http://schemas.openxmlformats.org/drawingml/2006/main" w="0">
            <a:noFill/>
          </a:ln>
        </p:spPr>
      </p:sp>
      <p:sp>
        <p:nvSpPr>
          <p:cNvPr id="13" name="s12">
            <a:extLst xmlns:a="http://schemas.openxmlformats.org/drawingml/2006/main">
              <a:ext uri="{FF2B5EF4-FFF2-40B4-BE49-F238E27FC236}">
                <a16:creationId xmlns:a16="http://schemas.microsoft.com/office/drawing/2014/main" id="{0EF91AE1-7EAC-4DCA-AAE1-1D82BF61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9805" y="10371534"/>
            <a:ext cx="319801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C3"/>
          </a:solidFill>
          <a:ln xmlns:a="http://schemas.openxmlformats.org/drawingml/2006/main" w="0">
            <a:noFill/>
          </a:ln>
        </p:spPr>
      </p:sp>
      <p:sp>
        <p:nvSpPr>
          <p:cNvPr id="14" name="s13">
            <a:extLst xmlns:a="http://schemas.openxmlformats.org/drawingml/2006/main">
              <a:ext uri="{FF2B5EF4-FFF2-40B4-BE49-F238E27FC236}">
                <a16:creationId xmlns:a16="http://schemas.microsoft.com/office/drawing/2014/main" id="{1BD3E657-130C-4D81-9240-5A88B815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7757" y="10371534"/>
            <a:ext cx="319801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C3"/>
          </a:solidFill>
          <a:ln xmlns:a="http://schemas.openxmlformats.org/drawingml/2006/main" w="0">
            <a:noFill/>
          </a:ln>
        </p:spPr>
      </p:sp>
      <p:sp>
        <p:nvSpPr>
          <p:cNvPr id="15" name="s14">
            <a:extLst xmlns:a="http://schemas.openxmlformats.org/drawingml/2006/main">
              <a:ext uri="{FF2B5EF4-FFF2-40B4-BE49-F238E27FC236}">
                <a16:creationId xmlns:a16="http://schemas.microsoft.com/office/drawing/2014/main" id="{002664D9-921D-4209-B7AE-E495E67C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13275915"/>
            <a:ext cx="2008792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EE8"/>
          </a:solidFill>
          <a:ln xmlns:a="http://schemas.openxmlformats.org/drawingml/2006/main" w="0">
            <a:noFill/>
          </a:ln>
        </p:spPr>
      </p:sp>
      <p:sp>
        <p:nvSpPr>
          <p:cNvPr id="16" name="s15">
            <a:extLst xmlns:a="http://schemas.openxmlformats.org/drawingml/2006/main">
              <a:ext uri="{FF2B5EF4-FFF2-40B4-BE49-F238E27FC236}">
                <a16:creationId xmlns:a16="http://schemas.microsoft.com/office/drawing/2014/main" id="{0506F93F-272F-49F6-9213-6E019F62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16036082"/>
            <a:ext cx="2008792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9AA"/>
          </a:solidFill>
          <a:ln xmlns:a="http://schemas.openxmlformats.org/drawingml/2006/main" w="0">
            <a:noFill/>
          </a:ln>
        </p:spPr>
      </p:sp>
      <p:sp>
        <p:nvSpPr>
          <p:cNvPr id="17" name="s16">
            <a:extLst xmlns:a="http://schemas.openxmlformats.org/drawingml/2006/main">
              <a:ext uri="{FF2B5EF4-FFF2-40B4-BE49-F238E27FC236}">
                <a16:creationId xmlns:a16="http://schemas.microsoft.com/office/drawing/2014/main" id="{792D2B9F-5936-4FC0-960B-FDAC3F74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0876" y="23100060"/>
            <a:ext cx="9525" cy="33263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EE8"/>
          </a:solidFill>
          <a:ln xmlns:a="http://schemas.openxmlformats.org/drawingml/2006/main" w="0">
            <a:noFill/>
          </a:ln>
        </p:spPr>
      </p:sp>
      <p:sp>
        <p:nvSpPr>
          <p:cNvPr id="18" name="s17">
            <a:extLst xmlns:a="http://schemas.openxmlformats.org/drawingml/2006/main">
              <a:ext uri="{FF2B5EF4-FFF2-40B4-BE49-F238E27FC236}">
                <a16:creationId xmlns:a16="http://schemas.microsoft.com/office/drawing/2014/main" id="{F7428D00-73DD-465B-80FA-BB487809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26570285"/>
            <a:ext cx="20087927" cy="1461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68A"/>
          </a:solidFill>
          <a:ln xmlns:a="http://schemas.openxmlformats.org/drawingml/2006/main" w="0">
            <a:noFill/>
          </a:ln>
        </p:spPr>
      </p:sp>
      <p:sp>
        <p:nvSpPr>
          <p:cNvPr id="19" name="s18">
            <a:extLst xmlns:a="http://schemas.openxmlformats.org/drawingml/2006/main">
              <a:ext uri="{FF2B5EF4-FFF2-40B4-BE49-F238E27FC236}">
                <a16:creationId xmlns:a16="http://schemas.microsoft.com/office/drawing/2014/main" id="{6BD79967-1396-49B1-A5AF-9BFF531F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28967162"/>
            <a:ext cx="2008792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EE8"/>
          </a:solidFill>
          <a:ln xmlns:a="http://schemas.openxmlformats.org/drawingml/2006/main" w="0">
            <a:noFill/>
          </a:ln>
        </p:spPr>
      </p:sp>
      <p:sp>
        <p:nvSpPr>
          <p:cNvPr id="20" name="s19">
            <a:extLst xmlns:a="http://schemas.openxmlformats.org/drawingml/2006/main">
              <a:ext uri="{FF2B5EF4-FFF2-40B4-BE49-F238E27FC236}">
                <a16:creationId xmlns:a16="http://schemas.microsoft.com/office/drawing/2014/main" id="{F567FF98-CE25-4D3E-958C-0762A9BD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475357"/>
            <a:ext cx="5192613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TRENDS IN MACHINE LEARNING II</a:t>
            </a:r>
          </a:p>
        </p:txBody>
      </p:sp>
      <p:sp>
        <p:nvSpPr>
          <p:cNvPr id="21" name="s20">
            <a:extLst xmlns:a="http://schemas.openxmlformats.org/drawingml/2006/main">
              <a:ext uri="{FF2B5EF4-FFF2-40B4-BE49-F238E27FC236}">
                <a16:creationId xmlns:a16="http://schemas.microsoft.com/office/drawing/2014/main" id="{71D907AD-C9EF-4B35-AAE4-D33BA9E7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876151"/>
            <a:ext cx="20116502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000">
                <a:solidFill>
                  <a:srgbClr val="073D65"/>
                </a:solidFill>
                <a:latin typeface="Noto Sans"/>
                <a:ea typeface="Noto Sans"/>
                <a:cs typeface="Noto Sans"/>
              </a:defRPr>
            </a:pPr>
            <a:r>
              <a:rPr sz="5000" b="1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Building Legal RAG:</a:t>
            </a:r>
          </a:p>
          <a:p xmlns:a="http://schemas.openxmlformats.org/drawingml/2006/main">
            <a:pPr>
              <a:defRPr sz="5000">
                <a:solidFill>
                  <a:srgbClr val="073D65"/>
                </a:solidFill>
                <a:latin typeface="Noto Sans"/>
                <a:ea typeface="Noto Sans"/>
                <a:cs typeface="Noto Sans"/>
              </a:defRPr>
            </a:pPr>
            <a:r>
              <a:rPr sz="5000" b="1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what each component contributes</a:t>
            </a:r>
          </a:p>
        </p:txBody>
      </p:sp>
      <p:sp>
        <p:nvSpPr>
          <p:cNvPr id="22" name="s21">
            <a:extLst xmlns:a="http://schemas.openxmlformats.org/drawingml/2006/main">
              <a:ext uri="{FF2B5EF4-FFF2-40B4-BE49-F238E27FC236}">
                <a16:creationId xmlns:a16="http://schemas.microsoft.com/office/drawing/2014/main" id="{5C3D722C-0E5C-4AA4-AD86-D62E24EA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2622649"/>
            <a:ext cx="406301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0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2600" b="1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23" name="s22">
            <a:extLst xmlns:a="http://schemas.openxmlformats.org/drawingml/2006/main">
              <a:ext uri="{FF2B5EF4-FFF2-40B4-BE49-F238E27FC236}">
                <a16:creationId xmlns:a16="http://schemas.microsoft.com/office/drawing/2014/main" id="{BE7EF1F8-959E-4283-A0EF-AFBDC30E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40" y="2585293"/>
            <a:ext cx="5615732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3100" b="1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CONTEXT AND HYPOTHESIS</a:t>
            </a:r>
          </a:p>
        </p:txBody>
      </p:sp>
      <p:sp>
        <p:nvSpPr>
          <p:cNvPr id="24" name="s23">
            <a:extLst xmlns:a="http://schemas.openxmlformats.org/drawingml/2006/main">
              <a:ext uri="{FF2B5EF4-FFF2-40B4-BE49-F238E27FC236}">
                <a16:creationId xmlns:a16="http://schemas.microsoft.com/office/drawing/2014/main" id="{54AA96C2-D4A6-4DB1-87AF-9CED9B50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3167211"/>
            <a:ext cx="20116502" cy="1128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Retrieval-augmented generation (RAG) grounds language-model answers in external documents [1]. Legal QA needs correct answers and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precise, complete source-page citations [2, 3]. PDFs may lack searchable text; evidence spans different text scales and may require exact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legal terms. Retrieving more passages can also introduce irrelevant pages.</a:t>
            </a:r>
          </a:p>
        </p:txBody>
      </p:sp>
      <p:sp>
        <p:nvSpPr>
          <p:cNvPr id="25" name="s24">
            <a:extLst xmlns:a="http://schemas.openxmlformats.org/drawingml/2006/main">
              <a:ext uri="{FF2B5EF4-FFF2-40B4-BE49-F238E27FC236}">
                <a16:creationId xmlns:a16="http://schemas.microsoft.com/office/drawing/2014/main" id="{EC868C98-DEF8-4F11-BA0B-BA4B9DAF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4344293"/>
            <a:ext cx="20116502" cy="905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00">
                <a:solidFill>
                  <a:srgbClr val="073D65"/>
                </a:solidFill>
                <a:latin typeface="Noto Sans"/>
                <a:ea typeface="Noto Sans"/>
                <a:cs typeface="Noto Sans"/>
              </a:defRPr>
            </a:pPr>
            <a:r>
              <a:rPr sz="2800" b="1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How can a legal RAG pipeline improve answer quality</a:t>
            </a:r>
          </a:p>
          <a:p xmlns:a="http://schemas.openxmlformats.org/drawingml/2006/main">
            <a:pPr>
              <a:defRPr sz="2800">
                <a:solidFill>
                  <a:srgbClr val="073D65"/>
                </a:solidFill>
                <a:latin typeface="Noto Sans"/>
                <a:ea typeface="Noto Sans"/>
                <a:cs typeface="Noto Sans"/>
              </a:defRPr>
            </a:pPr>
            <a:r>
              <a:rPr sz="2800" b="1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while keeping source-page citations both precise and complete?</a:t>
            </a:r>
          </a:p>
        </p:txBody>
      </p:sp>
      <p:sp>
        <p:nvSpPr>
          <p:cNvPr id="26" name="s25">
            <a:extLst xmlns:a="http://schemas.openxmlformats.org/drawingml/2006/main">
              <a:ext uri="{FF2B5EF4-FFF2-40B4-BE49-F238E27FC236}">
                <a16:creationId xmlns:a16="http://schemas.microsoft.com/office/drawing/2014/main" id="{8C449317-CB53-47B8-9AC6-05ED6ADA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931" y="5471220"/>
            <a:ext cx="6412557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500" b="1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H1 · Retrieval</a:t>
            </a:r>
          </a:p>
        </p:txBody>
      </p:sp>
      <p:sp>
        <p:nvSpPr>
          <p:cNvPr id="27" name="s26">
            <a:extLst xmlns:a="http://schemas.openxmlformats.org/drawingml/2006/main">
              <a:ext uri="{FF2B5EF4-FFF2-40B4-BE49-F238E27FC236}">
                <a16:creationId xmlns:a16="http://schemas.microsoft.com/office/drawing/2014/main" id="{136F47C1-EFC5-446F-B4F3-5AB2D97F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931" y="5920829"/>
            <a:ext cx="6412557" cy="1128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Multiple text scales, hybrid search and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reranking will improve answers and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evidence retrieval over R0.</a:t>
            </a:r>
          </a:p>
        </p:txBody>
      </p:sp>
      <p:sp>
        <p:nvSpPr>
          <p:cNvPr id="28" name="s27">
            <a:extLst xmlns:a="http://schemas.openxmlformats.org/drawingml/2006/main">
              <a:ext uri="{FF2B5EF4-FFF2-40B4-BE49-F238E27FC236}">
                <a16:creationId xmlns:a16="http://schemas.microsoft.com/office/drawing/2014/main" id="{B6851B26-BEE8-4C98-A0CD-723D19B8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9896" y="5471220"/>
            <a:ext cx="6412557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500" b="1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H2 · Scan robustness</a:t>
            </a:r>
          </a:p>
        </p:txBody>
      </p:sp>
      <p:sp>
        <p:nvSpPr>
          <p:cNvPr id="29" name="s28">
            <a:extLst xmlns:a="http://schemas.openxmlformats.org/drawingml/2006/main">
              <a:ext uri="{FF2B5EF4-FFF2-40B4-BE49-F238E27FC236}">
                <a16:creationId xmlns:a16="http://schemas.microsoft.com/office/drawing/2014/main" id="{2C0ECB36-E286-4A61-AB92-4A7C1E81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9896" y="5920829"/>
            <a:ext cx="6412557" cy="1128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Recovering text from scanned documents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will reduce the performance loss caused by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the missing text layer.</a:t>
            </a:r>
          </a:p>
        </p:txBody>
      </p:sp>
      <p:sp>
        <p:nvSpPr>
          <p:cNvPr id="30" name="s29">
            <a:extLst xmlns:a="http://schemas.openxmlformats.org/drawingml/2006/main">
              <a:ext uri="{FF2B5EF4-FFF2-40B4-BE49-F238E27FC236}">
                <a16:creationId xmlns:a16="http://schemas.microsoft.com/office/drawing/2014/main" id="{BAF5E824-E4A3-42BE-B7C2-92DEA20F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1861" y="5471220"/>
            <a:ext cx="6412557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500" b="1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H3 · Citation selection</a:t>
            </a:r>
          </a:p>
        </p:txBody>
      </p:sp>
      <p:sp>
        <p:nvSpPr>
          <p:cNvPr id="31" name="s30">
            <a:extLst xmlns:a="http://schemas.openxmlformats.org/drawingml/2006/main">
              <a:ext uri="{FF2B5EF4-FFF2-40B4-BE49-F238E27FC236}">
                <a16:creationId xmlns:a16="http://schemas.microsoft.com/office/drawing/2014/main" id="{5A2B1287-BB81-4284-9174-49D2CCC1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1861" y="5920829"/>
            <a:ext cx="6412557" cy="1128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Selecting pages after answer generation will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improve citation precision while retaining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most of the relevant evidence.</a:t>
            </a:r>
          </a:p>
        </p:txBody>
      </p:sp>
      <p:sp>
        <p:nvSpPr>
          <p:cNvPr id="32" name="s31">
            <a:extLst xmlns:a="http://schemas.openxmlformats.org/drawingml/2006/main">
              <a:ext uri="{FF2B5EF4-FFF2-40B4-BE49-F238E27FC236}">
                <a16:creationId xmlns:a16="http://schemas.microsoft.com/office/drawing/2014/main" id="{12011DD9-BE03-4301-A0C5-871D9411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7415659"/>
            <a:ext cx="406301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0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2600" b="1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33" name="s32">
            <a:extLst xmlns:a="http://schemas.openxmlformats.org/drawingml/2006/main">
              <a:ext uri="{FF2B5EF4-FFF2-40B4-BE49-F238E27FC236}">
                <a16:creationId xmlns:a16="http://schemas.microsoft.com/office/drawing/2014/main" id="{E8D4F6BD-958C-4228-9714-C328F91D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40" y="7378303"/>
            <a:ext cx="324445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3100" b="1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METHODOLOGY</a:t>
            </a:r>
          </a:p>
        </p:txBody>
      </p:sp>
      <p:sp>
        <p:nvSpPr>
          <p:cNvPr id="34" name="s33">
            <a:extLst xmlns:a="http://schemas.openxmlformats.org/drawingml/2006/main">
              <a:ext uri="{FF2B5EF4-FFF2-40B4-BE49-F238E27FC236}">
                <a16:creationId xmlns:a16="http://schemas.microsoft.com/office/drawing/2014/main" id="{42E1077E-F5D0-4627-B971-274D00D8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7960221"/>
            <a:ext cx="20116502" cy="769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Data:</a:t>
            </a: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30 DIFC legal PDFs (590 pages), 100 questions: 70 structured-answer and 30 free-text. Reference source pages are available for 95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questions. In the mixed corpus, 10 PDFs (107 pages) become synthetic scans: page images at 300 DPI with the text layer removed.</a:t>
            </a:r>
          </a:p>
        </p:txBody>
      </p:sp>
      <p:sp>
        <p:nvSpPr>
          <p:cNvPr id="35" name="s34">
            <a:extLst xmlns:a="http://schemas.openxmlformats.org/drawingml/2006/main">
              <a:ext uri="{FF2B5EF4-FFF2-40B4-BE49-F238E27FC236}">
                <a16:creationId xmlns:a16="http://schemas.microsoft.com/office/drawing/2014/main" id="{E8FBF91C-CF22-4CC3-A9FE-FFB816F6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914" y="8895159"/>
            <a:ext cx="19828503" cy="934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R0 · Baseline. R1–R6 each include all earlier additions.</a:t>
            </a:r>
            <a:r>
              <a:rPr sz="2400" b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 PDF text → 300-token passages → semantic retrieval → GPT-5.4-mini → answer +</a:t>
            </a:r>
          </a:p>
          <a:p xmlns:a="http://schemas.openxmlformats.org/drawingml/2006/main">
            <a:pPr>
              <a:defRPr sz="240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retrieved pages as citations. Semantic search uses Qwen3-Embedding-0.6B.</a:t>
            </a:r>
          </a:p>
        </p:txBody>
      </p:sp>
      <p:sp>
        <p:nvSpPr>
          <p:cNvPr id="36" name="s35">
            <a:extLst xmlns:a="http://schemas.openxmlformats.org/drawingml/2006/main">
              <a:ext uri="{FF2B5EF4-FFF2-40B4-BE49-F238E27FC236}">
                <a16:creationId xmlns:a16="http://schemas.microsoft.com/office/drawing/2014/main" id="{BBCD4CA2-B5F5-4E15-99F3-8B38A1B7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9830098"/>
            <a:ext cx="6604546" cy="440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Document processing</a:t>
            </a:r>
          </a:p>
        </p:txBody>
      </p:sp>
      <p:sp>
        <p:nvSpPr>
          <p:cNvPr id="37" name="s36">
            <a:extLst xmlns:a="http://schemas.openxmlformats.org/drawingml/2006/main">
              <a:ext uri="{FF2B5EF4-FFF2-40B4-BE49-F238E27FC236}">
                <a16:creationId xmlns:a16="http://schemas.microsoft.com/office/drawing/2014/main" id="{0222C009-009A-4116-A622-73CF453E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902" y="9830098"/>
            <a:ext cx="6604546" cy="440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Retrieval</a:t>
            </a:r>
          </a:p>
        </p:txBody>
      </p:sp>
      <p:sp>
        <p:nvSpPr>
          <p:cNvPr id="38" name="s37">
            <a:extLst xmlns:a="http://schemas.openxmlformats.org/drawingml/2006/main">
              <a:ext uri="{FF2B5EF4-FFF2-40B4-BE49-F238E27FC236}">
                <a16:creationId xmlns:a16="http://schemas.microsoft.com/office/drawing/2014/main" id="{C9C3BB47-8EBC-4C36-8565-10C30753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9805" y="9830098"/>
            <a:ext cx="3226594" cy="440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Answering</a:t>
            </a:r>
          </a:p>
        </p:txBody>
      </p:sp>
      <p:sp>
        <p:nvSpPr>
          <p:cNvPr id="39" name="s38">
            <a:extLst xmlns:a="http://schemas.openxmlformats.org/drawingml/2006/main">
              <a:ext uri="{FF2B5EF4-FFF2-40B4-BE49-F238E27FC236}">
                <a16:creationId xmlns:a16="http://schemas.microsoft.com/office/drawing/2014/main" id="{E7EA684E-FA81-4DCC-8D84-C6177785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7757" y="9830098"/>
            <a:ext cx="3226594" cy="440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Citations</a:t>
            </a:r>
          </a:p>
        </p:txBody>
      </p:sp>
      <p:sp>
        <p:nvSpPr>
          <p:cNvPr id="40" name="s39">
            <a:extLst xmlns:a="http://schemas.openxmlformats.org/drawingml/2006/main">
              <a:ext uri="{FF2B5EF4-FFF2-40B4-BE49-F238E27FC236}">
                <a16:creationId xmlns:a16="http://schemas.microsoft.com/office/drawing/2014/main" id="{132103E6-6D3C-409D-8980-3AE2094E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10451902"/>
            <a:ext cx="3226594" cy="806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500" b="1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R1 · Read</a:t>
            </a:r>
          </a:p>
          <a:p xmlns:a="http://schemas.openxmlformats.org/drawingml/2006/main">
            <a:pPr>
              <a:defRPr sz="25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500" b="1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scans</a:t>
            </a:r>
          </a:p>
        </p:txBody>
      </p:sp>
      <p:sp>
        <p:nvSpPr>
          <p:cNvPr id="41" name="s40">
            <a:extLst xmlns:a="http://schemas.openxmlformats.org/drawingml/2006/main">
              <a:ext uri="{FF2B5EF4-FFF2-40B4-BE49-F238E27FC236}">
                <a16:creationId xmlns:a16="http://schemas.microsoft.com/office/drawing/2014/main" id="{5BC48668-D55F-4671-8CE3-47028D99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11269712"/>
            <a:ext cx="3226594" cy="1128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Recover searchable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text from page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images.</a:t>
            </a:r>
          </a:p>
        </p:txBody>
      </p:sp>
      <p:sp>
        <p:nvSpPr>
          <p:cNvPr id="42" name="s41">
            <a:extLst xmlns:a="http://schemas.openxmlformats.org/drawingml/2006/main">
              <a:ext uri="{FF2B5EF4-FFF2-40B4-BE49-F238E27FC236}">
                <a16:creationId xmlns:a16="http://schemas.microsoft.com/office/drawing/2014/main" id="{9D24F629-67BE-4DCE-9A51-F3DF7482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12420302"/>
            <a:ext cx="3226594" cy="769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51657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OCR:</a:t>
            </a:r>
          </a:p>
          <a:p xmlns:a="http://schemas.openxmlformats.org/drawingml/2006/main">
            <a:pPr>
              <a:defRPr sz="2400">
                <a:solidFill>
                  <a:srgbClr val="51657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PP-OCRv5</a:t>
            </a:r>
          </a:p>
        </p:txBody>
      </p:sp>
      <p:sp>
        <p:nvSpPr>
          <p:cNvPr id="43" name="s42">
            <a:extLst xmlns:a="http://schemas.openxmlformats.org/drawingml/2006/main">
              <a:ext uri="{FF2B5EF4-FFF2-40B4-BE49-F238E27FC236}">
                <a16:creationId xmlns:a16="http://schemas.microsoft.com/office/drawing/2014/main" id="{B4625F11-5A54-4A18-A9E5-9691ADF7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7841" y="10937825"/>
            <a:ext cx="35867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00">
                <a:solidFill>
                  <a:srgbClr val="6A9BB9"/>
                </a:solidFill>
                <a:latin typeface="Noto Sans"/>
                <a:ea typeface="Noto Sans"/>
                <a:cs typeface="Noto Sans"/>
              </a:defRPr>
            </a:pPr>
            <a:r>
              <a:rPr sz="2600" b="0">
                <a:solidFill>
                  <a:srgbClr val="6A9BB9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44" name="s43">
            <a:extLst xmlns:a="http://schemas.openxmlformats.org/drawingml/2006/main">
              <a:ext uri="{FF2B5EF4-FFF2-40B4-BE49-F238E27FC236}">
                <a16:creationId xmlns:a16="http://schemas.microsoft.com/office/drawing/2014/main" id="{8883C1BD-F0D1-40EA-8127-DC84C25D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5950" y="10451902"/>
            <a:ext cx="3226594" cy="806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500" b="1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R2 · Multiple</a:t>
            </a:r>
          </a:p>
          <a:p xmlns:a="http://schemas.openxmlformats.org/drawingml/2006/main">
            <a:pPr>
              <a:defRPr sz="25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500" b="1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text scales</a:t>
            </a:r>
          </a:p>
        </p:txBody>
      </p:sp>
      <p:sp>
        <p:nvSpPr>
          <p:cNvPr id="45" name="s44">
            <a:extLst xmlns:a="http://schemas.openxmlformats.org/drawingml/2006/main">
              <a:ext uri="{FF2B5EF4-FFF2-40B4-BE49-F238E27FC236}">
                <a16:creationId xmlns:a16="http://schemas.microsoft.com/office/drawing/2014/main" id="{4D4D055F-64D1-4462-966B-7226AF4C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5950" y="11269712"/>
            <a:ext cx="3226594" cy="769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Represent evidence at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different levels.</a:t>
            </a:r>
          </a:p>
        </p:txBody>
      </p:sp>
      <p:sp>
        <p:nvSpPr>
          <p:cNvPr id="46" name="s45">
            <a:extLst xmlns:a="http://schemas.openxmlformats.org/drawingml/2006/main">
              <a:ext uri="{FF2B5EF4-FFF2-40B4-BE49-F238E27FC236}">
                <a16:creationId xmlns:a16="http://schemas.microsoft.com/office/drawing/2014/main" id="{E81DB4D9-BA90-49ED-9BDC-7DF0EEBA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5950" y="12060734"/>
            <a:ext cx="3226594" cy="1128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51657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Pages, sections,</a:t>
            </a:r>
          </a:p>
          <a:p xmlns:a="http://schemas.openxmlformats.org/drawingml/2006/main">
            <a:pPr>
              <a:defRPr sz="2400">
                <a:solidFill>
                  <a:srgbClr val="51657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clauses, microchunks,</a:t>
            </a:r>
          </a:p>
          <a:p xmlns:a="http://schemas.openxmlformats.org/drawingml/2006/main">
            <a:pPr>
              <a:defRPr sz="2400">
                <a:solidFill>
                  <a:srgbClr val="51657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tables</a:t>
            </a:r>
          </a:p>
        </p:txBody>
      </p:sp>
      <p:sp>
        <p:nvSpPr>
          <p:cNvPr id="47" name="s46">
            <a:extLst xmlns:a="http://schemas.openxmlformats.org/drawingml/2006/main">
              <a:ext uri="{FF2B5EF4-FFF2-40B4-BE49-F238E27FC236}">
                <a16:creationId xmlns:a16="http://schemas.microsoft.com/office/drawing/2014/main" id="{F81DADFF-22B7-45A3-9CA4-CE4013C0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5793" y="10937825"/>
            <a:ext cx="35867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00">
                <a:solidFill>
                  <a:srgbClr val="6A9BB9"/>
                </a:solidFill>
                <a:latin typeface="Noto Sans"/>
                <a:ea typeface="Noto Sans"/>
                <a:cs typeface="Noto Sans"/>
              </a:defRPr>
            </a:pPr>
            <a:r>
              <a:rPr sz="2600" b="0">
                <a:solidFill>
                  <a:srgbClr val="6A9BB9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48" name="s47">
            <a:extLst xmlns:a="http://schemas.openxmlformats.org/drawingml/2006/main">
              <a:ext uri="{FF2B5EF4-FFF2-40B4-BE49-F238E27FC236}">
                <a16:creationId xmlns:a16="http://schemas.microsoft.com/office/drawing/2014/main" id="{06666519-F6A0-4058-ACEE-6A5423AE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902" y="10451902"/>
            <a:ext cx="3226594" cy="806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500" b="1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R3 · Find</a:t>
            </a:r>
          </a:p>
          <a:p xmlns:a="http://schemas.openxmlformats.org/drawingml/2006/main">
            <a:pPr>
              <a:defRPr sz="25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500" b="1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exact terms</a:t>
            </a:r>
          </a:p>
        </p:txBody>
      </p:sp>
      <p:sp>
        <p:nvSpPr>
          <p:cNvPr id="49" name="s48">
            <a:extLst xmlns:a="http://schemas.openxmlformats.org/drawingml/2006/main">
              <a:ext uri="{FF2B5EF4-FFF2-40B4-BE49-F238E27FC236}">
                <a16:creationId xmlns:a16="http://schemas.microsoft.com/office/drawing/2014/main" id="{DECEFA76-262C-4C4A-92A5-7652045C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902" y="11269712"/>
            <a:ext cx="3226594" cy="769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Combine semantic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and lexical search.</a:t>
            </a:r>
          </a:p>
        </p:txBody>
      </p:sp>
      <p:sp>
        <p:nvSpPr>
          <p:cNvPr id="50" name="s49">
            <a:extLst xmlns:a="http://schemas.openxmlformats.org/drawingml/2006/main">
              <a:ext uri="{FF2B5EF4-FFF2-40B4-BE49-F238E27FC236}">
                <a16:creationId xmlns:a16="http://schemas.microsoft.com/office/drawing/2014/main" id="{87C214EA-E339-4ECD-8CAE-EDBBE004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902" y="12060734"/>
            <a:ext cx="3226594" cy="769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51657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BM25 + rank fusion</a:t>
            </a:r>
          </a:p>
          <a:p xmlns:a="http://schemas.openxmlformats.org/drawingml/2006/main">
            <a:pPr>
              <a:defRPr sz="2400">
                <a:solidFill>
                  <a:srgbClr val="51657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(RRF)</a:t>
            </a:r>
          </a:p>
        </p:txBody>
      </p:sp>
      <p:sp>
        <p:nvSpPr>
          <p:cNvPr id="51" name="s50">
            <a:extLst xmlns:a="http://schemas.openxmlformats.org/drawingml/2006/main">
              <a:ext uri="{FF2B5EF4-FFF2-40B4-BE49-F238E27FC236}">
                <a16:creationId xmlns:a16="http://schemas.microsoft.com/office/drawing/2014/main" id="{D18CEF2B-9CDC-4322-A6C0-E0DB5B0A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3745" y="10937825"/>
            <a:ext cx="35867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00">
                <a:solidFill>
                  <a:srgbClr val="6A9BB9"/>
                </a:solidFill>
                <a:latin typeface="Noto Sans"/>
                <a:ea typeface="Noto Sans"/>
                <a:cs typeface="Noto Sans"/>
              </a:defRPr>
            </a:pPr>
            <a:r>
              <a:rPr sz="2600" b="0">
                <a:solidFill>
                  <a:srgbClr val="6A9BB9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52" name="s51">
            <a:extLst xmlns:a="http://schemas.openxmlformats.org/drawingml/2006/main">
              <a:ext uri="{FF2B5EF4-FFF2-40B4-BE49-F238E27FC236}">
                <a16:creationId xmlns:a16="http://schemas.microsoft.com/office/drawing/2014/main" id="{03DE76E5-131D-4895-B0E7-706E31DB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1854" y="10451902"/>
            <a:ext cx="3226594" cy="806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500" b="1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R4 · Rank</a:t>
            </a:r>
          </a:p>
          <a:p xmlns:a="http://schemas.openxmlformats.org/drawingml/2006/main">
            <a:pPr>
              <a:defRPr sz="25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500" b="1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evidence</a:t>
            </a:r>
          </a:p>
        </p:txBody>
      </p:sp>
      <p:sp>
        <p:nvSpPr>
          <p:cNvPr id="53" name="s52">
            <a:extLst xmlns:a="http://schemas.openxmlformats.org/drawingml/2006/main">
              <a:ext uri="{FF2B5EF4-FFF2-40B4-BE49-F238E27FC236}">
                <a16:creationId xmlns:a16="http://schemas.microsoft.com/office/drawing/2014/main" id="{ACD2EF60-A241-48A1-96FF-84EEDF0F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1854" y="11269712"/>
            <a:ext cx="3226594" cy="769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Prioritize the most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relevant passages.</a:t>
            </a:r>
          </a:p>
        </p:txBody>
      </p:sp>
      <p:sp>
        <p:nvSpPr>
          <p:cNvPr id="54" name="s53">
            <a:extLst xmlns:a="http://schemas.openxmlformats.org/drawingml/2006/main">
              <a:ext uri="{FF2B5EF4-FFF2-40B4-BE49-F238E27FC236}">
                <a16:creationId xmlns:a16="http://schemas.microsoft.com/office/drawing/2014/main" id="{264C9D39-2FE6-40E4-920F-69EAB79C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1854" y="12060734"/>
            <a:ext cx="3226594" cy="769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51657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Qwen3-</a:t>
            </a:r>
          </a:p>
          <a:p xmlns:a="http://schemas.openxmlformats.org/drawingml/2006/main">
            <a:pPr>
              <a:defRPr sz="2400">
                <a:solidFill>
                  <a:srgbClr val="51657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Reranker-0.6B</a:t>
            </a:r>
          </a:p>
        </p:txBody>
      </p:sp>
      <p:sp>
        <p:nvSpPr>
          <p:cNvPr id="55" name="s54">
            <a:extLst xmlns:a="http://schemas.openxmlformats.org/drawingml/2006/main">
              <a:ext uri="{FF2B5EF4-FFF2-40B4-BE49-F238E27FC236}">
                <a16:creationId xmlns:a16="http://schemas.microsoft.com/office/drawing/2014/main" id="{61F77422-EB67-4440-A42E-EB0942AA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696" y="10937825"/>
            <a:ext cx="35867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00">
                <a:solidFill>
                  <a:srgbClr val="6A9BB9"/>
                </a:solidFill>
                <a:latin typeface="Noto Sans"/>
                <a:ea typeface="Noto Sans"/>
                <a:cs typeface="Noto Sans"/>
              </a:defRPr>
            </a:pPr>
            <a:r>
              <a:rPr sz="2600" b="0">
                <a:solidFill>
                  <a:srgbClr val="6A9BB9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56" name="s55">
            <a:extLst xmlns:a="http://schemas.openxmlformats.org/drawingml/2006/main">
              <a:ext uri="{FF2B5EF4-FFF2-40B4-BE49-F238E27FC236}">
                <a16:creationId xmlns:a16="http://schemas.microsoft.com/office/drawing/2014/main" id="{9736023B-52FB-42D3-BC85-CF846042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9805" y="10451902"/>
            <a:ext cx="3226594" cy="806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500" b="1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R5 · Check</a:t>
            </a:r>
          </a:p>
          <a:p xmlns:a="http://schemas.openxmlformats.org/drawingml/2006/main">
            <a:pPr>
              <a:defRPr sz="25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500" b="1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answer type</a:t>
            </a:r>
          </a:p>
        </p:txBody>
      </p:sp>
      <p:sp>
        <p:nvSpPr>
          <p:cNvPr id="57" name="s56">
            <a:extLst xmlns:a="http://schemas.openxmlformats.org/drawingml/2006/main">
              <a:ext uri="{FF2B5EF4-FFF2-40B4-BE49-F238E27FC236}">
                <a16:creationId xmlns:a16="http://schemas.microsoft.com/office/drawing/2014/main" id="{893B0688-4140-4E10-937C-1B55FA1C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9805" y="11269712"/>
            <a:ext cx="3226594" cy="1128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Normalize and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validate the expected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type.</a:t>
            </a:r>
          </a:p>
        </p:txBody>
      </p:sp>
      <p:sp>
        <p:nvSpPr>
          <p:cNvPr id="58" name="s57">
            <a:extLst xmlns:a="http://schemas.openxmlformats.org/drawingml/2006/main">
              <a:ext uri="{FF2B5EF4-FFF2-40B4-BE49-F238E27FC236}">
                <a16:creationId xmlns:a16="http://schemas.microsoft.com/office/drawing/2014/main" id="{A5F0B821-8029-4A75-9188-F4A8A259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9805" y="12420302"/>
            <a:ext cx="3226594" cy="769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51657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Type checks,</a:t>
            </a:r>
          </a:p>
          <a:p xmlns:a="http://schemas.openxmlformats.org/drawingml/2006/main">
            <a:pPr>
              <a:defRPr sz="2400">
                <a:solidFill>
                  <a:srgbClr val="51657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confidence thresholds</a:t>
            </a:r>
          </a:p>
        </p:txBody>
      </p:sp>
      <p:sp>
        <p:nvSpPr>
          <p:cNvPr id="59" name="s58">
            <a:extLst xmlns:a="http://schemas.openxmlformats.org/drawingml/2006/main">
              <a:ext uri="{FF2B5EF4-FFF2-40B4-BE49-F238E27FC236}">
                <a16:creationId xmlns:a16="http://schemas.microsoft.com/office/drawing/2014/main" id="{FCA795EE-F90B-4726-8D91-951F12BC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9648" y="10937825"/>
            <a:ext cx="35867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00">
                <a:solidFill>
                  <a:srgbClr val="6A9BB9"/>
                </a:solidFill>
                <a:latin typeface="Noto Sans"/>
                <a:ea typeface="Noto Sans"/>
                <a:cs typeface="Noto Sans"/>
              </a:defRPr>
            </a:pPr>
            <a:r>
              <a:rPr sz="2600" b="0">
                <a:solidFill>
                  <a:srgbClr val="6A9BB9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60" name="s59">
            <a:extLst xmlns:a="http://schemas.openxmlformats.org/drawingml/2006/main">
              <a:ext uri="{FF2B5EF4-FFF2-40B4-BE49-F238E27FC236}">
                <a16:creationId xmlns:a16="http://schemas.microsoft.com/office/drawing/2014/main" id="{B96545C7-5ABE-406B-B2D7-B5287374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7757" y="10451902"/>
            <a:ext cx="3226594" cy="806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500" b="1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R6 · Refine</a:t>
            </a:r>
          </a:p>
          <a:p xmlns:a="http://schemas.openxmlformats.org/drawingml/2006/main">
            <a:pPr>
              <a:defRPr sz="25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500" b="1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citations</a:t>
            </a:r>
          </a:p>
        </p:txBody>
      </p:sp>
      <p:sp>
        <p:nvSpPr>
          <p:cNvPr id="61" name="s60">
            <a:extLst xmlns:a="http://schemas.openxmlformats.org/drawingml/2006/main">
              <a:ext uri="{FF2B5EF4-FFF2-40B4-BE49-F238E27FC236}">
                <a16:creationId xmlns:a16="http://schemas.microsoft.com/office/drawing/2014/main" id="{D152163C-9E5B-4BB4-ADC9-8387F458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7757" y="11269712"/>
            <a:ext cx="3226594" cy="769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Select pages linked to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supporting passages.</a:t>
            </a:r>
          </a:p>
        </p:txBody>
      </p:sp>
      <p:sp>
        <p:nvSpPr>
          <p:cNvPr id="62" name="s61">
            <a:extLst xmlns:a="http://schemas.openxmlformats.org/drawingml/2006/main">
              <a:ext uri="{FF2B5EF4-FFF2-40B4-BE49-F238E27FC236}">
                <a16:creationId xmlns:a16="http://schemas.microsoft.com/office/drawing/2014/main" id="{D922EEA5-5064-401C-9C0F-C31C9003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7757" y="12060734"/>
            <a:ext cx="3226594" cy="1128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51657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Generator's</a:t>
            </a:r>
          </a:p>
          <a:p xmlns:a="http://schemas.openxmlformats.org/drawingml/2006/main">
            <a:pPr>
              <a:defRPr sz="2400">
                <a:solidFill>
                  <a:srgbClr val="51657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supporting-chunk</a:t>
            </a:r>
          </a:p>
          <a:p xmlns:a="http://schemas.openxmlformats.org/drawingml/2006/main">
            <a:pPr>
              <a:defRPr sz="2400">
                <a:solidFill>
                  <a:srgbClr val="51657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references</a:t>
            </a:r>
          </a:p>
        </p:txBody>
      </p:sp>
      <p:sp>
        <p:nvSpPr>
          <p:cNvPr id="63" name="s62">
            <a:extLst xmlns:a="http://schemas.openxmlformats.org/drawingml/2006/main">
              <a:ext uri="{FF2B5EF4-FFF2-40B4-BE49-F238E27FC236}">
                <a16:creationId xmlns:a16="http://schemas.microsoft.com/office/drawing/2014/main" id="{28983AE8-845B-4008-B5E2-7AD4A212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13364766"/>
            <a:ext cx="20116502" cy="944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516578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Fixed:</a:t>
            </a:r>
            <a:r>
              <a:rPr sz="2400" b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 GPT-5.4-mini / high, 24 retrieval candidates, ≤ 2,400 context tokens and the generation schema. R4–R6 reuse one generated response.</a:t>
            </a:r>
          </a:p>
          <a:p xmlns:a="http://schemas.openxmlformats.org/drawingml/2006/main">
            <a:pPr>
              <a:defRPr sz="2400">
                <a:solidFill>
                  <a:srgbClr val="51657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R0–R6 run on the mixed corpus; R0/R1 also on originals.</a:t>
            </a:r>
          </a:p>
        </p:txBody>
      </p:sp>
      <p:sp>
        <p:nvSpPr>
          <p:cNvPr id="64" name="s63">
            <a:extLst xmlns:a="http://schemas.openxmlformats.org/drawingml/2006/main">
              <a:ext uri="{FF2B5EF4-FFF2-40B4-BE49-F238E27FC236}">
                <a16:creationId xmlns:a16="http://schemas.microsoft.com/office/drawing/2014/main" id="{6E4D1E4F-0ABF-4AB9-BDCC-5097D335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14299704"/>
            <a:ext cx="2011650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Evaluation:</a:t>
            </a: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Correct answers can still have poor citations. We score answers and citations separately.</a:t>
            </a:r>
          </a:p>
        </p:txBody>
      </p:sp>
      <p:sp>
        <p:nvSpPr>
          <p:cNvPr id="65" name="s64">
            <a:extLst xmlns:a="http://schemas.openxmlformats.org/drawingml/2006/main">
              <a:ext uri="{FF2B5EF4-FFF2-40B4-BE49-F238E27FC236}">
                <a16:creationId xmlns:a16="http://schemas.microsoft.com/office/drawing/2014/main" id="{8F742882-D55C-449F-8FE9-13FCC78E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14713148"/>
            <a:ext cx="2011650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Answer quality Q = 0.7 × S + 0.3 × F.</a:t>
            </a: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S / F: mean structured / free-text scores. Free text is LLM-scored.</a:t>
            </a:r>
          </a:p>
        </p:txBody>
      </p:sp>
      <p:sp>
        <p:nvSpPr>
          <p:cNvPr id="66" name="s65">
            <a:extLst xmlns:a="http://schemas.openxmlformats.org/drawingml/2006/main">
              <a:ext uri="{FF2B5EF4-FFF2-40B4-BE49-F238E27FC236}">
                <a16:creationId xmlns:a16="http://schemas.microsoft.com/office/drawing/2014/main" id="{AD495324-B0FD-496D-B2ED-B34C9D97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15126593"/>
            <a:ext cx="2011650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Citation precision:</a:t>
            </a: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share of cited pages that match annotated source pages. Are the citations relevant?</a:t>
            </a:r>
          </a:p>
        </p:txBody>
      </p:sp>
      <p:sp>
        <p:nvSpPr>
          <p:cNvPr id="67" name="s66">
            <a:extLst xmlns:a="http://schemas.openxmlformats.org/drawingml/2006/main">
              <a:ext uri="{FF2B5EF4-FFF2-40B4-BE49-F238E27FC236}">
                <a16:creationId xmlns:a16="http://schemas.microsoft.com/office/drawing/2014/main" id="{6A41C81D-0A43-43A0-97CF-72E88B3C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15540038"/>
            <a:ext cx="2011650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Citation recall:</a:t>
            </a: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share of annotated source pages cited. Is the evidence complete? Both average 95 questions.</a:t>
            </a:r>
          </a:p>
        </p:txBody>
      </p:sp>
      <p:sp>
        <p:nvSpPr>
          <p:cNvPr id="68" name="s67">
            <a:extLst xmlns:a="http://schemas.openxmlformats.org/drawingml/2006/main">
              <a:ext uri="{FF2B5EF4-FFF2-40B4-BE49-F238E27FC236}">
                <a16:creationId xmlns:a16="http://schemas.microsoft.com/office/drawing/2014/main" id="{160F27D5-5F33-4B26-8150-58B33DA2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16171813"/>
            <a:ext cx="406301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0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2600" b="1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69" name="s68">
            <a:extLst xmlns:a="http://schemas.openxmlformats.org/drawingml/2006/main">
              <a:ext uri="{FF2B5EF4-FFF2-40B4-BE49-F238E27FC236}">
                <a16:creationId xmlns:a16="http://schemas.microsoft.com/office/drawing/2014/main" id="{D69A443D-4E69-449B-8BEE-AFE6A4FA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40" y="16134457"/>
            <a:ext cx="176078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3100" b="1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RESULTS</a:t>
            </a:r>
          </a:p>
        </p:txBody>
      </p:sp>
      <p:sp>
        <p:nvSpPr>
          <p:cNvPr id="70" name="s69">
            <a:extLst xmlns:a="http://schemas.openxmlformats.org/drawingml/2006/main">
              <a:ext uri="{FF2B5EF4-FFF2-40B4-BE49-F238E27FC236}">
                <a16:creationId xmlns:a16="http://schemas.microsoft.com/office/drawing/2014/main" id="{3C345F59-EAEE-4E03-A80C-77C26CA5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8377" y="16196370"/>
            <a:ext cx="4226123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51657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R0 to R6 on the mixed corpus</a:t>
            </a:r>
          </a:p>
        </p:txBody>
      </p:sp>
      <p:sp>
        <p:nvSpPr>
          <p:cNvPr id="71" name="s70">
            <a:extLst xmlns:a="http://schemas.openxmlformats.org/drawingml/2006/main">
              <a:ext uri="{FF2B5EF4-FFF2-40B4-BE49-F238E27FC236}">
                <a16:creationId xmlns:a16="http://schemas.microsoft.com/office/drawing/2014/main" id="{A834A03E-C66A-43E5-864D-16D668EB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22567999"/>
            <a:ext cx="2011650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51657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Q is an aggregate score, not the share of fully correct answers. R5 adds no score gain.</a:t>
            </a:r>
          </a:p>
        </p:txBody>
      </p:sp>
      <p:sp>
        <p:nvSpPr>
          <p:cNvPr id="72" name="s71">
            <a:extLst xmlns:a="http://schemas.openxmlformats.org/drawingml/2006/main">
              <a:ext uri="{FF2B5EF4-FFF2-40B4-BE49-F238E27FC236}">
                <a16:creationId xmlns:a16="http://schemas.microsoft.com/office/drawing/2014/main" id="{059419C5-5623-4078-8E7A-53AAA00F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23061960"/>
            <a:ext cx="9433471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600" b="1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OCR recovers performance on scans</a:t>
            </a:r>
          </a:p>
        </p:txBody>
      </p:sp>
      <p:sp>
        <p:nvSpPr>
          <p:cNvPr id="73" name="s72">
            <a:extLst xmlns:a="http://schemas.openxmlformats.org/drawingml/2006/main">
              <a:ext uri="{FF2B5EF4-FFF2-40B4-BE49-F238E27FC236}">
                <a16:creationId xmlns:a16="http://schemas.microsoft.com/office/drawing/2014/main" id="{6FA179E6-7CAC-463F-AF91-36B8A6E3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25678656"/>
            <a:ext cx="9433471" cy="769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Scanning 10 of 30 PDFs lowers Q from 65.4% to 46.2%. OCR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restores most of this loss, reaching 63.2%.</a:t>
            </a:r>
          </a:p>
        </p:txBody>
      </p:sp>
      <p:sp>
        <p:nvSpPr>
          <p:cNvPr id="74" name="s73">
            <a:extLst xmlns:a="http://schemas.openxmlformats.org/drawingml/2006/main">
              <a:ext uri="{FF2B5EF4-FFF2-40B4-BE49-F238E27FC236}">
                <a16:creationId xmlns:a16="http://schemas.microsoft.com/office/drawing/2014/main" id="{294CB8CD-4DAD-400C-9F13-FD45A53B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6350" y="23061960"/>
            <a:ext cx="10198001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600" b="1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Hypothesis evaluation</a:t>
            </a:r>
          </a:p>
        </p:txBody>
      </p:sp>
      <p:sp>
        <p:nvSpPr>
          <p:cNvPr id="75" name="s74">
            <a:extLst xmlns:a="http://schemas.openxmlformats.org/drawingml/2006/main">
              <a:ext uri="{FF2B5EF4-FFF2-40B4-BE49-F238E27FC236}">
                <a16:creationId xmlns:a16="http://schemas.microsoft.com/office/drawing/2014/main" id="{078EA9BF-F16F-4DC1-9A51-ACC10DE5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6350" y="23526452"/>
            <a:ext cx="10198001" cy="769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H1 · Partially supported.</a:t>
            </a:r>
            <a:r>
              <a:rPr sz="2400" b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 Multiple scales alone reduce Q; lexical</a:t>
            </a:r>
          </a:p>
          <a:p xmlns:a="http://schemas.openxmlformats.org/drawingml/2006/main">
            <a:pPr>
              <a:defRPr sz="24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retrieval and reranking improve Q and recall.</a:t>
            </a:r>
          </a:p>
        </p:txBody>
      </p:sp>
      <p:sp>
        <p:nvSpPr>
          <p:cNvPr id="76" name="s75">
            <a:extLst xmlns:a="http://schemas.openxmlformats.org/drawingml/2006/main">
              <a:ext uri="{FF2B5EF4-FFF2-40B4-BE49-F238E27FC236}">
                <a16:creationId xmlns:a16="http://schemas.microsoft.com/office/drawing/2014/main" id="{24271B89-6D8C-46D1-A672-18ACF71B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6350" y="24335482"/>
            <a:ext cx="10198001" cy="769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H2 · Supported.</a:t>
            </a:r>
            <a:r>
              <a:rPr sz="2400" b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 OCR restores most of the loss caused by removing the</a:t>
            </a:r>
          </a:p>
          <a:p xmlns:a="http://schemas.openxmlformats.org/drawingml/2006/main">
            <a:pPr>
              <a:defRPr sz="24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text layer.</a:t>
            </a:r>
          </a:p>
        </p:txBody>
      </p:sp>
      <p:sp>
        <p:nvSpPr>
          <p:cNvPr id="77" name="s76">
            <a:extLst xmlns:a="http://schemas.openxmlformats.org/drawingml/2006/main">
              <a:ext uri="{FF2B5EF4-FFF2-40B4-BE49-F238E27FC236}">
                <a16:creationId xmlns:a16="http://schemas.microsoft.com/office/drawing/2014/main" id="{D0F301C5-1A9B-4105-9566-AA503E2D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6350" y="25144512"/>
            <a:ext cx="10198001" cy="769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H3 · Supported with a trade-off.</a:t>
            </a:r>
            <a:r>
              <a:rPr sz="2400" b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 Precision rises from 27.1% to 61.8%;</a:t>
            </a:r>
          </a:p>
          <a:p xmlns:a="http://schemas.openxmlformats.org/drawingml/2006/main">
            <a:pPr>
              <a:defRPr sz="24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recall falls from 78.9% to 74.7% (−4.2 pp).</a:t>
            </a:r>
          </a:p>
        </p:txBody>
      </p:sp>
      <p:sp>
        <p:nvSpPr>
          <p:cNvPr id="78" name="s77">
            <a:extLst xmlns:a="http://schemas.openxmlformats.org/drawingml/2006/main">
              <a:ext uri="{FF2B5EF4-FFF2-40B4-BE49-F238E27FC236}">
                <a16:creationId xmlns:a16="http://schemas.microsoft.com/office/drawing/2014/main" id="{336B209F-4437-4FE3-8B7A-B37F79A9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931" y="26676102"/>
            <a:ext cx="1975663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0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6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Conclusion</a:t>
            </a:r>
          </a:p>
        </p:txBody>
      </p:sp>
      <p:sp>
        <p:nvSpPr>
          <p:cNvPr id="79" name="s78">
            <a:extLst xmlns:a="http://schemas.openxmlformats.org/drawingml/2006/main">
              <a:ext uri="{FF2B5EF4-FFF2-40B4-BE49-F238E27FC236}">
                <a16:creationId xmlns:a16="http://schemas.microsoft.com/office/drawing/2014/main" id="{7E900F63-68FE-4A7A-A1FE-74610E76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931" y="27140595"/>
            <a:ext cx="19756636" cy="769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OCR recovers text from scans, hybrid retrieval and reranking improve answers, and citation selection trades recall for precision. Evaluate</a:t>
            </a:r>
          </a:p>
          <a:p xmlns:a="http://schemas.openxmlformats.org/drawingml/2006/main">
            <a:pPr>
              <a:defRPr sz="240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and optimize answer quality and citations separately.</a:t>
            </a:r>
          </a:p>
        </p:txBody>
      </p:sp>
      <p:sp>
        <p:nvSpPr>
          <p:cNvPr id="80" name="s79">
            <a:extLst xmlns:a="http://schemas.openxmlformats.org/drawingml/2006/main">
              <a:ext uri="{FF2B5EF4-FFF2-40B4-BE49-F238E27FC236}">
                <a16:creationId xmlns:a16="http://schemas.microsoft.com/office/drawing/2014/main" id="{6546BB40-0076-47D9-9A65-1C146381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28111549"/>
            <a:ext cx="20116502" cy="769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516578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Limitations:</a:t>
            </a:r>
            <a:r>
              <a:rPr sz="2400" b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 one DIFC development corpus, 100 questions and synthetic scans; sequential additions; one run per condition, no significance</a:t>
            </a:r>
          </a:p>
          <a:p xmlns:a="http://schemas.openxmlformats.org/drawingml/2006/main">
            <a:pPr>
              <a:defRPr sz="2400">
                <a:solidFill>
                  <a:srgbClr val="51657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testing; LLM-scored free text.</a:t>
            </a:r>
          </a:p>
        </p:txBody>
      </p:sp>
      <p:sp>
        <p:nvSpPr>
          <p:cNvPr id="81" name="s80">
            <a:extLst xmlns:a="http://schemas.openxmlformats.org/drawingml/2006/main">
              <a:ext uri="{FF2B5EF4-FFF2-40B4-BE49-F238E27FC236}">
                <a16:creationId xmlns:a16="http://schemas.microsoft.com/office/drawing/2014/main" id="{5228A264-1286-4AC3-8FB5-0292E4B6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29019996"/>
            <a:ext cx="2011650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References:</a:t>
            </a: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[1] Lewis et al. RAG (2020).</a:t>
            </a: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[2] Pipitone &amp; Alami. LegalBench-RAG (2024).</a:t>
            </a: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[3] Gao et al. ALCE (2023).</a:t>
            </a:r>
          </a:p>
        </p:txBody>
      </p:sp>
      <p:sp>
        <p:nvSpPr>
          <p:cNvPr id="82" name="s81">
            <a:extLst xmlns:a="http://schemas.openxmlformats.org/drawingml/2006/main">
              <a:ext uri="{FF2B5EF4-FFF2-40B4-BE49-F238E27FC236}">
                <a16:creationId xmlns:a16="http://schemas.microsoft.com/office/drawing/2014/main" id="{53EE11D4-9CC6-47B8-AA83-15060409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29415432"/>
            <a:ext cx="2011650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Code, protocol &amp; results:</a:t>
            </a: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github.com/SteinVR/Trends-in-NLP-Poster</a:t>
            </a:r>
          </a:p>
        </p:txBody>
      </p:sp>
      <p:pic>
        <p:nvPicPr>
          <p:cNvPr id="1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34adecd1b242f3">
            <a:extLst>
              <a:ext uri="{96DAC541-7B7A-43D3-8B79-37D633B846F1}">
                <asvg:svgBlip xmlns:asvg="http://schemas.microsoft.com/office/drawing/2016/SVG/main" r:embed="R92f092a850a3445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7676019" y="503932"/>
            <a:ext cx="3059906" cy="771227"/>
          </a:xfrm>
          <a:prstGeom xmlns:a="http://schemas.openxmlformats.org/drawingml/2006/main" prst="rect">
            <a:avLst/>
          </a:prstGeom>
        </p:spPr>
      </p:pic>
      <p:pic>
        <p:nvPicPr>
          <p:cNvPr id="1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9eb81ca1a94d58">
            <a:extLst>
              <a:ext uri="{96DAC541-7B7A-43D3-8B79-37D633B846F1}">
                <asvg:svgBlip xmlns:asvg="http://schemas.microsoft.com/office/drawing/2016/SVG/main" r:embed="R67031e065bd2406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7998" y="16744950"/>
            <a:ext cx="20087927" cy="5851624"/>
          </a:xfrm>
          <a:prstGeom xmlns:a="http://schemas.openxmlformats.org/drawingml/2006/main" prst="rect">
            <a:avLst/>
          </a:prstGeom>
        </p:spPr>
      </p:pic>
      <p:pic>
        <p:nvPicPr>
          <p:cNvPr id="1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3723fbe8ad41ef">
            <a:extLst>
              <a:ext uri="{96DAC541-7B7A-43D3-8B79-37D633B846F1}">
                <asvg:svgBlip xmlns:asvg="http://schemas.microsoft.com/office/drawing/2016/SVG/main" r:embed="R0dc66ca7424d428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7998" y="23626911"/>
            <a:ext cx="9404896" cy="194414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678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2026-09-23T12:59:48.4240000Z</dcterms:created>
  <dcterms:modified xsi:type="dcterms:W3CDTF">2026-09-23T12:59:48.4240000Z</dcterms:modified>
</coreProperties>
</file>