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28caa7eef4937" /><Relationship Type="http://schemas.openxmlformats.org/officeDocument/2006/relationships/extended-properties" Target="/docProps/app.xml" Id="R7456100469864280" /><Relationship Type="http://schemas.openxmlformats.org/officeDocument/2006/relationships/officeDocument" Target="/ppt/presentation.xml" Id="Re42093bd52dd40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a7037314c46b1"/>
  </p:sldMasterIdLst>
  <p:notesMasterIdLst>
    <p:notesMasterId xmlns:r="http://schemas.openxmlformats.org/officeDocument/2006/relationships" r:id="Rd08e88e3767c485f"/>
  </p:notesMasterIdLst>
  <p:sldIdLst>
    <p:sldId xmlns:r="http://schemas.openxmlformats.org/officeDocument/2006/relationships" id="256" r:id="R6636bd86c4a1434a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85f094d694fd7" /><Relationship Type="http://schemas.openxmlformats.org/officeDocument/2006/relationships/slideMaster" Target="/ppt/slideMasters/slideMaster1.xml" Id="R03ea7037314c46b1" /><Relationship Type="http://schemas.openxmlformats.org/officeDocument/2006/relationships/notesMaster" Target="/ppt/notesMasters/notesMaster1.xml" Id="Rd08e88e3767c485f" /><Relationship Type="http://schemas.openxmlformats.org/officeDocument/2006/relationships/presProps" Target="/ppt/presProps.xml" Id="R837146181e6c4169" /><Relationship Type="http://schemas.openxmlformats.org/officeDocument/2006/relationships/tableStyles" Target="/ppt/tableStyles.xml" Id="R652e9fd08ed74390" /><Relationship Type="http://schemas.openxmlformats.org/officeDocument/2006/relationships/slide" Target="/ppt/slides/slide1.xml" Id="R6636bd86c4a1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bec578985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90745bd4a46d7" /><Relationship Type="http://schemas.openxmlformats.org/officeDocument/2006/relationships/notesMaster" Target="/ppt/notesMasters/notesMaster1.xml" Id="Ra658e5d389a0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the joint feedback dated 2026-09-23. H1 = retrieval (former H2-H4), H2 = OCR (former H1), H3 = citations (former H6). R5 is reported separately. Source measurements and protocol: https://github.com/SteinVR/Trends-in-NLP-Poster/tree/main/output/poster-narrative-3/results . Research hypothesis IDs in the original paper differ. Figures are preserved source SVGs; the surrounding text and pipeline stages are editable.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45427efaf47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9ec9162974c52" /><Relationship Type="http://schemas.openxmlformats.org/officeDocument/2006/relationships/slideLayout" Target="/ppt/slideLayouts/slideLayout1.xml" Id="Rc00e0264933548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0e0264933548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fa1757215b64033" /><ns0:Relationship Type="http://schemas.openxmlformats.org/officeDocument/2006/relationships/image" Target="/ppt/media/image.png" Id="R02dcc7e8cb70476c" /><ns0:Relationship Type="http://schemas.openxmlformats.org/officeDocument/2006/relationships/image" Target="/ppt/media/image.svg" Id="R3b5e92c7ca0744b7" /><ns0:Relationship Type="http://schemas.openxmlformats.org/officeDocument/2006/relationships/image" Target="/ppt/media/image2.png" Id="Rcaaf534d20824ae0" /><ns0:Relationship Type="http://schemas.openxmlformats.org/officeDocument/2006/relationships/image" Target="/ppt/media/image2.svg" Id="R42883e5530d94abe" /><ns0:Relationship Type="http://schemas.openxmlformats.org/officeDocument/2006/relationships/image" Target="/ppt/media/image3.png" Id="Rd1d0420adcda491f" /><ns0:Relationship Type="http://schemas.openxmlformats.org/officeDocument/2006/relationships/image" Target="/ppt/media/image3.svg" Id="R06065d4813134bbd" /><ns0:Relationship Type="http://schemas.openxmlformats.org/officeDocument/2006/relationships/notesSlide" Target="/ppt/notesSlides/notesSlide1.xml" Id="R81ec5b6d87f844d5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Trends-in-NLP-Poster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6" name="Rule section-title" descr="s0">
            <a:extLst>
              <a:ext uri="{FF2B5EF4-FFF2-40B4-BE49-F238E27FC236}">
                <ns2:creationId id="{3CDC26D1-9DA8-48A4-884B-3112DE890279}"/>
              </a:ext>
            </a:extLst>
          </p:cNvPr>
          <p:cNvSpPr>
            <a:spLocks noGrp="1"/>
          </p:cNvSpPr>
          <p:nvPr/>
        </p:nvSpPr>
        <p:spPr>
          <a:xfrm>
            <a:off x="647998" y="248691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2" name="Panel grid three hypotheses" descr="s1">
            <a:extLst>
              <a:ext uri="{FF2B5EF4-FFF2-40B4-BE49-F238E27FC236}">
                <ns2:creationId id="{7496DAC0-1BF0-4202-A772-AEC6F7C80C12}"/>
              </a:ext>
            </a:extLst>
          </p:cNvPr>
          <p:cNvSpPr>
            <a:spLocks noGrp="1"/>
          </p:cNvSpPr>
          <p:nvPr/>
        </p:nvSpPr>
        <p:spPr>
          <a:xfrm>
            <a:off x="647998" y="5365403"/>
            <a:ext cx="20087927" cy="1806625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3" name="Rule section-title" descr="s2">
            <a:extLst>
              <a:ext uri="{FF2B5EF4-FFF2-40B4-BE49-F238E27FC236}">
                <ns2:creationId id="{749CFC87-C087-4346-AE2F-A3B2A9B060B7}"/>
              </a:ext>
            </a:extLst>
          </p:cNvPr>
          <p:cNvSpPr>
            <a:spLocks noGrp="1"/>
          </p:cNvSpPr>
          <p:nvPr/>
        </p:nvSpPr>
        <p:spPr>
          <a:xfrm>
            <a:off x="647998" y="727992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4" name="Panel baseline" descr="s3">
            <a:extLst>
              <a:ext uri="{FF2B5EF4-FFF2-40B4-BE49-F238E27FC236}">
                <ns2:creationId id="{F04AC096-5053-4FDD-8E3F-EB254B63BDAE}"/>
              </a:ext>
            </a:extLst>
          </p:cNvPr>
          <p:cNvSpPr>
            <a:spLocks noGrp="1"/>
          </p:cNvSpPr>
          <p:nvPr/>
        </p:nvSpPr>
        <p:spPr>
          <a:xfrm>
            <a:off x="647998" y="8815834"/>
            <a:ext cx="20087927" cy="934938"/>
          </a:xfrm>
          <a:prstGeom prst="rect">
            <a:avLst/>
          </a:prstGeom>
          <a:solidFill>
            <a:srgbClr val="EFF6FA"/>
          </a:solidFill>
          <a:ln w="0">
            <a:noFill/>
          </a:ln>
        </p:spPr>
      </p:sp>
      <p:sp>
        <p:nvSpPr>
          <p:cNvPr id="5" name="Rule stage-group processing" descr="s4">
            <a:extLst>
              <a:ext uri="{FF2B5EF4-FFF2-40B4-BE49-F238E27FC236}">
                <ns2:creationId id="{151866B9-EF97-4462-A42E-CFE3EEE3F8CA}"/>
              </a:ext>
            </a:extLst>
          </p:cNvPr>
          <p:cNvSpPr>
            <a:spLocks noGrp="1"/>
          </p:cNvSpPr>
          <p:nvPr/>
        </p:nvSpPr>
        <p:spPr>
          <a:xfrm>
            <a:off x="647998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6" name="Rule stage-group retrieval" descr="s5">
            <a:extLst>
              <a:ext uri="{FF2B5EF4-FFF2-40B4-BE49-F238E27FC236}">
                <ns2:creationId id="{2DC9BF21-FDE0-4646-83A4-9CD4D5030B6B}"/>
              </a:ext>
            </a:extLst>
          </p:cNvPr>
          <p:cNvSpPr>
            <a:spLocks noGrp="1"/>
          </p:cNvSpPr>
          <p:nvPr/>
        </p:nvSpPr>
        <p:spPr>
          <a:xfrm>
            <a:off x="7403902" y="10290125"/>
            <a:ext cx="6575971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tage-group" descr="s6">
            <a:extLst>
              <a:ext uri="{FF2B5EF4-FFF2-40B4-BE49-F238E27FC236}">
                <ns2:creationId id="{37E291E1-8141-4E4E-B0A9-A178E6EC9BC3}"/>
              </a:ext>
            </a:extLst>
          </p:cNvPr>
          <p:cNvSpPr>
            <a:spLocks noGrp="1"/>
          </p:cNvSpPr>
          <p:nvPr/>
        </p:nvSpPr>
        <p:spPr>
          <a:xfrm>
            <a:off x="14159805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8" name="Rule stage-group" descr="s7">
            <a:extLst>
              <a:ext uri="{FF2B5EF4-FFF2-40B4-BE49-F238E27FC236}">
                <ns2:creationId id="{9CEE1DFB-ED2E-4467-BA4E-5A9A2EBE5AFF}"/>
              </a:ext>
            </a:extLst>
          </p:cNvPr>
          <p:cNvSpPr>
            <a:spLocks noGrp="1"/>
          </p:cNvSpPr>
          <p:nvPr/>
        </p:nvSpPr>
        <p:spPr>
          <a:xfrm>
            <a:off x="17537757" y="10290125"/>
            <a:ext cx="3198019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9" name="Rule step" descr="s8">
            <a:extLst>
              <a:ext uri="{FF2B5EF4-FFF2-40B4-BE49-F238E27FC236}">
                <ns2:creationId id="{247507CE-5175-4252-8C30-47498B43F9CB}"/>
              </a:ext>
            </a:extLst>
          </p:cNvPr>
          <p:cNvSpPr>
            <a:spLocks noGrp="1"/>
          </p:cNvSpPr>
          <p:nvPr/>
        </p:nvSpPr>
        <p:spPr>
          <a:xfrm>
            <a:off x="647998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step" descr="s9">
            <a:extLst>
              <a:ext uri="{FF2B5EF4-FFF2-40B4-BE49-F238E27FC236}">
                <ns2:creationId id="{104F4E02-8988-4389-ADEB-FDB3C1C5598F}"/>
              </a:ext>
            </a:extLst>
          </p:cNvPr>
          <p:cNvSpPr>
            <a:spLocks noGrp="1"/>
          </p:cNvSpPr>
          <p:nvPr/>
        </p:nvSpPr>
        <p:spPr>
          <a:xfrm>
            <a:off x="4025950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step" descr="s10">
            <a:extLst>
              <a:ext uri="{FF2B5EF4-FFF2-40B4-BE49-F238E27FC236}">
                <ns2:creationId id="{865A08D2-68AA-4B7D-9DE6-0AA2971C6A19}"/>
              </a:ext>
            </a:extLst>
          </p:cNvPr>
          <p:cNvSpPr>
            <a:spLocks noGrp="1"/>
          </p:cNvSpPr>
          <p:nvPr/>
        </p:nvSpPr>
        <p:spPr>
          <a:xfrm>
            <a:off x="7403902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2" name="Rule step" descr="s11">
            <a:extLst>
              <a:ext uri="{FF2B5EF4-FFF2-40B4-BE49-F238E27FC236}">
                <ns2:creationId id="{13D0978B-242D-40EB-AD18-2513F3CDE233}"/>
              </a:ext>
            </a:extLst>
          </p:cNvPr>
          <p:cNvSpPr>
            <a:spLocks noGrp="1"/>
          </p:cNvSpPr>
          <p:nvPr/>
        </p:nvSpPr>
        <p:spPr>
          <a:xfrm>
            <a:off x="10781854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3" name="Rule step" descr="s12">
            <a:extLst>
              <a:ext uri="{FF2B5EF4-FFF2-40B4-BE49-F238E27FC236}">
                <ns2:creationId id="{454A5548-52AB-448A-A028-D0C4ED3AB9ED}"/>
              </a:ext>
            </a:extLst>
          </p:cNvPr>
          <p:cNvSpPr>
            <a:spLocks noGrp="1"/>
          </p:cNvSpPr>
          <p:nvPr/>
        </p:nvSpPr>
        <p:spPr>
          <a:xfrm>
            <a:off x="14159805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4" name="Rule step" descr="s13">
            <a:extLst>
              <a:ext uri="{FF2B5EF4-FFF2-40B4-BE49-F238E27FC236}">
                <ns2:creationId id="{304CBACC-7EA2-41ED-BDDA-F0543A8D6731}"/>
              </a:ext>
            </a:extLst>
          </p:cNvPr>
          <p:cNvSpPr>
            <a:spLocks noGrp="1"/>
          </p:cNvSpPr>
          <p:nvPr/>
        </p:nvSpPr>
        <p:spPr>
          <a:xfrm>
            <a:off x="17537757" y="10371534"/>
            <a:ext cx="3198019" cy="2857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5" name="Rule controls" descr="s14">
            <a:extLst>
              <a:ext uri="{FF2B5EF4-FFF2-40B4-BE49-F238E27FC236}">
                <ns2:creationId id="{3ED35806-FEDF-4250-8E3C-A5F9DFB38742}"/>
              </a:ext>
            </a:extLst>
          </p:cNvPr>
          <p:cNvSpPr>
            <a:spLocks noGrp="1"/>
          </p:cNvSpPr>
          <p:nvPr/>
        </p:nvSpPr>
        <p:spPr>
          <a:xfrm>
            <a:off x="647998" y="1327591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6" name="Rule section-title" descr="s15">
            <a:extLst>
              <a:ext uri="{FF2B5EF4-FFF2-40B4-BE49-F238E27FC236}">
                <ns2:creationId id="{E4AFD6A5-A823-488A-875D-24C58B45DBB2}"/>
              </a:ext>
            </a:extLst>
          </p:cNvPr>
          <p:cNvSpPr>
            <a:spLocks noGrp="1"/>
          </p:cNvSpPr>
          <p:nvPr/>
        </p:nvSpPr>
        <p:spPr>
          <a:xfrm>
            <a:off x="647998" y="16036082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17" name="Rule " descr="s16">
            <a:extLst>
              <a:ext uri="{FF2B5EF4-FFF2-40B4-BE49-F238E27FC236}">
                <ns2:creationId id="{FBC90521-1F68-4032-A7B8-B3B82981B08C}"/>
              </a:ext>
            </a:extLst>
          </p:cNvPr>
          <p:cNvSpPr>
            <a:spLocks noGrp="1"/>
          </p:cNvSpPr>
          <p:nvPr/>
        </p:nvSpPr>
        <p:spPr>
          <a:xfrm>
            <a:off x="10340876" y="23100060"/>
            <a:ext cx="9525" cy="3326309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8" name="Panel conclusion" descr="s17">
            <a:extLst>
              <a:ext uri="{FF2B5EF4-FFF2-40B4-BE49-F238E27FC236}">
                <ns2:creationId id="{799524B2-05E3-439F-97EA-C5ECFC48A1A6}"/>
              </a:ext>
            </a:extLst>
          </p:cNvPr>
          <p:cNvSpPr>
            <a:spLocks noGrp="1"/>
          </p:cNvSpPr>
          <p:nvPr/>
        </p:nvSpPr>
        <p:spPr>
          <a:xfrm>
            <a:off x="647998" y="26570285"/>
            <a:ext cx="20087927" cy="1461939"/>
          </a:xfrm>
          <a:prstGeom prst="rect">
            <a:avLst/>
          </a:prstGeom>
          <a:solidFill>
            <a:srgbClr val="07568A"/>
          </a:solidFill>
          <a:ln w="0">
            <a:noFill/>
          </a:ln>
        </p:spPr>
      </p:sp>
      <p:sp>
        <p:nvSpPr>
          <p:cNvPr id="19" name="Rule " descr="s18">
            <a:extLst>
              <a:ext uri="{FF2B5EF4-FFF2-40B4-BE49-F238E27FC236}">
                <ns2:creationId id="{A7AFEA82-6B1F-4A6D-BD89-9ED78B9F5F02}"/>
              </a:ext>
            </a:extLst>
          </p:cNvPr>
          <p:cNvSpPr>
            <a:spLocks noGrp="1"/>
          </p:cNvSpPr>
          <p:nvPr/>
        </p:nvSpPr>
        <p:spPr>
          <a:xfrm>
            <a:off x="647998" y="28967162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20" name="TRENDS IN MACHINE LEARNING II" descr="s19">
            <a:extLst>
              <a:ext uri="{FF2B5EF4-FFF2-40B4-BE49-F238E27FC236}">
                <ns2:creationId id="{9AFBDF6D-E742-4C5A-9A17-33A722ED4BF7}"/>
              </a:ext>
            </a:extLst>
          </p:cNvPr>
          <p:cNvSpPr>
            <a:spLocks noGrp="1"/>
          </p:cNvSpPr>
          <p:nvPr/>
        </p:nvSpPr>
        <p:spPr>
          <a:xfrm>
            <a:off x="648359" y="501933"/>
            <a:ext cx="51926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</p:txBody>
      </p:sp>
      <p:sp>
        <p:nvSpPr>
          <p:cNvPr id="21" name="Building Legal RAG:&#10;what each component contributes" descr="s20">
            <a:extLst>
              <a:ext uri="{FF2B5EF4-FFF2-40B4-BE49-F238E27FC236}">
                <ns2:creationId id="{1B1B5F12-A753-4B1A-8676-C752405C00ED}"/>
              </a:ext>
            </a:extLst>
          </p:cNvPr>
          <p:cNvSpPr>
            <a:spLocks noGrp="1"/>
          </p:cNvSpPr>
          <p:nvPr/>
        </p:nvSpPr>
        <p:spPr>
          <a:xfrm>
            <a:off x="647991" y="993874"/>
            <a:ext cx="20116502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22" name="01" descr="s21">
            <a:extLst>
              <a:ext uri="{FF2B5EF4-FFF2-40B4-BE49-F238E27FC236}">
                <ns2:creationId id="{8D29390C-2249-419E-BB2C-F67F50DF4E39}"/>
              </a:ext>
            </a:extLst>
          </p:cNvPr>
          <p:cNvSpPr>
            <a:spLocks noGrp="1"/>
          </p:cNvSpPr>
          <p:nvPr/>
        </p:nvSpPr>
        <p:spPr>
          <a:xfrm>
            <a:off x="647991" y="2648556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23" name="CONTEXT AND HYPOTHESIS" descr="s22">
            <a:extLst>
              <a:ext uri="{FF2B5EF4-FFF2-40B4-BE49-F238E27FC236}">
                <ns2:creationId id="{844E7FAF-FE15-498C-8490-085DF6637678}"/>
              </a:ext>
            </a:extLst>
          </p:cNvPr>
          <p:cNvSpPr>
            <a:spLocks noGrp="1"/>
          </p:cNvSpPr>
          <p:nvPr/>
        </p:nvSpPr>
        <p:spPr>
          <a:xfrm>
            <a:off x="1169636" y="2615487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24" name="Retrieval-augmented generation (RAG) grounds language-model answers in external " descr="s23">
            <a:extLst>
              <a:ext uri="{FF2B5EF4-FFF2-40B4-BE49-F238E27FC236}">
                <ns2:creationId id="{C9C5FC94-D58A-4C5E-84CD-03B745E02287}"/>
              </a:ext>
            </a:extLst>
          </p:cNvPr>
          <p:cNvSpPr>
            <a:spLocks noGrp="1"/>
          </p:cNvSpPr>
          <p:nvPr/>
        </p:nvSpPr>
        <p:spPr>
          <a:xfrm>
            <a:off x="647991" y="3196925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25" name="How can a legal RAG pipeline improve answer quality&#10;while keeping source-page ci" descr="s24">
            <a:extLst>
              <a:ext uri="{FF2B5EF4-FFF2-40B4-BE49-F238E27FC236}">
                <ns2:creationId id="{059974D1-0FBD-4074-B6B0-44299ABDF57F}"/>
              </a:ext>
            </a:extLst>
          </p:cNvPr>
          <p:cNvSpPr>
            <a:spLocks noGrp="1"/>
          </p:cNvSpPr>
          <p:nvPr/>
        </p:nvSpPr>
        <p:spPr>
          <a:xfrm>
            <a:off x="647991" y="4376210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spc="0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26" name="H1 · Retrieval" descr="s25">
            <a:extLst>
              <a:ext uri="{FF2B5EF4-FFF2-40B4-BE49-F238E27FC236}">
                <ns2:creationId id="{29FEB497-0926-4C23-B21E-E492BF38E390}"/>
              </a:ext>
            </a:extLst>
          </p:cNvPr>
          <p:cNvSpPr>
            <a:spLocks noGrp="1"/>
          </p:cNvSpPr>
          <p:nvPr/>
        </p:nvSpPr>
        <p:spPr>
          <a:xfrm>
            <a:off x="827860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Retrieval</a:t>
            </a:r>
            <a:endParaRPr lang="en-GB" sz="2500"/>
          </a:p>
        </p:txBody>
      </p:sp>
      <p:sp>
        <p:nvSpPr>
          <p:cNvPr id="27" name="Multiple text scales, hybrid search and reranking will improve answers and evide" descr="s26">
            <a:extLst>
              <a:ext uri="{FF2B5EF4-FFF2-40B4-BE49-F238E27FC236}">
                <ns2:creationId id="{1109708D-3BF8-44D2-9F12-9CD27669F184}"/>
              </a:ext>
            </a:extLst>
          </p:cNvPr>
          <p:cNvSpPr>
            <a:spLocks noGrp="1"/>
          </p:cNvSpPr>
          <p:nvPr/>
        </p:nvSpPr>
        <p:spPr>
          <a:xfrm>
            <a:off x="827860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Multiple text scales, hybrid search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reranking will improve answers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evidence retrieval over R0.</a:t>
            </a:r>
            <a:endParaRPr lang="en-GB" sz="2400"/>
          </a:p>
        </p:txBody>
      </p:sp>
      <p:sp>
        <p:nvSpPr>
          <p:cNvPr id="28" name="H2 · Scan robustness" descr="s27">
            <a:extLst>
              <a:ext uri="{FF2B5EF4-FFF2-40B4-BE49-F238E27FC236}">
                <ns2:creationId id="{738B3B85-DF44-439B-BF06-47B188B03002}"/>
              </a:ext>
            </a:extLst>
          </p:cNvPr>
          <p:cNvSpPr>
            <a:spLocks noGrp="1"/>
          </p:cNvSpPr>
          <p:nvPr/>
        </p:nvSpPr>
        <p:spPr>
          <a:xfrm>
            <a:off x="7499908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Scan robustness</a:t>
            </a:r>
            <a:endParaRPr lang="en-GB" sz="2500"/>
          </a:p>
        </p:txBody>
      </p:sp>
      <p:sp>
        <p:nvSpPr>
          <p:cNvPr id="29" name="Recovering text from scanned documents will reduce the performance loss caused b" descr="s28">
            <a:extLst>
              <a:ext uri="{FF2B5EF4-FFF2-40B4-BE49-F238E27FC236}">
                <ns2:creationId id="{C61A4F90-77A7-4C05-B165-D7FAFCF0C590}"/>
              </a:ext>
            </a:extLst>
          </p:cNvPr>
          <p:cNvSpPr>
            <a:spLocks noGrp="1"/>
          </p:cNvSpPr>
          <p:nvPr/>
        </p:nvSpPr>
        <p:spPr>
          <a:xfrm>
            <a:off x="7499908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Recovering text from scanned documents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will reduce the performance loss caused by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missing text layer.</a:t>
            </a:r>
            <a:endParaRPr lang="en-GB" sz="2400"/>
          </a:p>
        </p:txBody>
      </p:sp>
      <p:sp>
        <p:nvSpPr>
          <p:cNvPr id="30" name="H3 · Citation selection" descr="s29">
            <a:extLst>
              <a:ext uri="{FF2B5EF4-FFF2-40B4-BE49-F238E27FC236}">
                <ns2:creationId id="{94187A8E-40BD-4207-89AA-9303946C8C43}"/>
              </a:ext>
            </a:extLst>
          </p:cNvPr>
          <p:cNvSpPr>
            <a:spLocks noGrp="1"/>
          </p:cNvSpPr>
          <p:nvPr/>
        </p:nvSpPr>
        <p:spPr>
          <a:xfrm>
            <a:off x="14171957" y="5505330"/>
            <a:ext cx="641255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Citation selection</a:t>
            </a:r>
            <a:endParaRPr lang="en-GB" sz="2500"/>
          </a:p>
        </p:txBody>
      </p:sp>
      <p:sp>
        <p:nvSpPr>
          <p:cNvPr id="31" name="Selecting pages after answer generation will improve citation precision while re" descr="s30">
            <a:extLst>
              <a:ext uri="{FF2B5EF4-FFF2-40B4-BE49-F238E27FC236}">
                <ns2:creationId id="{05CBA7A9-A647-4662-97A9-725036C523BC}"/>
              </a:ext>
            </a:extLst>
          </p:cNvPr>
          <p:cNvSpPr>
            <a:spLocks noGrp="1"/>
          </p:cNvSpPr>
          <p:nvPr/>
        </p:nvSpPr>
        <p:spPr>
          <a:xfrm>
            <a:off x="14171957" y="5949627"/>
            <a:ext cx="6412557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Selecting pages after answer generation will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improve citation precision while retaining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most of the relevant evidence.</a:t>
            </a:r>
            <a:endParaRPr lang="en-GB" sz="2400"/>
          </a:p>
        </p:txBody>
      </p:sp>
      <p:sp>
        <p:nvSpPr>
          <p:cNvPr id="32" name="02" descr="s31">
            <a:extLst>
              <a:ext uri="{FF2B5EF4-FFF2-40B4-BE49-F238E27FC236}">
                <ns2:creationId id="{9F39F320-47EE-42C0-8C1F-D89474133B23}"/>
              </a:ext>
            </a:extLst>
          </p:cNvPr>
          <p:cNvSpPr>
            <a:spLocks noGrp="1"/>
          </p:cNvSpPr>
          <p:nvPr/>
        </p:nvSpPr>
        <p:spPr>
          <a:xfrm>
            <a:off x="647991" y="7449123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33" name="METHODOLOGY" descr="s32">
            <a:extLst>
              <a:ext uri="{FF2B5EF4-FFF2-40B4-BE49-F238E27FC236}">
                <ns2:creationId id="{72E32B78-FBF4-4B68-8A70-62355330391F}"/>
              </a:ext>
            </a:extLst>
          </p:cNvPr>
          <p:cNvSpPr>
            <a:spLocks noGrp="1"/>
          </p:cNvSpPr>
          <p:nvPr/>
        </p:nvSpPr>
        <p:spPr>
          <a:xfrm>
            <a:off x="1170004" y="7416065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34" name="Data: 30 DIFC legal PDFs (590 pages), 100 questions: 70 structured-answer and 30" descr="s33">
            <a:extLst>
              <a:ext uri="{FF2B5EF4-FFF2-40B4-BE49-F238E27FC236}">
                <ns2:creationId id="{06A48D6C-353B-4557-89F2-8F58116930E6}"/>
              </a:ext>
            </a:extLst>
          </p:cNvPr>
          <p:cNvSpPr>
            <a:spLocks noGrp="1"/>
          </p:cNvSpPr>
          <p:nvPr/>
        </p:nvSpPr>
        <p:spPr>
          <a:xfrm>
            <a:off x="647991" y="7987979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35" name="R0 · Baseline. R1–R6 each include all earlier additions. PDF text → 300-token pa" descr="s34">
            <a:extLst>
              <a:ext uri="{FF2B5EF4-FFF2-40B4-BE49-F238E27FC236}">
                <ns2:creationId id="{F3ED081A-0389-4661-9B1C-F6B9042FA763}"/>
              </a:ext>
            </a:extLst>
          </p:cNvPr>
          <p:cNvSpPr>
            <a:spLocks noGrp="1"/>
          </p:cNvSpPr>
          <p:nvPr/>
        </p:nvSpPr>
        <p:spPr>
          <a:xfrm>
            <a:off x="791831" y="8921443"/>
            <a:ext cx="19828503" cy="93493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R0 · Baseline. R1–R6 each include all earlier additions.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PDF text → 300-token passages → semantic retrieval → GPT-5.4-mini → answer +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retrieved pages as citations. Semantic search uses Qwen3-Embedding-0.6B.</a:t>
            </a:r>
            <a:endParaRPr lang="en-GB" sz="2400"/>
          </a:p>
        </p:txBody>
      </p:sp>
      <p:sp>
        <p:nvSpPr>
          <p:cNvPr id="36" name="Document processing" descr="s35">
            <a:extLst>
              <a:ext uri="{FF2B5EF4-FFF2-40B4-BE49-F238E27FC236}">
                <ns2:creationId id="{E301EB44-8AA2-4EB1-930C-967C505475F9}"/>
              </a:ext>
            </a:extLst>
          </p:cNvPr>
          <p:cNvSpPr>
            <a:spLocks noGrp="1"/>
          </p:cNvSpPr>
          <p:nvPr/>
        </p:nvSpPr>
        <p:spPr>
          <a:xfrm>
            <a:off x="648359" y="9854909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37" name="Retrieval" descr="s36">
            <a:extLst>
              <a:ext uri="{FF2B5EF4-FFF2-40B4-BE49-F238E27FC236}">
                <ns2:creationId id="{3D7289C4-4AFD-4BF7-AE7C-A8474B82B8EE}"/>
              </a:ext>
            </a:extLst>
          </p:cNvPr>
          <p:cNvSpPr>
            <a:spLocks noGrp="1"/>
          </p:cNvSpPr>
          <p:nvPr/>
        </p:nvSpPr>
        <p:spPr>
          <a:xfrm>
            <a:off x="7404402" y="9854909"/>
            <a:ext cx="6604546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38" name="Answering" descr="s37">
            <a:extLst>
              <a:ext uri="{FF2B5EF4-FFF2-40B4-BE49-F238E27FC236}">
                <ns2:creationId id="{96DF1217-9CA8-4FC8-B045-281DD264B2A4}"/>
              </a:ext>
            </a:extLst>
          </p:cNvPr>
          <p:cNvSpPr>
            <a:spLocks noGrp="1"/>
          </p:cNvSpPr>
          <p:nvPr/>
        </p:nvSpPr>
        <p:spPr>
          <a:xfrm>
            <a:off x="14159732" y="9854909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39" name="Citations" descr="s38">
            <a:extLst>
              <a:ext uri="{FF2B5EF4-FFF2-40B4-BE49-F238E27FC236}">
                <ns2:creationId id="{6C7070CB-CDA4-4D78-A0DA-8702AC06DA0A}"/>
              </a:ext>
            </a:extLst>
          </p:cNvPr>
          <p:cNvSpPr>
            <a:spLocks noGrp="1"/>
          </p:cNvSpPr>
          <p:nvPr/>
        </p:nvSpPr>
        <p:spPr>
          <a:xfrm>
            <a:off x="17537754" y="9854909"/>
            <a:ext cx="3226594" cy="440978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40" name="R1 · Read&#10;scans" descr="s39">
            <a:extLst>
              <a:ext uri="{FF2B5EF4-FFF2-40B4-BE49-F238E27FC236}">
                <ns2:creationId id="{3D37C2C8-426B-4289-8CE0-84E95EF81AA0}"/>
              </a:ext>
            </a:extLst>
          </p:cNvPr>
          <p:cNvSpPr>
            <a:spLocks noGrp="1"/>
          </p:cNvSpPr>
          <p:nvPr/>
        </p:nvSpPr>
        <p:spPr>
          <a:xfrm>
            <a:off x="647991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R1 · Read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scans</a:t>
            </a:r>
            <a:endParaRPr lang="en-GB" sz="2500"/>
          </a:p>
        </p:txBody>
      </p:sp>
      <p:sp>
        <p:nvSpPr>
          <p:cNvPr id="41" name="Recover searchable text from page images." descr="s40">
            <a:extLst>
              <a:ext uri="{FF2B5EF4-FFF2-40B4-BE49-F238E27FC236}">
                <ns2:creationId id="{F93C8901-B280-4FC7-B2A2-4489A01087D5}"/>
              </a:ext>
            </a:extLst>
          </p:cNvPr>
          <p:cNvSpPr>
            <a:spLocks noGrp="1"/>
          </p:cNvSpPr>
          <p:nvPr/>
        </p:nvSpPr>
        <p:spPr>
          <a:xfrm>
            <a:off x="647991" y="11293165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Recover searchable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from page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images.</a:t>
            </a:r>
            <a:endParaRPr lang="en-GB" sz="2400"/>
          </a:p>
        </p:txBody>
      </p:sp>
      <p:sp>
        <p:nvSpPr>
          <p:cNvPr id="42" name="OCR:&#10;PP-OCRv5" descr="s41">
            <a:extLst>
              <a:ext uri="{FF2B5EF4-FFF2-40B4-BE49-F238E27FC236}">
                <ns2:creationId id="{2533448C-B91C-48BC-854C-8804664CAC56}"/>
              </a:ext>
            </a:extLst>
          </p:cNvPr>
          <p:cNvSpPr>
            <a:spLocks noGrp="1"/>
          </p:cNvSpPr>
          <p:nvPr/>
        </p:nvSpPr>
        <p:spPr>
          <a:xfrm>
            <a:off x="647991" y="1244571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OCR: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PP-OCRv5</a:t>
            </a:r>
            <a:endParaRPr lang="en-GB" sz="2400"/>
          </a:p>
        </p:txBody>
      </p:sp>
      <p:sp>
        <p:nvSpPr>
          <p:cNvPr id="43" name="→" descr="s42">
            <a:extLst>
              <a:ext uri="{FF2B5EF4-FFF2-40B4-BE49-F238E27FC236}">
                <ns2:creationId id="{B7529A6F-7186-4A22-8B21-08659D1ADE0B}"/>
              </a:ext>
            </a:extLst>
          </p:cNvPr>
          <p:cNvSpPr>
            <a:spLocks noGrp="1"/>
          </p:cNvSpPr>
          <p:nvPr/>
        </p:nvSpPr>
        <p:spPr>
          <a:xfrm>
            <a:off x="3678282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4" name="R2 · Multiple&#10;text scales" descr="s43">
            <a:extLst>
              <a:ext uri="{FF2B5EF4-FFF2-40B4-BE49-F238E27FC236}">
                <ns2:creationId id="{9DEC147F-FE32-4ABD-9B55-559185EC67CB}"/>
              </a:ext>
            </a:extLst>
          </p:cNvPr>
          <p:cNvSpPr>
            <a:spLocks noGrp="1"/>
          </p:cNvSpPr>
          <p:nvPr/>
        </p:nvSpPr>
        <p:spPr>
          <a:xfrm>
            <a:off x="4026025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R2 · Multiple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text scales</a:t>
            </a:r>
            <a:endParaRPr lang="en-GB" sz="2500"/>
          </a:p>
        </p:txBody>
      </p:sp>
      <p:sp>
        <p:nvSpPr>
          <p:cNvPr id="45" name="Represent evidence at different levels." descr="s44">
            <a:extLst>
              <a:ext uri="{FF2B5EF4-FFF2-40B4-BE49-F238E27FC236}">
                <ns2:creationId id="{674501E9-B67D-4956-8958-DD23F36A45A2}"/>
              </a:ext>
            </a:extLst>
          </p:cNvPr>
          <p:cNvSpPr>
            <a:spLocks noGrp="1"/>
          </p:cNvSpPr>
          <p:nvPr/>
        </p:nvSpPr>
        <p:spPr>
          <a:xfrm>
            <a:off x="4026025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Represent evidence at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different levels.</a:t>
            </a:r>
            <a:endParaRPr lang="en-GB" sz="2400"/>
          </a:p>
        </p:txBody>
      </p:sp>
      <p:sp>
        <p:nvSpPr>
          <p:cNvPr id="46" name="Pages, sections, clauses, microchunks, tables" descr="s45">
            <a:extLst>
              <a:ext uri="{FF2B5EF4-FFF2-40B4-BE49-F238E27FC236}">
                <ns2:creationId id="{501D2FDB-F8E0-41E0-9718-91667CE092B5}"/>
              </a:ext>
            </a:extLst>
          </p:cNvPr>
          <p:cNvSpPr>
            <a:spLocks noGrp="1"/>
          </p:cNvSpPr>
          <p:nvPr/>
        </p:nvSpPr>
        <p:spPr>
          <a:xfrm>
            <a:off x="4026025" y="12083830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Pages, sections,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clauses, microchunks,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tables</a:t>
            </a:r>
            <a:endParaRPr lang="en-GB" sz="2400"/>
          </a:p>
        </p:txBody>
      </p:sp>
      <p:sp>
        <p:nvSpPr>
          <p:cNvPr id="47" name="→" descr="s46">
            <a:extLst>
              <a:ext uri="{FF2B5EF4-FFF2-40B4-BE49-F238E27FC236}">
                <ns2:creationId id="{FFFAC28C-73D7-4436-86BC-9DE478492727}"/>
              </a:ext>
            </a:extLst>
          </p:cNvPr>
          <p:cNvSpPr>
            <a:spLocks noGrp="1"/>
          </p:cNvSpPr>
          <p:nvPr/>
        </p:nvSpPr>
        <p:spPr>
          <a:xfrm>
            <a:off x="7056304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48" name="R3 · Find&#10;exact terms" descr="s47">
            <a:extLst>
              <a:ext uri="{FF2B5EF4-FFF2-40B4-BE49-F238E27FC236}">
                <ns2:creationId id="{2B9A4D2B-5FBB-4264-AFD0-98A30204F824}"/>
              </a:ext>
            </a:extLst>
          </p:cNvPr>
          <p:cNvSpPr>
            <a:spLocks noGrp="1"/>
          </p:cNvSpPr>
          <p:nvPr/>
        </p:nvSpPr>
        <p:spPr>
          <a:xfrm>
            <a:off x="7404046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R3 · Find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exact terms</a:t>
            </a:r>
            <a:endParaRPr lang="en-GB" sz="2500"/>
          </a:p>
        </p:txBody>
      </p:sp>
      <p:sp>
        <p:nvSpPr>
          <p:cNvPr id="49" name="Combine semantic and lexical search." descr="s48">
            <a:extLst>
              <a:ext uri="{FF2B5EF4-FFF2-40B4-BE49-F238E27FC236}">
                <ns2:creationId id="{9225A05C-D573-4FDC-A3DF-5AC4751F7F44}"/>
              </a:ext>
            </a:extLst>
          </p:cNvPr>
          <p:cNvSpPr>
            <a:spLocks noGrp="1"/>
          </p:cNvSpPr>
          <p:nvPr/>
        </p:nvSpPr>
        <p:spPr>
          <a:xfrm>
            <a:off x="7404046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Combine semantic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lexical search.</a:t>
            </a:r>
            <a:endParaRPr lang="en-GB" sz="2400"/>
          </a:p>
        </p:txBody>
      </p:sp>
      <p:sp>
        <p:nvSpPr>
          <p:cNvPr id="50" name="BM25 + rank fusion (RRF)" descr="s49">
            <a:extLst>
              <a:ext uri="{FF2B5EF4-FFF2-40B4-BE49-F238E27FC236}">
                <ns2:creationId id="{604D90CC-C985-40A8-A15B-DE396E32801B}"/>
              </a:ext>
            </a:extLst>
          </p:cNvPr>
          <p:cNvSpPr>
            <a:spLocks noGrp="1"/>
          </p:cNvSpPr>
          <p:nvPr/>
        </p:nvSpPr>
        <p:spPr>
          <a:xfrm>
            <a:off x="7404046" y="1208383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BM25 + rank fusion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(RRF)</a:t>
            </a:r>
            <a:endParaRPr lang="en-GB" sz="2400"/>
          </a:p>
        </p:txBody>
      </p:sp>
      <p:sp>
        <p:nvSpPr>
          <p:cNvPr id="51" name="→" descr="s50">
            <a:extLst>
              <a:ext uri="{FF2B5EF4-FFF2-40B4-BE49-F238E27FC236}">
                <ns2:creationId id="{F6A8064D-FC9B-4CB4-90BA-95E068E1E290}"/>
              </a:ext>
            </a:extLst>
          </p:cNvPr>
          <p:cNvSpPr>
            <a:spLocks noGrp="1"/>
          </p:cNvSpPr>
          <p:nvPr/>
        </p:nvSpPr>
        <p:spPr>
          <a:xfrm>
            <a:off x="10433970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2" name="R4 · Rank&#10;evidence" descr="s51">
            <a:extLst>
              <a:ext uri="{FF2B5EF4-FFF2-40B4-BE49-F238E27FC236}">
                <ns2:creationId id="{944297D8-6FEC-4AF8-BABB-6AD61E3A82FB}"/>
              </a:ext>
            </a:extLst>
          </p:cNvPr>
          <p:cNvSpPr>
            <a:spLocks noGrp="1"/>
          </p:cNvSpPr>
          <p:nvPr/>
        </p:nvSpPr>
        <p:spPr>
          <a:xfrm>
            <a:off x="10781712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R4 · Rank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evidence</a:t>
            </a:r>
            <a:endParaRPr lang="en-GB" sz="2500"/>
          </a:p>
        </p:txBody>
      </p:sp>
      <p:sp>
        <p:nvSpPr>
          <p:cNvPr id="53" name="Prioritize the most relevant passages." descr="s52">
            <a:extLst>
              <a:ext uri="{FF2B5EF4-FFF2-40B4-BE49-F238E27FC236}">
                <ns2:creationId id="{7830BFD7-8629-45E7-908D-2A93733F8EDB}"/>
              </a:ext>
            </a:extLst>
          </p:cNvPr>
          <p:cNvSpPr>
            <a:spLocks noGrp="1"/>
          </p:cNvSpPr>
          <p:nvPr/>
        </p:nvSpPr>
        <p:spPr>
          <a:xfrm>
            <a:off x="10781712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Prioritize the most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relevant passages.</a:t>
            </a:r>
            <a:endParaRPr lang="en-GB" sz="2400"/>
          </a:p>
        </p:txBody>
      </p:sp>
      <p:sp>
        <p:nvSpPr>
          <p:cNvPr id="54" name="Qwen3-&#10;Reranker-0.6B" descr="s53">
            <a:extLst>
              <a:ext uri="{FF2B5EF4-FFF2-40B4-BE49-F238E27FC236}">
                <ns2:creationId id="{536BD510-704B-4B0C-9B62-8567132BCE5B}"/>
              </a:ext>
            </a:extLst>
          </p:cNvPr>
          <p:cNvSpPr>
            <a:spLocks noGrp="1"/>
          </p:cNvSpPr>
          <p:nvPr/>
        </p:nvSpPr>
        <p:spPr>
          <a:xfrm>
            <a:off x="10781712" y="1208383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Qwen3-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Reranker-0.6B</a:t>
            </a:r>
            <a:endParaRPr lang="en-GB" sz="2400"/>
          </a:p>
        </p:txBody>
      </p:sp>
      <p:sp>
        <p:nvSpPr>
          <p:cNvPr id="55" name="→" descr="s54">
            <a:extLst>
              <a:ext uri="{FF2B5EF4-FFF2-40B4-BE49-F238E27FC236}">
                <ns2:creationId id="{32A790C5-014A-4EC8-BA0A-6F76B7C8864B}"/>
              </a:ext>
            </a:extLst>
          </p:cNvPr>
          <p:cNvSpPr>
            <a:spLocks noGrp="1"/>
          </p:cNvSpPr>
          <p:nvPr/>
        </p:nvSpPr>
        <p:spPr>
          <a:xfrm>
            <a:off x="13811991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56" name="R5 · Check&#10;answer type" descr="s55">
            <a:extLst>
              <a:ext uri="{FF2B5EF4-FFF2-40B4-BE49-F238E27FC236}">
                <ns2:creationId id="{7D9D1691-EE3F-4F1C-B11C-371229223711}"/>
              </a:ext>
            </a:extLst>
          </p:cNvPr>
          <p:cNvSpPr>
            <a:spLocks noGrp="1"/>
          </p:cNvSpPr>
          <p:nvPr/>
        </p:nvSpPr>
        <p:spPr>
          <a:xfrm>
            <a:off x="14159732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R5 · Check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type</a:t>
            </a:r>
            <a:endParaRPr lang="en-GB" sz="2500"/>
          </a:p>
        </p:txBody>
      </p:sp>
      <p:sp>
        <p:nvSpPr>
          <p:cNvPr id="57" name="Normalize and validate the expected type." descr="s56">
            <a:extLst>
              <a:ext uri="{FF2B5EF4-FFF2-40B4-BE49-F238E27FC236}">
                <ns2:creationId id="{7745B781-4226-42E9-90D7-6C7850567C0A}"/>
              </a:ext>
            </a:extLst>
          </p:cNvPr>
          <p:cNvSpPr>
            <a:spLocks noGrp="1"/>
          </p:cNvSpPr>
          <p:nvPr/>
        </p:nvSpPr>
        <p:spPr>
          <a:xfrm>
            <a:off x="14159732" y="11293165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Normalize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validate the expected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type.</a:t>
            </a:r>
            <a:endParaRPr lang="en-GB" sz="2400"/>
          </a:p>
        </p:txBody>
      </p:sp>
      <p:sp>
        <p:nvSpPr>
          <p:cNvPr id="58" name="Type checks, confidence thresholds" descr="s57">
            <a:extLst>
              <a:ext uri="{FF2B5EF4-FFF2-40B4-BE49-F238E27FC236}">
                <ns2:creationId id="{53FE59BF-3551-4B97-8931-DF7109A166B1}"/>
              </a:ext>
            </a:extLst>
          </p:cNvPr>
          <p:cNvSpPr>
            <a:spLocks noGrp="1"/>
          </p:cNvSpPr>
          <p:nvPr/>
        </p:nvSpPr>
        <p:spPr>
          <a:xfrm>
            <a:off x="14159732" y="12445710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Type checks,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confidence thresholds</a:t>
            </a:r>
            <a:endParaRPr lang="en-GB" sz="2400"/>
          </a:p>
        </p:txBody>
      </p:sp>
      <p:sp>
        <p:nvSpPr>
          <p:cNvPr id="59" name="→" descr="s58">
            <a:extLst>
              <a:ext uri="{FF2B5EF4-FFF2-40B4-BE49-F238E27FC236}">
                <ns2:creationId id="{27D4D392-B15A-4BB7-A109-8DE9BCE3CE0F}"/>
              </a:ext>
            </a:extLst>
          </p:cNvPr>
          <p:cNvSpPr>
            <a:spLocks noGrp="1"/>
          </p:cNvSpPr>
          <p:nvPr/>
        </p:nvSpPr>
        <p:spPr>
          <a:xfrm>
            <a:off x="17190011" y="10963682"/>
            <a:ext cx="35867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0" spc="0" kern="0" dirty="0">
                <a:solidFill>
                  <a:srgbClr val="6a9bb9"/>
                </a:solidFill>
                <a:latin typeface="Noto Sans"/>
                <a:ea typeface="Noto Sans"/>
                <a:cs typeface="Noto Sans"/>
              </a:rPr>
              <a:t>→</a:t>
            </a:r>
            <a:endParaRPr lang="en-GB" sz="2600"/>
          </a:p>
        </p:txBody>
      </p:sp>
      <p:sp>
        <p:nvSpPr>
          <p:cNvPr id="60" name="R6 · Refine&#10;citations" descr="s59">
            <a:extLst>
              <a:ext uri="{FF2B5EF4-FFF2-40B4-BE49-F238E27FC236}">
                <ns2:creationId id="{B8890A1D-C95B-45D0-81C4-3D7A92EA6FE1}"/>
              </a:ext>
            </a:extLst>
          </p:cNvPr>
          <p:cNvSpPr>
            <a:spLocks noGrp="1"/>
          </p:cNvSpPr>
          <p:nvPr/>
        </p:nvSpPr>
        <p:spPr>
          <a:xfrm>
            <a:off x="17537754" y="10487345"/>
            <a:ext cx="3226594" cy="80635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R6 · Refine</a:t>
            </a:r>
            <a:endParaRPr lang="en-GB" sz="2500"/>
          </a:p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500"/>
          </a:p>
        </p:txBody>
      </p:sp>
      <p:sp>
        <p:nvSpPr>
          <p:cNvPr id="61" name="Select pages linked to supporting passages." descr="s60">
            <a:extLst>
              <a:ext uri="{FF2B5EF4-FFF2-40B4-BE49-F238E27FC236}">
                <ns2:creationId id="{A9231F06-3BC5-460A-A219-145389524076}"/>
              </a:ext>
            </a:extLst>
          </p:cNvPr>
          <p:cNvSpPr>
            <a:spLocks noGrp="1"/>
          </p:cNvSpPr>
          <p:nvPr/>
        </p:nvSpPr>
        <p:spPr>
          <a:xfrm>
            <a:off x="17537754" y="11293165"/>
            <a:ext cx="3226594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Select pages linked to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supporting passages.</a:t>
            </a:r>
            <a:endParaRPr lang="en-GB" sz="2400"/>
          </a:p>
        </p:txBody>
      </p:sp>
      <p:sp>
        <p:nvSpPr>
          <p:cNvPr id="62" name="Generator's supporting-chunk references" descr="s61">
            <a:extLst>
              <a:ext uri="{FF2B5EF4-FFF2-40B4-BE49-F238E27FC236}">
                <ns2:creationId id="{380283DD-BC4A-4F8F-B825-921522918E9C}"/>
              </a:ext>
            </a:extLst>
          </p:cNvPr>
          <p:cNvSpPr>
            <a:spLocks noGrp="1"/>
          </p:cNvSpPr>
          <p:nvPr/>
        </p:nvSpPr>
        <p:spPr>
          <a:xfrm>
            <a:off x="17537754" y="12083830"/>
            <a:ext cx="3226594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Generator's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supporting-chunk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3" name="Fixed: GPT-5.4-mini / high, 24 retrieval candidates, ≤ 2,400 context tokens and " descr="s62">
            <a:extLst>
              <a:ext uri="{FF2B5EF4-FFF2-40B4-BE49-F238E27FC236}">
                <ns2:creationId id="{C04E79B2-F385-470B-A550-EDBD052814AA}"/>
              </a:ext>
            </a:extLst>
          </p:cNvPr>
          <p:cNvSpPr>
            <a:spLocks noGrp="1"/>
          </p:cNvSpPr>
          <p:nvPr/>
        </p:nvSpPr>
        <p:spPr>
          <a:xfrm>
            <a:off x="647991" y="13389234"/>
            <a:ext cx="20116502" cy="94446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high, 24 retrieval candidates, ≤ 2,400 context tokens and the generation schema. R4–R6 reuse one generated response.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R0–R6 run on the mixed corpus; R0/R1 also on originals.</a:t>
            </a:r>
            <a:endParaRPr lang="en-GB" sz="2400"/>
          </a:p>
        </p:txBody>
      </p:sp>
      <p:sp>
        <p:nvSpPr>
          <p:cNvPr id="64" name="Evaluation: Correct answers can still have poor citations. We score answers and " descr="s63">
            <a:extLst>
              <a:ext uri="{FF2B5EF4-FFF2-40B4-BE49-F238E27FC236}">
                <ns2:creationId id="{080EB7E3-19C9-45B1-B72C-C233056BB5B4}"/>
              </a:ext>
            </a:extLst>
          </p:cNvPr>
          <p:cNvSpPr>
            <a:spLocks noGrp="1"/>
          </p:cNvSpPr>
          <p:nvPr/>
        </p:nvSpPr>
        <p:spPr>
          <a:xfrm>
            <a:off x="647991" y="1432269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Evaluation: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Correct answers can still have poor citations. We score answers and citations separately.</a:t>
            </a:r>
            <a:endParaRPr lang="en-GB" sz="2400"/>
          </a:p>
        </p:txBody>
      </p:sp>
      <p:sp>
        <p:nvSpPr>
          <p:cNvPr id="65" name="Answer quality Q = 0.7 × S + 0.3 × F. S / F: mean structured / free-text scores." descr="s64">
            <a:extLst>
              <a:ext uri="{FF2B5EF4-FFF2-40B4-BE49-F238E27FC236}">
                <ns2:creationId id="{D9B44E32-8661-4DE9-9702-BFF1299E3F79}"/>
              </a:ext>
            </a:extLst>
          </p:cNvPr>
          <p:cNvSpPr>
            <a:spLocks noGrp="1"/>
          </p:cNvSpPr>
          <p:nvPr/>
        </p:nvSpPr>
        <p:spPr>
          <a:xfrm>
            <a:off x="647991" y="14741604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scores. Free text is LLM-scored.</a:t>
            </a:r>
            <a:endParaRPr lang="en-GB" sz="2400"/>
          </a:p>
        </p:txBody>
      </p:sp>
      <p:sp>
        <p:nvSpPr>
          <p:cNvPr id="66" name="Citation precision: share of cited pages that match annotated source pages. Are " descr="s65">
            <a:extLst>
              <a:ext uri="{FF2B5EF4-FFF2-40B4-BE49-F238E27FC236}">
                <ns2:creationId id="{4AF4C922-B179-44B4-ABDF-995DD1978AFB}"/>
              </a:ext>
            </a:extLst>
          </p:cNvPr>
          <p:cNvSpPr>
            <a:spLocks noGrp="1"/>
          </p:cNvSpPr>
          <p:nvPr/>
        </p:nvSpPr>
        <p:spPr>
          <a:xfrm>
            <a:off x="647991" y="15151340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match annotated source pages. Are the citations relevant?</a:t>
            </a:r>
            <a:endParaRPr lang="en-GB" sz="2400"/>
          </a:p>
        </p:txBody>
      </p:sp>
      <p:sp>
        <p:nvSpPr>
          <p:cNvPr id="67" name="Citation recall: share of annotated source pages cited. Is the evidence complete" descr="s66">
            <a:extLst>
              <a:ext uri="{FF2B5EF4-FFF2-40B4-BE49-F238E27FC236}">
                <ns2:creationId id="{F52809B3-6A9D-4660-AE2A-EF5A2F9B0A4F}"/>
              </a:ext>
            </a:extLst>
          </p:cNvPr>
          <p:cNvSpPr>
            <a:spLocks noGrp="1"/>
          </p:cNvSpPr>
          <p:nvPr/>
        </p:nvSpPr>
        <p:spPr>
          <a:xfrm>
            <a:off x="647991" y="15570247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annotated source pages cited. Is the evidence complete? Both average 95 questions.</a:t>
            </a:r>
            <a:endParaRPr lang="en-GB" sz="2400"/>
          </a:p>
        </p:txBody>
      </p:sp>
      <p:sp>
        <p:nvSpPr>
          <p:cNvPr id="68" name="03" descr="s67">
            <a:extLst>
              <a:ext uri="{FF2B5EF4-FFF2-40B4-BE49-F238E27FC236}">
                <ns2:creationId id="{40DD7992-C47C-4D31-98BA-5EE8ABE1D05A}"/>
              </a:ext>
            </a:extLst>
          </p:cNvPr>
          <p:cNvSpPr>
            <a:spLocks noGrp="1"/>
          </p:cNvSpPr>
          <p:nvPr/>
        </p:nvSpPr>
        <p:spPr>
          <a:xfrm>
            <a:off x="647991" y="16202470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69" name="RESULTS" descr="s68">
            <a:extLst>
              <a:ext uri="{FF2B5EF4-FFF2-40B4-BE49-F238E27FC236}">
                <ns2:creationId id="{B848F7CB-EB44-46D6-9067-55242845EECB}"/>
              </a:ext>
            </a:extLst>
          </p:cNvPr>
          <p:cNvSpPr>
            <a:spLocks noGrp="1"/>
          </p:cNvSpPr>
          <p:nvPr/>
        </p:nvSpPr>
        <p:spPr>
          <a:xfrm>
            <a:off x="1169636" y="16169413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93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70" name="R0 to R6 on the mixed corpus" descr="s69">
            <a:extLst>
              <a:ext uri="{FF2B5EF4-FFF2-40B4-BE49-F238E27FC236}">
                <ns2:creationId id="{8AAB57A9-452B-4D65-B2E8-E402463DBF82}"/>
              </a:ext>
            </a:extLst>
          </p:cNvPr>
          <p:cNvSpPr>
            <a:spLocks noGrp="1"/>
          </p:cNvSpPr>
          <p:nvPr/>
        </p:nvSpPr>
        <p:spPr>
          <a:xfrm>
            <a:off x="16538357" y="16218006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71" name="Q is an aggregate score, not the share of fully correct answers. R5 adds no scor" descr="s70">
            <a:extLst>
              <a:ext uri="{FF2B5EF4-FFF2-40B4-BE49-F238E27FC236}">
                <ns2:creationId id="{66A11795-1B4E-43F5-A07F-92230491B6D9}"/>
              </a:ext>
            </a:extLst>
          </p:cNvPr>
          <p:cNvSpPr>
            <a:spLocks noGrp="1"/>
          </p:cNvSpPr>
          <p:nvPr/>
        </p:nvSpPr>
        <p:spPr>
          <a:xfrm>
            <a:off x="647991" y="2259021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Q is an aggregate score, not the share of fully correct answers. R5 adds no score gain.</a:t>
            </a:r>
            <a:endParaRPr lang="en-GB" sz="2400"/>
          </a:p>
        </p:txBody>
      </p:sp>
      <p:sp>
        <p:nvSpPr>
          <p:cNvPr id="72" name="OCR recovers performance on scans" descr="s71">
            <a:extLst>
              <a:ext uri="{FF2B5EF4-FFF2-40B4-BE49-F238E27FC236}">
                <ns2:creationId id="{835A7939-5FED-4B7D-B786-ABD34952D4F4}"/>
              </a:ext>
            </a:extLst>
          </p:cNvPr>
          <p:cNvSpPr>
            <a:spLocks noGrp="1"/>
          </p:cNvSpPr>
          <p:nvPr/>
        </p:nvSpPr>
        <p:spPr>
          <a:xfrm>
            <a:off x="648359" y="23095640"/>
            <a:ext cx="943347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scans</a:t>
            </a:r>
            <a:endParaRPr lang="en-GB" sz="2600"/>
          </a:p>
        </p:txBody>
      </p:sp>
      <p:sp>
        <p:nvSpPr>
          <p:cNvPr id="73" name="Scanning 10 of 30 PDFs lowers Q from 65.4% to 46.2%. OCR restores most of this l" descr="s72">
            <a:extLst>
              <a:ext uri="{FF2B5EF4-FFF2-40B4-BE49-F238E27FC236}">
                <ns2:creationId id="{7F4C8A87-9594-4A59-ABCB-B832639D4485}"/>
              </a:ext>
            </a:extLst>
          </p:cNvPr>
          <p:cNvSpPr>
            <a:spLocks noGrp="1"/>
          </p:cNvSpPr>
          <p:nvPr/>
        </p:nvSpPr>
        <p:spPr>
          <a:xfrm>
            <a:off x="648359" y="25704433"/>
            <a:ext cx="943347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Scanning 10 of 30 PDFs lowers Q from 65.4% to 46.2%. OCR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most of this loss, reaching 63.2%.</a:t>
            </a:r>
            <a:endParaRPr lang="en-GB" sz="2400"/>
          </a:p>
        </p:txBody>
      </p:sp>
      <p:sp>
        <p:nvSpPr>
          <p:cNvPr id="74" name="Hypothesis evaluation" descr="s73">
            <a:extLst>
              <a:ext uri="{FF2B5EF4-FFF2-40B4-BE49-F238E27FC236}">
                <ns2:creationId id="{6ABF3230-BA4B-4F4B-87BC-F3298E9A4515}"/>
              </a:ext>
            </a:extLst>
          </p:cNvPr>
          <p:cNvSpPr>
            <a:spLocks noGrp="1"/>
          </p:cNvSpPr>
          <p:nvPr/>
        </p:nvSpPr>
        <p:spPr>
          <a:xfrm>
            <a:off x="10566694" y="23095640"/>
            <a:ext cx="101980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75" name="H1 · Partially supported. Multiple scales alone reduce Q; lexical retrieval and " descr="s74">
            <a:extLst>
              <a:ext uri="{FF2B5EF4-FFF2-40B4-BE49-F238E27FC236}">
                <ns2:creationId id="{25BAF218-A80D-4081-9E95-9BEE81E3DE0A}"/>
              </a:ext>
            </a:extLst>
          </p:cNvPr>
          <p:cNvSpPr>
            <a:spLocks noGrp="1"/>
          </p:cNvSpPr>
          <p:nvPr/>
        </p:nvSpPr>
        <p:spPr>
          <a:xfrm>
            <a:off x="10566694" y="23552012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76" name="H2 · Supported. OCR restores most of the loss caused by removing the text layer." descr="s75">
            <a:extLst>
              <a:ext uri="{FF2B5EF4-FFF2-40B4-BE49-F238E27FC236}">
                <ns2:creationId id="{C654AC74-8963-4F20-A591-517C7F4E9FE0}"/>
              </a:ext>
            </a:extLst>
          </p:cNvPr>
          <p:cNvSpPr>
            <a:spLocks noGrp="1"/>
          </p:cNvSpPr>
          <p:nvPr/>
        </p:nvSpPr>
        <p:spPr>
          <a:xfrm>
            <a:off x="10566694" y="24361386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 the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layer.</a:t>
            </a:r>
            <a:endParaRPr lang="en-GB" sz="2400"/>
          </a:p>
        </p:txBody>
      </p:sp>
      <p:sp>
        <p:nvSpPr>
          <p:cNvPr id="77" name="H3 · Supported with a trade-off. Precision rises from 27.1% to 61.8%; recall fal" descr="s76">
            <a:extLst>
              <a:ext uri="{FF2B5EF4-FFF2-40B4-BE49-F238E27FC236}">
                <ns2:creationId id="{4D87A0DC-BA09-4F6D-965D-822E9E8ACBB2}"/>
              </a:ext>
            </a:extLst>
          </p:cNvPr>
          <p:cNvSpPr>
            <a:spLocks noGrp="1"/>
          </p:cNvSpPr>
          <p:nvPr/>
        </p:nvSpPr>
        <p:spPr>
          <a:xfrm>
            <a:off x="10566694" y="25171126"/>
            <a:ext cx="10198001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 61.8%;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 falls from 78.9% to 74.7% (−4.2 pp).</a:t>
            </a:r>
            <a:endParaRPr lang="en-GB" sz="2400"/>
          </a:p>
        </p:txBody>
      </p:sp>
      <p:sp>
        <p:nvSpPr>
          <p:cNvPr id="78" name="Conclusion" descr="s77">
            <a:extLst>
              <a:ext uri="{FF2B5EF4-FFF2-40B4-BE49-F238E27FC236}">
                <ns2:creationId id="{1E6E10D2-4F93-4462-8EBE-F4044DE1CC89}"/>
              </a:ext>
            </a:extLst>
          </p:cNvPr>
          <p:cNvSpPr>
            <a:spLocks noGrp="1"/>
          </p:cNvSpPr>
          <p:nvPr/>
        </p:nvSpPr>
        <p:spPr>
          <a:xfrm>
            <a:off x="828216" y="26715244"/>
            <a:ext cx="19756636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Conclusion</a:t>
            </a:r>
            <a:endParaRPr lang="en-GB" sz="2600"/>
          </a:p>
        </p:txBody>
      </p:sp>
      <p:sp>
        <p:nvSpPr>
          <p:cNvPr id="79" name="OCR restores scans, hybrid retrieval and reranking improve answers, and citation" descr="s78">
            <a:extLst>
              <a:ext uri="{FF2B5EF4-FFF2-40B4-BE49-F238E27FC236}">
                <ns2:creationId id="{A2194483-D969-4BED-A444-249F8EF28CA7}"/>
              </a:ext>
            </a:extLst>
          </p:cNvPr>
          <p:cNvSpPr>
            <a:spLocks noGrp="1"/>
          </p:cNvSpPr>
          <p:nvPr/>
        </p:nvSpPr>
        <p:spPr>
          <a:xfrm>
            <a:off x="828216" y="27161735"/>
            <a:ext cx="19756636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OCR restores scans, hybrid retrieval and reranking improve answers, and citation selection trades recall for precision. Evaluate and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optimize answer quality and citations separately.</a:t>
            </a:r>
            <a:endParaRPr lang="en-GB" sz="2400"/>
          </a:p>
        </p:txBody>
      </p:sp>
      <p:sp>
        <p:nvSpPr>
          <p:cNvPr id="80" name="Limitations: one DIFC development corpus, 100 questions and synthetic scans; seq" descr="s79">
            <a:extLst>
              <a:ext uri="{FF2B5EF4-FFF2-40B4-BE49-F238E27FC236}">
                <ns2:creationId id="{E339DBC6-B674-450B-B851-9781850F63FC}"/>
              </a:ext>
            </a:extLst>
          </p:cNvPr>
          <p:cNvSpPr>
            <a:spLocks noGrp="1"/>
          </p:cNvSpPr>
          <p:nvPr/>
        </p:nvSpPr>
        <p:spPr>
          <a:xfrm>
            <a:off x="647991" y="28133312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Limitations: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one DIFC development corpus, 100 questions and synthetic scans; sequential additions; one run per condition, no significance</a:t>
            </a:r>
            <a:endParaRPr lang="en-GB" sz="2400"/>
          </a:p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testing; LLM-scored free text.</a:t>
            </a:r>
            <a:endParaRPr lang="en-GB" sz="2400"/>
          </a:p>
        </p:txBody>
      </p:sp>
      <p:sp>
        <p:nvSpPr>
          <p:cNvPr id="81" name="References: [1] Lewis et al. RAG (2020). [2] Pipitone &amp; Alami. LegalBench-RAG (2" descr="s80">
            <a:extLst>
              <a:ext uri="{FF2B5EF4-FFF2-40B4-BE49-F238E27FC236}">
                <ns2:creationId id="{DB635624-EAD9-40B2-BD1D-C642B9885D39}"/>
              </a:ext>
            </a:extLst>
          </p:cNvPr>
          <p:cNvSpPr>
            <a:spLocks noGrp="1"/>
          </p:cNvSpPr>
          <p:nvPr/>
        </p:nvSpPr>
        <p:spPr>
          <a:xfrm>
            <a:off x="647991" y="29048249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 (2020).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 (2024).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 (2023).</a:t>
            </a:r>
            <a:endParaRPr lang="en-GB" sz="2400"/>
          </a:p>
        </p:txBody>
      </p:sp>
      <p:sp>
        <p:nvSpPr>
          <p:cNvPr id="82" name="Code, protocol &amp; results: github.com/SteinVR/Trends-in-NLP-Poster" descr="s81">
            <a:extLst>
              <a:ext uri="{FF2B5EF4-FFF2-40B4-BE49-F238E27FC236}">
                <ns2:creationId id="{20826790-0A8E-4E44-8C23-F5BA20AADBB8}"/>
              </a:ext>
            </a:extLst>
          </p:cNvPr>
          <p:cNvSpPr>
            <a:spLocks noGrp="1"/>
          </p:cNvSpPr>
          <p:nvPr/>
        </p:nvSpPr>
        <p:spPr>
          <a:xfrm>
            <a:off x="647991" y="29438565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github.com/SteinVR/Trends-in-NLP-Poster</a:t>
            </a:r>
            <a:endParaRPr lang="en-GB" sz="2400"/>
          </a:p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02dcc7e8cb70476c">
            <a:extLst>
              <a:ext uri="{96DAC541-7B7A-43D3-8B79-37D633B846F1}">
                <ns4:svgBlip r:embed="R3b5e92c7ca0744b7"/>
              </a:ext>
            </a:extLst>
          </a:blip>
          <a:stretch/>
        </p:blipFill>
        <p:spPr>
          <a:xfrm>
            <a:off x="17676019" y="503932"/>
            <a:ext cx="3059906" cy="771227"/>
          </a:xfrm>
          <a:prstGeom prst="rect">
            <a:avLst/>
          </a:prstGeom>
        </p:spPr>
      </p:pic>
      <p:pic>
        <p:nvPicPr>
          <p:cNvPr id="169" name=""/>
          <p:cNvPicPr>
            <a:picLocks noChangeAspect="1"/>
          </p:cNvPicPr>
          <p:nvPr/>
        </p:nvPicPr>
        <p:blipFill>
          <a:blip r:embed="Rcaaf534d20824ae0">
            <a:extLst>
              <a:ext uri="{96DAC541-7B7A-43D3-8B79-37D633B846F1}">
                <ns4:svgBlip r:embed="R42883e5530d94abe"/>
              </a:ext>
            </a:extLst>
          </a:blip>
          <a:stretch/>
        </p:blipFill>
        <p:spPr>
          <a:xfrm>
            <a:off x="647998" y="16744950"/>
            <a:ext cx="20087927" cy="5851624"/>
          </a:xfrm>
          <a:prstGeom prst="rect">
            <a:avLst/>
          </a:prstGeom>
        </p:spPr>
      </p:pic>
      <p:pic>
        <p:nvPicPr>
          <p:cNvPr id="170" name=""/>
          <p:cNvPicPr>
            <a:picLocks noChangeAspect="1"/>
          </p:cNvPicPr>
          <p:nvPr/>
        </p:nvPicPr>
        <p:blipFill>
          <a:blip r:embed="Rd1d0420adcda491f">
            <a:extLst>
              <a:ext uri="{96DAC541-7B7A-43D3-8B79-37D633B846F1}">
                <ns4:svgBlip r:embed="R06065d4813134bbd"/>
              </a:ext>
            </a:extLst>
          </a:blip>
          <a:stretch/>
        </p:blipFill>
        <p:spPr>
          <a:xfrm>
            <a:off x="647998" y="23626911"/>
            <a:ext cx="9404896" cy="1944142"/>
          </a:xfrm>
          <a:prstGeom prst="rect">
            <a:avLst/>
          </a:prstGeom>
        </p:spPr>
      </p:pic>
    </p:spTree>
    <p:extLst>
      <p:ext uri="{BB962C8B-B14F-4D97-AF65-F5344CB8AC3E}">
        <ns5:creationId val="1475160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2026-09-23T12:56:54.1780000Z</dcterms:created>
  <dcterms:modified xsi:type="dcterms:W3CDTF">2026-09-23T12:56:54.1780000Z</dcterms:modified>
</coreProperties>
</file>