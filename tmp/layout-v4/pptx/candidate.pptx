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e8773a6cb46dd" /><Relationship Type="http://schemas.openxmlformats.org/officeDocument/2006/relationships/extended-properties" Target="/docProps/app.xml" Id="R036f1eb3f94846ea" /><Relationship Type="http://schemas.openxmlformats.org/officeDocument/2006/relationships/officeDocument" Target="/ppt/presentation.xml" Id="R0e34d5f9f110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a93dd25ef46e4"/>
  </p:sldMasterIdLst>
  <p:notesMasterIdLst>
    <p:notesMasterId xmlns:r="http://schemas.openxmlformats.org/officeDocument/2006/relationships" r:id="R377e7a503a484ca8"/>
  </p:notesMasterIdLst>
  <p:sldIdLst>
    <p:sldId xmlns:r="http://schemas.openxmlformats.org/officeDocument/2006/relationships" id="256" r:id="Rc9b390fdee1a4af6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2871dfd594d46" /><Relationship Type="http://schemas.openxmlformats.org/officeDocument/2006/relationships/slideMaster" Target="/ppt/slideMasters/slideMaster1.xml" Id="Ra60a93dd25ef46e4" /><Relationship Type="http://schemas.openxmlformats.org/officeDocument/2006/relationships/notesMaster" Target="/ppt/notesMasters/notesMaster1.xml" Id="R377e7a503a484ca8" /><Relationship Type="http://schemas.openxmlformats.org/officeDocument/2006/relationships/presProps" Target="/ppt/presProps.xml" Id="R4c6d8cad6778492f" /><Relationship Type="http://schemas.openxmlformats.org/officeDocument/2006/relationships/tableStyles" Target="/ppt/tableStyles.xml" Id="R96f142e105b54f1c" /><Relationship Type="http://schemas.openxmlformats.org/officeDocument/2006/relationships/slide" Target="/ppt/slides/slide1.xml" Id="Rc9b390fdee1a4a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b71771660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36e5a3a82456a" /><Relationship Type="http://schemas.openxmlformats.org/officeDocument/2006/relationships/notesMaster" Target="/ppt/notesMasters/notesMaster1.xml" Id="R345c532a33cd4a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approved layout-v4 poster. Source: ../index.html and ../poster.pdf. Text, cards, plot series and data labels are native editable objects; charts use grouped vector elements to preserve the approved layout rather than Excel chart objects. Icons and university logo are vector SVG graphics. Measurements: ../../results/metrics.csv. Scientific text: external/Final layout and text.pdf. Code and reproducibility: https://github.com/SteinVR/Trends-in-NLP-Poster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daae4a81c4e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aa053039734730" /><Relationship Type="http://schemas.openxmlformats.org/officeDocument/2006/relationships/slideLayout" Target="/ppt/slideLayouts/slideLayout1.xml" Id="R2f26a8cf40fd49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6a8cf40fd49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6bf3c71aa42ee" /><Relationship Type="http://schemas.openxmlformats.org/officeDocument/2006/relationships/image" Target="/ppt/media/image.png" Id="Rbc8f7fe3c81b4ab8" /><Relationship Type="http://schemas.openxmlformats.org/officeDocument/2006/relationships/image" Target="/ppt/media/image.svg" Id="Rdb333644fa424497" /><Relationship Type="http://schemas.openxmlformats.org/officeDocument/2006/relationships/image" Target="/ppt/media/image2.png" Id="R3cefcdab79504b20" /><Relationship Type="http://schemas.openxmlformats.org/officeDocument/2006/relationships/image" Target="/ppt/media/image2.svg" Id="R455c67edd2734b89" /><Relationship Type="http://schemas.openxmlformats.org/officeDocument/2006/relationships/image" Target="/ppt/media/image3.png" Id="R7fed2d3dd82d473f" /><Relationship Type="http://schemas.openxmlformats.org/officeDocument/2006/relationships/image" Target="/ppt/media/image3.svg" Id="R17cf09e1076c4e46" /><Relationship Type="http://schemas.openxmlformats.org/officeDocument/2006/relationships/image" Target="/ppt/media/image4.png" Id="R16e9ebc7e354487a" /><Relationship Type="http://schemas.openxmlformats.org/officeDocument/2006/relationships/image" Target="/ppt/media/image4.svg" Id="Rf5a70fbbc7f94a40" /><Relationship Type="http://schemas.openxmlformats.org/officeDocument/2006/relationships/image" Target="/ppt/media/image5.png" Id="R3b8f3b8281604ca6" /><Relationship Type="http://schemas.openxmlformats.org/officeDocument/2006/relationships/image" Target="/ppt/media/image5.svg" Id="R75c2c647d0ae4e00" /><Relationship Type="http://schemas.openxmlformats.org/officeDocument/2006/relationships/image" Target="/ppt/media/image6.png" Id="Rafdf736ee59c47cc" /><Relationship Type="http://schemas.openxmlformats.org/officeDocument/2006/relationships/image" Target="/ppt/media/image6.svg" Id="R6cccafd5af4848d2" /><Relationship Type="http://schemas.openxmlformats.org/officeDocument/2006/relationships/image" Target="/ppt/media/image7.png" Id="Rb5b5cd85b7434022" /><Relationship Type="http://schemas.openxmlformats.org/officeDocument/2006/relationships/image" Target="/ppt/media/image7.svg" Id="Rc0bd8c8098634ab8" /><Relationship Type="http://schemas.openxmlformats.org/officeDocument/2006/relationships/image" Target="/ppt/media/image8.png" Id="R06b17e4c381c4c55" /><Relationship Type="http://schemas.openxmlformats.org/officeDocument/2006/relationships/image" Target="/ppt/media/image8.svg" Id="R17c3a88c45284ac4" /><Relationship Type="http://schemas.openxmlformats.org/officeDocument/2006/relationships/image" Target="/ppt/media/image9.png" Id="Rf1b0872b5a6a4938" /><Relationship Type="http://schemas.openxmlformats.org/officeDocument/2006/relationships/image" Target="/ppt/media/image9.svg" Id="R43b79e1ce16f4af0" /><Relationship Type="http://schemas.openxmlformats.org/officeDocument/2006/relationships/image" Target="/ppt/media/image10.png" Id="Ra600342c4bc94505" /><Relationship Type="http://schemas.openxmlformats.org/officeDocument/2006/relationships/image" Target="/ppt/media/image10.svg" Id="Reb48d4c706254c8a" /><Relationship Type="http://schemas.openxmlformats.org/officeDocument/2006/relationships/image" Target="/ppt/media/image11.png" Id="R02314f3531f74082" /><Relationship Type="http://schemas.openxmlformats.org/officeDocument/2006/relationships/image" Target="/ppt/media/image11.svg" Id="R311fc11a30024f58" /><Relationship Type="http://schemas.openxmlformats.org/officeDocument/2006/relationships/notesSlide" Target="/ppt/notesSlides/notesSlide1.xml" Id="R0635ee216f494267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03" name="Rule" descr="s0">
            <a:extLst>
              <a:ext uri="{FF2B5EF4-FFF2-40B4-BE49-F238E27FC236}">
                <ns2:creationId id="{C4510521-74E6-4FEC-B042-BDB90C27E9BC}"/>
              </a:ext>
            </a:extLst>
          </p:cNvPr>
          <p:cNvSpPr>
            <a:spLocks noGrp="1"/>
          </p:cNvSpPr>
          <p:nvPr/>
        </p:nvSpPr>
        <p:spPr>
          <a:xfrm>
            <a:off x="287982" y="1256407"/>
            <a:ext cx="29699992" cy="19050"/>
          </a:xfrm>
          <a:prstGeom prst="rect">
            <a:avLst/>
          </a:prstGeom>
          <a:solidFill>
            <a:srgbClr val="A8CBDC"/>
          </a:solidFill>
          <a:ln w="0">
            <a:noFill/>
          </a:ln>
        </p:spPr>
      </p:sp>
      <p:grpSp>
        <p:nvGrpSpPr>
          <p:cNvPr id="556" name="1. Research Context"/>
          <p:cNvGrpSpPr/>
          <p:nvPr/>
        </p:nvGrpSpPr>
        <p:grpSpPr>
          <a:xfrm>
            <a:off x="287982" y="1351657"/>
            <a:ext cx="8612981" cy="3983831"/>
            <a:chOff x="287982" y="1351657"/>
            <a:chExt cx="8612981" cy="3983831"/>
          </a:xfrm>
        </p:grpSpPr>
        <p:sp>
          <p:nvSpPr>
            <p:cNvPr id="2" name="Panel H2" descr="s1">
              <a:extLst>
                <a:ext uri="{FF2B5EF4-FFF2-40B4-BE49-F238E27FC236}">
                  <ns2:creationId id="{BC725857-FF33-4EF9-B75C-DCEFC00F3F36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51657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3" name="Panel content" descr="s2">
              <a:extLst>
                <a:ext uri="{FF2B5EF4-FFF2-40B4-BE49-F238E27FC236}">
                  <ns2:creationId id="{A520929F-D725-48A1-8573-9033C48BD66D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868984"/>
              <a:ext cx="8612981" cy="3466505"/>
            </a:xfrm>
            <a:custGeom>
              <a:avLst/>
              <a:gdLst/>
              <a:ahLst/>
              <a:cxnLst/>
              <a:rect l="0" t="0" r="r" b="b"/>
              <a:pathLst>
                <a:path w="904250" h="363938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354938"/>
                  </a:lnTo>
                  <a:cubicBezTo>
                    <a:pt x="904250" y="359908"/>
                    <a:pt x="900221" y="363938"/>
                    <a:pt x="895250" y="363938"/>
                  </a:cubicBezTo>
                  <a:lnTo>
                    <a:pt x="9000" y="363938"/>
                  </a:lnTo>
                  <a:cubicBezTo>
                    <a:pt x="4029" y="363938"/>
                    <a:pt x="0" y="359908"/>
                    <a:pt x="0" y="35493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36" name="1. Research Context" descr="t2">
              <a:extLst>
                <a:ext uri="{FF2B5EF4-FFF2-40B4-BE49-F238E27FC236}">
                  <ns2:creationId id="{214A690C-2F3D-4CC3-82E8-3E591B56B4E4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397032"/>
              <a:ext cx="2675470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1. Research Context</a:t>
              </a:r>
              <a:endParaRPr lang="en-GB" sz="2800"/>
            </a:p>
          </p:txBody>
        </p:sp>
        <p:sp>
          <p:nvSpPr>
            <p:cNvPr id="137" name="RAG grounds language-model answers in external documents, but legal QA" descr="t3">
              <a:extLst>
                <a:ext uri="{FF2B5EF4-FFF2-40B4-BE49-F238E27FC236}">
                  <ns2:creationId id="{AD374315-61ED-48B2-A9CA-4C3A147D1D6F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971675"/>
              <a:ext cx="770216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RAG grounds language-model answers in external documents, but legal QA</a:t>
              </a:r>
              <a:endParaRPr lang="en-GB" sz="2400"/>
            </a:p>
          </p:txBody>
        </p:sp>
        <p:sp>
          <p:nvSpPr>
            <p:cNvPr id="138" name="requires a pipeline to satisfy two goals at once: retrieve enough rele" descr="t4">
              <a:extLst>
                <a:ext uri="{FF2B5EF4-FFF2-40B4-BE49-F238E27FC236}">
                  <ns2:creationId id="{45ACC1EA-5B24-4F35-A6DD-F8CC8BC0231D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2295525"/>
              <a:ext cx="754061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requires a pipeline to satisfy two goals at once: retrieve enough relevant</a:t>
              </a:r>
              <a:endParaRPr lang="en-GB" sz="2400"/>
            </a:p>
          </p:txBody>
        </p:sp>
        <p:sp>
          <p:nvSpPr>
            <p:cNvPr id="139" name="evidence to produce a correct answer, while keeping source-page citati" descr="t5">
              <a:extLst>
                <a:ext uri="{FF2B5EF4-FFF2-40B4-BE49-F238E27FC236}">
                  <ns2:creationId id="{026C5774-53D5-4CF3-8F30-BF0C5141277D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2609850"/>
              <a:ext cx="784358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evidence to produce a correct answer, while keeping source-page citations</a:t>
              </a:r>
              <a:endParaRPr lang="en-GB" sz="2400"/>
            </a:p>
          </p:txBody>
        </p:sp>
        <p:sp>
          <p:nvSpPr>
            <p:cNvPr id="140" name="precise and complete. This is challenging because legal PDFs may lack" descr="t6">
              <a:extLst>
                <a:ext uri="{FF2B5EF4-FFF2-40B4-BE49-F238E27FC236}">
                  <ns2:creationId id="{3FD8FCFD-365A-40EB-BECA-7B04F86E4D29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2933700"/>
              <a:ext cx="73537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precise and complete. This is challenging because legal PDFs may lack</a:t>
              </a:r>
              <a:endParaRPr lang="en-GB" sz="2400"/>
            </a:p>
          </p:txBody>
        </p:sp>
        <p:sp>
          <p:nvSpPr>
            <p:cNvPr id="141" name="machine-readable text, evidence can appear at different textual scales" descr="t7">
              <a:extLst>
                <a:ext uri="{FF2B5EF4-FFF2-40B4-BE49-F238E27FC236}">
                  <ns2:creationId id="{3029FAD8-CF09-4908-9629-16639C1C33E3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3257550"/>
              <a:ext cx="789967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machine-readable text, evidence can appear at different textual scales, and</a:t>
              </a:r>
              <a:endParaRPr lang="en-GB" sz="2400"/>
            </a:p>
          </p:txBody>
        </p:sp>
        <p:sp>
          <p:nvSpPr>
            <p:cNvPr id="142" name="questions may depend on either exact legal references or semantic simi" descr="t8">
              <a:extLst>
                <a:ext uri="{FF2B5EF4-FFF2-40B4-BE49-F238E27FC236}">
                  <ns2:creationId id="{954449D4-E3D4-4B59-8C92-608FA79B0D2F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3571875"/>
              <a:ext cx="811242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questions may depend on either exact legal references or semantic similarity.</a:t>
              </a:r>
              <a:endParaRPr lang="en-GB" sz="2400"/>
            </a:p>
          </p:txBody>
        </p:sp>
        <p:sp>
          <p:nvSpPr>
            <p:cNvPr id="143" name="Moreover, retrieving more evidence can improve coverage while also" descr="t9">
              <a:extLst>
                <a:ext uri="{FF2B5EF4-FFF2-40B4-BE49-F238E27FC236}">
                  <ns2:creationId id="{42E57847-6976-4007-B24D-6B23C0FD9E19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3895725"/>
              <a:ext cx="713614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Moreover, retrieving more evidence can improve coverage while also</a:t>
              </a:r>
              <a:endParaRPr lang="en-GB" sz="2400"/>
            </a:p>
          </p:txBody>
        </p:sp>
        <p:sp>
          <p:nvSpPr>
            <p:cNvPr id="144" name="introducing irrelevant source pages. We therefore examine how design c" descr="t10">
              <a:extLst>
                <a:ext uri="{FF2B5EF4-FFF2-40B4-BE49-F238E27FC236}">
                  <ns2:creationId id="{46BDC178-E0F9-4B75-85C2-1244BFD67DAC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4210050"/>
              <a:ext cx="822275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introducing irrelevant source pages. We therefore examine how design choices</a:t>
              </a:r>
              <a:endParaRPr lang="en-GB" sz="2400"/>
            </a:p>
          </p:txBody>
        </p:sp>
        <p:sp>
          <p:nvSpPr>
            <p:cNvPr id="145" name="in document processing, retrieval, and attribution can improve answer " descr="t11">
              <a:extLst>
                <a:ext uri="{FF2B5EF4-FFF2-40B4-BE49-F238E27FC236}">
                  <ns2:creationId id="{F6A7BC27-514A-410A-8004-90FA9AD44324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4533900"/>
              <a:ext cx="808072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 document processing, retrieval, and attribution can improve answer quality</a:t>
              </a:r>
              <a:endParaRPr lang="en-GB" sz="2400"/>
            </a:p>
          </p:txBody>
        </p:sp>
        <p:sp>
          <p:nvSpPr>
            <p:cNvPr id="146" name="without sacrificing citation quality." descr="t12">
              <a:extLst>
                <a:ext uri="{FF2B5EF4-FFF2-40B4-BE49-F238E27FC236}">
                  <ns2:creationId id="{6D646C2A-05FA-4717-A35C-EC20C13316C2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4857750"/>
              <a:ext cx="366995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without sacrificing citation quality.</a:t>
              </a:r>
              <a:endParaRPr lang="en-GB" sz="2400"/>
            </a:p>
          </p:txBody>
        </p:sp>
      </p:grpSp>
      <p:grpSp>
        <p:nvGrpSpPr>
          <p:cNvPr id="555" name="2. Prior Work &amp; Study Focus"/>
          <p:cNvGrpSpPr/>
          <p:nvPr/>
        </p:nvGrpSpPr>
        <p:grpSpPr>
          <a:xfrm>
            <a:off x="287982" y="5588943"/>
            <a:ext cx="8612981" cy="5454253"/>
            <a:chOff x="287982" y="5588943"/>
            <a:chExt cx="8612981" cy="5454253"/>
          </a:xfrm>
        </p:grpSpPr>
        <p:sp>
          <p:nvSpPr>
            <p:cNvPr id="4" name="Panel H2" descr="s3">
              <a:extLst>
                <a:ext uri="{FF2B5EF4-FFF2-40B4-BE49-F238E27FC236}">
                  <ns2:creationId id="{F74DE179-0C76-4C2D-9949-58D5F7F5706A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5588943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" name="Panel content" descr="s4">
              <a:extLst>
                <a:ext uri="{FF2B5EF4-FFF2-40B4-BE49-F238E27FC236}">
                  <ns2:creationId id="{C9274C89-88B7-4D93-AA81-D94FE3F37E4C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6106269"/>
              <a:ext cx="8612981" cy="4936927"/>
            </a:xfrm>
            <a:custGeom>
              <a:avLst/>
              <a:gdLst/>
              <a:ahLst/>
              <a:cxnLst/>
              <a:rect l="0" t="0" r="r" b="b"/>
              <a:pathLst>
                <a:path w="904250" h="518312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509312"/>
                  </a:lnTo>
                  <a:cubicBezTo>
                    <a:pt x="904250" y="514283"/>
                    <a:pt x="900221" y="518312"/>
                    <a:pt x="895250" y="518312"/>
                  </a:cubicBezTo>
                  <a:lnTo>
                    <a:pt x="9000" y="518312"/>
                  </a:lnTo>
                  <a:cubicBezTo>
                    <a:pt x="4029" y="518312"/>
                    <a:pt x="0" y="514283"/>
                    <a:pt x="0" y="50931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47" name="2. Prior Work &amp; Study Focus" descr="t13">
              <a:extLst>
                <a:ext uri="{FF2B5EF4-FFF2-40B4-BE49-F238E27FC236}">
                  <ns2:creationId id="{6F787020-65EF-4B31-9D5D-43C029D4131D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5635657"/>
              <a:ext cx="3739702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2. Prior Work &amp; Study Focus</a:t>
              </a:r>
              <a:endParaRPr lang="en-GB" sz="2800"/>
            </a:p>
          </p:txBody>
        </p:sp>
        <p:sp>
          <p:nvSpPr>
            <p:cNvPr id="148" name="Retrieval-augmented generation (RAG) conditions language-model answers" descr="t14">
              <a:extLst>
                <a:ext uri="{FF2B5EF4-FFF2-40B4-BE49-F238E27FC236}">
                  <ns2:creationId id="{E5AEE112-2843-407F-8CC6-719DE4D3997A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6210300"/>
              <a:ext cx="811425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Retrieval-augmented generation (RAG) conditions language-model answers on</a:t>
              </a:r>
              <a:endParaRPr lang="en-GB" sz="2400"/>
            </a:p>
          </p:txBody>
        </p:sp>
        <p:sp>
          <p:nvSpPr>
            <p:cNvPr id="149" name="retrieved documents [1]. Legal retrieval must balance precision and co" descr="t15">
              <a:extLst>
                <a:ext uri="{FF2B5EF4-FFF2-40B4-BE49-F238E27FC236}">
                  <ns2:creationId id="{F360ACE6-1C0C-4449-9379-5D31646C176C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6534150"/>
              <a:ext cx="811577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retrieved documents [1]. Legal retrieval must balance precision and coverage:</a:t>
              </a:r>
              <a:endParaRPr lang="en-GB" sz="2400"/>
            </a:p>
          </p:txBody>
        </p:sp>
        <p:sp>
          <p:nvSpPr>
            <p:cNvPr id="150" name="LegalBench-RAG targets minimal relevant passages [2], while regulatory" descr="t16">
              <a:extLst>
                <a:ext uri="{FF2B5EF4-FFF2-40B4-BE49-F238E27FC236}">
                  <ns2:creationId id="{421F9068-1426-4114-A8C4-118E67E4D40C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6848475"/>
              <a:ext cx="782987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LegalBench-RAG targets minimal relevant passages [2], while regulatory QA</a:t>
              </a:r>
              <a:endParaRPr lang="en-GB" sz="2400"/>
            </a:p>
          </p:txBody>
        </p:sp>
        <p:sp>
          <p:nvSpPr>
            <p:cNvPr id="151" name="studies show that retrieving all supporting evidence becomes harder wh" descr="t17">
              <a:extLst>
                <a:ext uri="{FF2B5EF4-FFF2-40B4-BE49-F238E27FC236}">
                  <ns2:creationId id="{8ED068F2-DBCD-4450-9214-8A24311CD0B8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7172325"/>
              <a:ext cx="797769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studies show that retrieving all supporting evidence becomes harder when it</a:t>
              </a:r>
              <a:endParaRPr lang="en-GB" sz="2400"/>
            </a:p>
          </p:txBody>
        </p:sp>
        <p:sp>
          <p:nvSpPr>
            <p:cNvPr id="152" name="spans multiple passages [3]. In an end-to-end legal benchmark, retriev" descr="t18">
              <a:extLst>
                <a:ext uri="{FF2B5EF4-FFF2-40B4-BE49-F238E27FC236}">
                  <ns2:creationId id="{4F9804B7-C190-407C-8C0D-8610C350A014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7486650"/>
              <a:ext cx="830048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spans multiple passages [3]. In an end-to-end legal benchmark, retrieval-model</a:t>
              </a:r>
              <a:endParaRPr lang="en-GB" sz="2400"/>
            </a:p>
          </p:txBody>
        </p:sp>
        <p:sp>
          <p:nvSpPr>
            <p:cNvPr id="153" name="choice had a larger effect on answer correctness than generator choice" descr="t19">
              <a:extLst>
                <a:ext uri="{FF2B5EF4-FFF2-40B4-BE49-F238E27FC236}">
                  <ns2:creationId id="{E1B0EDB7-14DA-4171-B541-BEC4E0F0A2CE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7810500"/>
              <a:ext cx="791735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choice had a larger effect on answer correctness than generator choice [4].</a:t>
              </a:r>
              <a:endParaRPr lang="en-GB" sz="2400"/>
            </a:p>
          </p:txBody>
        </p:sp>
        <p:sp>
          <p:nvSpPr>
            <p:cNvPr id="154" name="Evaluation also extends beyond correctness. Legal QA research examines" descr="t20">
              <a:extLst>
                <a:ext uri="{FF2B5EF4-FFF2-40B4-BE49-F238E27FC236}">
                  <ns2:creationId id="{66538862-91F3-4098-B9E9-F90D5B9D7F74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8229600"/>
              <a:ext cx="760950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Evaluation also extends beyond correctness. Legal QA research examines</a:t>
              </a:r>
              <a:endParaRPr lang="en-GB" sz="2400"/>
            </a:p>
          </p:txBody>
        </p:sp>
        <p:sp>
          <p:nvSpPr>
            <p:cNvPr id="155" name="whether answers are supported by the supplied context [5], while ALCE" descr="t21">
              <a:extLst>
                <a:ext uri="{FF2B5EF4-FFF2-40B4-BE49-F238E27FC236}">
                  <ns2:creationId id="{AE6FBC87-7B3C-4B06-BD97-EAB7212B9C70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8543925"/>
              <a:ext cx="740955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whether answers are supported by the supplied context [5], while ALCE</a:t>
              </a:r>
              <a:endParaRPr lang="en-GB" sz="2400"/>
            </a:p>
          </p:txBody>
        </p:sp>
        <p:sp>
          <p:nvSpPr>
            <p:cNvPr id="156" name="evaluates answer correctness and citation quality separately [6]. Toge" descr="t22">
              <a:extLst>
                <a:ext uri="{FF2B5EF4-FFF2-40B4-BE49-F238E27FC236}">
                  <ns2:creationId id="{B1C9504E-5631-48B9-A158-E09C0771A2FE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8867775"/>
              <a:ext cx="77981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evaluates answer correctness and citation quality separately [6]. Together,</a:t>
              </a:r>
              <a:endParaRPr lang="en-GB" sz="2400"/>
            </a:p>
          </p:txBody>
        </p:sp>
        <p:sp>
          <p:nvSpPr>
            <p:cNvPr id="157" name="these studies motivate evaluating both the evidence available to the g" descr="t23">
              <a:extLst>
                <a:ext uri="{FF2B5EF4-FFF2-40B4-BE49-F238E27FC236}">
                  <ns2:creationId id="{AD703068-6E6C-40B6-9D98-2CFD2ECABA9B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9182100"/>
              <a:ext cx="818283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these studies motivate evaluating both the evidence available to the generator</a:t>
              </a:r>
              <a:endParaRPr lang="en-GB" sz="2400"/>
            </a:p>
          </p:txBody>
        </p:sp>
        <p:sp>
          <p:nvSpPr>
            <p:cNvPr id="158" name="and the sources ultimately cited." descr="t24">
              <a:extLst>
                <a:ext uri="{FF2B5EF4-FFF2-40B4-BE49-F238E27FC236}">
                  <ns2:creationId id="{4D8BAD09-02E2-4958-8B2A-44CF408A9DD0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9505950"/>
              <a:ext cx="344074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and the sources ultimately cited.</a:t>
              </a:r>
              <a:endParaRPr lang="en-GB" sz="2400"/>
            </a:p>
          </p:txBody>
        </p:sp>
        <p:sp>
          <p:nvSpPr>
            <p:cNvPr id="159" name="Our study complements these approaches by holding the generator fixed " descr="t25">
              <a:extLst>
                <a:ext uri="{FF2B5EF4-FFF2-40B4-BE49-F238E27FC236}">
                  <ns2:creationId id="{6AADEED6-660E-4D16-BAFB-8B2FEE04EF21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9925050"/>
              <a:ext cx="802433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Our study complements these approaches by holding the generator fixed and</a:t>
              </a:r>
              <a:endParaRPr lang="en-GB" sz="2400"/>
            </a:p>
          </p:txBody>
        </p:sp>
        <p:sp>
          <p:nvSpPr>
            <p:cNvPr id="160" name="examining a broader sequence of pipeline choices, from document proces" descr="t26">
              <a:extLst>
                <a:ext uri="{FF2B5EF4-FFF2-40B4-BE49-F238E27FC236}">
                  <ns2:creationId id="{85BF4F1C-B9B9-453D-8B10-2F8C18025526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0239375"/>
              <a:ext cx="816545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examining a broader sequence of pipeline choices, from document processing</a:t>
              </a:r>
              <a:endParaRPr lang="en-GB" sz="2400"/>
            </a:p>
          </p:txBody>
        </p:sp>
        <p:sp>
          <p:nvSpPr>
            <p:cNvPr id="161" name="to final page selection." descr="t27">
              <a:extLst>
                <a:ext uri="{FF2B5EF4-FFF2-40B4-BE49-F238E27FC236}">
                  <ns2:creationId id="{2DAB989F-1F98-43E5-B84C-BF5D1E46F681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0563225"/>
              <a:ext cx="24050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final page selection.</a:t>
              </a:r>
              <a:endParaRPr lang="en-GB" sz="2400"/>
            </a:p>
          </p:txBody>
        </p:sp>
      </p:grpSp>
      <p:grpSp>
        <p:nvGrpSpPr>
          <p:cNvPr id="554" name="3. Research question"/>
          <p:cNvGrpSpPr/>
          <p:nvPr/>
        </p:nvGrpSpPr>
        <p:grpSpPr>
          <a:xfrm>
            <a:off x="287982" y="11296650"/>
            <a:ext cx="8612981" cy="1888629"/>
            <a:chOff x="287982" y="11296650"/>
            <a:chExt cx="8612981" cy="1888629"/>
          </a:xfrm>
        </p:grpSpPr>
        <p:sp>
          <p:nvSpPr>
            <p:cNvPr id="6" name="Panel H2" descr="s5">
              <a:extLst>
                <a:ext uri="{FF2B5EF4-FFF2-40B4-BE49-F238E27FC236}">
                  <ns2:creationId id="{FD928323-573F-4156-8AB9-513B5C35C450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1296650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7" name="Panel content" descr="s6">
              <a:extLst>
                <a:ext uri="{FF2B5EF4-FFF2-40B4-BE49-F238E27FC236}">
                  <ns2:creationId id="{0A62A24F-2E8F-4755-8745-F6AC91D0123C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1813977"/>
              <a:ext cx="8612981" cy="1371302"/>
            </a:xfrm>
            <a:custGeom>
              <a:avLst/>
              <a:gdLst/>
              <a:ahLst/>
              <a:cxnLst/>
              <a:rect l="0" t="0" r="r" b="b"/>
              <a:pathLst>
                <a:path w="904250" h="143969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134969"/>
                  </a:lnTo>
                  <a:cubicBezTo>
                    <a:pt x="904250" y="139939"/>
                    <a:pt x="900221" y="143969"/>
                    <a:pt x="895250" y="143969"/>
                  </a:cubicBezTo>
                  <a:lnTo>
                    <a:pt x="9000" y="143969"/>
                  </a:lnTo>
                  <a:cubicBezTo>
                    <a:pt x="4029" y="143969"/>
                    <a:pt x="0" y="139939"/>
                    <a:pt x="0" y="13496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F5FC"/>
            </a:solidFill>
            <a:ln w="9525">
              <a:solidFill>
                <a:srgbClr val="D9E9F1"/>
              </a:solidFill>
            </a:ln>
          </p:spPr>
        </p:sp>
        <p:sp>
          <p:nvSpPr>
            <p:cNvPr id="162" name="3. Research question" descr="t28">
              <a:extLst>
                <a:ext uri="{FF2B5EF4-FFF2-40B4-BE49-F238E27FC236}">
                  <ns2:creationId id="{088C9B19-6585-4508-8FFE-9167A7422F3D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1341132"/>
              <a:ext cx="2850391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3. Research question</a:t>
              </a:r>
              <a:endParaRPr lang="en-GB" sz="2800"/>
            </a:p>
          </p:txBody>
        </p:sp>
        <p:sp>
          <p:nvSpPr>
            <p:cNvPr id="163" name="With the answer generator fixed, which pipeline additions improve" descr="t29">
              <a:extLst>
                <a:ext uri="{FF2B5EF4-FFF2-40B4-BE49-F238E27FC236}">
                  <ns2:creationId id="{DD4BACB0-E69E-4D85-9AA2-0B0321AE69D7}"/>
                </a:ext>
              </a:extLst>
            </p:cNvPr>
            <p:cNvSpPr>
              <a:spLocks noGrp="1"/>
            </p:cNvSpPr>
            <p:nvPr/>
          </p:nvSpPr>
          <p:spPr>
            <a:xfrm>
              <a:off x="785515" y="11950732"/>
              <a:ext cx="7674998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With the answer generator fixed, which pipeline additions improve</a:t>
              </a:r>
              <a:endParaRPr lang="en-GB" sz="2500"/>
            </a:p>
          </p:txBody>
        </p:sp>
        <p:sp>
          <p:nvSpPr>
            <p:cNvPr id="164" name="answer quality and page-level citation precision and recall, and where" descr="t30">
              <a:extLst>
                <a:ext uri="{FF2B5EF4-FFF2-40B4-BE49-F238E27FC236}">
                  <ns2:creationId id="{0E7AAC97-686B-47A7-A159-53BF724C1E4F}"/>
                </a:ext>
              </a:extLst>
            </p:cNvPr>
            <p:cNvSpPr>
              <a:spLocks noGrp="1"/>
            </p:cNvSpPr>
            <p:nvPr/>
          </p:nvSpPr>
          <p:spPr>
            <a:xfrm>
              <a:off x="561380" y="12303157"/>
              <a:ext cx="8123238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answer quality and page-level citation precision and recall, and where</a:t>
              </a:r>
              <a:endParaRPr lang="en-GB" sz="2500"/>
            </a:p>
          </p:txBody>
        </p:sp>
        <p:sp>
          <p:nvSpPr>
            <p:cNvPr id="165" name="do these objectives conflict?" descr="t31">
              <a:extLst>
                <a:ext uri="{FF2B5EF4-FFF2-40B4-BE49-F238E27FC236}">
                  <ns2:creationId id="{23F63FE0-16E0-4C11-BE00-8923A672E43B}"/>
                </a:ext>
              </a:extLst>
            </p:cNvPr>
            <p:cNvSpPr>
              <a:spLocks noGrp="1"/>
            </p:cNvSpPr>
            <p:nvPr/>
          </p:nvSpPr>
          <p:spPr>
            <a:xfrm>
              <a:off x="2934593" y="12655582"/>
              <a:ext cx="3376730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do these objectives conflict?</a:t>
              </a:r>
              <a:endParaRPr lang="en-GB" sz="2500"/>
            </a:p>
          </p:txBody>
        </p:sp>
      </p:grpSp>
      <p:grpSp>
        <p:nvGrpSpPr>
          <p:cNvPr id="553" name="4. Our Contribution"/>
          <p:cNvGrpSpPr/>
          <p:nvPr/>
        </p:nvGrpSpPr>
        <p:grpSpPr>
          <a:xfrm>
            <a:off x="287982" y="13438733"/>
            <a:ext cx="8612981" cy="2703909"/>
            <a:chOff x="287982" y="13438733"/>
            <a:chExt cx="8612981" cy="2703909"/>
          </a:xfrm>
        </p:grpSpPr>
        <p:sp>
          <p:nvSpPr>
            <p:cNvPr id="8" name="Panel H2" descr="s7">
              <a:extLst>
                <a:ext uri="{FF2B5EF4-FFF2-40B4-BE49-F238E27FC236}">
                  <ns2:creationId id="{10E16712-CB8A-4B65-A47D-59A036631090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438733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9" name="Panel content" descr="s8">
              <a:extLst>
                <a:ext uri="{FF2B5EF4-FFF2-40B4-BE49-F238E27FC236}">
                  <ns2:creationId id="{5BCF1005-A4A3-4A93-ADB0-7A87C920C90B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956060"/>
              <a:ext cx="8612981" cy="2186583"/>
            </a:xfrm>
            <a:custGeom>
              <a:avLst/>
              <a:gdLst/>
              <a:ahLst/>
              <a:cxnLst/>
              <a:rect l="0" t="0" r="r" b="b"/>
              <a:pathLst>
                <a:path w="904250" h="229562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220562"/>
                  </a:lnTo>
                  <a:cubicBezTo>
                    <a:pt x="904250" y="225533"/>
                    <a:pt x="900221" y="229562"/>
                    <a:pt x="895250" y="229562"/>
                  </a:cubicBezTo>
                  <a:lnTo>
                    <a:pt x="9000" y="229562"/>
                  </a:lnTo>
                  <a:cubicBezTo>
                    <a:pt x="4029" y="229562"/>
                    <a:pt x="0" y="225533"/>
                    <a:pt x="0" y="22056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66" name="4. Our Contribution" descr="t32">
              <a:extLst>
                <a:ext uri="{FF2B5EF4-FFF2-40B4-BE49-F238E27FC236}">
                  <ns2:creationId id="{C6A5A21B-458F-4DF7-BE66-1EF345D2ABAD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3484256"/>
              <a:ext cx="2575948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4. Our Contribution</a:t>
              </a:r>
              <a:endParaRPr lang="en-GB" sz="2800"/>
            </a:p>
          </p:txBody>
        </p:sp>
        <p:sp>
          <p:nvSpPr>
            <p:cNvPr id="167" name="We build a Legal RAG pipeline and provide an empirical comparison of s" descr="t33">
              <a:extLst>
                <a:ext uri="{FF2B5EF4-FFF2-40B4-BE49-F238E27FC236}">
                  <ns2:creationId id="{832CD1E5-D462-4BE0-B125-51F8AABD7C73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4058900"/>
              <a:ext cx="791430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We build a Legal RAG pipeline and provide an empirical comparison of seven</a:t>
              </a:r>
              <a:endParaRPr lang="en-GB" sz="2400"/>
            </a:p>
          </p:txBody>
        </p:sp>
        <p:sp>
          <p:nvSpPr>
            <p:cNvPr id="168" name="cumulative configurations on 30 documents and 100 questions. By adding" descr="t34">
              <a:extLst>
                <a:ext uri="{FF2B5EF4-FFF2-40B4-BE49-F238E27FC236}">
                  <ns2:creationId id="{B5304FE5-00A3-4FA6-A7DC-6002D014FFC5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4382750"/>
              <a:ext cx="767868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cumulative configurations on 30 documents and 100 questions. By adding</a:t>
              </a:r>
              <a:endParaRPr lang="en-GB" sz="2400"/>
            </a:p>
          </p:txBody>
        </p:sp>
        <p:sp>
          <p:nvSpPr>
            <p:cNvPr id="169" name="components sequentially while keeping the answer generator fixed, we m" descr="t35">
              <a:extLst>
                <a:ext uri="{FF2B5EF4-FFF2-40B4-BE49-F238E27FC236}">
                  <ns2:creationId id="{5E397B48-C1EE-43E4-A628-43D7713E6AED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4697075"/>
              <a:ext cx="8343155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components sequentially while keeping the answer generator fixed, we measure</a:t>
              </a:r>
              <a:endParaRPr lang="en-GB" sz="2400"/>
            </a:p>
          </p:txBody>
        </p:sp>
        <p:sp>
          <p:nvSpPr>
            <p:cNvPr id="170" name="changes in answer quality and page-level citation precision and recall" descr="t36">
              <a:extLst>
                <a:ext uri="{FF2B5EF4-FFF2-40B4-BE49-F238E27FC236}">
                  <ns2:creationId id="{A9D90773-06CB-48AC-8BFD-7C0E6AE98517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5020925"/>
              <a:ext cx="802189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changes in answer quality and page-level citation precision and recall across</a:t>
              </a:r>
              <a:endParaRPr lang="en-GB" sz="2400"/>
            </a:p>
          </p:txBody>
        </p:sp>
        <p:sp>
          <p:nvSpPr>
            <p:cNvPr id="171" name="stages of document processing, retrieval, reranking, answer processing" descr="t37">
              <a:extLst>
                <a:ext uri="{FF2B5EF4-FFF2-40B4-BE49-F238E27FC236}">
                  <ns2:creationId id="{1E1B5F3B-B52E-476E-872D-AF40BBDD4126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5344775"/>
              <a:ext cx="794356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stages of document processing, retrieval, reranking, answer processing, and</a:t>
              </a:r>
              <a:endParaRPr lang="en-GB" sz="2400"/>
            </a:p>
          </p:txBody>
        </p:sp>
        <p:sp>
          <p:nvSpPr>
            <p:cNvPr id="172" name="citation selection." descr="t38">
              <a:extLst>
                <a:ext uri="{FF2B5EF4-FFF2-40B4-BE49-F238E27FC236}">
                  <ns2:creationId id="{5EF3CE09-1B27-4037-B6F8-221F48234C5E}"/>
                </a:ext>
              </a:extLst>
            </p:cNvPr>
            <p:cNvSpPr>
              <a:spLocks noGrp="1"/>
            </p:cNvSpPr>
            <p:nvPr/>
          </p:nvSpPr>
          <p:spPr>
            <a:xfrm>
              <a:off x="449907" y="15659100"/>
              <a:ext cx="190485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 selection.</a:t>
              </a:r>
              <a:endParaRPr lang="en-GB" sz="2400"/>
            </a:p>
          </p:txBody>
        </p:sp>
      </p:grpSp>
      <p:grpSp>
        <p:nvGrpSpPr>
          <p:cNvPr id="552" name="5. Hypothesis"/>
          <p:cNvGrpSpPr/>
          <p:nvPr/>
        </p:nvGrpSpPr>
        <p:grpSpPr>
          <a:xfrm>
            <a:off x="287982" y="16396097"/>
            <a:ext cx="8612981" cy="4699843"/>
            <a:chOff x="287982" y="16396097"/>
            <a:chExt cx="8612981" cy="4699843"/>
          </a:xfrm>
        </p:grpSpPr>
        <p:sp>
          <p:nvSpPr>
            <p:cNvPr id="10" name="Panel H2" descr="s9">
              <a:extLst>
                <a:ext uri="{FF2B5EF4-FFF2-40B4-BE49-F238E27FC236}">
                  <ns2:creationId id="{2C264C3A-0C1A-406B-B597-6FA63F87F027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396097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11" name="Panel content" descr="s10">
              <a:extLst>
                <a:ext uri="{FF2B5EF4-FFF2-40B4-BE49-F238E27FC236}">
                  <ns2:creationId id="{41F2048A-56F7-4AFF-BBB8-1E76EF512D8A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970573"/>
              <a:ext cx="8612981" cy="4125367"/>
            </a:xfrm>
            <a:custGeom>
              <a:avLst/>
              <a:gdLst/>
              <a:ahLst/>
              <a:cxnLst/>
              <a:rect l="0" t="0" r="r" b="b"/>
              <a:pathLst>
                <a:path w="904250" h="433109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424109"/>
                  </a:lnTo>
                  <a:cubicBezTo>
                    <a:pt x="904250" y="429080"/>
                    <a:pt x="900221" y="433109"/>
                    <a:pt x="895250" y="433109"/>
                  </a:cubicBezTo>
                  <a:lnTo>
                    <a:pt x="9000" y="433109"/>
                  </a:lnTo>
                  <a:cubicBezTo>
                    <a:pt x="4029" y="433109"/>
                    <a:pt x="0" y="429080"/>
                    <a:pt x="0" y="42410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</p:sp>
        <p:sp>
          <p:nvSpPr>
            <p:cNvPr id="12" name="Panel hyp h1" descr="s11">
              <a:extLst>
                <a:ext uri="{FF2B5EF4-FFF2-40B4-BE49-F238E27FC236}">
                  <ns2:creationId id="{36F1CF4A-CA8C-4AB3-A533-DFFE1FD89DE7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970573"/>
              <a:ext cx="8612981" cy="1550343"/>
            </a:xfrm>
            <a:custGeom>
              <a:avLst/>
              <a:gdLst/>
              <a:ahLst/>
              <a:cxnLst/>
              <a:rect l="0" t="0" r="r" b="b"/>
              <a:pathLst>
                <a:path w="904250" h="162766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54766"/>
                  </a:lnTo>
                  <a:cubicBezTo>
                    <a:pt x="904250" y="159184"/>
                    <a:pt x="900668" y="162766"/>
                    <a:pt x="896250" y="162766"/>
                  </a:cubicBezTo>
                  <a:lnTo>
                    <a:pt x="8000" y="162766"/>
                  </a:lnTo>
                  <a:cubicBezTo>
                    <a:pt x="3582" y="162766"/>
                    <a:pt x="0" y="159184"/>
                    <a:pt x="0" y="154766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EAF4FB"/>
            </a:solidFill>
            <a:ln w="0">
              <a:noFill/>
            </a:ln>
          </p:spPr>
        </p:sp>
        <p:sp>
          <p:nvSpPr>
            <p:cNvPr id="13" name="Panel hyp h2" descr="s12">
              <a:extLst>
                <a:ext uri="{FF2B5EF4-FFF2-40B4-BE49-F238E27FC236}">
                  <ns2:creationId id="{BD720A7A-F724-4B55-BA36-45ADEE905C4B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8578066"/>
              <a:ext cx="8612981" cy="1230362"/>
            </a:xfrm>
            <a:custGeom>
              <a:avLst/>
              <a:gdLst/>
              <a:ahLst/>
              <a:cxnLst/>
              <a:rect l="0" t="0" r="r" b="b"/>
              <a:pathLst>
                <a:path w="904250" h="129172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21172"/>
                  </a:lnTo>
                  <a:cubicBezTo>
                    <a:pt x="904250" y="125590"/>
                    <a:pt x="900668" y="129172"/>
                    <a:pt x="896250" y="129172"/>
                  </a:cubicBezTo>
                  <a:lnTo>
                    <a:pt x="8000" y="129172"/>
                  </a:lnTo>
                  <a:cubicBezTo>
                    <a:pt x="3582" y="129172"/>
                    <a:pt x="0" y="125590"/>
                    <a:pt x="0" y="121172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EFF7E9"/>
            </a:solidFill>
            <a:ln w="0">
              <a:noFill/>
            </a:ln>
          </p:spPr>
        </p:sp>
        <p:sp>
          <p:nvSpPr>
            <p:cNvPr id="14" name="Panel hyp h3" descr="s13">
              <a:extLst>
                <a:ext uri="{FF2B5EF4-FFF2-40B4-BE49-F238E27FC236}">
                  <ns2:creationId id="{38E326A5-2A58-4A8B-9F03-95F373438BA1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9865578"/>
              <a:ext cx="8612981" cy="1230362"/>
            </a:xfrm>
            <a:custGeom>
              <a:avLst/>
              <a:gdLst/>
              <a:ahLst/>
              <a:cxnLst/>
              <a:rect l="0" t="0" r="r" b="b"/>
              <a:pathLst>
                <a:path w="904250" h="129172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21172"/>
                  </a:lnTo>
                  <a:cubicBezTo>
                    <a:pt x="904250" y="125590"/>
                    <a:pt x="900668" y="129172"/>
                    <a:pt x="896250" y="129172"/>
                  </a:cubicBezTo>
                  <a:lnTo>
                    <a:pt x="8000" y="129172"/>
                  </a:lnTo>
                  <a:cubicBezTo>
                    <a:pt x="3582" y="129172"/>
                    <a:pt x="0" y="125590"/>
                    <a:pt x="0" y="121172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F2EBFA"/>
            </a:solidFill>
            <a:ln w="0">
              <a:noFill/>
            </a:ln>
          </p:spPr>
        </p:sp>
        <p:sp>
          <p:nvSpPr>
            <p:cNvPr id="173" name="5. Hypothesis" descr="t39">
              <a:extLst>
                <a:ext uri="{FF2B5EF4-FFF2-40B4-BE49-F238E27FC236}">
                  <ns2:creationId id="{5826C9A2-7BD6-4CA9-907D-CFDFC6F1D43E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6437006"/>
              <a:ext cx="1872909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5. Hypothesis</a:t>
              </a:r>
              <a:endParaRPr lang="en-GB" sz="2800"/>
            </a:p>
          </p:txBody>
        </p:sp>
        <p:sp>
          <p:nvSpPr>
            <p:cNvPr id="174" name="H1 — Retrieval" descr="t40">
              <a:extLst>
                <a:ext uri="{FF2B5EF4-FFF2-40B4-BE49-F238E27FC236}">
                  <ns2:creationId id="{D6947970-1E68-4AC7-938C-C7FCD4A03535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7046606"/>
              <a:ext cx="1642498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H1 — Retrieval</a:t>
              </a:r>
              <a:endParaRPr lang="en-GB" sz="2500"/>
            </a:p>
          </p:txBody>
        </p:sp>
        <p:sp>
          <p:nvSpPr>
            <p:cNvPr id="175" name="Combining multiple text granularities, semantic and lexical retrieval," descr="t41">
              <a:extLst>
                <a:ext uri="{FF2B5EF4-FFF2-40B4-BE49-F238E27FC236}">
                  <ns2:creationId id="{72C00E64-9ECF-4DB5-B6B6-142EEF8ABC08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7440275"/>
              <a:ext cx="7549455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Combining multiple text granularities, semantic and lexical retrieval, and</a:t>
              </a:r>
              <a:endParaRPr lang="en-GB" sz="2400"/>
            </a:p>
          </p:txBody>
        </p:sp>
        <p:sp>
          <p:nvSpPr>
            <p:cNvPr id="176" name="relevance reranking will improve answer quality and evidence retrieval" descr="t42">
              <a:extLst>
                <a:ext uri="{FF2B5EF4-FFF2-40B4-BE49-F238E27FC236}">
                  <ns2:creationId id="{90B0D906-97ED-4780-BE88-F50711499E28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7754600"/>
              <a:ext cx="734737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relevance reranking will improve answer quality and evidence retrieval</a:t>
              </a:r>
              <a:endParaRPr lang="en-GB" sz="2400"/>
            </a:p>
          </p:txBody>
        </p:sp>
        <p:sp>
          <p:nvSpPr>
            <p:cNvPr id="177" name="compared with a simple semantic-retrieval baseline." descr="t43">
              <a:extLst>
                <a:ext uri="{FF2B5EF4-FFF2-40B4-BE49-F238E27FC236}">
                  <ns2:creationId id="{6522E251-496F-42CE-B4B7-2ED68ABC220C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8078450"/>
              <a:ext cx="549418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compared with a simple semantic-retrieval baseline.</a:t>
              </a:r>
              <a:endParaRPr lang="en-GB" sz="2400"/>
            </a:p>
          </p:txBody>
        </p:sp>
        <p:sp>
          <p:nvSpPr>
            <p:cNvPr id="178" name="H2 — Robustness to scanned documents" descr="t44">
              <a:extLst>
                <a:ext uri="{FF2B5EF4-FFF2-40B4-BE49-F238E27FC236}">
                  <ns2:creationId id="{6BBC1CEB-108D-4FA0-B316-790456B52DFC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8646806"/>
              <a:ext cx="4674148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H2 — Robustness to scanned documents</a:t>
              </a:r>
              <a:endParaRPr lang="en-GB" sz="2500"/>
            </a:p>
          </p:txBody>
        </p:sp>
        <p:sp>
          <p:nvSpPr>
            <p:cNvPr id="179" name="Recovering text from scan-like legal documents will reduce the perform" descr="t45">
              <a:extLst>
                <a:ext uri="{FF2B5EF4-FFF2-40B4-BE49-F238E27FC236}">
                  <ns2:creationId id="{4E58C571-616B-41AA-9924-4B50DED1AFF6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9040475"/>
              <a:ext cx="797830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Recovering text from scan-like legal documents will reduce the performance</a:t>
              </a:r>
              <a:endParaRPr lang="en-GB" sz="2400"/>
            </a:p>
          </p:txBody>
        </p:sp>
        <p:sp>
          <p:nvSpPr>
            <p:cNvPr id="180" name="loss caused by the absence of a machine-readable text layer." descr="t46">
              <a:extLst>
                <a:ext uri="{FF2B5EF4-FFF2-40B4-BE49-F238E27FC236}">
                  <ns2:creationId id="{6BED2ACC-8D63-42EC-B613-DBED01B22982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9364325"/>
              <a:ext cx="638115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loss caused by the absence of a machine-readable text layer.</a:t>
              </a:r>
              <a:endParaRPr lang="en-GB" sz="2400"/>
            </a:p>
          </p:txBody>
        </p:sp>
        <p:sp>
          <p:nvSpPr>
            <p:cNvPr id="181" name="H3 — Citation attribution" descr="t47">
              <a:extLst>
                <a:ext uri="{FF2B5EF4-FFF2-40B4-BE49-F238E27FC236}">
                  <ns2:creationId id="{71684BB9-C600-4459-9DA3-45DF2D8A369C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19942206"/>
              <a:ext cx="2847542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H3 — Citation attribution</a:t>
              </a:r>
              <a:endParaRPr lang="en-GB" sz="2500"/>
            </a:p>
          </p:txBody>
        </p:sp>
        <p:sp>
          <p:nvSpPr>
            <p:cNvPr id="182" name="Selecting source pages after answer generation will produce a more foc" descr="t48">
              <a:extLst>
                <a:ext uri="{FF2B5EF4-FFF2-40B4-BE49-F238E27FC236}">
                  <ns2:creationId id="{9DA0991D-5624-41EF-9ECC-84E1A9A01EF1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20335875"/>
              <a:ext cx="799446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Selecting source pages after answer generation will produce a more focused</a:t>
              </a:r>
              <a:endParaRPr lang="en-GB" sz="2400"/>
            </a:p>
          </p:txBody>
        </p:sp>
        <p:sp>
          <p:nvSpPr>
            <p:cNvPr id="183" name="citation set without substantially reducing the coverage of relevant e" descr="t49">
              <a:extLst>
                <a:ext uri="{FF2B5EF4-FFF2-40B4-BE49-F238E27FC236}">
                  <ns2:creationId id="{05B2ECAC-FB57-42DF-AB4A-19DBF40C6A40}"/>
                </a:ext>
              </a:extLst>
            </p:cNvPr>
            <p:cNvSpPr>
              <a:spLocks noGrp="1"/>
            </p:cNvSpPr>
            <p:nvPr/>
          </p:nvSpPr>
          <p:spPr>
            <a:xfrm>
              <a:off x="421332" y="20650200"/>
              <a:ext cx="804170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 set without substantially reducing the coverage of relevant evidence.</a:t>
              </a:r>
              <a:endParaRPr lang="en-GB" sz="2400"/>
            </a:p>
          </p:txBody>
        </p:sp>
      </p:grpSp>
      <p:grpSp>
        <p:nvGrpSpPr>
          <p:cNvPr id="551" name="6. Data and Methods"/>
          <p:cNvGrpSpPr/>
          <p:nvPr/>
        </p:nvGrpSpPr>
        <p:grpSpPr>
          <a:xfrm>
            <a:off x="9072414" y="1351657"/>
            <a:ext cx="11731377" cy="10858351"/>
            <a:chOff x="9072414" y="1351657"/>
            <a:chExt cx="11731377" cy="10858351"/>
          </a:xfrm>
        </p:grpSpPr>
        <p:sp>
          <p:nvSpPr>
            <p:cNvPr id="15" name="Panel H2" descr="s14">
              <a:extLst>
                <a:ext uri="{FF2B5EF4-FFF2-40B4-BE49-F238E27FC236}">
                  <ns2:creationId id="{179DF8A4-5011-4F12-931C-FD83E3BB2AAD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351657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16" name="Panel content" descr="s15">
              <a:extLst>
                <a:ext uri="{FF2B5EF4-FFF2-40B4-BE49-F238E27FC236}">
                  <ns2:creationId id="{AE84D980-9F66-4C33-88B8-0B04DB36A4F6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868984"/>
              <a:ext cx="11731377" cy="10341025"/>
            </a:xfrm>
            <a:custGeom>
              <a:avLst/>
              <a:gdLst/>
              <a:ahLst/>
              <a:cxnLst/>
              <a:rect l="0" t="0" r="r" b="b"/>
              <a:pathLst>
                <a:path w="1231641" h="1085672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1076672"/>
                  </a:lnTo>
                  <a:cubicBezTo>
                    <a:pt x="1231641" y="1081642"/>
                    <a:pt x="1227611" y="1085672"/>
                    <a:pt x="1222641" y="1085672"/>
                  </a:cubicBezTo>
                  <a:lnTo>
                    <a:pt x="9000" y="1085672"/>
                  </a:lnTo>
                  <a:cubicBezTo>
                    <a:pt x="4029" y="1085672"/>
                    <a:pt x="0" y="1081642"/>
                    <a:pt x="0" y="107667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grpSp>
          <p:nvGrpSpPr>
            <p:cNvPr id="550" name="R0 · Baseline"/>
            <p:cNvGrpSpPr/>
            <p:nvPr/>
          </p:nvGrpSpPr>
          <p:grpSpPr>
            <a:xfrm>
              <a:off x="9234339" y="4678263"/>
              <a:ext cx="11407527" cy="1338858"/>
              <a:chOff x="9234339" y="4678263"/>
              <a:chExt cx="11407527" cy="1338858"/>
            </a:xfrm>
          </p:grpSpPr>
          <p:sp>
            <p:nvSpPr>
              <p:cNvPr id="17" name="Panel baseline" descr="s16">
                <a:extLst>
                  <a:ext uri="{FF2B5EF4-FFF2-40B4-BE49-F238E27FC236}">
                    <ns2:creationId id="{5B3951E1-A121-414E-8786-1711E64333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4339" y="4678263"/>
                <a:ext cx="11407527" cy="1338858"/>
              </a:xfrm>
              <a:custGeom>
                <a:avLst/>
                <a:gdLst/>
                <a:ahLst/>
                <a:cxnLst/>
                <a:rect l="0" t="0" r="r" b="b"/>
                <a:pathLst>
                  <a:path w="1197641" h="140562">
                    <a:moveTo>
                      <a:pt x="8000" y="0"/>
                    </a:moveTo>
                    <a:lnTo>
                      <a:pt x="1189641" y="0"/>
                    </a:lnTo>
                    <a:cubicBezTo>
                      <a:pt x="1194059" y="0"/>
                      <a:pt x="1197641" y="3582"/>
                      <a:pt x="1197641" y="8000"/>
                    </a:cubicBezTo>
                    <a:lnTo>
                      <a:pt x="1197641" y="132562"/>
                    </a:lnTo>
                    <a:cubicBezTo>
                      <a:pt x="1197641" y="136981"/>
                      <a:pt x="1194059" y="140562"/>
                      <a:pt x="1189641" y="140562"/>
                    </a:cubicBezTo>
                    <a:lnTo>
                      <a:pt x="8000" y="140562"/>
                    </a:lnTo>
                    <a:cubicBezTo>
                      <a:pt x="3582" y="140562"/>
                      <a:pt x="0" y="136981"/>
                      <a:pt x="0" y="132562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6F3FB"/>
              </a:solidFill>
              <a:ln w="9525">
                <a:solidFill>
                  <a:srgbClr val="CFDFEB"/>
                </a:solidFill>
              </a:ln>
            </p:spPr>
          </p:sp>
          <p:pic>
            <p:nvPicPr>
              <p:cNvPr id="525" name="icon-file" descr="s122"/>
              <p:cNvPicPr>
                <a:picLocks noChangeAspect="1"/>
              </p:cNvPicPr>
              <p:nvPr/>
            </p:nvPicPr>
            <p:blipFill>
              <a:blip r:embed="Rbc8f7fe3c81b4ab8">
                <a:extLst>
                  <a:ext uri="{96DAC541-7B7A-43D3-8B79-37D633B846F1}">
                    <ns4:svgBlip r:embed="Rdb333644fa424497"/>
                  </a:ext>
                </a:extLst>
              </a:blip>
              <a:stretch/>
            </p:blipFill>
            <p:spPr>
              <a:xfrm>
                <a:off x="10567839" y="5157192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6" name="icon-search" descr="s123"/>
              <p:cNvPicPr>
                <a:picLocks noChangeAspect="1"/>
              </p:cNvPicPr>
              <p:nvPr/>
            </p:nvPicPr>
            <p:blipFill>
              <a:blip r:embed="R3cefcdab79504b20">
                <a:extLst>
                  <a:ext uri="{96DAC541-7B7A-43D3-8B79-37D633B846F1}">
                    <ns4:svgBlip r:embed="R455c67edd2734b89"/>
                  </a:ext>
                </a:extLst>
              </a:blip>
              <a:stretch/>
            </p:blipFill>
            <p:spPr>
              <a:xfrm>
                <a:off x="12597259" y="5157192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7" name="icon-answer" descr="s124"/>
              <p:cNvPicPr>
                <a:picLocks noChangeAspect="1"/>
              </p:cNvPicPr>
              <p:nvPr/>
            </p:nvPicPr>
            <p:blipFill>
              <a:blip r:embed="R7fed2d3dd82d473f">
                <a:extLst>
                  <a:ext uri="{96DAC541-7B7A-43D3-8B79-37D633B846F1}">
                    <ns4:svgBlip r:embed="R17cf09e1076c4e46"/>
                  </a:ext>
                </a:extLst>
              </a:blip>
              <a:stretch/>
            </p:blipFill>
            <p:spPr>
              <a:xfrm>
                <a:off x="15913894" y="5157192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8" name="icon-file" descr="s125"/>
              <p:cNvPicPr>
                <a:picLocks noChangeAspect="1"/>
              </p:cNvPicPr>
              <p:nvPr/>
            </p:nvPicPr>
            <p:blipFill>
              <a:blip r:embed="R16e9ebc7e354487a">
                <a:extLst>
                  <a:ext uri="{96DAC541-7B7A-43D3-8B79-37D633B846F1}">
                    <ns4:svgBlip r:embed="Rf5a70fbbc7f94a40"/>
                  </a:ext>
                </a:extLst>
              </a:blip>
              <a:stretch/>
            </p:blipFill>
            <p:spPr>
              <a:xfrm>
                <a:off x="18311217" y="5157192"/>
                <a:ext cx="381000" cy="381000"/>
              </a:xfrm>
              <a:prstGeom prst="rect">
                <a:avLst/>
              </a:prstGeom>
            </p:spPr>
          </p:pic>
          <p:sp>
            <p:nvSpPr>
              <p:cNvPr id="337" name="R0 ·" descr="t203">
                <a:extLst>
                  <a:ext uri="{FF2B5EF4-FFF2-40B4-BE49-F238E27FC236}">
                    <ns2:creationId id="{E52984AE-393F-452A-9779-5F4475C017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58164" y="4991100"/>
                <a:ext cx="46832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073c64"/>
                    </a:solidFill>
                    <a:latin typeface="Barlow Condensed"/>
                    <a:ea typeface="Barlow Condensed"/>
                    <a:cs typeface="Barlow Condensed"/>
                  </a:rPr>
                  <a:t>R0 ·</a:t>
                </a:r>
                <a:endParaRPr lang="en-GB" sz="2400"/>
              </a:p>
            </p:txBody>
          </p:sp>
          <p:sp>
            <p:nvSpPr>
              <p:cNvPr id="338" name="Baseline" descr="t204">
                <a:extLst>
                  <a:ext uri="{FF2B5EF4-FFF2-40B4-BE49-F238E27FC236}">
                    <ns2:creationId id="{6894D069-702B-4F8A-AE9E-53DBE4771E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58164" y="5324475"/>
                <a:ext cx="99441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073c64"/>
                    </a:solidFill>
                    <a:latin typeface="Barlow Condensed"/>
                    <a:ea typeface="Barlow Condensed"/>
                    <a:cs typeface="Barlow Condensed"/>
                  </a:rPr>
                  <a:t>Baseline</a:t>
                </a:r>
                <a:endParaRPr lang="en-GB" sz="2400"/>
              </a:p>
            </p:txBody>
          </p:sp>
          <p:sp>
            <p:nvSpPr>
              <p:cNvPr id="339" name="PDF text" descr="t205">
                <a:extLst>
                  <a:ext uri="{FF2B5EF4-FFF2-40B4-BE49-F238E27FC236}">
                    <ns2:creationId id="{D0FEBC04-0E84-4339-B685-B61FFCD956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039" y="4829175"/>
                <a:ext cx="97642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PDF text</a:t>
                </a:r>
                <a:endParaRPr lang="en-GB" sz="2400"/>
              </a:p>
            </p:txBody>
          </p:sp>
          <p:sp>
            <p:nvSpPr>
              <p:cNvPr id="340" name="300-token" descr="t206">
                <a:extLst>
                  <a:ext uri="{FF2B5EF4-FFF2-40B4-BE49-F238E27FC236}">
                    <ns2:creationId id="{75277094-A6EA-4336-B4E2-33201FAA3E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039" y="5162550"/>
                <a:ext cx="112913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300-token</a:t>
                </a:r>
                <a:endParaRPr lang="en-GB" sz="2400"/>
              </a:p>
            </p:txBody>
          </p:sp>
          <p:sp>
            <p:nvSpPr>
              <p:cNvPr id="341" name="passages" descr="t207">
                <a:extLst>
                  <a:ext uri="{FF2B5EF4-FFF2-40B4-BE49-F238E27FC236}">
                    <ns2:creationId id="{BDF7C6AA-22AA-4DB0-9870-06BE596561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039" y="5495925"/>
                <a:ext cx="102306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passages</a:t>
                </a:r>
                <a:endParaRPr lang="en-GB" sz="2400"/>
              </a:p>
            </p:txBody>
          </p:sp>
          <p:sp>
            <p:nvSpPr>
              <p:cNvPr id="342" name="→" descr="t208">
                <a:extLst>
                  <a:ext uri="{FF2B5EF4-FFF2-40B4-BE49-F238E27FC236}">
                    <ns2:creationId id="{ACFBCD50-64C0-446C-B24C-300BF761EF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244834" y="5158736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43" name="Semantic retrieval" descr="t209">
                <a:extLst>
                  <a:ext uri="{FF2B5EF4-FFF2-40B4-BE49-F238E27FC236}">
                    <ns2:creationId id="{CA43F0FA-B46E-4967-8DF0-187BC6300E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54459" y="4972050"/>
                <a:ext cx="209169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Semantic retrieval</a:t>
                </a:r>
                <a:endParaRPr lang="en-GB" sz="2400"/>
              </a:p>
            </p:txBody>
          </p:sp>
          <p:sp>
            <p:nvSpPr>
              <p:cNvPr id="344" name="Qwen3-Embedding-0.6B" descr="t210">
                <a:extLst>
                  <a:ext uri="{FF2B5EF4-FFF2-40B4-BE49-F238E27FC236}">
                    <ns2:creationId id="{6E75DC1D-CBE1-41DA-A26E-A385D27948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54459" y="5353050"/>
                <a:ext cx="253914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Qwen3-Embedding-0.6B</a:t>
                </a:r>
                <a:endParaRPr lang="en-GB" sz="2400"/>
              </a:p>
            </p:txBody>
          </p:sp>
          <p:sp>
            <p:nvSpPr>
              <p:cNvPr id="345" name="→" descr="t211">
                <a:extLst>
                  <a:ext uri="{FF2B5EF4-FFF2-40B4-BE49-F238E27FC236}">
                    <ns2:creationId id="{63C1DBA4-F1A4-4203-8759-78FDCA76DF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561469" y="5158736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46" name="Generate" descr="t212">
                <a:extLst>
                  <a:ext uri="{FF2B5EF4-FFF2-40B4-BE49-F238E27FC236}">
                    <ns2:creationId id="{2B0B8A75-DF36-4678-8C87-6B2E30F73C3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094" y="4800600"/>
                <a:ext cx="105476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Generate</a:t>
                </a:r>
                <a:endParaRPr lang="en-GB" sz="2400"/>
              </a:p>
            </p:txBody>
          </p:sp>
          <p:sp>
            <p:nvSpPr>
              <p:cNvPr id="347" name="answer" descr="t213">
                <a:extLst>
                  <a:ext uri="{FF2B5EF4-FFF2-40B4-BE49-F238E27FC236}">
                    <ns2:creationId id="{CEE40100-280B-49CF-A5A4-29B216AA6A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094" y="5133975"/>
                <a:ext cx="8618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</a:t>
                </a:r>
                <a:endParaRPr lang="en-GB" sz="2400"/>
              </a:p>
            </p:txBody>
          </p:sp>
          <p:sp>
            <p:nvSpPr>
              <p:cNvPr id="348" name="GPT-5.4-mini" descr="t214">
                <a:extLst>
                  <a:ext uri="{FF2B5EF4-FFF2-40B4-BE49-F238E27FC236}">
                    <ns2:creationId id="{823F4880-F57E-406C-A70A-DEF9EED068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094" y="5524500"/>
                <a:ext cx="139583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GPT-5.4-mini</a:t>
                </a:r>
                <a:endParaRPr lang="en-GB" sz="2400"/>
              </a:p>
            </p:txBody>
          </p:sp>
          <p:sp>
            <p:nvSpPr>
              <p:cNvPr id="349" name="→" descr="t215">
                <a:extLst>
                  <a:ext uri="{FF2B5EF4-FFF2-40B4-BE49-F238E27FC236}">
                    <ns2:creationId id="{F6283317-1ACC-411B-8887-6995454051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958792" y="5158736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50" name="Answer +" descr="t216">
                <a:extLst>
                  <a:ext uri="{FF2B5EF4-FFF2-40B4-BE49-F238E27FC236}">
                    <ns2:creationId id="{E784E573-349D-4F31-B5AA-DE80821C500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68417" y="4991100"/>
                <a:ext cx="106725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 +</a:t>
                </a:r>
                <a:endParaRPr lang="en-GB" sz="2400"/>
              </a:p>
            </p:txBody>
          </p:sp>
          <p:sp>
            <p:nvSpPr>
              <p:cNvPr id="351" name="retrieved pages" descr="t217">
                <a:extLst>
                  <a:ext uri="{FF2B5EF4-FFF2-40B4-BE49-F238E27FC236}">
                    <ns2:creationId id="{1CEE5C45-E9AB-447B-AFA5-6D42480E81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68417" y="5324475"/>
                <a:ext cx="179115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retrieved pages</a:t>
                </a:r>
                <a:endParaRPr lang="en-GB" sz="2400"/>
              </a:p>
            </p:txBody>
          </p:sp>
        </p:grpSp>
        <p:sp>
          <p:nvSpPr>
            <p:cNvPr id="18" name="Panel phase doc" descr="s17">
              <a:extLst>
                <a:ext uri="{FF2B5EF4-FFF2-40B4-BE49-F238E27FC236}">
                  <ns2:creationId id="{628A1AA3-6311-4A78-887E-0BA6C246BC56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6150471"/>
              <a:ext cx="3726210" cy="426541"/>
            </a:xfrm>
            <a:custGeom>
              <a:avLst/>
              <a:gdLst/>
              <a:ahLst/>
              <a:cxnLst/>
              <a:rect l="0" t="0" r="r" b="b"/>
              <a:pathLst>
                <a:path w="391203" h="44781">
                  <a:moveTo>
                    <a:pt x="6000" y="0"/>
                  </a:moveTo>
                  <a:lnTo>
                    <a:pt x="385203" y="0"/>
                  </a:lnTo>
                  <a:cubicBezTo>
                    <a:pt x="388517" y="0"/>
                    <a:pt x="391203" y="2686"/>
                    <a:pt x="391203" y="6000"/>
                  </a:cubicBezTo>
                  <a:lnTo>
                    <a:pt x="391203" y="38781"/>
                  </a:lnTo>
                  <a:cubicBezTo>
                    <a:pt x="391203" y="42095"/>
                    <a:pt x="388517" y="44781"/>
                    <a:pt x="385203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EAF5FC"/>
            </a:solidFill>
            <a:ln w="0">
              <a:noFill/>
            </a:ln>
          </p:spPr>
        </p:sp>
        <p:sp>
          <p:nvSpPr>
            <p:cNvPr id="19" name="Panel phase retr" descr="s18">
              <a:extLst>
                <a:ext uri="{FF2B5EF4-FFF2-40B4-BE49-F238E27FC236}">
                  <ns2:creationId id="{10CDEEE0-D35B-4FDB-96F7-6AC48AD9EB6E}"/>
                </a:ext>
              </a:extLst>
            </p:cNvPr>
            <p:cNvSpPr>
              <a:spLocks noGrp="1"/>
            </p:cNvSpPr>
            <p:nvPr/>
          </p:nvSpPr>
          <p:spPr>
            <a:xfrm>
              <a:off x="13074848" y="6150471"/>
              <a:ext cx="3726359" cy="426541"/>
            </a:xfrm>
            <a:custGeom>
              <a:avLst/>
              <a:gdLst/>
              <a:ahLst/>
              <a:cxnLst/>
              <a:rect l="0" t="0" r="r" b="b"/>
              <a:pathLst>
                <a:path w="391219" h="44781">
                  <a:moveTo>
                    <a:pt x="6000" y="0"/>
                  </a:moveTo>
                  <a:lnTo>
                    <a:pt x="385219" y="0"/>
                  </a:lnTo>
                  <a:cubicBezTo>
                    <a:pt x="388532" y="0"/>
                    <a:pt x="391219" y="2686"/>
                    <a:pt x="391219" y="6000"/>
                  </a:cubicBezTo>
                  <a:lnTo>
                    <a:pt x="391219" y="38781"/>
                  </a:lnTo>
                  <a:cubicBezTo>
                    <a:pt x="391219" y="42095"/>
                    <a:pt x="388532" y="44781"/>
                    <a:pt x="385219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EEF7E9"/>
            </a:solidFill>
            <a:ln w="0">
              <a:noFill/>
            </a:ln>
          </p:spPr>
        </p:sp>
        <p:sp>
          <p:nvSpPr>
            <p:cNvPr id="20" name="Panel phase ans single" descr="s19">
              <a:extLst>
                <a:ext uri="{FF2B5EF4-FFF2-40B4-BE49-F238E27FC236}">
                  <ns2:creationId id="{1A502A78-8416-4F14-96EE-BCBD0399E311}"/>
                </a:ext>
              </a:extLst>
            </p:cNvPr>
            <p:cNvSpPr>
              <a:spLocks noGrp="1"/>
            </p:cNvSpPr>
            <p:nvPr/>
          </p:nvSpPr>
          <p:spPr>
            <a:xfrm>
              <a:off x="16915507" y="6150471"/>
              <a:ext cx="1806029" cy="426541"/>
            </a:xfrm>
            <a:custGeom>
              <a:avLst/>
              <a:gdLst/>
              <a:ahLst/>
              <a:cxnLst/>
              <a:rect l="0" t="0" r="r" b="b"/>
              <a:pathLst>
                <a:path w="189609" h="44781">
                  <a:moveTo>
                    <a:pt x="6000" y="0"/>
                  </a:moveTo>
                  <a:lnTo>
                    <a:pt x="183609" y="0"/>
                  </a:lnTo>
                  <a:cubicBezTo>
                    <a:pt x="186923" y="0"/>
                    <a:pt x="189609" y="2686"/>
                    <a:pt x="189609" y="6000"/>
                  </a:cubicBezTo>
                  <a:lnTo>
                    <a:pt x="189609" y="38781"/>
                  </a:lnTo>
                  <a:cubicBezTo>
                    <a:pt x="189609" y="42095"/>
                    <a:pt x="186923" y="44781"/>
                    <a:pt x="183609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FFF1E5"/>
            </a:solidFill>
            <a:ln w="0">
              <a:noFill/>
            </a:ln>
          </p:spPr>
        </p:sp>
        <p:sp>
          <p:nvSpPr>
            <p:cNvPr id="21" name="Panel phase cit single" descr="s20">
              <a:extLst>
                <a:ext uri="{FF2B5EF4-FFF2-40B4-BE49-F238E27FC236}">
                  <ns2:creationId id="{7386889A-C6E3-4664-B331-38300550D3F0}"/>
                </a:ext>
              </a:extLst>
            </p:cNvPr>
            <p:cNvSpPr>
              <a:spLocks noGrp="1"/>
            </p:cNvSpPr>
            <p:nvPr/>
          </p:nvSpPr>
          <p:spPr>
            <a:xfrm>
              <a:off x="18835836" y="6150471"/>
              <a:ext cx="1805880" cy="426541"/>
            </a:xfrm>
            <a:custGeom>
              <a:avLst/>
              <a:gdLst/>
              <a:ahLst/>
              <a:cxnLst/>
              <a:rect l="0" t="0" r="r" b="b"/>
              <a:pathLst>
                <a:path w="189594" h="44781">
                  <a:moveTo>
                    <a:pt x="6000" y="0"/>
                  </a:moveTo>
                  <a:lnTo>
                    <a:pt x="183594" y="0"/>
                  </a:lnTo>
                  <a:cubicBezTo>
                    <a:pt x="186907" y="0"/>
                    <a:pt x="189594" y="2686"/>
                    <a:pt x="189594" y="6000"/>
                  </a:cubicBezTo>
                  <a:lnTo>
                    <a:pt x="189594" y="38781"/>
                  </a:lnTo>
                  <a:cubicBezTo>
                    <a:pt x="189594" y="42095"/>
                    <a:pt x="186907" y="44781"/>
                    <a:pt x="183594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F1EAFB"/>
            </a:solidFill>
            <a:ln w="0">
              <a:noFill/>
            </a:ln>
          </p:spPr>
        </p:sp>
        <p:grpSp>
          <p:nvGrpSpPr>
            <p:cNvPr id="549" name="R1 · Read scans"/>
            <p:cNvGrpSpPr/>
            <p:nvPr/>
          </p:nvGrpSpPr>
          <p:grpSpPr>
            <a:xfrm>
              <a:off x="9234339" y="6653212"/>
              <a:ext cx="1805880" cy="4573935"/>
              <a:chOff x="9234339" y="6653212"/>
              <a:chExt cx="1805880" cy="4573935"/>
            </a:xfrm>
          </p:grpSpPr>
          <p:sp>
            <p:nvSpPr>
              <p:cNvPr id="22" name="Panel stage doc" descr="s21">
                <a:extLst>
                  <a:ext uri="{FF2B5EF4-FFF2-40B4-BE49-F238E27FC236}">
                    <ns2:creationId id="{CE68F918-E2A2-4028-BD86-2CD9B7729B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4339" y="6653213"/>
                <a:ext cx="1805880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594" h="480203">
                    <a:moveTo>
                      <a:pt x="8000" y="0"/>
                    </a:moveTo>
                    <a:lnTo>
                      <a:pt x="181594" y="0"/>
                    </a:lnTo>
                    <a:cubicBezTo>
                      <a:pt x="186012" y="0"/>
                      <a:pt x="189594" y="3582"/>
                      <a:pt x="189594" y="8000"/>
                    </a:cubicBezTo>
                    <a:lnTo>
                      <a:pt x="189594" y="472203"/>
                    </a:lnTo>
                    <a:cubicBezTo>
                      <a:pt x="189594" y="476621"/>
                      <a:pt x="186012" y="480203"/>
                      <a:pt x="181594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AF5FC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3" name="Panel tech" descr="s22">
                <a:extLst>
                  <a:ext uri="{FF2B5EF4-FFF2-40B4-BE49-F238E27FC236}">
                    <ns2:creationId id="{5EEF18D5-161A-4BDB-B70F-9EF550BBC4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43864" y="9729936"/>
                <a:ext cx="1786830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594" h="156188">
                    <a:moveTo>
                      <a:pt x="6000" y="0"/>
                    </a:moveTo>
                    <a:lnTo>
                      <a:pt x="181594" y="0"/>
                    </a:lnTo>
                    <a:cubicBezTo>
                      <a:pt x="184907" y="0"/>
                      <a:pt x="187594" y="2686"/>
                      <a:pt x="187594" y="6000"/>
                    </a:cubicBezTo>
                    <a:lnTo>
                      <a:pt x="187594" y="149188"/>
                    </a:lnTo>
                    <a:cubicBezTo>
                      <a:pt x="187594" y="153053"/>
                      <a:pt x="184460" y="156188"/>
                      <a:pt x="180594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DCEEF9"/>
              </a:solidFill>
              <a:ln w="0">
                <a:noFill/>
              </a:ln>
            </p:spPr>
          </p:sp>
          <p:sp>
            <p:nvSpPr>
              <p:cNvPr id="64" name="Stage connector" descr="s63">
                <a:extLst>
                  <a:ext uri="{FF2B5EF4-FFF2-40B4-BE49-F238E27FC236}">
                    <ns2:creationId id="{775DFD82-7898-4E50-A8DF-374886EC2A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40219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147BA7"/>
              </a:solidFill>
              <a:ln w="0">
                <a:noFill/>
              </a:ln>
            </p:spPr>
          </p:sp>
          <p:pic>
            <p:nvPicPr>
              <p:cNvPr id="529" name="icon-scan" descr="s126"/>
              <p:cNvPicPr>
                <a:picLocks noChangeAspect="1"/>
              </p:cNvPicPr>
              <p:nvPr/>
            </p:nvPicPr>
            <p:blipFill>
              <a:blip r:embed="R3b8f3b8281604ca6">
                <a:extLst>
                  <a:ext uri="{96DAC541-7B7A-43D3-8B79-37D633B846F1}">
                    <ns4:svgBlip r:embed="R75c2c647d0ae4e00"/>
                  </a:ext>
                </a:extLst>
              </a:blip>
              <a:stretch/>
            </p:blipFill>
            <p:spPr>
              <a:xfrm>
                <a:off x="9899154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52" name="R1 · Read" descr="t218">
                <a:extLst>
                  <a:ext uri="{FF2B5EF4-FFF2-40B4-BE49-F238E27FC236}">
                    <ns2:creationId id="{A64F7132-0F1A-4170-A88A-C6C4B8196C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14" y="6743700"/>
                <a:ext cx="102397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R1 · Read</a:t>
                </a:r>
                <a:endParaRPr lang="en-GB" sz="2400"/>
              </a:p>
            </p:txBody>
          </p:sp>
          <p:sp>
            <p:nvSpPr>
              <p:cNvPr id="353" name="scans" descr="t219">
                <a:extLst>
                  <a:ext uri="{FF2B5EF4-FFF2-40B4-BE49-F238E27FC236}">
                    <ns2:creationId id="{6F65AD0C-E05F-4DA9-9BBE-6EF50F0125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14" y="7067550"/>
                <a:ext cx="71277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scans</a:t>
                </a:r>
                <a:endParaRPr lang="en-GB" sz="2400"/>
              </a:p>
            </p:txBody>
          </p:sp>
          <p:sp>
            <p:nvSpPr>
              <p:cNvPr id="354" name="Convert" descr="t220">
                <a:extLst>
                  <a:ext uri="{FF2B5EF4-FFF2-40B4-BE49-F238E27FC236}">
                    <ns2:creationId id="{DE20886F-FCB9-43C5-9299-F0DE84438D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14" y="7791450"/>
                <a:ext cx="85207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Convert</a:t>
                </a:r>
                <a:endParaRPr lang="en-GB" sz="2400"/>
              </a:p>
            </p:txBody>
          </p:sp>
          <p:sp>
            <p:nvSpPr>
              <p:cNvPr id="355" name="scanned pages" descr="t221">
                <a:extLst>
                  <a:ext uri="{FF2B5EF4-FFF2-40B4-BE49-F238E27FC236}">
                    <ns2:creationId id="{89631579-E1E3-4772-A3F2-EDE63DA13A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14" y="8115300"/>
                <a:ext cx="161163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scanned pages</a:t>
                </a:r>
                <a:endParaRPr lang="en-GB" sz="2400"/>
              </a:p>
            </p:txBody>
          </p:sp>
          <p:sp>
            <p:nvSpPr>
              <p:cNvPr id="356" name="into searchable" descr="t222">
                <a:extLst>
                  <a:ext uri="{FF2B5EF4-FFF2-40B4-BE49-F238E27FC236}">
                    <ns2:creationId id="{304EAB77-C40E-4E81-A15B-011B117EE0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14" y="8429625"/>
                <a:ext cx="165491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into searchable</a:t>
                </a:r>
                <a:endParaRPr lang="en-GB" sz="2400"/>
              </a:p>
            </p:txBody>
          </p:sp>
          <p:sp>
            <p:nvSpPr>
              <p:cNvPr id="357" name="text" descr="t223">
                <a:extLst>
                  <a:ext uri="{FF2B5EF4-FFF2-40B4-BE49-F238E27FC236}">
                    <ns2:creationId id="{0DCCE62D-FB42-4175-97DE-2F2664AC92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14" y="8753475"/>
                <a:ext cx="45857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text</a:t>
                </a:r>
                <a:endParaRPr lang="en-GB" sz="2400"/>
              </a:p>
            </p:txBody>
          </p:sp>
          <p:sp>
            <p:nvSpPr>
              <p:cNvPr id="358" name="PP-OCRv5" descr="t224">
                <a:extLst>
                  <a:ext uri="{FF2B5EF4-FFF2-40B4-BE49-F238E27FC236}">
                    <ns2:creationId id="{8F3CE8FA-A2CF-4E8B-BD25-1D63595F8A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14" y="9791700"/>
                <a:ext cx="107213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PP-OCRv5</a:t>
                </a:r>
                <a:endParaRPr lang="en-GB" sz="2400"/>
              </a:p>
            </p:txBody>
          </p:sp>
        </p:grpSp>
        <p:grpSp>
          <p:nvGrpSpPr>
            <p:cNvPr id="548" name="R2 · Multiple scales"/>
            <p:cNvGrpSpPr/>
            <p:nvPr/>
          </p:nvGrpSpPr>
          <p:grpSpPr>
            <a:xfrm>
              <a:off x="11154519" y="6653212"/>
              <a:ext cx="1806029" cy="4573935"/>
              <a:chOff x="11154519" y="6653212"/>
              <a:chExt cx="1806029" cy="4573935"/>
            </a:xfrm>
          </p:grpSpPr>
          <p:sp>
            <p:nvSpPr>
              <p:cNvPr id="24" name="Panel stage doc" descr="s23">
                <a:extLst>
                  <a:ext uri="{FF2B5EF4-FFF2-40B4-BE49-F238E27FC236}">
                    <ns2:creationId id="{84571FD8-D2BA-4ADB-9FB1-39FD5C736F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54519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AF5FC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5" name="Panel tech" descr="s24">
                <a:extLst>
                  <a:ext uri="{FF2B5EF4-FFF2-40B4-BE49-F238E27FC236}">
                    <ns2:creationId id="{2C62A0AC-DCEB-4125-8760-34F4B5373D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64044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DCEEF9"/>
              </a:solidFill>
              <a:ln w="0">
                <a:noFill/>
              </a:ln>
            </p:spPr>
          </p:sp>
          <p:sp>
            <p:nvSpPr>
              <p:cNvPr id="65" name="Stage connector" descr="s64">
                <a:extLst>
                  <a:ext uri="{FF2B5EF4-FFF2-40B4-BE49-F238E27FC236}">
                    <ns2:creationId id="{CE463E7C-2FDC-4F19-9251-2CF9EE9B280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60548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147BA7"/>
              </a:solidFill>
              <a:ln w="0">
                <a:noFill/>
              </a:ln>
            </p:spPr>
          </p:sp>
          <p:pic>
            <p:nvPicPr>
              <p:cNvPr id="530" name="icon-layers" descr="s127"/>
              <p:cNvPicPr>
                <a:picLocks noChangeAspect="1"/>
              </p:cNvPicPr>
              <p:nvPr/>
            </p:nvPicPr>
            <p:blipFill>
              <a:blip r:embed="Rafdf736ee59c47cc">
                <a:extLst>
                  <a:ext uri="{96DAC541-7B7A-43D3-8B79-37D633B846F1}">
                    <ns4:svgBlip r:embed="R6cccafd5af4848d2"/>
                  </a:ext>
                </a:extLst>
              </a:blip>
              <a:stretch/>
            </p:blipFill>
            <p:spPr>
              <a:xfrm>
                <a:off x="11819334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59" name="R2 · Multiple" descr="t225">
                <a:extLst>
                  <a:ext uri="{FF2B5EF4-FFF2-40B4-BE49-F238E27FC236}">
                    <ns2:creationId id="{DA8147BE-FAD7-49B2-8FE2-FB2DD5C6A2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6743700"/>
                <a:ext cx="138028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R2 · Multiple</a:t>
                </a:r>
                <a:endParaRPr lang="en-GB" sz="2400"/>
              </a:p>
            </p:txBody>
          </p:sp>
          <p:sp>
            <p:nvSpPr>
              <p:cNvPr id="360" name="scales" descr="t226">
                <a:extLst>
                  <a:ext uri="{FF2B5EF4-FFF2-40B4-BE49-F238E27FC236}">
                    <ns2:creationId id="{59896259-6D53-47B7-BFE5-87619D4609C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7067550"/>
                <a:ext cx="77282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scales</a:t>
                </a:r>
                <a:endParaRPr lang="en-GB" sz="2400"/>
              </a:p>
            </p:txBody>
          </p:sp>
          <p:sp>
            <p:nvSpPr>
              <p:cNvPr id="361" name="Represent" descr="t227">
                <a:extLst>
                  <a:ext uri="{FF2B5EF4-FFF2-40B4-BE49-F238E27FC236}">
                    <ns2:creationId id="{946D1788-DEC5-4EFA-9AF3-E2164968DE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7791450"/>
                <a:ext cx="110658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Represent</a:t>
                </a:r>
                <a:endParaRPr lang="en-GB" sz="2400"/>
              </a:p>
            </p:txBody>
          </p:sp>
          <p:sp>
            <p:nvSpPr>
              <p:cNvPr id="362" name="evidence at" descr="t228">
                <a:extLst>
                  <a:ext uri="{FF2B5EF4-FFF2-40B4-BE49-F238E27FC236}">
                    <ns2:creationId id="{546A659F-48E4-4AC4-A82E-D0FE36D922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8115300"/>
                <a:ext cx="12553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evidence at</a:t>
                </a:r>
                <a:endParaRPr lang="en-GB" sz="2400"/>
              </a:p>
            </p:txBody>
          </p:sp>
          <p:sp>
            <p:nvSpPr>
              <p:cNvPr id="363" name="multiple scales" descr="t229">
                <a:extLst>
                  <a:ext uri="{FF2B5EF4-FFF2-40B4-BE49-F238E27FC236}">
                    <ns2:creationId id="{41E9FDF8-3149-47D7-8BF0-6EAAC28336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8429625"/>
                <a:ext cx="160950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multiple scales</a:t>
                </a:r>
                <a:endParaRPr lang="en-GB" sz="2400"/>
              </a:p>
            </p:txBody>
          </p:sp>
          <p:sp>
            <p:nvSpPr>
              <p:cNvPr id="364" name="Pages, sections," descr="t230">
                <a:extLst>
                  <a:ext uri="{FF2B5EF4-FFF2-40B4-BE49-F238E27FC236}">
                    <ns2:creationId id="{75638048-27F9-4CC3-A4A4-8DDD98D2692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9791700"/>
                <a:ext cx="172410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Pages, sections,</a:t>
                </a:r>
                <a:endParaRPr lang="en-GB" sz="2400"/>
              </a:p>
            </p:txBody>
          </p:sp>
          <p:sp>
            <p:nvSpPr>
              <p:cNvPr id="365" name="clauses," descr="t231">
                <a:extLst>
                  <a:ext uri="{FF2B5EF4-FFF2-40B4-BE49-F238E27FC236}">
                    <ns2:creationId id="{55CC1947-4F04-40B8-A606-EBF4D3514B8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10115550"/>
                <a:ext cx="89535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clauses,</a:t>
                </a:r>
                <a:endParaRPr lang="en-GB" sz="2400"/>
              </a:p>
            </p:txBody>
          </p:sp>
          <p:sp>
            <p:nvSpPr>
              <p:cNvPr id="366" name="microchunks," descr="t232">
                <a:extLst>
                  <a:ext uri="{FF2B5EF4-FFF2-40B4-BE49-F238E27FC236}">
                    <ns2:creationId id="{E86883E5-B9EA-4ABE-89D8-7D4D9F9D9FB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10448925"/>
                <a:ext cx="145374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microchunks,</a:t>
                </a:r>
                <a:endParaRPr lang="en-GB" sz="2400"/>
              </a:p>
            </p:txBody>
          </p:sp>
          <p:sp>
            <p:nvSpPr>
              <p:cNvPr id="367" name="tables" descr="t233">
                <a:extLst>
                  <a:ext uri="{FF2B5EF4-FFF2-40B4-BE49-F238E27FC236}">
                    <ns2:creationId id="{21962380-7324-44F4-9A1B-9F8395EC1F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94" y="10772775"/>
                <a:ext cx="68595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tables</a:t>
                </a:r>
                <a:endParaRPr lang="en-GB" sz="2400"/>
              </a:p>
            </p:txBody>
          </p:sp>
        </p:grpSp>
        <p:grpSp>
          <p:nvGrpSpPr>
            <p:cNvPr id="547" name="R3 · Find exact terms too"/>
            <p:cNvGrpSpPr/>
            <p:nvPr/>
          </p:nvGrpSpPr>
          <p:grpSpPr>
            <a:xfrm>
              <a:off x="13074848" y="6653212"/>
              <a:ext cx="1806029" cy="4573935"/>
              <a:chOff x="13074848" y="6653212"/>
              <a:chExt cx="1806029" cy="4573935"/>
            </a:xfrm>
          </p:grpSpPr>
          <p:sp>
            <p:nvSpPr>
              <p:cNvPr id="26" name="Panel stage retr" descr="s25">
                <a:extLst>
                  <a:ext uri="{FF2B5EF4-FFF2-40B4-BE49-F238E27FC236}">
                    <ns2:creationId id="{1AE268A3-5DCC-4BF0-B70B-395DDF789E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74848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EF7E9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7" name="Panel tech" descr="s26">
                <a:extLst>
                  <a:ext uri="{FF2B5EF4-FFF2-40B4-BE49-F238E27FC236}">
                    <ns2:creationId id="{A4AD07A2-CC28-4D03-ABDC-ABF80DD5E5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84373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1EFD9"/>
              </a:solidFill>
              <a:ln w="0">
                <a:noFill/>
              </a:ln>
            </p:spPr>
          </p:sp>
          <p:sp>
            <p:nvSpPr>
              <p:cNvPr id="66" name="Stage connector" descr="s65">
                <a:extLst>
                  <a:ext uri="{FF2B5EF4-FFF2-40B4-BE49-F238E27FC236}">
                    <ns2:creationId id="{3C3189D4-E727-4959-951E-9226E10D93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80878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3B782D"/>
              </a:solidFill>
              <a:ln w="0">
                <a:noFill/>
              </a:ln>
            </p:spPr>
          </p:sp>
          <p:pic>
            <p:nvPicPr>
              <p:cNvPr id="531" name="icon-search" descr="s128"/>
              <p:cNvPicPr>
                <a:picLocks noChangeAspect="1"/>
              </p:cNvPicPr>
              <p:nvPr/>
            </p:nvPicPr>
            <p:blipFill>
              <a:blip r:embed="Rb5b5cd85b7434022">
                <a:extLst>
                  <a:ext uri="{96DAC541-7B7A-43D3-8B79-37D633B846F1}">
                    <ns4:svgBlip r:embed="Rc0bd8c8098634ab8"/>
                  </a:ext>
                </a:extLst>
              </a:blip>
              <a:stretch/>
            </p:blipFill>
            <p:spPr>
              <a:xfrm>
                <a:off x="13739664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68" name="R3 · Find exact" descr="t234">
                <a:extLst>
                  <a:ext uri="{FF2B5EF4-FFF2-40B4-BE49-F238E27FC236}">
                    <ns2:creationId id="{B1BED031-0C2E-4EB6-8CBE-02FE923369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523" y="6743700"/>
                <a:ext cx="167381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R3 · Find exact</a:t>
                </a:r>
                <a:endParaRPr lang="en-GB" sz="2400"/>
              </a:p>
            </p:txBody>
          </p:sp>
          <p:sp>
            <p:nvSpPr>
              <p:cNvPr id="369" name="terms too" descr="t235">
                <a:extLst>
                  <a:ext uri="{FF2B5EF4-FFF2-40B4-BE49-F238E27FC236}">
                    <ns2:creationId id="{E0452893-B78F-4E90-A662-35C679CF68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523" y="7067550"/>
                <a:ext cx="112791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terms too</a:t>
                </a:r>
                <a:endParaRPr lang="en-GB" sz="2400"/>
              </a:p>
            </p:txBody>
          </p:sp>
          <p:sp>
            <p:nvSpPr>
              <p:cNvPr id="370" name="Combine" descr="t236">
                <a:extLst>
                  <a:ext uri="{FF2B5EF4-FFF2-40B4-BE49-F238E27FC236}">
                    <ns2:creationId id="{CAC401B4-636A-47AD-A6A1-A38E3A8F40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523" y="7791450"/>
                <a:ext cx="95905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Combine</a:t>
                </a:r>
                <a:endParaRPr lang="en-GB" sz="2400"/>
              </a:p>
            </p:txBody>
          </p:sp>
          <p:sp>
            <p:nvSpPr>
              <p:cNvPr id="371" name="semantic and" descr="t237">
                <a:extLst>
                  <a:ext uri="{FF2B5EF4-FFF2-40B4-BE49-F238E27FC236}">
                    <ns2:creationId id="{CFBE3BAB-FFA4-449B-8D03-3F54930704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523" y="8115300"/>
                <a:ext cx="146014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semantic and</a:t>
                </a:r>
                <a:endParaRPr lang="en-GB" sz="2400"/>
              </a:p>
            </p:txBody>
          </p:sp>
          <p:sp>
            <p:nvSpPr>
              <p:cNvPr id="372" name="exact-word" descr="t238">
                <a:extLst>
                  <a:ext uri="{FF2B5EF4-FFF2-40B4-BE49-F238E27FC236}">
                    <ns2:creationId id="{1C236110-CDC5-4919-B32C-011E8450B2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523" y="8429625"/>
                <a:ext cx="122575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exact-word</a:t>
                </a:r>
                <a:endParaRPr lang="en-GB" sz="2400"/>
              </a:p>
            </p:txBody>
          </p:sp>
          <p:sp>
            <p:nvSpPr>
              <p:cNvPr id="373" name="search" descr="t239">
                <a:extLst>
                  <a:ext uri="{FF2B5EF4-FFF2-40B4-BE49-F238E27FC236}">
                    <ns2:creationId id="{B76E18D4-1794-4B39-B108-FB867CD048D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523" y="8753475"/>
                <a:ext cx="75941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search</a:t>
                </a:r>
                <a:endParaRPr lang="en-GB" sz="2400"/>
              </a:p>
            </p:txBody>
          </p:sp>
          <p:sp>
            <p:nvSpPr>
              <p:cNvPr id="374" name="BM25 + RRF" descr="t240">
                <a:extLst>
                  <a:ext uri="{FF2B5EF4-FFF2-40B4-BE49-F238E27FC236}">
                    <ns2:creationId id="{E77D7D32-C9BD-4224-A5DA-6AE9FEE3B2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523" y="9791700"/>
                <a:ext cx="124983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BM25 + RRF</a:t>
                </a:r>
                <a:endParaRPr lang="en-GB" sz="2400"/>
              </a:p>
            </p:txBody>
          </p:sp>
        </p:grpSp>
        <p:grpSp>
          <p:nvGrpSpPr>
            <p:cNvPr id="546" name="R4 · Prioritize better evidence"/>
            <p:cNvGrpSpPr/>
            <p:nvPr/>
          </p:nvGrpSpPr>
          <p:grpSpPr>
            <a:xfrm>
              <a:off x="14995178" y="6653212"/>
              <a:ext cx="1806029" cy="4573935"/>
              <a:chOff x="14995178" y="6653212"/>
              <a:chExt cx="1806029" cy="4573935"/>
            </a:xfrm>
          </p:grpSpPr>
          <p:sp>
            <p:nvSpPr>
              <p:cNvPr id="28" name="Panel stage retr" descr="s27">
                <a:extLst>
                  <a:ext uri="{FF2B5EF4-FFF2-40B4-BE49-F238E27FC236}">
                    <ns2:creationId id="{D4FBCDA6-72C4-415A-9FAB-1672ED78A5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95178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EF7E9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9" name="Panel tech" descr="s28">
                <a:extLst>
                  <a:ext uri="{FF2B5EF4-FFF2-40B4-BE49-F238E27FC236}">
                    <ns2:creationId id="{1DFFFE77-93E6-46B8-8617-3432A1FFAC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04703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1EFD9"/>
              </a:solidFill>
              <a:ln w="0">
                <a:noFill/>
              </a:ln>
            </p:spPr>
          </p:sp>
          <p:sp>
            <p:nvSpPr>
              <p:cNvPr id="67" name="Stage connector" descr="s66">
                <a:extLst>
                  <a:ext uri="{FF2B5EF4-FFF2-40B4-BE49-F238E27FC236}">
                    <ns2:creationId id="{BD4BFFE0-5AB9-447F-8635-F3A88ED4AA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801207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3B782D"/>
              </a:solidFill>
              <a:ln w="0">
                <a:noFill/>
              </a:ln>
            </p:spPr>
          </p:sp>
          <p:pic>
            <p:nvPicPr>
              <p:cNvPr id="532" name="icon-rank" descr="s129"/>
              <p:cNvPicPr>
                <a:picLocks noChangeAspect="1"/>
              </p:cNvPicPr>
              <p:nvPr/>
            </p:nvPicPr>
            <p:blipFill>
              <a:blip r:embed="R06b17e4c381c4c55">
                <a:extLst>
                  <a:ext uri="{96DAC541-7B7A-43D3-8B79-37D633B846F1}">
                    <ns4:svgBlip r:embed="R17c3a88c45284ac4"/>
                  </a:ext>
                </a:extLst>
              </a:blip>
              <a:stretch/>
            </p:blipFill>
            <p:spPr>
              <a:xfrm>
                <a:off x="15659993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75" name="R4 · Prioritize" descr="t241">
                <a:extLst>
                  <a:ext uri="{FF2B5EF4-FFF2-40B4-BE49-F238E27FC236}">
                    <ns2:creationId id="{4569C97B-252A-4B0D-95BE-10C93D506A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6743700"/>
                <a:ext cx="154823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R4 · Prioritize</a:t>
                </a:r>
                <a:endParaRPr lang="en-GB" sz="2400"/>
              </a:p>
            </p:txBody>
          </p:sp>
          <p:sp>
            <p:nvSpPr>
              <p:cNvPr id="376" name="better" descr="t242">
                <a:extLst>
                  <a:ext uri="{FF2B5EF4-FFF2-40B4-BE49-F238E27FC236}">
                    <ns2:creationId id="{AB1BF752-28AA-49BD-A0A0-AE8D7C91CD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7067550"/>
                <a:ext cx="73380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better</a:t>
                </a:r>
                <a:endParaRPr lang="en-GB" sz="2400"/>
              </a:p>
            </p:txBody>
          </p:sp>
          <p:sp>
            <p:nvSpPr>
              <p:cNvPr id="377" name="evidence" descr="t243">
                <a:extLst>
                  <a:ext uri="{FF2B5EF4-FFF2-40B4-BE49-F238E27FC236}">
                    <ns2:creationId id="{F3916A0D-109F-4296-BC40-E43E5D16AE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7400925"/>
                <a:ext cx="105537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evidence</a:t>
                </a:r>
                <a:endParaRPr lang="en-GB" sz="2400"/>
              </a:p>
            </p:txBody>
          </p:sp>
          <p:sp>
            <p:nvSpPr>
              <p:cNvPr id="378" name="Move the most" descr="t244">
                <a:extLst>
                  <a:ext uri="{FF2B5EF4-FFF2-40B4-BE49-F238E27FC236}">
                    <ns2:creationId id="{08848F55-0C81-49C2-A1CB-ECD218478E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7791450"/>
                <a:ext cx="155158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Move the most</a:t>
                </a:r>
                <a:endParaRPr lang="en-GB" sz="2400"/>
              </a:p>
            </p:txBody>
          </p:sp>
          <p:sp>
            <p:nvSpPr>
              <p:cNvPr id="379" name="relevant" descr="t245">
                <a:extLst>
                  <a:ext uri="{FF2B5EF4-FFF2-40B4-BE49-F238E27FC236}">
                    <ns2:creationId id="{AF6C953E-2374-4569-AC3A-0E8D05F54C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8115300"/>
                <a:ext cx="89657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relevant</a:t>
                </a:r>
                <a:endParaRPr lang="en-GB" sz="2400"/>
              </a:p>
            </p:txBody>
          </p:sp>
          <p:sp>
            <p:nvSpPr>
              <p:cNvPr id="380" name="passages to the" descr="t246">
                <a:extLst>
                  <a:ext uri="{FF2B5EF4-FFF2-40B4-BE49-F238E27FC236}">
                    <ns2:creationId id="{5A6A6C04-2F0B-48B3-9B54-D5CD34D331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8429625"/>
                <a:ext cx="168753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passages to the</a:t>
                </a:r>
                <a:endParaRPr lang="en-GB" sz="2400"/>
              </a:p>
            </p:txBody>
          </p:sp>
          <p:sp>
            <p:nvSpPr>
              <p:cNvPr id="381" name="top" descr="t247">
                <a:extLst>
                  <a:ext uri="{FF2B5EF4-FFF2-40B4-BE49-F238E27FC236}">
                    <ns2:creationId id="{F5849BB6-30B2-4CFA-9176-372AA4EA66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8753475"/>
                <a:ext cx="39547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top</a:t>
                </a:r>
                <a:endParaRPr lang="en-GB" sz="2400"/>
              </a:p>
            </p:txBody>
          </p:sp>
          <p:sp>
            <p:nvSpPr>
              <p:cNvPr id="382" name="Qwen3-" descr="t248">
                <a:extLst>
                  <a:ext uri="{FF2B5EF4-FFF2-40B4-BE49-F238E27FC236}">
                    <ns2:creationId id="{BA2CDE5E-5007-4C86-99BC-6D30545CE2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9791700"/>
                <a:ext cx="83103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Qwen3-</a:t>
                </a:r>
                <a:endParaRPr lang="en-GB" sz="2400"/>
              </a:p>
            </p:txBody>
          </p:sp>
          <p:sp>
            <p:nvSpPr>
              <p:cNvPr id="383" name="Reranker" descr="t249">
                <a:extLst>
                  <a:ext uri="{FF2B5EF4-FFF2-40B4-BE49-F238E27FC236}">
                    <ns2:creationId id="{E00371E4-D3F2-43AB-99F3-C2ADA4EE63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1853" y="10115550"/>
                <a:ext cx="99319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Reranker</a:t>
                </a:r>
                <a:endParaRPr lang="en-GB" sz="2400"/>
              </a:p>
            </p:txBody>
          </p:sp>
        </p:grpSp>
        <p:grpSp>
          <p:nvGrpSpPr>
            <p:cNvPr id="545" name="R5 · Check the answer"/>
            <p:cNvGrpSpPr/>
            <p:nvPr/>
          </p:nvGrpSpPr>
          <p:grpSpPr>
            <a:xfrm>
              <a:off x="16915507" y="6653212"/>
              <a:ext cx="1806029" cy="4573935"/>
              <a:chOff x="16915507" y="6653212"/>
              <a:chExt cx="1806029" cy="4573935"/>
            </a:xfrm>
          </p:grpSpPr>
          <p:sp>
            <p:nvSpPr>
              <p:cNvPr id="30" name="Panel stage ans" descr="s29">
                <a:extLst>
                  <a:ext uri="{FF2B5EF4-FFF2-40B4-BE49-F238E27FC236}">
                    <ns2:creationId id="{2AF04E76-7CA7-452C-AD91-CA3B401FBC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15507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FFF1E5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31" name="Panel tech" descr="s30">
                <a:extLst>
                  <a:ext uri="{FF2B5EF4-FFF2-40B4-BE49-F238E27FC236}">
                    <ns2:creationId id="{E22A3E09-3579-4D27-9D7A-2FC5DB5EFA3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25032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F8E3CF"/>
              </a:solidFill>
              <a:ln w="0">
                <a:noFill/>
              </a:ln>
            </p:spPr>
          </p:sp>
          <p:sp>
            <p:nvSpPr>
              <p:cNvPr id="68" name="Stage connector" descr="s67">
                <a:extLst>
                  <a:ext uri="{FF2B5EF4-FFF2-40B4-BE49-F238E27FC236}">
                    <ns2:creationId id="{27F77489-89B7-4B4E-A018-A6929FD99C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21536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AB5826"/>
              </a:solidFill>
              <a:ln w="0">
                <a:noFill/>
              </a:ln>
            </p:spPr>
          </p:sp>
          <p:pic>
            <p:nvPicPr>
              <p:cNvPr id="533" name="icon-check" descr="s130"/>
              <p:cNvPicPr>
                <a:picLocks noChangeAspect="1"/>
              </p:cNvPicPr>
              <p:nvPr/>
            </p:nvPicPr>
            <p:blipFill>
              <a:blip r:embed="Rf1b0872b5a6a4938">
                <a:extLst>
                  <a:ext uri="{96DAC541-7B7A-43D3-8B79-37D633B846F1}">
                    <ns4:svgBlip r:embed="R43b79e1ce16f4af0"/>
                  </a:ext>
                </a:extLst>
              </a:blip>
              <a:stretch/>
            </p:blipFill>
            <p:spPr>
              <a:xfrm>
                <a:off x="17580322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84" name="R5 · Check the" descr="t250">
                <a:extLst>
                  <a:ext uri="{FF2B5EF4-FFF2-40B4-BE49-F238E27FC236}">
                    <ns2:creationId id="{61E389AC-5DF7-422C-A948-E30FFCEBE8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182" y="6743700"/>
                <a:ext cx="162352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ab5826"/>
                    </a:solidFill>
                    <a:latin typeface="Barlow Condensed"/>
                    <a:ea typeface="Barlow Condensed"/>
                    <a:cs typeface="Barlow Condensed"/>
                  </a:rPr>
                  <a:t>R5 · Check the</a:t>
                </a:r>
                <a:endParaRPr lang="en-GB" sz="2400"/>
              </a:p>
            </p:txBody>
          </p:sp>
          <p:sp>
            <p:nvSpPr>
              <p:cNvPr id="385" name="answer" descr="t251">
                <a:extLst>
                  <a:ext uri="{FF2B5EF4-FFF2-40B4-BE49-F238E27FC236}">
                    <ns2:creationId id="{C77CD4E6-DC09-433E-925C-A8144E5D26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182" y="7067550"/>
                <a:ext cx="8618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ab5826"/>
                    </a:solidFill>
                    <a:latin typeface="Barlow Condensed"/>
                    <a:ea typeface="Barlow Condensed"/>
                    <a:cs typeface="Barlow Condensed"/>
                  </a:rPr>
                  <a:t>answer</a:t>
                </a:r>
                <a:endParaRPr lang="en-GB" sz="2400"/>
              </a:p>
            </p:txBody>
          </p:sp>
          <p:sp>
            <p:nvSpPr>
              <p:cNvPr id="386" name="Normalize and" descr="t252">
                <a:extLst>
                  <a:ext uri="{FF2B5EF4-FFF2-40B4-BE49-F238E27FC236}">
                    <ns2:creationId id="{E3EF7EBB-8225-40B0-9981-5D892ECAF30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182" y="7791450"/>
                <a:ext cx="154396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Normalize and</a:t>
                </a:r>
                <a:endParaRPr lang="en-GB" sz="2400"/>
              </a:p>
            </p:txBody>
          </p:sp>
          <p:sp>
            <p:nvSpPr>
              <p:cNvPr id="387" name="validate the" descr="t253">
                <a:extLst>
                  <a:ext uri="{FF2B5EF4-FFF2-40B4-BE49-F238E27FC236}">
                    <ns2:creationId id="{A8DA28E6-B450-4E0D-994F-AD6C02A15F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182" y="8115300"/>
                <a:ext cx="127117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validate the</a:t>
                </a:r>
                <a:endParaRPr lang="en-GB" sz="2400"/>
              </a:p>
            </p:txBody>
          </p:sp>
          <p:sp>
            <p:nvSpPr>
              <p:cNvPr id="388" name="expected" descr="t254">
                <a:extLst>
                  <a:ext uri="{FF2B5EF4-FFF2-40B4-BE49-F238E27FC236}">
                    <ns2:creationId id="{EAB10741-B8E0-4664-A74F-55F37F7C18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182" y="8429625"/>
                <a:ext cx="100630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expected</a:t>
                </a:r>
                <a:endParaRPr lang="en-GB" sz="2400"/>
              </a:p>
            </p:txBody>
          </p:sp>
          <p:sp>
            <p:nvSpPr>
              <p:cNvPr id="389" name="answer type" descr="t255">
                <a:extLst>
                  <a:ext uri="{FF2B5EF4-FFF2-40B4-BE49-F238E27FC236}">
                    <ns2:creationId id="{F1721A53-AC83-4B27-9E21-E553923532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182" y="8753475"/>
                <a:ext cx="131231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 type</a:t>
                </a:r>
                <a:endParaRPr lang="en-GB" sz="2400"/>
              </a:p>
            </p:txBody>
          </p:sp>
          <p:sp>
            <p:nvSpPr>
              <p:cNvPr id="390" name="Typed schema" descr="t256">
                <a:extLst>
                  <a:ext uri="{FF2B5EF4-FFF2-40B4-BE49-F238E27FC236}">
                    <ns2:creationId id="{09DD741D-7A67-40E0-8058-2473EB6241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182" y="9791700"/>
                <a:ext cx="154671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Typed schema</a:t>
                </a:r>
                <a:endParaRPr lang="en-GB" sz="2400"/>
              </a:p>
            </p:txBody>
          </p:sp>
        </p:grpSp>
        <p:grpSp>
          <p:nvGrpSpPr>
            <p:cNvPr id="544" name="R6 · Refine citations"/>
            <p:cNvGrpSpPr/>
            <p:nvPr/>
          </p:nvGrpSpPr>
          <p:grpSpPr>
            <a:xfrm>
              <a:off x="18835836" y="6653212"/>
              <a:ext cx="1805880" cy="4573935"/>
              <a:chOff x="18835836" y="6653212"/>
              <a:chExt cx="1805880" cy="4573935"/>
            </a:xfrm>
          </p:grpSpPr>
          <p:sp>
            <p:nvSpPr>
              <p:cNvPr id="32" name="Panel stage cit" descr="s31">
                <a:extLst>
                  <a:ext uri="{FF2B5EF4-FFF2-40B4-BE49-F238E27FC236}">
                    <ns2:creationId id="{DEA6A6DD-83E2-4A70-BF0F-31D7FCE2B8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35836" y="6653213"/>
                <a:ext cx="1805880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594" h="480203">
                    <a:moveTo>
                      <a:pt x="8000" y="0"/>
                    </a:moveTo>
                    <a:lnTo>
                      <a:pt x="181594" y="0"/>
                    </a:lnTo>
                    <a:cubicBezTo>
                      <a:pt x="186012" y="0"/>
                      <a:pt x="189594" y="3582"/>
                      <a:pt x="189594" y="8000"/>
                    </a:cubicBezTo>
                    <a:lnTo>
                      <a:pt x="189594" y="472203"/>
                    </a:lnTo>
                    <a:cubicBezTo>
                      <a:pt x="189594" y="476621"/>
                      <a:pt x="186012" y="480203"/>
                      <a:pt x="181594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F1EAFB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33" name="Panel tech" descr="s32">
                <a:extLst>
                  <a:ext uri="{FF2B5EF4-FFF2-40B4-BE49-F238E27FC236}">
                    <ns2:creationId id="{7538C7B0-4AC3-4827-8368-D722E23ABC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45361" y="9729936"/>
                <a:ext cx="1786830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594" h="156188">
                    <a:moveTo>
                      <a:pt x="6000" y="0"/>
                    </a:moveTo>
                    <a:lnTo>
                      <a:pt x="181594" y="0"/>
                    </a:lnTo>
                    <a:cubicBezTo>
                      <a:pt x="184907" y="0"/>
                      <a:pt x="187594" y="2686"/>
                      <a:pt x="187594" y="6000"/>
                    </a:cubicBezTo>
                    <a:lnTo>
                      <a:pt x="187594" y="149188"/>
                    </a:lnTo>
                    <a:cubicBezTo>
                      <a:pt x="187594" y="153053"/>
                      <a:pt x="184460" y="156188"/>
                      <a:pt x="180594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7DDF4"/>
              </a:solidFill>
              <a:ln w="0">
                <a:noFill/>
              </a:ln>
            </p:spPr>
          </p:sp>
          <p:pic>
            <p:nvPicPr>
              <p:cNvPr id="534" name="icon-link" descr="s131"/>
              <p:cNvPicPr>
                <a:picLocks noChangeAspect="1"/>
              </p:cNvPicPr>
              <p:nvPr/>
            </p:nvPicPr>
            <p:blipFill>
              <a:blip r:embed="Ra600342c4bc94505">
                <a:extLst>
                  <a:ext uri="{96DAC541-7B7A-43D3-8B79-37D633B846F1}">
                    <ns4:svgBlip r:embed="Reb48d4c706254c8a"/>
                  </a:ext>
                </a:extLst>
              </a:blip>
              <a:stretch/>
            </p:blipFill>
            <p:spPr>
              <a:xfrm>
                <a:off x="19500652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91" name="R6 · Refine" descr="t257">
                <a:extLst>
                  <a:ext uri="{FF2B5EF4-FFF2-40B4-BE49-F238E27FC236}">
                    <ns2:creationId id="{60112DEF-D9C6-46D6-92B1-DF7D3A7B0F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6743700"/>
                <a:ext cx="122819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6845a0"/>
                    </a:solidFill>
                    <a:latin typeface="Barlow Condensed"/>
                    <a:ea typeface="Barlow Condensed"/>
                    <a:cs typeface="Barlow Condensed"/>
                  </a:rPr>
                  <a:t>R6 · Refine</a:t>
                </a:r>
                <a:endParaRPr lang="en-GB" sz="2400"/>
              </a:p>
            </p:txBody>
          </p:sp>
          <p:sp>
            <p:nvSpPr>
              <p:cNvPr id="392" name="citations" descr="t258">
                <a:extLst>
                  <a:ext uri="{FF2B5EF4-FFF2-40B4-BE49-F238E27FC236}">
                    <ns2:creationId id="{FB54B945-BB25-4967-84E7-A32A94B1656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7067550"/>
                <a:ext cx="103281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6845a0"/>
                    </a:solidFill>
                    <a:latin typeface="Barlow Condensed"/>
                    <a:ea typeface="Barlow Condensed"/>
                    <a:cs typeface="Barlow Condensed"/>
                  </a:rPr>
                  <a:t>citations</a:t>
                </a:r>
                <a:endParaRPr lang="en-GB" sz="2400"/>
              </a:p>
            </p:txBody>
          </p:sp>
          <p:sp>
            <p:nvSpPr>
              <p:cNvPr id="393" name="Keep only" descr="t259">
                <a:extLst>
                  <a:ext uri="{FF2B5EF4-FFF2-40B4-BE49-F238E27FC236}">
                    <ns2:creationId id="{D687CFD9-F3F5-49FE-A885-67CE08135B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7791450"/>
                <a:ext cx="105750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Keep only</a:t>
                </a:r>
                <a:endParaRPr lang="en-GB" sz="2400"/>
              </a:p>
            </p:txBody>
          </p:sp>
          <p:sp>
            <p:nvSpPr>
              <p:cNvPr id="394" name="pages that" descr="t260">
                <a:extLst>
                  <a:ext uri="{FF2B5EF4-FFF2-40B4-BE49-F238E27FC236}">
                    <ns2:creationId id="{0F227BA0-964D-4729-B6A5-E6D68EBD6D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8115300"/>
                <a:ext cx="115565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pages that</a:t>
                </a:r>
                <a:endParaRPr lang="en-GB" sz="2400"/>
              </a:p>
            </p:txBody>
          </p:sp>
          <p:sp>
            <p:nvSpPr>
              <p:cNvPr id="395" name="support the" descr="t261">
                <a:extLst>
                  <a:ext uri="{FF2B5EF4-FFF2-40B4-BE49-F238E27FC236}">
                    <ns2:creationId id="{015E5A7F-A48E-40C2-A53F-7F28BC3BC9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8429625"/>
                <a:ext cx="125379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support the</a:t>
                </a:r>
                <a:endParaRPr lang="en-GB" sz="2400"/>
              </a:p>
            </p:txBody>
          </p:sp>
          <p:sp>
            <p:nvSpPr>
              <p:cNvPr id="396" name="final answer" descr="t262">
                <a:extLst>
                  <a:ext uri="{FF2B5EF4-FFF2-40B4-BE49-F238E27FC236}">
                    <ns2:creationId id="{EA5F525C-1D02-444D-BFFD-C501350237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8753475"/>
                <a:ext cx="132207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final answer</a:t>
                </a:r>
                <a:endParaRPr lang="en-GB" sz="2400"/>
              </a:p>
            </p:txBody>
          </p:sp>
          <p:sp>
            <p:nvSpPr>
              <p:cNvPr id="397" name="Supporting-" descr="t263">
                <a:extLst>
                  <a:ext uri="{FF2B5EF4-FFF2-40B4-BE49-F238E27FC236}">
                    <ns2:creationId id="{166304EA-5546-46FE-B1B1-1844CBAD33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9791700"/>
                <a:ext cx="128488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Supporting-</a:t>
                </a:r>
                <a:endParaRPr lang="en-GB" sz="2400"/>
              </a:p>
            </p:txBody>
          </p:sp>
          <p:sp>
            <p:nvSpPr>
              <p:cNvPr id="398" name="chunk" descr="t264">
                <a:extLst>
                  <a:ext uri="{FF2B5EF4-FFF2-40B4-BE49-F238E27FC236}">
                    <ns2:creationId id="{CBE0BC7C-9811-4125-8BD6-ADE38AF179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10115550"/>
                <a:ext cx="69082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chunk</a:t>
                </a:r>
                <a:endParaRPr lang="en-GB" sz="2400"/>
              </a:p>
            </p:txBody>
          </p:sp>
          <p:sp>
            <p:nvSpPr>
              <p:cNvPr id="399" name="references" descr="t265">
                <a:extLst>
                  <a:ext uri="{FF2B5EF4-FFF2-40B4-BE49-F238E27FC236}">
                    <ns2:creationId id="{252E5D24-0B0E-45D2-BD03-EDAD6C9782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11" y="10448925"/>
                <a:ext cx="117729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references</a:t>
                </a:r>
                <a:endParaRPr lang="en-GB" sz="2400"/>
              </a:p>
            </p:txBody>
          </p:sp>
        </p:grpSp>
        <p:sp>
          <p:nvSpPr>
            <p:cNvPr id="34" name="Rule" descr="s33">
              <a:extLst>
                <a:ext uri="{FF2B5EF4-FFF2-40B4-BE49-F238E27FC236}">
                  <ns2:creationId id="{743C12FC-C540-4972-81F3-A6D0B1D73865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1331922"/>
              <a:ext cx="11407527" cy="9525"/>
            </a:xfrm>
            <a:prstGeom prst="rect">
              <a:avLst/>
            </a:prstGeom>
            <a:solidFill>
              <a:srgbClr val="CBDDE7"/>
            </a:solidFill>
            <a:ln w="0">
              <a:noFill/>
            </a:ln>
          </p:spPr>
        </p:sp>
        <p:sp>
          <p:nvSpPr>
            <p:cNvPr id="184" name="6. Data and Methods" descr="t50">
              <a:extLst>
                <a:ext uri="{FF2B5EF4-FFF2-40B4-BE49-F238E27FC236}">
                  <ns2:creationId id="{238B2948-5ED2-4179-A327-22AD896E4097}"/>
                </a:ext>
              </a:extLst>
            </p:cNvPr>
            <p:cNvSpPr>
              <a:spLocks noGrp="1"/>
            </p:cNvSpPr>
            <p:nvPr/>
          </p:nvSpPr>
          <p:spPr>
            <a:xfrm>
              <a:off x="9205764" y="1397032"/>
              <a:ext cx="2737383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6. Data and Methods</a:t>
              </a:r>
              <a:endParaRPr lang="en-GB" sz="2800"/>
            </a:p>
          </p:txBody>
        </p:sp>
        <p:sp>
          <p:nvSpPr>
            <p:cNvPr id="185" name="Data" descr="t51">
              <a:extLst>
                <a:ext uri="{FF2B5EF4-FFF2-40B4-BE49-F238E27FC236}">
                  <ns2:creationId id="{C5022EEB-AA5F-4EDC-8E56-2185783B5BF6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978057"/>
              <a:ext cx="583807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Data</a:t>
              </a:r>
              <a:endParaRPr lang="en-GB" sz="2500"/>
            </a:p>
          </p:txBody>
        </p:sp>
        <p:sp>
          <p:nvSpPr>
            <p:cNvPr id="186" name="30 DIFC legal PDFs (590 pages), 100 questions, including 70 structured" descr="t52">
              <a:extLst>
                <a:ext uri="{FF2B5EF4-FFF2-40B4-BE49-F238E27FC236}">
                  <ns2:creationId id="{C5A2AA13-1CAA-476F-96FA-109D95E2A28B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2371725"/>
              <a:ext cx="109857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30 DIFC legal PDFs (590 pages), 100 questions, including 70 structured-answer and 30 free-text questions.</a:t>
              </a:r>
              <a:endParaRPr lang="en-GB" sz="2400"/>
            </a:p>
          </p:txBody>
        </p:sp>
        <p:sp>
          <p:nvSpPr>
            <p:cNvPr id="187" name="Reference source pages are available for 95 questions. For the scan-ro" descr="t53">
              <a:extLst>
                <a:ext uri="{FF2B5EF4-FFF2-40B4-BE49-F238E27FC236}">
                  <ns2:creationId id="{9FFFBA01-BE0D-4873-B9E6-D9FEBE79D53E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2695575"/>
              <a:ext cx="1130063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Reference source pages are available for 95 questions. For the scan-robustness test, 10 of the 30 documents</a:t>
              </a:r>
              <a:endParaRPr lang="en-GB" sz="2400"/>
            </a:p>
          </p:txBody>
        </p:sp>
        <p:sp>
          <p:nvSpPr>
            <p:cNvPr id="188" name="(107 pages) were converted into synthetic scans: each page was rasteri" descr="t54">
              <a:extLst>
                <a:ext uri="{FF2B5EF4-FFF2-40B4-BE49-F238E27FC236}">
                  <ns2:creationId id="{79BD9FB8-DFF0-40B5-A0D9-374AC76EE557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3009900"/>
              <a:ext cx="109056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(107 pages) were converted into synthetic scans: each page was rasterised as an image and its machine-</a:t>
              </a:r>
              <a:endParaRPr lang="en-GB" sz="2400"/>
            </a:p>
          </p:txBody>
        </p:sp>
        <p:sp>
          <p:nvSpPr>
            <p:cNvPr id="189" name="readable text layer was removed." descr="t55">
              <a:extLst>
                <a:ext uri="{FF2B5EF4-FFF2-40B4-BE49-F238E27FC236}">
                  <ns2:creationId id="{0A3C4027-9846-41CB-8748-98B5DAECE80A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3333750"/>
              <a:ext cx="346695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readable text layer was removed.</a:t>
              </a:r>
              <a:endParaRPr lang="en-GB" sz="2400"/>
            </a:p>
          </p:txBody>
        </p:sp>
        <p:sp>
          <p:nvSpPr>
            <p:cNvPr id="190" name="Pipeline" descr="t56">
              <a:extLst>
                <a:ext uri="{FF2B5EF4-FFF2-40B4-BE49-F238E27FC236}">
                  <ns2:creationId id="{B546C388-8EA3-4BA9-9321-082716290387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3778282"/>
              <a:ext cx="971096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Pipeline</a:t>
              </a:r>
              <a:endParaRPr lang="en-GB" sz="2500"/>
            </a:p>
          </p:txBody>
        </p:sp>
        <p:sp>
          <p:nvSpPr>
            <p:cNvPr id="191" name="Starting from a simple baseline, we add one capability at a time. Each" descr="t57">
              <a:extLst>
                <a:ext uri="{FF2B5EF4-FFF2-40B4-BE49-F238E27FC236}">
                  <ns2:creationId id="{43E23A1B-7AA3-425C-BB00-2F51D9DB8DF3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4171950"/>
              <a:ext cx="1130612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Starting from a simple baseline, we add one capability at a time. Each variant includes all previous additions.</a:t>
              </a:r>
              <a:endParaRPr lang="en-GB" sz="2400"/>
            </a:p>
          </p:txBody>
        </p:sp>
        <p:sp>
          <p:nvSpPr>
            <p:cNvPr id="192" name="DOCUMENT PROCESSING" descr="t58">
              <a:extLst>
                <a:ext uri="{FF2B5EF4-FFF2-40B4-BE49-F238E27FC236}">
                  <ns2:creationId id="{18939359-381D-46A5-A693-9CDE50D128E4}"/>
                </a:ext>
              </a:extLst>
            </p:cNvPr>
            <p:cNvSpPr>
              <a:spLocks noGrp="1"/>
            </p:cNvSpPr>
            <p:nvPr/>
          </p:nvSpPr>
          <p:spPr>
            <a:xfrm>
              <a:off x="9914334" y="6188107"/>
              <a:ext cx="2423255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DOCUMENT PROCESSING</a:t>
              </a:r>
              <a:endParaRPr lang="en-GB" sz="2200"/>
            </a:p>
          </p:txBody>
        </p:sp>
        <p:sp>
          <p:nvSpPr>
            <p:cNvPr id="193" name="RETRIEVAL" descr="t59">
              <a:extLst>
                <a:ext uri="{FF2B5EF4-FFF2-40B4-BE49-F238E27FC236}">
                  <ns2:creationId id="{F2612C7B-2B23-4468-B57A-87EF38230CAB}"/>
                </a:ext>
              </a:extLst>
            </p:cNvPr>
            <p:cNvSpPr>
              <a:spLocks noGrp="1"/>
            </p:cNvSpPr>
            <p:nvPr/>
          </p:nvSpPr>
          <p:spPr>
            <a:xfrm>
              <a:off x="14401949" y="6188107"/>
              <a:ext cx="1129023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RETRIEVAL</a:t>
              </a:r>
              <a:endParaRPr lang="en-GB" sz="2200"/>
            </a:p>
          </p:txBody>
        </p:sp>
        <p:sp>
          <p:nvSpPr>
            <p:cNvPr id="194" name="ANSWERING" descr="t60">
              <a:extLst>
                <a:ext uri="{FF2B5EF4-FFF2-40B4-BE49-F238E27FC236}">
                  <ns2:creationId id="{8DA8A1E1-CDC8-4EBE-BAB2-4942C66A9EA1}"/>
                </a:ext>
              </a:extLst>
            </p:cNvPr>
            <p:cNvSpPr>
              <a:spLocks noGrp="1"/>
            </p:cNvSpPr>
            <p:nvPr/>
          </p:nvSpPr>
          <p:spPr>
            <a:xfrm>
              <a:off x="17227004" y="6188107"/>
              <a:ext cx="1239926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ANSWERING</a:t>
              </a:r>
              <a:endParaRPr lang="en-GB" sz="2200"/>
            </a:p>
          </p:txBody>
        </p:sp>
        <p:sp>
          <p:nvSpPr>
            <p:cNvPr id="195" name="CITATIONS" descr="t61">
              <a:extLst>
                <a:ext uri="{FF2B5EF4-FFF2-40B4-BE49-F238E27FC236}">
                  <ns2:creationId id="{2C38FFE2-5230-4965-A97F-9DEB48F2C0DA}"/>
                </a:ext>
              </a:extLst>
            </p:cNvPr>
            <p:cNvSpPr>
              <a:spLocks noGrp="1"/>
            </p:cNvSpPr>
            <p:nvPr/>
          </p:nvSpPr>
          <p:spPr>
            <a:xfrm>
              <a:off x="19227701" y="6188107"/>
              <a:ext cx="1079297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CITATIONS</a:t>
              </a:r>
              <a:endParaRPr lang="en-GB" sz="2200"/>
            </a:p>
          </p:txBody>
        </p:sp>
        <p:sp>
          <p:nvSpPr>
            <p:cNvPr id="196" name="Answer generation:" descr="t62">
              <a:extLst>
                <a:ext uri="{FF2B5EF4-FFF2-40B4-BE49-F238E27FC236}">
                  <ns2:creationId id="{8CF083A1-9FBA-4A43-8630-1CA35DA365EB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1410950"/>
              <a:ext cx="22136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Answer generation:</a:t>
              </a:r>
              <a:endParaRPr lang="en-GB" sz="2400"/>
            </a:p>
          </p:txBody>
        </p:sp>
        <p:sp>
          <p:nvSpPr>
            <p:cNvPr id="197" name=" A fixed GPT-5.4-mini configuration is used across variants, so change" descr="t63">
              <a:extLst>
                <a:ext uri="{FF2B5EF4-FFF2-40B4-BE49-F238E27FC236}">
                  <ns2:creationId id="{E6EC64BD-CED8-440C-A294-B1B2CD296668}"/>
                </a:ext>
              </a:extLst>
            </p:cNvPr>
            <p:cNvSpPr>
              <a:spLocks noGrp="1"/>
            </p:cNvSpPr>
            <p:nvPr/>
          </p:nvSpPr>
          <p:spPr>
            <a:xfrm>
              <a:off x="11390858" y="11410950"/>
              <a:ext cx="905943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A fixed GPT-5.4-mini configuration is used across variants, so changes in performance</a:t>
              </a:r>
              <a:endParaRPr lang="en-GB" sz="2400"/>
            </a:p>
          </p:txBody>
        </p:sp>
        <p:sp>
          <p:nvSpPr>
            <p:cNvPr id="198" name="reflect modifications to the surrounding pipeline rather than a change" descr="t64">
              <a:extLst>
                <a:ext uri="{FF2B5EF4-FFF2-40B4-BE49-F238E27FC236}">
                  <ns2:creationId id="{A8198CB9-93A1-4ED2-9C52-C71CE4BD237E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1725275"/>
              <a:ext cx="967757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reflect modifications to the surrounding pipeline rather than a change of the generating LLM.</a:t>
              </a:r>
              <a:endParaRPr lang="en-GB" sz="2400"/>
            </a:p>
          </p:txBody>
        </p:sp>
      </p:grpSp>
      <p:grpSp>
        <p:nvGrpSpPr>
          <p:cNvPr id="543" name="7. Evaluation"/>
          <p:cNvGrpSpPr/>
          <p:nvPr/>
        </p:nvGrpSpPr>
        <p:grpSpPr>
          <a:xfrm>
            <a:off x="9072414" y="12305258"/>
            <a:ext cx="11731377" cy="3833366"/>
            <a:chOff x="9072414" y="12305258"/>
            <a:chExt cx="11731377" cy="3833366"/>
          </a:xfrm>
        </p:grpSpPr>
        <p:sp>
          <p:nvSpPr>
            <p:cNvPr id="35" name="Panel H2" descr="s34">
              <a:extLst>
                <a:ext uri="{FF2B5EF4-FFF2-40B4-BE49-F238E27FC236}">
                  <ns2:creationId id="{940C6DBB-7251-4871-90DF-09E628356B0C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2305258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36" name="Panel content" descr="s35">
              <a:extLst>
                <a:ext uri="{FF2B5EF4-FFF2-40B4-BE49-F238E27FC236}">
                  <ns2:creationId id="{B949D31A-58BC-4AB3-AC15-DC34604859AC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2822585"/>
              <a:ext cx="11731377" cy="3316039"/>
            </a:xfrm>
            <a:custGeom>
              <a:avLst/>
              <a:gdLst/>
              <a:ahLst/>
              <a:cxnLst/>
              <a:rect l="0" t="0" r="r" b="b"/>
              <a:pathLst>
                <a:path w="1231641" h="348141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339141"/>
                  </a:lnTo>
                  <a:cubicBezTo>
                    <a:pt x="1231641" y="344111"/>
                    <a:pt x="1227611" y="348141"/>
                    <a:pt x="1222641" y="348141"/>
                  </a:cubicBezTo>
                  <a:lnTo>
                    <a:pt x="9000" y="348141"/>
                  </a:lnTo>
                  <a:cubicBezTo>
                    <a:pt x="4029" y="348141"/>
                    <a:pt x="0" y="344111"/>
                    <a:pt x="0" y="339141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37" name="Panel doc" descr="s36">
              <a:extLst>
                <a:ext uri="{FF2B5EF4-FFF2-40B4-BE49-F238E27FC236}">
                  <ns2:creationId id="{7DC740D0-55C9-4C09-8008-CD843E98267F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4020651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AF5FC"/>
            </a:solidFill>
            <a:ln w="0">
              <a:noFill/>
            </a:ln>
          </p:spPr>
        </p:sp>
        <p:sp>
          <p:nvSpPr>
            <p:cNvPr id="38" name="Panel retr" descr="s37">
              <a:extLst>
                <a:ext uri="{FF2B5EF4-FFF2-40B4-BE49-F238E27FC236}">
                  <ns2:creationId id="{8B8500B7-6157-4F25-B0C9-76DF3D19F053}"/>
                </a:ext>
              </a:extLst>
            </p:cNvPr>
            <p:cNvSpPr>
              <a:spLocks noGrp="1"/>
            </p:cNvSpPr>
            <p:nvPr/>
          </p:nvSpPr>
          <p:spPr>
            <a:xfrm>
              <a:off x="13068598" y="14020651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EF7E9"/>
            </a:solidFill>
            <a:ln w="0">
              <a:noFill/>
            </a:ln>
          </p:spPr>
        </p:sp>
        <p:sp>
          <p:nvSpPr>
            <p:cNvPr id="39" name="Panel ans" descr="s38">
              <a:extLst>
                <a:ext uri="{FF2B5EF4-FFF2-40B4-BE49-F238E27FC236}">
                  <ns2:creationId id="{D6857FC3-377F-4037-9D18-A697F96B3C14}"/>
                </a:ext>
              </a:extLst>
            </p:cNvPr>
            <p:cNvSpPr>
              <a:spLocks noGrp="1"/>
            </p:cNvSpPr>
            <p:nvPr/>
          </p:nvSpPr>
          <p:spPr>
            <a:xfrm>
              <a:off x="16902857" y="14020651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FF1E5"/>
            </a:solidFill>
            <a:ln w="0">
              <a:noFill/>
            </a:ln>
          </p:spPr>
        </p:sp>
        <p:sp>
          <p:nvSpPr>
            <p:cNvPr id="199" name="7. Evaluation" descr="t65">
              <a:extLst>
                <a:ext uri="{FF2B5EF4-FFF2-40B4-BE49-F238E27FC236}">
                  <ns2:creationId id="{303B87CE-C761-4781-ACED-39237D709E08}"/>
                </a:ext>
              </a:extLst>
            </p:cNvPr>
            <p:cNvSpPr>
              <a:spLocks noGrp="1"/>
            </p:cNvSpPr>
            <p:nvPr/>
          </p:nvSpPr>
          <p:spPr>
            <a:xfrm>
              <a:off x="9205764" y="12350782"/>
              <a:ext cx="1773403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7. Evaluation</a:t>
              </a:r>
              <a:endParaRPr lang="en-GB" sz="2800"/>
            </a:p>
          </p:txBody>
        </p:sp>
        <p:sp>
          <p:nvSpPr>
            <p:cNvPr id="200" name="A correct answer does not necessarily imply good citations. A system m" descr="t66">
              <a:extLst>
                <a:ext uri="{FF2B5EF4-FFF2-40B4-BE49-F238E27FC236}">
                  <ns2:creationId id="{3C03BFF7-5E18-4FE7-830E-AC1A0DEC48A8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2925425"/>
              <a:ext cx="1094096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 correct answer does not necessarily imply good citations. A system may produce the right answer while</a:t>
              </a:r>
              <a:endParaRPr lang="en-GB" sz="2400"/>
            </a:p>
          </p:txBody>
        </p:sp>
        <p:sp>
          <p:nvSpPr>
            <p:cNvPr id="201" name="citing irrelevant pages, or it may cite only part of the evidence requ" descr="t67">
              <a:extLst>
                <a:ext uri="{FF2B5EF4-FFF2-40B4-BE49-F238E27FC236}">
                  <ns2:creationId id="{93F7FE5C-7BB6-4F3A-B7E3-F822D6A66488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3249275"/>
              <a:ext cx="1121011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citing irrelevant pages, or it may cite only part of the evidence required to support the answer. We therefore</a:t>
              </a:r>
              <a:endParaRPr lang="en-GB" sz="2400"/>
            </a:p>
          </p:txBody>
        </p:sp>
        <p:sp>
          <p:nvSpPr>
            <p:cNvPr id="202" name="evaluate answer quality and citation quality separately." descr="t68">
              <a:extLst>
                <a:ext uri="{FF2B5EF4-FFF2-40B4-BE49-F238E27FC236}">
                  <ns2:creationId id="{031D79D1-2931-4628-BBFC-CA8CFB3B6D50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3563600"/>
              <a:ext cx="575631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evaluate answer quality and citation quality separately.</a:t>
              </a:r>
              <a:endParaRPr lang="en-GB" sz="2400"/>
            </a:p>
          </p:txBody>
        </p:sp>
        <p:sp>
          <p:nvSpPr>
            <p:cNvPr id="203" name="Answer quality" descr="t69">
              <a:extLst>
                <a:ext uri="{FF2B5EF4-FFF2-40B4-BE49-F238E27FC236}">
                  <ns2:creationId id="{50F3F8B9-2AEC-4CC7-AEC4-A048A47A06DF}"/>
                </a:ext>
              </a:extLst>
            </p:cNvPr>
            <p:cNvSpPr>
              <a:spLocks noGrp="1"/>
            </p:cNvSpPr>
            <p:nvPr/>
          </p:nvSpPr>
          <p:spPr>
            <a:xfrm>
              <a:off x="9329589" y="14093856"/>
              <a:ext cx="1758371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Answer quality</a:t>
              </a:r>
              <a:endParaRPr lang="en-GB" sz="2500"/>
            </a:p>
          </p:txBody>
        </p:sp>
        <p:sp>
          <p:nvSpPr>
            <p:cNvPr id="204" name="Is the generated answer correct?" descr="t70">
              <a:extLst>
                <a:ext uri="{FF2B5EF4-FFF2-40B4-BE49-F238E27FC236}">
                  <ns2:creationId id="{5CBF4A23-6DBE-4333-A51D-9FD8646192F8}"/>
                </a:ext>
              </a:extLst>
            </p:cNvPr>
            <p:cNvSpPr>
              <a:spLocks noGrp="1"/>
            </p:cNvSpPr>
            <p:nvPr/>
          </p:nvSpPr>
          <p:spPr>
            <a:xfrm>
              <a:off x="9314349" y="14506575"/>
              <a:ext cx="357028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Is the generated answer correct?</a:t>
              </a:r>
              <a:endParaRPr lang="en-GB" sz="2400"/>
            </a:p>
          </p:txBody>
        </p:sp>
        <p:sp>
          <p:nvSpPr>
            <p:cNvPr id="205" name="Q = 0.7 × structured score" descr="t71">
              <a:extLst>
                <a:ext uri="{FF2B5EF4-FFF2-40B4-BE49-F238E27FC236}">
                  <ns2:creationId id="{A656AB94-4E2C-478E-9C38-D7B9933973FD}"/>
                </a:ext>
              </a:extLst>
            </p:cNvPr>
            <p:cNvSpPr>
              <a:spLocks noGrp="1"/>
            </p:cNvSpPr>
            <p:nvPr/>
          </p:nvSpPr>
          <p:spPr>
            <a:xfrm>
              <a:off x="9329589" y="14925675"/>
              <a:ext cx="286924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Q = 0.7 × structured score</a:t>
              </a:r>
              <a:endParaRPr lang="en-GB" sz="2400"/>
            </a:p>
          </p:txBody>
        </p:sp>
        <p:sp>
          <p:nvSpPr>
            <p:cNvPr id="206" name="+ 0.3 × free-text score" descr="t72">
              <a:extLst>
                <a:ext uri="{FF2B5EF4-FFF2-40B4-BE49-F238E27FC236}">
                  <ns2:creationId id="{CAEC8E54-392D-49BD-98A6-614D02E27719}"/>
                </a:ext>
              </a:extLst>
            </p:cNvPr>
            <p:cNvSpPr>
              <a:spLocks noGrp="1"/>
            </p:cNvSpPr>
            <p:nvPr/>
          </p:nvSpPr>
          <p:spPr>
            <a:xfrm>
              <a:off x="9329589" y="15240000"/>
              <a:ext cx="251536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+ 0.3 × free-text score</a:t>
              </a:r>
              <a:endParaRPr lang="en-GB" sz="2400"/>
            </a:p>
          </p:txBody>
        </p:sp>
        <p:sp>
          <p:nvSpPr>
            <p:cNvPr id="207" name="Citation precision" descr="t73">
              <a:extLst>
                <a:ext uri="{FF2B5EF4-FFF2-40B4-BE49-F238E27FC236}">
                  <ns2:creationId id="{6F47D281-C705-4D37-B051-C1D92D76A8B5}"/>
                </a:ext>
              </a:extLst>
            </p:cNvPr>
            <p:cNvSpPr>
              <a:spLocks noGrp="1"/>
            </p:cNvSpPr>
            <p:nvPr/>
          </p:nvSpPr>
          <p:spPr>
            <a:xfrm>
              <a:off x="13163848" y="14093856"/>
              <a:ext cx="2086614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Citation precision</a:t>
              </a:r>
              <a:endParaRPr lang="en-GB" sz="2500"/>
            </a:p>
          </p:txBody>
        </p:sp>
        <p:sp>
          <p:nvSpPr>
            <p:cNvPr id="208" name="Are the cited pages actually" descr="t74">
              <a:extLst>
                <a:ext uri="{FF2B5EF4-FFF2-40B4-BE49-F238E27FC236}">
                  <ns2:creationId id="{5DB96BC2-7411-4152-B3C3-BF103B98D7CA}"/>
                </a:ext>
              </a:extLst>
            </p:cNvPr>
            <p:cNvSpPr>
              <a:spLocks noGrp="1"/>
            </p:cNvSpPr>
            <p:nvPr/>
          </p:nvSpPr>
          <p:spPr>
            <a:xfrm>
              <a:off x="13148608" y="14506575"/>
              <a:ext cx="301036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Are the cited pages actually</a:t>
              </a:r>
              <a:endParaRPr lang="en-GB" sz="2400"/>
            </a:p>
          </p:txBody>
        </p:sp>
        <p:sp>
          <p:nvSpPr>
            <p:cNvPr id="209" name="relevant?" descr="t75">
              <a:extLst>
                <a:ext uri="{FF2B5EF4-FFF2-40B4-BE49-F238E27FC236}">
                  <ns2:creationId id="{7E47C846-8E17-4488-8B2C-DC2065235209}"/>
                </a:ext>
              </a:extLst>
            </p:cNvPr>
            <p:cNvSpPr>
              <a:spLocks noGrp="1"/>
            </p:cNvSpPr>
            <p:nvPr/>
          </p:nvSpPr>
          <p:spPr>
            <a:xfrm>
              <a:off x="13148608" y="14830425"/>
              <a:ext cx="110078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relevant?</a:t>
              </a:r>
              <a:endParaRPr lang="en-GB" sz="2400"/>
            </a:p>
          </p:txBody>
        </p:sp>
        <p:sp>
          <p:nvSpPr>
            <p:cNvPr id="210" name="Share of cited pages that support" descr="t76">
              <a:extLst>
                <a:ext uri="{FF2B5EF4-FFF2-40B4-BE49-F238E27FC236}">
                  <ns2:creationId id="{967169F8-2DF3-407D-9198-F8F4B92E95B1}"/>
                </a:ext>
              </a:extLst>
            </p:cNvPr>
            <p:cNvSpPr>
              <a:spLocks noGrp="1"/>
            </p:cNvSpPr>
            <p:nvPr/>
          </p:nvSpPr>
          <p:spPr>
            <a:xfrm>
              <a:off x="13163848" y="15240000"/>
              <a:ext cx="352548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Share of cited pages that support</a:t>
              </a:r>
              <a:endParaRPr lang="en-GB" sz="2400"/>
            </a:p>
          </p:txBody>
        </p:sp>
        <p:sp>
          <p:nvSpPr>
            <p:cNvPr id="211" name="the answer." descr="t77">
              <a:extLst>
                <a:ext uri="{FF2B5EF4-FFF2-40B4-BE49-F238E27FC236}">
                  <ns2:creationId id="{E4566832-0745-4026-8180-47EBEB9088B4}"/>
                </a:ext>
              </a:extLst>
            </p:cNvPr>
            <p:cNvSpPr>
              <a:spLocks noGrp="1"/>
            </p:cNvSpPr>
            <p:nvPr/>
          </p:nvSpPr>
          <p:spPr>
            <a:xfrm>
              <a:off x="13163848" y="15563850"/>
              <a:ext cx="125684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the answer.</a:t>
              </a:r>
              <a:endParaRPr lang="en-GB" sz="2400"/>
            </a:p>
          </p:txBody>
        </p:sp>
        <p:sp>
          <p:nvSpPr>
            <p:cNvPr id="212" name="Citation recall" descr="t78">
              <a:extLst>
                <a:ext uri="{FF2B5EF4-FFF2-40B4-BE49-F238E27FC236}">
                  <ns2:creationId id="{CD416F8F-BDAA-43C8-BDC3-25529D7EA0B6}"/>
                </a:ext>
              </a:extLst>
            </p:cNvPr>
            <p:cNvSpPr>
              <a:spLocks noGrp="1"/>
            </p:cNvSpPr>
            <p:nvPr/>
          </p:nvSpPr>
          <p:spPr>
            <a:xfrm>
              <a:off x="16998107" y="14093856"/>
              <a:ext cx="1666625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Citation recall</a:t>
              </a:r>
              <a:endParaRPr lang="en-GB" sz="2500"/>
            </a:p>
          </p:txBody>
        </p:sp>
        <p:sp>
          <p:nvSpPr>
            <p:cNvPr id="213" name="Did the system cite all required" descr="t79">
              <a:extLst>
                <a:ext uri="{FF2B5EF4-FFF2-40B4-BE49-F238E27FC236}">
                  <ns2:creationId id="{E871D556-5F92-4CE1-85BB-EE4822FCD5E2}"/>
                </a:ext>
              </a:extLst>
            </p:cNvPr>
            <p:cNvSpPr>
              <a:spLocks noGrp="1"/>
            </p:cNvSpPr>
            <p:nvPr/>
          </p:nvSpPr>
          <p:spPr>
            <a:xfrm>
              <a:off x="16982867" y="14506575"/>
              <a:ext cx="336393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Did the system cite all required</a:t>
              </a:r>
              <a:endParaRPr lang="en-GB" sz="2400"/>
            </a:p>
          </p:txBody>
        </p:sp>
        <p:sp>
          <p:nvSpPr>
            <p:cNvPr id="214" name="evidence?" descr="t80">
              <a:extLst>
                <a:ext uri="{FF2B5EF4-FFF2-40B4-BE49-F238E27FC236}">
                  <ns2:creationId id="{92F4DDF6-E0C3-42DA-AB8F-359847629703}"/>
                </a:ext>
              </a:extLst>
            </p:cNvPr>
            <p:cNvSpPr>
              <a:spLocks noGrp="1"/>
            </p:cNvSpPr>
            <p:nvPr/>
          </p:nvSpPr>
          <p:spPr>
            <a:xfrm>
              <a:off x="16982867" y="14830425"/>
              <a:ext cx="119131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evidence?</a:t>
              </a:r>
              <a:endParaRPr lang="en-GB" sz="2400"/>
            </a:p>
          </p:txBody>
        </p:sp>
        <p:sp>
          <p:nvSpPr>
            <p:cNvPr id="215" name="Share of annotated supporting" descr="t81">
              <a:extLst>
                <a:ext uri="{FF2B5EF4-FFF2-40B4-BE49-F238E27FC236}">
                  <ns2:creationId id="{7FEBC677-D6E0-4B8D-9FFC-265930BBCB43}"/>
                </a:ext>
              </a:extLst>
            </p:cNvPr>
            <p:cNvSpPr>
              <a:spLocks noGrp="1"/>
            </p:cNvSpPr>
            <p:nvPr/>
          </p:nvSpPr>
          <p:spPr>
            <a:xfrm>
              <a:off x="16998107" y="15240000"/>
              <a:ext cx="321671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Share of annotated supporting</a:t>
              </a:r>
              <a:endParaRPr lang="en-GB" sz="2400"/>
            </a:p>
          </p:txBody>
        </p:sp>
        <p:sp>
          <p:nvSpPr>
            <p:cNvPr id="216" name="pages that were cited." descr="t82">
              <a:extLst>
                <a:ext uri="{FF2B5EF4-FFF2-40B4-BE49-F238E27FC236}">
                  <ns2:creationId id="{C5F255A5-7C48-48ED-AF74-066DE9BB8B38}"/>
                </a:ext>
              </a:extLst>
            </p:cNvPr>
            <p:cNvSpPr>
              <a:spLocks noGrp="1"/>
            </p:cNvSpPr>
            <p:nvPr/>
          </p:nvSpPr>
          <p:spPr>
            <a:xfrm>
              <a:off x="16998107" y="15563850"/>
              <a:ext cx="235839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pages that were cited.</a:t>
              </a:r>
              <a:endParaRPr lang="en-GB" sz="2400"/>
            </a:p>
          </p:txBody>
        </p:sp>
      </p:grpSp>
      <p:grpSp>
        <p:nvGrpSpPr>
          <p:cNvPr id="542" name="8. Results: Pipeline performance"/>
          <p:cNvGrpSpPr/>
          <p:nvPr/>
        </p:nvGrpSpPr>
        <p:grpSpPr>
          <a:xfrm>
            <a:off x="9072414" y="16271825"/>
            <a:ext cx="11731377" cy="4824115"/>
            <a:chOff x="9072414" y="16271825"/>
            <a:chExt cx="11731377" cy="4824115"/>
          </a:xfrm>
        </p:grpSpPr>
        <p:sp>
          <p:nvSpPr>
            <p:cNvPr id="40" name="Panel H2" descr="s39">
              <a:extLst>
                <a:ext uri="{FF2B5EF4-FFF2-40B4-BE49-F238E27FC236}">
                  <ns2:creationId id="{F4AC9D76-3225-4181-9A6C-167CF36A3AA6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6271825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41" name="Panel content" descr="s40">
              <a:extLst>
                <a:ext uri="{FF2B5EF4-FFF2-40B4-BE49-F238E27FC236}">
                  <ns2:creationId id="{3DAEF154-C38C-4CC8-91AE-1342D154C9F3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6789152"/>
              <a:ext cx="11731377" cy="4306788"/>
            </a:xfrm>
            <a:custGeom>
              <a:avLst/>
              <a:gdLst/>
              <a:ahLst/>
              <a:cxnLst/>
              <a:rect l="0" t="0" r="r" b="b"/>
              <a:pathLst>
                <a:path w="1231641" h="452156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443156"/>
                  </a:lnTo>
                  <a:cubicBezTo>
                    <a:pt x="1231641" y="448127"/>
                    <a:pt x="1227611" y="452156"/>
                    <a:pt x="1222641" y="452156"/>
                  </a:cubicBezTo>
                  <a:lnTo>
                    <a:pt x="9000" y="452156"/>
                  </a:lnTo>
                  <a:cubicBezTo>
                    <a:pt x="4029" y="452156"/>
                    <a:pt x="0" y="448127"/>
                    <a:pt x="0" y="44315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69" name="Chart grid" descr="s68">
              <a:extLst>
                <a:ext uri="{FF2B5EF4-FFF2-40B4-BE49-F238E27FC236}">
                  <ns2:creationId id="{E99D9AEE-1C67-488F-853E-34A63C6A572E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0" name="Chart grid" descr="s69">
              <a:extLst>
                <a:ext uri="{FF2B5EF4-FFF2-40B4-BE49-F238E27FC236}">
                  <ns2:creationId id="{DE166EF9-6DD7-4685-869A-73BEA2FA39F9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1" name="Chart grid" descr="s70">
              <a:extLst>
                <a:ext uri="{FF2B5EF4-FFF2-40B4-BE49-F238E27FC236}">
                  <ns2:creationId id="{BF7B65A7-BF41-43C7-A262-915518F5D9DE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2" name="Measured series" descr="s71">
              <a:extLst>
                <a:ext uri="{FF2B5EF4-FFF2-40B4-BE49-F238E27FC236}">
                  <ns2:creationId id="{5D0A9FB5-26B8-4C8C-9945-CA42B24043A4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8451319"/>
              <a:ext cx="2994418" cy="804809"/>
            </a:xfrm>
            <a:custGeom>
              <a:pathLst>
                <a:path w="2994418" h="804809">
                  <a:moveTo>
                    <a:pt x="0" y="804809"/>
                  </a:moveTo>
                  <a:lnTo>
                    <a:pt x="499070" y="446667"/>
                  </a:lnTo>
                  <a:lnTo>
                    <a:pt x="998139" y="728879"/>
                  </a:lnTo>
                  <a:lnTo>
                    <a:pt x="1497209" y="206401"/>
                  </a:lnTo>
                  <a:lnTo>
                    <a:pt x="1996279" y="0"/>
                  </a:lnTo>
                  <a:lnTo>
                    <a:pt x="2495349" y="0"/>
                  </a:lnTo>
                  <a:lnTo>
                    <a:pt x="2994418" y="0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73" name="Measured point" descr="s72">
              <a:extLst>
                <a:ext uri="{FF2B5EF4-FFF2-40B4-BE49-F238E27FC236}">
                  <ns2:creationId id="{585E4787-EF7B-40A7-9031-64B309DD6411}"/>
                </a:ext>
              </a:extLst>
            </p:cNvPr>
            <p:cNvSpPr>
              <a:spLocks noGrp="1"/>
            </p:cNvSpPr>
            <p:nvPr/>
          </p:nvSpPr>
          <p:spPr>
            <a:xfrm>
              <a:off x="9650340" y="1919671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4" name="Measured point" descr="s73">
              <a:extLst>
                <a:ext uri="{FF2B5EF4-FFF2-40B4-BE49-F238E27FC236}">
                  <ns2:creationId id="{FE2D9BA2-4486-4A85-B278-BFBC4DD8D9BC}"/>
                </a:ext>
              </a:extLst>
            </p:cNvPr>
            <p:cNvSpPr>
              <a:spLocks noGrp="1"/>
            </p:cNvSpPr>
            <p:nvPr/>
          </p:nvSpPr>
          <p:spPr>
            <a:xfrm>
              <a:off x="10149409" y="18838573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5" name="Measured point" descr="s74">
              <a:extLst>
                <a:ext uri="{FF2B5EF4-FFF2-40B4-BE49-F238E27FC236}">
                  <ns2:creationId id="{DFD8D27B-3B40-4AAA-B34D-2C3BDBF19F40}"/>
                </a:ext>
              </a:extLst>
            </p:cNvPr>
            <p:cNvSpPr>
              <a:spLocks noGrp="1"/>
            </p:cNvSpPr>
            <p:nvPr/>
          </p:nvSpPr>
          <p:spPr>
            <a:xfrm>
              <a:off x="10648479" y="1912078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6" name="Measured point" descr="s75">
              <a:extLst>
                <a:ext uri="{FF2B5EF4-FFF2-40B4-BE49-F238E27FC236}">
                  <ns2:creationId id="{F2D23BED-E36C-474A-B748-827C29927257}"/>
                </a:ext>
              </a:extLst>
            </p:cNvPr>
            <p:cNvSpPr>
              <a:spLocks noGrp="1"/>
            </p:cNvSpPr>
            <p:nvPr/>
          </p:nvSpPr>
          <p:spPr>
            <a:xfrm>
              <a:off x="11147549" y="18598307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7" name="Measured point" descr="s76">
              <a:extLst>
                <a:ext uri="{FF2B5EF4-FFF2-40B4-BE49-F238E27FC236}">
                  <ns2:creationId id="{1B950AD6-EAFE-407E-917F-6F8A74950138}"/>
                </a:ext>
              </a:extLst>
            </p:cNvPr>
            <p:cNvSpPr>
              <a:spLocks noGrp="1"/>
            </p:cNvSpPr>
            <p:nvPr/>
          </p:nvSpPr>
          <p:spPr>
            <a:xfrm>
              <a:off x="1164661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8" name="Measured point" descr="s77">
              <a:extLst>
                <a:ext uri="{FF2B5EF4-FFF2-40B4-BE49-F238E27FC236}">
                  <ns2:creationId id="{CF6D37E5-E269-45A5-BF0A-FBDC9CBF2D70}"/>
                </a:ext>
              </a:extLst>
            </p:cNvPr>
            <p:cNvSpPr>
              <a:spLocks noGrp="1"/>
            </p:cNvSpPr>
            <p:nvPr/>
          </p:nvSpPr>
          <p:spPr>
            <a:xfrm>
              <a:off x="1214568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9" name="Measured point" descr="s78">
              <a:extLst>
                <a:ext uri="{FF2B5EF4-FFF2-40B4-BE49-F238E27FC236}">
                  <ns2:creationId id="{D4C7F58E-B53B-4A42-9BB9-7D95063A0D4E}"/>
                </a:ext>
              </a:extLst>
            </p:cNvPr>
            <p:cNvSpPr>
              <a:spLocks noGrp="1"/>
            </p:cNvSpPr>
            <p:nvPr/>
          </p:nvSpPr>
          <p:spPr>
            <a:xfrm>
              <a:off x="1264475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0" name="Chart grid" descr="s79">
              <a:extLst>
                <a:ext uri="{FF2B5EF4-FFF2-40B4-BE49-F238E27FC236}">
                  <ns2:creationId id="{6142C6E8-FD30-427A-A244-94570941F0E5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1" name="Chart grid" descr="s80">
              <a:extLst>
                <a:ext uri="{FF2B5EF4-FFF2-40B4-BE49-F238E27FC236}">
                  <ns2:creationId id="{79AB11E4-93A1-47D4-8082-9395CBA61D4E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2" name="Chart grid" descr="s81">
              <a:extLst>
                <a:ext uri="{FF2B5EF4-FFF2-40B4-BE49-F238E27FC236}">
                  <ns2:creationId id="{607D023F-EAF4-456F-8429-94670809CD5A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3" name="Measured series" descr="s82">
              <a:extLst>
                <a:ext uri="{FF2B5EF4-FFF2-40B4-BE49-F238E27FC236}">
                  <ns2:creationId id="{60581578-1674-417B-A4BC-7C22CC3E4DEA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8928168"/>
              <a:ext cx="2994418" cy="1141087"/>
            </a:xfrm>
            <a:custGeom>
              <a:pathLst>
                <a:path w="2994418" h="1141087">
                  <a:moveTo>
                    <a:pt x="0" y="1141087"/>
                  </a:moveTo>
                  <a:lnTo>
                    <a:pt x="499070" y="1064920"/>
                  </a:lnTo>
                  <a:lnTo>
                    <a:pt x="998139" y="990891"/>
                  </a:lnTo>
                  <a:lnTo>
                    <a:pt x="1497209" y="833922"/>
                  </a:lnTo>
                  <a:lnTo>
                    <a:pt x="1996279" y="730781"/>
                  </a:lnTo>
                  <a:lnTo>
                    <a:pt x="2495349" y="730781"/>
                  </a:lnTo>
                  <a:lnTo>
                    <a:pt x="2994418" y="0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84" name="Measured point" descr="s83">
              <a:extLst>
                <a:ext uri="{FF2B5EF4-FFF2-40B4-BE49-F238E27FC236}">
                  <ns2:creationId id="{D8395ED3-37D4-48CF-A78C-0B6A213C5C7B}"/>
                </a:ext>
              </a:extLst>
            </p:cNvPr>
            <p:cNvSpPr>
              <a:spLocks noGrp="1"/>
            </p:cNvSpPr>
            <p:nvPr/>
          </p:nvSpPr>
          <p:spPr>
            <a:xfrm>
              <a:off x="13488423" y="20009842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5" name="Measured point" descr="s84">
              <a:extLst>
                <a:ext uri="{FF2B5EF4-FFF2-40B4-BE49-F238E27FC236}">
                  <ns2:creationId id="{F53A1E31-F5F7-40BC-B498-AA3F8E19D1F7}"/>
                </a:ext>
              </a:extLst>
            </p:cNvPr>
            <p:cNvSpPr>
              <a:spLocks noGrp="1"/>
            </p:cNvSpPr>
            <p:nvPr/>
          </p:nvSpPr>
          <p:spPr>
            <a:xfrm>
              <a:off x="13987493" y="1993367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6" name="Measured point" descr="s85">
              <a:extLst>
                <a:ext uri="{FF2B5EF4-FFF2-40B4-BE49-F238E27FC236}">
                  <ns2:creationId id="{35577972-1440-43C4-BF82-D096ED751E3A}"/>
                </a:ext>
              </a:extLst>
            </p:cNvPr>
            <p:cNvSpPr>
              <a:spLocks noGrp="1"/>
            </p:cNvSpPr>
            <p:nvPr/>
          </p:nvSpPr>
          <p:spPr>
            <a:xfrm>
              <a:off x="14486563" y="1985964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7" name="Measured point" descr="s86">
              <a:extLst>
                <a:ext uri="{FF2B5EF4-FFF2-40B4-BE49-F238E27FC236}">
                  <ns2:creationId id="{18BE6425-FE7A-41EA-A49E-23319A19A3D3}"/>
                </a:ext>
              </a:extLst>
            </p:cNvPr>
            <p:cNvSpPr>
              <a:spLocks noGrp="1"/>
            </p:cNvSpPr>
            <p:nvPr/>
          </p:nvSpPr>
          <p:spPr>
            <a:xfrm>
              <a:off x="14985633" y="19702677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8" name="Measured point" descr="s87">
              <a:extLst>
                <a:ext uri="{FF2B5EF4-FFF2-40B4-BE49-F238E27FC236}">
                  <ns2:creationId id="{AA5FD3D5-3ADC-45E6-8CBF-5B1E8BFE0119}"/>
                </a:ext>
              </a:extLst>
            </p:cNvPr>
            <p:cNvSpPr>
              <a:spLocks noGrp="1"/>
            </p:cNvSpPr>
            <p:nvPr/>
          </p:nvSpPr>
          <p:spPr>
            <a:xfrm>
              <a:off x="15484702" y="1959953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9" name="Measured point" descr="s88">
              <a:extLst>
                <a:ext uri="{FF2B5EF4-FFF2-40B4-BE49-F238E27FC236}">
                  <ns2:creationId id="{971C39F6-F338-4266-9FC3-0FD2E5E96D39}"/>
                </a:ext>
              </a:extLst>
            </p:cNvPr>
            <p:cNvSpPr>
              <a:spLocks noGrp="1"/>
            </p:cNvSpPr>
            <p:nvPr/>
          </p:nvSpPr>
          <p:spPr>
            <a:xfrm>
              <a:off x="15983772" y="1959953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0" name="Measured point" descr="s89">
              <a:extLst>
                <a:ext uri="{FF2B5EF4-FFF2-40B4-BE49-F238E27FC236}">
                  <ns2:creationId id="{AA96D0E7-FE44-4F45-90D3-0865DA1B1B1D}"/>
                </a:ext>
              </a:extLst>
            </p:cNvPr>
            <p:cNvSpPr>
              <a:spLocks noGrp="1"/>
            </p:cNvSpPr>
            <p:nvPr/>
          </p:nvSpPr>
          <p:spPr>
            <a:xfrm>
              <a:off x="16482842" y="1886875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1" name="Chart grid" descr="s90">
              <a:extLst>
                <a:ext uri="{FF2B5EF4-FFF2-40B4-BE49-F238E27FC236}">
                  <ns2:creationId id="{5CCB7950-7FDD-474B-9551-E0BE4473083C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2" name="Chart grid" descr="s91">
              <a:extLst>
                <a:ext uri="{FF2B5EF4-FFF2-40B4-BE49-F238E27FC236}">
                  <ns2:creationId id="{A0E5A0DE-F668-483C-9E76-1EE62F330EA4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3" name="Chart grid" descr="s92">
              <a:extLst>
                <a:ext uri="{FF2B5EF4-FFF2-40B4-BE49-F238E27FC236}">
                  <ns2:creationId id="{C5565621-6B99-4AA6-87C9-BF2507FFB64E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4" name="Measured series" descr="s93">
              <a:extLst>
                <a:ext uri="{FF2B5EF4-FFF2-40B4-BE49-F238E27FC236}">
                  <ns2:creationId id="{B947FA2A-17C0-42D5-A78A-D0E18DD34DA3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8566224"/>
              <a:ext cx="2994418" cy="851864"/>
            </a:xfrm>
            <a:custGeom>
              <a:pathLst>
                <a:path w="2994418" h="851864">
                  <a:moveTo>
                    <a:pt x="0" y="851864"/>
                  </a:moveTo>
                  <a:lnTo>
                    <a:pt x="499070" y="364915"/>
                  </a:lnTo>
                  <a:lnTo>
                    <a:pt x="998139" y="548858"/>
                  </a:lnTo>
                  <a:lnTo>
                    <a:pt x="1497209" y="132135"/>
                  </a:lnTo>
                  <a:lnTo>
                    <a:pt x="1996279" y="0"/>
                  </a:lnTo>
                  <a:lnTo>
                    <a:pt x="2495349" y="0"/>
                  </a:lnTo>
                  <a:lnTo>
                    <a:pt x="2994418" y="88644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95" name="Measured point" descr="s94">
              <a:extLst>
                <a:ext uri="{FF2B5EF4-FFF2-40B4-BE49-F238E27FC236}">
                  <ns2:creationId id="{5AE444F8-2D37-4FDB-BDF5-CCF4D90613FE}"/>
                </a:ext>
              </a:extLst>
            </p:cNvPr>
            <p:cNvSpPr>
              <a:spLocks noGrp="1"/>
            </p:cNvSpPr>
            <p:nvPr/>
          </p:nvSpPr>
          <p:spPr>
            <a:xfrm>
              <a:off x="17326507" y="1935867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6" name="Measured point" descr="s95">
              <a:extLst>
                <a:ext uri="{FF2B5EF4-FFF2-40B4-BE49-F238E27FC236}">
                  <ns2:creationId id="{2C1C3B2E-F0A6-4D39-84F1-65FF05D5EE6C}"/>
                </a:ext>
              </a:extLst>
            </p:cNvPr>
            <p:cNvSpPr>
              <a:spLocks noGrp="1"/>
            </p:cNvSpPr>
            <p:nvPr/>
          </p:nvSpPr>
          <p:spPr>
            <a:xfrm>
              <a:off x="17825577" y="1887172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7" name="Measured point" descr="s96">
              <a:extLst>
                <a:ext uri="{FF2B5EF4-FFF2-40B4-BE49-F238E27FC236}">
                  <ns2:creationId id="{3C75FE5F-7B11-45C9-9EC8-F5414E69B07E}"/>
                </a:ext>
              </a:extLst>
            </p:cNvPr>
            <p:cNvSpPr>
              <a:spLocks noGrp="1"/>
            </p:cNvSpPr>
            <p:nvPr/>
          </p:nvSpPr>
          <p:spPr>
            <a:xfrm>
              <a:off x="18324647" y="19055669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8" name="Measured point" descr="s97">
              <a:extLst>
                <a:ext uri="{FF2B5EF4-FFF2-40B4-BE49-F238E27FC236}">
                  <ns2:creationId id="{C3B65E9D-5455-4FA8-8E8B-1080D015CB4F}"/>
                </a:ext>
              </a:extLst>
            </p:cNvPr>
            <p:cNvSpPr>
              <a:spLocks noGrp="1"/>
            </p:cNvSpPr>
            <p:nvPr/>
          </p:nvSpPr>
          <p:spPr>
            <a:xfrm>
              <a:off x="18823716" y="1863894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9" name="Measured point" descr="s98">
              <a:extLst>
                <a:ext uri="{FF2B5EF4-FFF2-40B4-BE49-F238E27FC236}">
                  <ns2:creationId id="{1CC16FB2-3583-424D-B9DC-386F22018E7F}"/>
                </a:ext>
              </a:extLst>
            </p:cNvPr>
            <p:cNvSpPr>
              <a:spLocks noGrp="1"/>
            </p:cNvSpPr>
            <p:nvPr/>
          </p:nvSpPr>
          <p:spPr>
            <a:xfrm>
              <a:off x="19322786" y="18506811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0" name="Measured point" descr="s99">
              <a:extLst>
                <a:ext uri="{FF2B5EF4-FFF2-40B4-BE49-F238E27FC236}">
                  <ns2:creationId id="{BC4D2EBB-1BFA-4801-9EDA-7FC993EB76AF}"/>
                </a:ext>
              </a:extLst>
            </p:cNvPr>
            <p:cNvSpPr>
              <a:spLocks noGrp="1"/>
            </p:cNvSpPr>
            <p:nvPr/>
          </p:nvSpPr>
          <p:spPr>
            <a:xfrm>
              <a:off x="19821856" y="18506811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1" name="Measured point" descr="s100">
              <a:extLst>
                <a:ext uri="{FF2B5EF4-FFF2-40B4-BE49-F238E27FC236}">
                  <ns2:creationId id="{BF6C87E4-E615-4B16-AD9C-3BA0CFF3D3D7}"/>
                </a:ext>
              </a:extLst>
            </p:cNvPr>
            <p:cNvSpPr>
              <a:spLocks noGrp="1"/>
            </p:cNvSpPr>
            <p:nvPr/>
          </p:nvSpPr>
          <p:spPr>
            <a:xfrm>
              <a:off x="20320926" y="1859545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2" name="46.2" descr="s101">
              <a:extLst>
                <a:ext uri="{FF2B5EF4-FFF2-40B4-BE49-F238E27FC236}">
                  <ns2:creationId id="{F1988B32-0ECC-42C6-BBF7-A8B00C3E07A4}"/>
                </a:ext>
              </a:extLst>
            </p:cNvPr>
            <p:cNvSpPr>
              <a:spLocks noGrp="1"/>
            </p:cNvSpPr>
            <p:nvPr/>
          </p:nvSpPr>
          <p:spPr>
            <a:xfrm>
              <a:off x="9474381" y="19326838"/>
              <a:ext cx="531057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46.2</a:t>
              </a:r>
              <a:endParaRPr lang="en-GB" sz="2339"/>
            </a:p>
          </p:txBody>
        </p:sp>
        <p:sp>
          <p:nvSpPr>
            <p:cNvPr id="103" name="63.2" descr="s102">
              <a:extLst>
                <a:ext uri="{FF2B5EF4-FFF2-40B4-BE49-F238E27FC236}">
                  <ns2:creationId id="{8B391E20-4764-436D-A1A6-759CC30BA57C}"/>
                </a:ext>
              </a:extLst>
            </p:cNvPr>
            <p:cNvSpPr>
              <a:spLocks noGrp="1"/>
            </p:cNvSpPr>
            <p:nvPr/>
          </p:nvSpPr>
          <p:spPr>
            <a:xfrm>
              <a:off x="9980594" y="18410213"/>
              <a:ext cx="5168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63.2</a:t>
              </a:r>
              <a:endParaRPr lang="en-GB" sz="2339"/>
            </a:p>
          </p:txBody>
        </p:sp>
        <p:sp>
          <p:nvSpPr>
            <p:cNvPr id="104" name="49.8" descr="s103">
              <a:extLst>
                <a:ext uri="{FF2B5EF4-FFF2-40B4-BE49-F238E27FC236}">
                  <ns2:creationId id="{EFF32B0B-BC4B-4A2A-9E25-C39ED77BC8AC}"/>
                </a:ext>
              </a:extLst>
            </p:cNvPr>
            <p:cNvSpPr>
              <a:spLocks noGrp="1"/>
            </p:cNvSpPr>
            <p:nvPr/>
          </p:nvSpPr>
          <p:spPr>
            <a:xfrm>
              <a:off x="10472967" y="19216448"/>
              <a:ext cx="52700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49.8</a:t>
              </a:r>
              <a:endParaRPr lang="en-GB" sz="2339"/>
            </a:p>
          </p:txBody>
        </p:sp>
        <p:sp>
          <p:nvSpPr>
            <p:cNvPr id="105" name="74.6" descr="s104">
              <a:extLst>
                <a:ext uri="{FF2B5EF4-FFF2-40B4-BE49-F238E27FC236}">
                  <ns2:creationId id="{7B102BA5-1E94-4D13-B910-C89C7054FACA}"/>
                </a:ext>
              </a:extLst>
            </p:cNvPr>
            <p:cNvSpPr>
              <a:spLocks noGrp="1"/>
            </p:cNvSpPr>
            <p:nvPr/>
          </p:nvSpPr>
          <p:spPr>
            <a:xfrm>
              <a:off x="10976204" y="18169947"/>
              <a:ext cx="518665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74.6</a:t>
              </a:r>
              <a:endParaRPr lang="en-GB" sz="2339"/>
            </a:p>
          </p:txBody>
        </p:sp>
        <p:sp>
          <p:nvSpPr>
            <p:cNvPr id="106" name="84.4" descr="s105">
              <a:extLst>
                <a:ext uri="{FF2B5EF4-FFF2-40B4-BE49-F238E27FC236}">
                  <ns2:creationId id="{0C32CC99-BFA2-4C07-821F-26056EEEC72C}"/>
                </a:ext>
              </a:extLst>
            </p:cNvPr>
            <p:cNvSpPr>
              <a:spLocks noGrp="1"/>
            </p:cNvSpPr>
            <p:nvPr/>
          </p:nvSpPr>
          <p:spPr>
            <a:xfrm>
              <a:off x="11463889" y="17963545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7" name="84.4" descr="s106">
              <a:extLst>
                <a:ext uri="{FF2B5EF4-FFF2-40B4-BE49-F238E27FC236}">
                  <ns2:creationId id="{059EC231-B194-4AF4-BE8B-A37B3EF5DDAD}"/>
                </a:ext>
              </a:extLst>
            </p:cNvPr>
            <p:cNvSpPr>
              <a:spLocks noGrp="1"/>
            </p:cNvSpPr>
            <p:nvPr/>
          </p:nvSpPr>
          <p:spPr>
            <a:xfrm>
              <a:off x="11962958" y="18522029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8" name="84.4" descr="s107">
              <a:extLst>
                <a:ext uri="{FF2B5EF4-FFF2-40B4-BE49-F238E27FC236}">
                  <ns2:creationId id="{4E3E319F-9027-4051-957E-23446B391D53}"/>
                </a:ext>
              </a:extLst>
            </p:cNvPr>
            <p:cNvSpPr>
              <a:spLocks noGrp="1"/>
            </p:cNvSpPr>
            <p:nvPr/>
          </p:nvSpPr>
          <p:spPr>
            <a:xfrm>
              <a:off x="12462028" y="17963545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9" name="7.6" descr="s108">
              <a:extLst>
                <a:ext uri="{FF2B5EF4-FFF2-40B4-BE49-F238E27FC236}">
                  <ns2:creationId id="{AC10687F-1601-4155-8170-BBC1AA832E25}"/>
                </a:ext>
              </a:extLst>
            </p:cNvPr>
            <p:cNvSpPr>
              <a:spLocks noGrp="1"/>
            </p:cNvSpPr>
            <p:nvPr/>
          </p:nvSpPr>
          <p:spPr>
            <a:xfrm>
              <a:off x="13395809" y="19581482"/>
              <a:ext cx="3612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7.6</a:t>
              </a:r>
              <a:endParaRPr lang="en-GB" sz="2339"/>
            </a:p>
          </p:txBody>
        </p:sp>
        <p:sp>
          <p:nvSpPr>
            <p:cNvPr id="110" name="11.2" descr="s109">
              <a:extLst>
                <a:ext uri="{FF2B5EF4-FFF2-40B4-BE49-F238E27FC236}">
                  <ns2:creationId id="{F3AF9A4C-DBEE-4176-A547-AB7799BB8215}"/>
                </a:ext>
              </a:extLst>
            </p:cNvPr>
            <p:cNvSpPr>
              <a:spLocks noGrp="1"/>
            </p:cNvSpPr>
            <p:nvPr/>
          </p:nvSpPr>
          <p:spPr>
            <a:xfrm>
              <a:off x="13865634" y="19505314"/>
              <a:ext cx="42298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11.2</a:t>
              </a:r>
              <a:endParaRPr lang="en-GB" sz="2339"/>
            </a:p>
          </p:txBody>
        </p:sp>
        <p:sp>
          <p:nvSpPr>
            <p:cNvPr id="111" name="14.7" descr="s110">
              <a:extLst>
                <a:ext uri="{FF2B5EF4-FFF2-40B4-BE49-F238E27FC236}">
                  <ns2:creationId id="{3D51FB1D-6658-4BFA-B444-C183832C6FD1}"/>
                </a:ext>
              </a:extLst>
            </p:cNvPr>
            <p:cNvSpPr>
              <a:spLocks noGrp="1"/>
            </p:cNvSpPr>
            <p:nvPr/>
          </p:nvSpPr>
          <p:spPr>
            <a:xfrm>
              <a:off x="14343421" y="19431286"/>
              <a:ext cx="46511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14.7</a:t>
              </a:r>
              <a:endParaRPr lang="en-GB" sz="2339"/>
            </a:p>
          </p:txBody>
        </p:sp>
        <p:sp>
          <p:nvSpPr>
            <p:cNvPr id="112" name="22.2" descr="s111">
              <a:extLst>
                <a:ext uri="{FF2B5EF4-FFF2-40B4-BE49-F238E27FC236}">
                  <ns2:creationId id="{4E1654FF-B959-408A-99D8-16D3D875772A}"/>
                </a:ext>
              </a:extLst>
            </p:cNvPr>
            <p:cNvSpPr>
              <a:spLocks noGrp="1"/>
            </p:cNvSpPr>
            <p:nvPr/>
          </p:nvSpPr>
          <p:spPr>
            <a:xfrm>
              <a:off x="14816818" y="19274317"/>
              <a:ext cx="5168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22.2</a:t>
              </a:r>
              <a:endParaRPr lang="en-GB" sz="2339"/>
            </a:p>
          </p:txBody>
        </p:sp>
        <p:sp>
          <p:nvSpPr>
            <p:cNvPr id="113" name="27.1" descr="s112">
              <a:extLst>
                <a:ext uri="{FF2B5EF4-FFF2-40B4-BE49-F238E27FC236}">
                  <ns2:creationId id="{835FB043-E3ED-4CC3-AA08-3CA41A5DCCFF}"/>
                </a:ext>
              </a:extLst>
            </p:cNvPr>
            <p:cNvSpPr>
              <a:spLocks noGrp="1"/>
            </p:cNvSpPr>
            <p:nvPr/>
          </p:nvSpPr>
          <p:spPr>
            <a:xfrm>
              <a:off x="15350193" y="19171175"/>
              <a:ext cx="444996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114" name="27.1" descr="s113">
              <a:extLst>
                <a:ext uri="{FF2B5EF4-FFF2-40B4-BE49-F238E27FC236}">
                  <ns2:creationId id="{CB4F576A-476B-40D7-B63E-82F7679A5B2F}"/>
                </a:ext>
              </a:extLst>
            </p:cNvPr>
            <p:cNvSpPr>
              <a:spLocks noGrp="1"/>
            </p:cNvSpPr>
            <p:nvPr/>
          </p:nvSpPr>
          <p:spPr>
            <a:xfrm>
              <a:off x="15849263" y="19695198"/>
              <a:ext cx="44499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115" name="61.8" descr="s114">
              <a:extLst>
                <a:ext uri="{FF2B5EF4-FFF2-40B4-BE49-F238E27FC236}">
                  <ns2:creationId id="{CE4F273C-9007-411A-AF78-F33A5C0633CB}"/>
                </a:ext>
              </a:extLst>
            </p:cNvPr>
            <p:cNvSpPr>
              <a:spLocks noGrp="1"/>
            </p:cNvSpPr>
            <p:nvPr/>
          </p:nvSpPr>
          <p:spPr>
            <a:xfrm>
              <a:off x="16337914" y="18440395"/>
              <a:ext cx="465832" cy="39052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61.8</a:t>
              </a:r>
              <a:endParaRPr lang="en-GB" sz="2339"/>
            </a:p>
          </p:txBody>
        </p:sp>
        <p:sp>
          <p:nvSpPr>
            <p:cNvPr id="116" name="38.5" descr="s115">
              <a:extLst>
                <a:ext uri="{FF2B5EF4-FFF2-40B4-BE49-F238E27FC236}">
                  <ns2:creationId id="{944AF8D0-D39E-4746-BE44-B9FC7D02B430}"/>
                </a:ext>
              </a:extLst>
            </p:cNvPr>
            <p:cNvSpPr>
              <a:spLocks noGrp="1"/>
            </p:cNvSpPr>
            <p:nvPr/>
          </p:nvSpPr>
          <p:spPr>
            <a:xfrm>
              <a:off x="17157543" y="19488798"/>
              <a:ext cx="513904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38.5</a:t>
              </a:r>
              <a:endParaRPr lang="en-GB" sz="2339"/>
            </a:p>
          </p:txBody>
        </p:sp>
        <p:sp>
          <p:nvSpPr>
            <p:cNvPr id="117" name="61.6" descr="s116">
              <a:extLst>
                <a:ext uri="{FF2B5EF4-FFF2-40B4-BE49-F238E27FC236}">
                  <ns2:creationId id="{3EC9E7C3-EE46-4FFB-9D59-504B6855854E}"/>
                </a:ext>
              </a:extLst>
            </p:cNvPr>
            <p:cNvSpPr>
              <a:spLocks noGrp="1"/>
            </p:cNvSpPr>
            <p:nvPr/>
          </p:nvSpPr>
          <p:spPr>
            <a:xfrm>
              <a:off x="17680650" y="18443365"/>
              <a:ext cx="46583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61.6</a:t>
              </a:r>
              <a:endParaRPr lang="en-GB" sz="2339"/>
            </a:p>
          </p:txBody>
        </p:sp>
        <p:sp>
          <p:nvSpPr>
            <p:cNvPr id="118" name="52.9" descr="s117">
              <a:extLst>
                <a:ext uri="{FF2B5EF4-FFF2-40B4-BE49-F238E27FC236}">
                  <ns2:creationId id="{FF29E425-F6F8-4C2B-B8DB-4346C9967007}"/>
                </a:ext>
              </a:extLst>
            </p:cNvPr>
            <p:cNvSpPr>
              <a:spLocks noGrp="1"/>
            </p:cNvSpPr>
            <p:nvPr/>
          </p:nvSpPr>
          <p:spPr>
            <a:xfrm>
              <a:off x="18156129" y="19151331"/>
              <a:ext cx="51301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52.9</a:t>
              </a:r>
              <a:endParaRPr lang="en-GB" sz="2339"/>
            </a:p>
          </p:txBody>
        </p:sp>
        <p:sp>
          <p:nvSpPr>
            <p:cNvPr id="119" name="72.7" descr="s118">
              <a:extLst>
                <a:ext uri="{FF2B5EF4-FFF2-40B4-BE49-F238E27FC236}">
                  <ns2:creationId id="{F0969A82-D0DC-492C-9BD0-05888F7A840F}"/>
                </a:ext>
              </a:extLst>
            </p:cNvPr>
            <p:cNvSpPr>
              <a:spLocks noGrp="1"/>
            </p:cNvSpPr>
            <p:nvPr/>
          </p:nvSpPr>
          <p:spPr>
            <a:xfrm>
              <a:off x="18669190" y="18210585"/>
              <a:ext cx="487978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72.7</a:t>
              </a:r>
              <a:endParaRPr lang="en-GB" sz="2339"/>
            </a:p>
          </p:txBody>
        </p:sp>
        <p:sp>
          <p:nvSpPr>
            <p:cNvPr id="120" name="78.9" descr="s119">
              <a:extLst>
                <a:ext uri="{FF2B5EF4-FFF2-40B4-BE49-F238E27FC236}">
                  <ns2:creationId id="{60534B34-3684-43DE-82AB-1B98E5943DCF}"/>
                </a:ext>
              </a:extLst>
            </p:cNvPr>
            <p:cNvSpPr>
              <a:spLocks noGrp="1"/>
            </p:cNvSpPr>
            <p:nvPr/>
          </p:nvSpPr>
          <p:spPr>
            <a:xfrm>
              <a:off x="19158734" y="18078450"/>
              <a:ext cx="50408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121" name="78.9" descr="s120">
              <a:extLst>
                <a:ext uri="{FF2B5EF4-FFF2-40B4-BE49-F238E27FC236}">
                  <ns2:creationId id="{771CDB85-2FAC-4634-958E-993A0B655936}"/>
                </a:ext>
              </a:extLst>
            </p:cNvPr>
            <p:cNvSpPr>
              <a:spLocks noGrp="1"/>
            </p:cNvSpPr>
            <p:nvPr/>
          </p:nvSpPr>
          <p:spPr>
            <a:xfrm>
              <a:off x="19657805" y="18636933"/>
              <a:ext cx="50408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122" name="74.7" descr="s121">
              <a:extLst>
                <a:ext uri="{FF2B5EF4-FFF2-40B4-BE49-F238E27FC236}">
                  <ns2:creationId id="{088803AF-1C49-457A-82A2-F48B1B29FE59}"/>
                </a:ext>
              </a:extLst>
            </p:cNvPr>
            <p:cNvSpPr>
              <a:spLocks noGrp="1"/>
            </p:cNvSpPr>
            <p:nvPr/>
          </p:nvSpPr>
          <p:spPr>
            <a:xfrm>
              <a:off x="20159551" y="18167095"/>
              <a:ext cx="501639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74.7</a:t>
              </a:r>
              <a:endParaRPr lang="en-GB" sz="2339"/>
            </a:p>
          </p:txBody>
        </p:sp>
        <p:sp>
          <p:nvSpPr>
            <p:cNvPr id="217" name="8. Results: Pipeline performance" descr="t83">
              <a:extLst>
                <a:ext uri="{FF2B5EF4-FFF2-40B4-BE49-F238E27FC236}">
                  <ns2:creationId id="{7023BABD-B572-42CB-B851-E0FA3D14E181}"/>
                </a:ext>
              </a:extLst>
            </p:cNvPr>
            <p:cNvSpPr>
              <a:spLocks noGrp="1"/>
            </p:cNvSpPr>
            <p:nvPr/>
          </p:nvSpPr>
          <p:spPr>
            <a:xfrm>
              <a:off x="9205764" y="16313181"/>
              <a:ext cx="4365188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8. Results: Pipeline performance</a:t>
              </a:r>
              <a:endParaRPr lang="en-GB" sz="2800"/>
            </a:p>
          </p:txBody>
        </p:sp>
        <p:sp>
          <p:nvSpPr>
            <p:cNvPr id="218" name="Answer quality Q, %" descr="t84">
              <a:extLst>
                <a:ext uri="{FF2B5EF4-FFF2-40B4-BE49-F238E27FC236}">
                  <ns2:creationId id="{29BC5003-0490-4BD2-90EE-E9456BE88EB8}"/>
                </a:ext>
              </a:extLst>
            </p:cNvPr>
            <p:cNvSpPr>
              <a:spLocks noGrp="1"/>
            </p:cNvSpPr>
            <p:nvPr/>
          </p:nvSpPr>
          <p:spPr>
            <a:xfrm>
              <a:off x="9277310" y="16937850"/>
              <a:ext cx="2620425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Answer quality Q, %</a:t>
              </a:r>
              <a:endParaRPr lang="en-GB" sz="2806"/>
            </a:p>
          </p:txBody>
        </p:sp>
        <p:sp>
          <p:nvSpPr>
            <p:cNvPr id="219" name="100 questions" descr="t85">
              <a:extLst>
                <a:ext uri="{FF2B5EF4-FFF2-40B4-BE49-F238E27FC236}">
                  <ns2:creationId id="{934C72F0-76B6-44B2-8EC1-80E95AF5AA98}"/>
                </a:ext>
              </a:extLst>
            </p:cNvPr>
            <p:cNvSpPr>
              <a:spLocks noGrp="1"/>
            </p:cNvSpPr>
            <p:nvPr/>
          </p:nvSpPr>
          <p:spPr>
            <a:xfrm>
              <a:off x="9277310" y="17424922"/>
              <a:ext cx="138683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 questions</a:t>
              </a:r>
              <a:endParaRPr lang="en-GB" sz="2245"/>
            </a:p>
          </p:txBody>
        </p:sp>
        <p:sp>
          <p:nvSpPr>
            <p:cNvPr id="220" name="0" descr="t86">
              <a:extLst>
                <a:ext uri="{FF2B5EF4-FFF2-40B4-BE49-F238E27FC236}">
                  <ns2:creationId id="{AB88E7F9-D651-46B8-8645-7EB6821BFE88}"/>
                </a:ext>
              </a:extLst>
            </p:cNvPr>
            <p:cNvSpPr>
              <a:spLocks noGrp="1"/>
            </p:cNvSpPr>
            <p:nvPr/>
          </p:nvSpPr>
          <p:spPr>
            <a:xfrm>
              <a:off x="9471531" y="20033135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21" name="50" descr="t87">
              <a:extLst>
                <a:ext uri="{FF2B5EF4-FFF2-40B4-BE49-F238E27FC236}">
                  <ns2:creationId id="{3BDDCF0D-5135-467F-A68E-545EFB5966C5}"/>
                </a:ext>
              </a:extLst>
            </p:cNvPr>
            <p:cNvSpPr>
              <a:spLocks noGrp="1"/>
            </p:cNvSpPr>
            <p:nvPr/>
          </p:nvSpPr>
          <p:spPr>
            <a:xfrm>
              <a:off x="9354850" y="18979730"/>
              <a:ext cx="30039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22" name="100" descr="t88">
              <a:extLst>
                <a:ext uri="{FF2B5EF4-FFF2-40B4-BE49-F238E27FC236}">
                  <ns2:creationId id="{8A12B84B-D5B2-45E2-B049-D0B6D0EEE773}"/>
                </a:ext>
              </a:extLst>
            </p:cNvPr>
            <p:cNvSpPr>
              <a:spLocks noGrp="1"/>
            </p:cNvSpPr>
            <p:nvPr/>
          </p:nvSpPr>
          <p:spPr>
            <a:xfrm>
              <a:off x="9271953" y="17926324"/>
              <a:ext cx="38337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23" name="46.2" descr="t89">
              <a:extLst>
                <a:ext uri="{FF2B5EF4-FFF2-40B4-BE49-F238E27FC236}">
                  <ns2:creationId id="{EE80CC41-F892-4D6C-85F7-C8FB6041673C}"/>
                </a:ext>
              </a:extLst>
            </p:cNvPr>
            <p:cNvSpPr>
              <a:spLocks noGrp="1"/>
            </p:cNvSpPr>
            <p:nvPr/>
          </p:nvSpPr>
          <p:spPr>
            <a:xfrm>
              <a:off x="9469745" y="19328529"/>
              <a:ext cx="52778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46.2</a:t>
              </a:r>
              <a:endParaRPr lang="en-GB" sz="2339"/>
            </a:p>
          </p:txBody>
        </p:sp>
        <p:sp>
          <p:nvSpPr>
            <p:cNvPr id="224" name="R0" descr="t90">
              <a:extLst>
                <a:ext uri="{FF2B5EF4-FFF2-40B4-BE49-F238E27FC236}">
                  <ns2:creationId id="{6B8C731F-D9FA-4573-BB89-A61E0BBC3DA1}"/>
                </a:ext>
              </a:extLst>
            </p:cNvPr>
            <p:cNvSpPr>
              <a:spLocks noGrp="1"/>
            </p:cNvSpPr>
            <p:nvPr/>
          </p:nvSpPr>
          <p:spPr>
            <a:xfrm>
              <a:off x="9578539" y="20470392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25" name="63.2" descr="t91">
              <a:extLst>
                <a:ext uri="{FF2B5EF4-FFF2-40B4-BE49-F238E27FC236}">
                  <ns2:creationId id="{BF41883D-25BD-4351-AFE3-7B4CC997FFB5}"/>
                </a:ext>
              </a:extLst>
            </p:cNvPr>
            <p:cNvSpPr>
              <a:spLocks noGrp="1"/>
            </p:cNvSpPr>
            <p:nvPr/>
          </p:nvSpPr>
          <p:spPr>
            <a:xfrm>
              <a:off x="9975910" y="18411896"/>
              <a:ext cx="51353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63.2</a:t>
              </a:r>
              <a:endParaRPr lang="en-GB" sz="2339"/>
            </a:p>
          </p:txBody>
        </p:sp>
        <p:sp>
          <p:nvSpPr>
            <p:cNvPr id="226" name="R1" descr="t92">
              <a:extLst>
                <a:ext uri="{FF2B5EF4-FFF2-40B4-BE49-F238E27FC236}">
                  <ns2:creationId id="{21A67C2C-F2A2-4A1B-AA86-D3C4B4764FA8}"/>
                </a:ext>
              </a:extLst>
            </p:cNvPr>
            <p:cNvSpPr>
              <a:spLocks noGrp="1"/>
            </p:cNvSpPr>
            <p:nvPr/>
          </p:nvSpPr>
          <p:spPr>
            <a:xfrm>
              <a:off x="10104348" y="20470392"/>
              <a:ext cx="25647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27" name="49.8" descr="t93">
              <a:extLst>
                <a:ext uri="{FF2B5EF4-FFF2-40B4-BE49-F238E27FC236}">
                  <ns2:creationId id="{36811B5D-E6AC-4FC6-8E87-FB84B3132C48}"/>
                </a:ext>
              </a:extLst>
            </p:cNvPr>
            <p:cNvSpPr>
              <a:spLocks noGrp="1"/>
            </p:cNvSpPr>
            <p:nvPr/>
          </p:nvSpPr>
          <p:spPr>
            <a:xfrm>
              <a:off x="10468233" y="19218098"/>
              <a:ext cx="52689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49.8</a:t>
              </a:r>
              <a:endParaRPr lang="en-GB" sz="2339"/>
            </a:p>
          </p:txBody>
        </p:sp>
        <p:sp>
          <p:nvSpPr>
            <p:cNvPr id="228" name="R2" descr="t94">
              <a:extLst>
                <a:ext uri="{FF2B5EF4-FFF2-40B4-BE49-F238E27FC236}">
                  <ns2:creationId id="{1A0A842A-D029-4DF8-9697-03C45268C4D5}"/>
                </a:ext>
              </a:extLst>
            </p:cNvPr>
            <p:cNvSpPr>
              <a:spLocks noGrp="1"/>
            </p:cNvSpPr>
            <p:nvPr/>
          </p:nvSpPr>
          <p:spPr>
            <a:xfrm>
              <a:off x="10582682" y="20470392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29" name="74.6" descr="t95">
              <a:extLst>
                <a:ext uri="{FF2B5EF4-FFF2-40B4-BE49-F238E27FC236}">
                  <ns2:creationId id="{721ECD98-EBE6-4656-9840-66D48C5C30FF}"/>
                </a:ext>
              </a:extLst>
            </p:cNvPr>
            <p:cNvSpPr>
              <a:spLocks noGrp="1"/>
            </p:cNvSpPr>
            <p:nvPr/>
          </p:nvSpPr>
          <p:spPr>
            <a:xfrm>
              <a:off x="10971570" y="18171539"/>
              <a:ext cx="518585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74.6</a:t>
              </a:r>
              <a:endParaRPr lang="en-GB" sz="2339"/>
            </a:p>
          </p:txBody>
        </p:sp>
        <p:sp>
          <p:nvSpPr>
            <p:cNvPr id="230" name="R3" descr="t96">
              <a:extLst>
                <a:ext uri="{FF2B5EF4-FFF2-40B4-BE49-F238E27FC236}">
                  <ns2:creationId id="{0BF9DD5B-1E77-4B70-9F67-F20903F023EE}"/>
                </a:ext>
              </a:extLst>
            </p:cNvPr>
            <p:cNvSpPr>
              <a:spLocks noGrp="1"/>
            </p:cNvSpPr>
            <p:nvPr/>
          </p:nvSpPr>
          <p:spPr>
            <a:xfrm>
              <a:off x="11080959" y="20470392"/>
              <a:ext cx="29982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31" name="84.4" descr="t97">
              <a:extLst>
                <a:ext uri="{FF2B5EF4-FFF2-40B4-BE49-F238E27FC236}">
                  <ns2:creationId id="{FBD8C83D-216D-42B5-839B-0385741357DC}"/>
                </a:ext>
              </a:extLst>
            </p:cNvPr>
            <p:cNvSpPr>
              <a:spLocks noGrp="1"/>
            </p:cNvSpPr>
            <p:nvPr/>
          </p:nvSpPr>
          <p:spPr>
            <a:xfrm>
              <a:off x="11459131" y="17965114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2" name="R4" descr="t98">
              <a:extLst>
                <a:ext uri="{FF2B5EF4-FFF2-40B4-BE49-F238E27FC236}">
                  <ns2:creationId id="{3E787904-60D5-467A-B8E8-2A9B82D6A43D}"/>
                </a:ext>
              </a:extLst>
            </p:cNvPr>
            <p:cNvSpPr>
              <a:spLocks noGrp="1"/>
            </p:cNvSpPr>
            <p:nvPr/>
          </p:nvSpPr>
          <p:spPr>
            <a:xfrm>
              <a:off x="11578937" y="20470392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33" name="84.4" descr="t99">
              <a:extLst>
                <a:ext uri="{FF2B5EF4-FFF2-40B4-BE49-F238E27FC236}">
                  <ns2:creationId id="{B90760EC-EFF5-4E28-AFBB-4D3898510A90}"/>
                </a:ext>
              </a:extLst>
            </p:cNvPr>
            <p:cNvSpPr>
              <a:spLocks noGrp="1"/>
            </p:cNvSpPr>
            <p:nvPr/>
          </p:nvSpPr>
          <p:spPr>
            <a:xfrm>
              <a:off x="11958300" y="18523666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4" name="R5" descr="t100">
              <a:extLst>
                <a:ext uri="{FF2B5EF4-FFF2-40B4-BE49-F238E27FC236}">
                  <ns2:creationId id="{FA15D5B7-5F1C-4B6F-9D2A-472D4A0C027C}"/>
                </a:ext>
              </a:extLst>
            </p:cNvPr>
            <p:cNvSpPr>
              <a:spLocks noGrp="1"/>
            </p:cNvSpPr>
            <p:nvPr/>
          </p:nvSpPr>
          <p:spPr>
            <a:xfrm>
              <a:off x="12078851" y="20470392"/>
              <a:ext cx="300111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35" name="84.4" descr="t101">
              <a:extLst>
                <a:ext uri="{FF2B5EF4-FFF2-40B4-BE49-F238E27FC236}">
                  <ns2:creationId id="{9B1633E3-8D7F-47F4-A63C-B42E5EC3F19B}"/>
                </a:ext>
              </a:extLst>
            </p:cNvPr>
            <p:cNvSpPr>
              <a:spLocks noGrp="1"/>
            </p:cNvSpPr>
            <p:nvPr/>
          </p:nvSpPr>
          <p:spPr>
            <a:xfrm>
              <a:off x="12457321" y="17965114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6" name="R6" descr="t102">
              <a:extLst>
                <a:ext uri="{FF2B5EF4-FFF2-40B4-BE49-F238E27FC236}">
                  <ns2:creationId id="{E9CAD513-6441-4F74-88BE-2618A93BBC71}"/>
                </a:ext>
              </a:extLst>
            </p:cNvPr>
            <p:cNvSpPr>
              <a:spLocks noGrp="1"/>
            </p:cNvSpPr>
            <p:nvPr/>
          </p:nvSpPr>
          <p:spPr>
            <a:xfrm>
              <a:off x="12577872" y="20470392"/>
              <a:ext cx="30039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  <p:sp>
          <p:nvSpPr>
            <p:cNvPr id="237" name="Citation precision, %" descr="t103">
              <a:extLst>
                <a:ext uri="{FF2B5EF4-FFF2-40B4-BE49-F238E27FC236}">
                  <ns2:creationId id="{E8A6F76F-3B2E-4AB2-AAEE-56689E579C92}"/>
                </a:ext>
              </a:extLst>
            </p:cNvPr>
            <p:cNvSpPr>
              <a:spLocks noGrp="1"/>
            </p:cNvSpPr>
            <p:nvPr/>
          </p:nvSpPr>
          <p:spPr>
            <a:xfrm>
              <a:off x="13115438" y="16937850"/>
              <a:ext cx="2752260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Citation precision, %</a:t>
              </a:r>
              <a:endParaRPr lang="en-GB" sz="2806"/>
            </a:p>
          </p:txBody>
        </p:sp>
        <p:sp>
          <p:nvSpPr>
            <p:cNvPr id="238" name="95 questions" descr="t104">
              <a:extLst>
                <a:ext uri="{FF2B5EF4-FFF2-40B4-BE49-F238E27FC236}">
                  <ns2:creationId id="{8BEE01D7-CC0C-4C1A-BB2B-457F74D5660B}"/>
                </a:ext>
              </a:extLst>
            </p:cNvPr>
            <p:cNvSpPr>
              <a:spLocks noGrp="1"/>
            </p:cNvSpPr>
            <p:nvPr/>
          </p:nvSpPr>
          <p:spPr>
            <a:xfrm>
              <a:off x="13115438" y="17424922"/>
              <a:ext cx="129216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95 questions</a:t>
              </a:r>
              <a:endParaRPr lang="en-GB" sz="2245"/>
            </a:p>
          </p:txBody>
        </p:sp>
        <p:sp>
          <p:nvSpPr>
            <p:cNvPr id="239" name="0" descr="t105">
              <a:extLst>
                <a:ext uri="{FF2B5EF4-FFF2-40B4-BE49-F238E27FC236}">
                  <ns2:creationId id="{304FE509-69C2-4980-9E56-87CDD942A89F}"/>
                </a:ext>
              </a:extLst>
            </p:cNvPr>
            <p:cNvSpPr>
              <a:spLocks noGrp="1"/>
            </p:cNvSpPr>
            <p:nvPr/>
          </p:nvSpPr>
          <p:spPr>
            <a:xfrm>
              <a:off x="13309510" y="20033135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40" name="50" descr="t106">
              <a:extLst>
                <a:ext uri="{FF2B5EF4-FFF2-40B4-BE49-F238E27FC236}">
                  <ns2:creationId id="{78799B9C-9776-42A9-98E5-AE0A38D794B5}"/>
                </a:ext>
              </a:extLst>
            </p:cNvPr>
            <p:cNvSpPr>
              <a:spLocks noGrp="1"/>
            </p:cNvSpPr>
            <p:nvPr/>
          </p:nvSpPr>
          <p:spPr>
            <a:xfrm>
              <a:off x="13192829" y="18979730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41" name="100" descr="t107">
              <a:extLst>
                <a:ext uri="{FF2B5EF4-FFF2-40B4-BE49-F238E27FC236}">
                  <ns2:creationId id="{F21C0D33-016B-4086-8AB1-CBA0D22E311B}"/>
                </a:ext>
              </a:extLst>
            </p:cNvPr>
            <p:cNvSpPr>
              <a:spLocks noGrp="1"/>
            </p:cNvSpPr>
            <p:nvPr/>
          </p:nvSpPr>
          <p:spPr>
            <a:xfrm>
              <a:off x="13109932" y="17926324"/>
              <a:ext cx="38337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42" name="7.6" descr="t108">
              <a:extLst>
                <a:ext uri="{FF2B5EF4-FFF2-40B4-BE49-F238E27FC236}">
                  <ns2:creationId id="{C22C35B7-8EC1-4500-A75C-DD11B9F02363}"/>
                </a:ext>
              </a:extLst>
            </p:cNvPr>
            <p:cNvSpPr>
              <a:spLocks noGrp="1"/>
            </p:cNvSpPr>
            <p:nvPr/>
          </p:nvSpPr>
          <p:spPr>
            <a:xfrm>
              <a:off x="13391068" y="19583174"/>
              <a:ext cx="36122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7.6</a:t>
              </a:r>
              <a:endParaRPr lang="en-GB" sz="2339"/>
            </a:p>
          </p:txBody>
        </p:sp>
        <p:sp>
          <p:nvSpPr>
            <p:cNvPr id="243" name="R0" descr="t109">
              <a:extLst>
                <a:ext uri="{FF2B5EF4-FFF2-40B4-BE49-F238E27FC236}">
                  <ns2:creationId id="{5766AA0F-7D52-4C63-B536-77C69F3ABCF2}"/>
                </a:ext>
              </a:extLst>
            </p:cNvPr>
            <p:cNvSpPr>
              <a:spLocks noGrp="1"/>
            </p:cNvSpPr>
            <p:nvPr/>
          </p:nvSpPr>
          <p:spPr>
            <a:xfrm>
              <a:off x="13416666" y="20470392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44" name="11.2" descr="t110">
              <a:extLst>
                <a:ext uri="{FF2B5EF4-FFF2-40B4-BE49-F238E27FC236}">
                  <ns2:creationId id="{469EF558-3388-4264-AF0A-29E0F7E1AE36}"/>
                </a:ext>
              </a:extLst>
            </p:cNvPr>
            <p:cNvSpPr>
              <a:spLocks noGrp="1"/>
            </p:cNvSpPr>
            <p:nvPr/>
          </p:nvSpPr>
          <p:spPr>
            <a:xfrm>
              <a:off x="13860918" y="19506974"/>
              <a:ext cx="41971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11.2</a:t>
              </a:r>
              <a:endParaRPr lang="en-GB" sz="2339"/>
            </a:p>
          </p:txBody>
        </p:sp>
        <p:sp>
          <p:nvSpPr>
            <p:cNvPr id="245" name="R1" descr="t111">
              <a:extLst>
                <a:ext uri="{FF2B5EF4-FFF2-40B4-BE49-F238E27FC236}">
                  <ns2:creationId id="{E51BBBB4-D975-486C-A3E7-1175900C1A68}"/>
                </a:ext>
              </a:extLst>
            </p:cNvPr>
            <p:cNvSpPr>
              <a:spLocks noGrp="1"/>
            </p:cNvSpPr>
            <p:nvPr/>
          </p:nvSpPr>
          <p:spPr>
            <a:xfrm>
              <a:off x="13942476" y="20470392"/>
              <a:ext cx="256480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46" name="14.7" descr="t112">
              <a:extLst>
                <a:ext uri="{FF2B5EF4-FFF2-40B4-BE49-F238E27FC236}">
                  <ns2:creationId id="{876FA3BD-AAF5-4E05-8F85-0C6E52827696}"/>
                </a:ext>
              </a:extLst>
            </p:cNvPr>
            <p:cNvSpPr>
              <a:spLocks noGrp="1"/>
            </p:cNvSpPr>
            <p:nvPr/>
          </p:nvSpPr>
          <p:spPr>
            <a:xfrm>
              <a:off x="14338805" y="19432857"/>
              <a:ext cx="46216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14.7</a:t>
              </a:r>
              <a:endParaRPr lang="en-GB" sz="2339"/>
            </a:p>
          </p:txBody>
        </p:sp>
        <p:sp>
          <p:nvSpPr>
            <p:cNvPr id="247" name="R2" descr="t113">
              <a:extLst>
                <a:ext uri="{FF2B5EF4-FFF2-40B4-BE49-F238E27FC236}">
                  <ns2:creationId id="{FCFB595F-A21D-4270-9A76-A9C85EB6B1C7}"/>
                </a:ext>
              </a:extLst>
            </p:cNvPr>
            <p:cNvSpPr>
              <a:spLocks noGrp="1"/>
            </p:cNvSpPr>
            <p:nvPr/>
          </p:nvSpPr>
          <p:spPr>
            <a:xfrm>
              <a:off x="14420810" y="20470392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48" name="22.2" descr="t114">
              <a:extLst>
                <a:ext uri="{FF2B5EF4-FFF2-40B4-BE49-F238E27FC236}">
                  <ns2:creationId id="{5AD38856-63D6-4987-8B73-BFD251CE43BA}"/>
                </a:ext>
              </a:extLst>
            </p:cNvPr>
            <p:cNvSpPr>
              <a:spLocks noGrp="1"/>
            </p:cNvSpPr>
            <p:nvPr/>
          </p:nvSpPr>
          <p:spPr>
            <a:xfrm>
              <a:off x="14812079" y="19275992"/>
              <a:ext cx="513538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22.2</a:t>
              </a:r>
              <a:endParaRPr lang="en-GB" sz="2339"/>
            </a:p>
          </p:txBody>
        </p:sp>
        <p:sp>
          <p:nvSpPr>
            <p:cNvPr id="249" name="R3" descr="t115">
              <a:extLst>
                <a:ext uri="{FF2B5EF4-FFF2-40B4-BE49-F238E27FC236}">
                  <ns2:creationId id="{3F9CCEFF-4E39-4E07-B9D4-2F7979B3E915}"/>
                </a:ext>
              </a:extLst>
            </p:cNvPr>
            <p:cNvSpPr>
              <a:spLocks noGrp="1"/>
            </p:cNvSpPr>
            <p:nvPr/>
          </p:nvSpPr>
          <p:spPr>
            <a:xfrm>
              <a:off x="14918937" y="20470392"/>
              <a:ext cx="29982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50" name="27.1" descr="t116">
              <a:extLst>
                <a:ext uri="{FF2B5EF4-FFF2-40B4-BE49-F238E27FC236}">
                  <ns2:creationId id="{65FA957B-101A-4E44-A075-EB01AE351182}"/>
                </a:ext>
              </a:extLst>
            </p:cNvPr>
            <p:cNvSpPr>
              <a:spLocks noGrp="1"/>
            </p:cNvSpPr>
            <p:nvPr/>
          </p:nvSpPr>
          <p:spPr>
            <a:xfrm>
              <a:off x="15345479" y="19172855"/>
              <a:ext cx="4449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251" name="R4" descr="t117">
              <a:extLst>
                <a:ext uri="{FF2B5EF4-FFF2-40B4-BE49-F238E27FC236}">
                  <ns2:creationId id="{B3749257-FB37-4CC7-A459-5BCB0DC1504B}"/>
                </a:ext>
              </a:extLst>
            </p:cNvPr>
            <p:cNvSpPr>
              <a:spLocks noGrp="1"/>
            </p:cNvSpPr>
            <p:nvPr/>
          </p:nvSpPr>
          <p:spPr>
            <a:xfrm>
              <a:off x="15417065" y="20470392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52" name="27.1" descr="t118">
              <a:extLst>
                <a:ext uri="{FF2B5EF4-FFF2-40B4-BE49-F238E27FC236}">
                  <ns2:creationId id="{95E23768-22C3-40EA-9FA3-8A5B447208F4}"/>
                </a:ext>
              </a:extLst>
            </p:cNvPr>
            <p:cNvSpPr>
              <a:spLocks noGrp="1"/>
            </p:cNvSpPr>
            <p:nvPr/>
          </p:nvSpPr>
          <p:spPr>
            <a:xfrm>
              <a:off x="15844500" y="19696878"/>
              <a:ext cx="4449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253" name="R5" descr="t119">
              <a:extLst>
                <a:ext uri="{FF2B5EF4-FFF2-40B4-BE49-F238E27FC236}">
                  <ns2:creationId id="{14034703-D3B2-4EF5-B019-AF0178E00B38}"/>
                </a:ext>
              </a:extLst>
            </p:cNvPr>
            <p:cNvSpPr>
              <a:spLocks noGrp="1"/>
            </p:cNvSpPr>
            <p:nvPr/>
          </p:nvSpPr>
          <p:spPr>
            <a:xfrm>
              <a:off x="15916979" y="20470392"/>
              <a:ext cx="300112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54" name="61.8" descr="t120">
              <a:extLst>
                <a:ext uri="{FF2B5EF4-FFF2-40B4-BE49-F238E27FC236}">
                  <ns2:creationId id="{AFC4CA6B-0E1B-43D7-8604-9484F3668E3F}"/>
                </a:ext>
              </a:extLst>
            </p:cNvPr>
            <p:cNvSpPr>
              <a:spLocks noGrp="1"/>
            </p:cNvSpPr>
            <p:nvPr/>
          </p:nvSpPr>
          <p:spPr>
            <a:xfrm>
              <a:off x="16333251" y="18441960"/>
              <a:ext cx="4657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61.8</a:t>
              </a:r>
              <a:endParaRPr lang="en-GB" sz="2339"/>
            </a:p>
          </p:txBody>
        </p:sp>
        <p:sp>
          <p:nvSpPr>
            <p:cNvPr id="255" name="R6" descr="t121">
              <a:extLst>
                <a:ext uri="{FF2B5EF4-FFF2-40B4-BE49-F238E27FC236}">
                  <ns2:creationId id="{B86D79B5-D818-4FC3-90AE-367607F14DE7}"/>
                </a:ext>
              </a:extLst>
            </p:cNvPr>
            <p:cNvSpPr>
              <a:spLocks noGrp="1"/>
            </p:cNvSpPr>
            <p:nvPr/>
          </p:nvSpPr>
          <p:spPr>
            <a:xfrm>
              <a:off x="16415851" y="20470392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  <p:sp>
          <p:nvSpPr>
            <p:cNvPr id="256" name="Citation recall, %" descr="t122">
              <a:extLst>
                <a:ext uri="{FF2B5EF4-FFF2-40B4-BE49-F238E27FC236}">
                  <ns2:creationId id="{72BED4AA-8C10-4684-8A8F-1997F800FFFD}"/>
                </a:ext>
              </a:extLst>
            </p:cNvPr>
            <p:cNvSpPr>
              <a:spLocks noGrp="1"/>
            </p:cNvSpPr>
            <p:nvPr/>
          </p:nvSpPr>
          <p:spPr>
            <a:xfrm>
              <a:off x="16953418" y="16937850"/>
              <a:ext cx="2283020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Citation recall, %</a:t>
              </a:r>
              <a:endParaRPr lang="en-GB" sz="2806"/>
            </a:p>
          </p:txBody>
        </p:sp>
        <p:sp>
          <p:nvSpPr>
            <p:cNvPr id="257" name="95 questions" descr="t123">
              <a:extLst>
                <a:ext uri="{FF2B5EF4-FFF2-40B4-BE49-F238E27FC236}">
                  <ns2:creationId id="{A3BBF6D3-3D66-46D2-BD95-A0381D0F042B}"/>
                </a:ext>
              </a:extLst>
            </p:cNvPr>
            <p:cNvSpPr>
              <a:spLocks noGrp="1"/>
            </p:cNvSpPr>
            <p:nvPr/>
          </p:nvSpPr>
          <p:spPr>
            <a:xfrm>
              <a:off x="16953418" y="17424922"/>
              <a:ext cx="129216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95 questions</a:t>
              </a:r>
              <a:endParaRPr lang="en-GB" sz="2245"/>
            </a:p>
          </p:txBody>
        </p:sp>
        <p:sp>
          <p:nvSpPr>
            <p:cNvPr id="258" name="0" descr="t124">
              <a:extLst>
                <a:ext uri="{FF2B5EF4-FFF2-40B4-BE49-F238E27FC236}">
                  <ns2:creationId id="{5D498C17-54F5-4000-9424-FF52C6AA9F3E}"/>
                </a:ext>
              </a:extLst>
            </p:cNvPr>
            <p:cNvSpPr>
              <a:spLocks noGrp="1"/>
            </p:cNvSpPr>
            <p:nvPr/>
          </p:nvSpPr>
          <p:spPr>
            <a:xfrm>
              <a:off x="17147639" y="20033135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59" name="50" descr="t125">
              <a:extLst>
                <a:ext uri="{FF2B5EF4-FFF2-40B4-BE49-F238E27FC236}">
                  <ns2:creationId id="{3567F253-97C5-438A-B20E-365B513B9925}"/>
                </a:ext>
              </a:extLst>
            </p:cNvPr>
            <p:cNvSpPr>
              <a:spLocks noGrp="1"/>
            </p:cNvSpPr>
            <p:nvPr/>
          </p:nvSpPr>
          <p:spPr>
            <a:xfrm>
              <a:off x="17030957" y="18979730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60" name="100" descr="t126">
              <a:extLst>
                <a:ext uri="{FF2B5EF4-FFF2-40B4-BE49-F238E27FC236}">
                  <ns2:creationId id="{B8A8C18F-4B38-4D39-B260-021C78BAB423}"/>
                </a:ext>
              </a:extLst>
            </p:cNvPr>
            <p:cNvSpPr>
              <a:spLocks noGrp="1"/>
            </p:cNvSpPr>
            <p:nvPr/>
          </p:nvSpPr>
          <p:spPr>
            <a:xfrm>
              <a:off x="16948060" y="17926324"/>
              <a:ext cx="38337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61" name="38.5" descr="t127">
              <a:extLst>
                <a:ext uri="{FF2B5EF4-FFF2-40B4-BE49-F238E27FC236}">
                  <ns2:creationId id="{F86521E7-32FB-438D-99B1-8D6812073626}"/>
                </a:ext>
              </a:extLst>
            </p:cNvPr>
            <p:cNvSpPr>
              <a:spLocks noGrp="1"/>
            </p:cNvSpPr>
            <p:nvPr/>
          </p:nvSpPr>
          <p:spPr>
            <a:xfrm>
              <a:off x="17152848" y="19490454"/>
              <a:ext cx="5138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38.5</a:t>
              </a:r>
              <a:endParaRPr lang="en-GB" sz="2339"/>
            </a:p>
          </p:txBody>
        </p:sp>
        <p:sp>
          <p:nvSpPr>
            <p:cNvPr id="262" name="R0" descr="t128">
              <a:extLst>
                <a:ext uri="{FF2B5EF4-FFF2-40B4-BE49-F238E27FC236}">
                  <ns2:creationId id="{3FAC0A59-8A23-44D6-BCF0-E812ED1054B4}"/>
                </a:ext>
              </a:extLst>
            </p:cNvPr>
            <p:cNvSpPr>
              <a:spLocks noGrp="1"/>
            </p:cNvSpPr>
            <p:nvPr/>
          </p:nvSpPr>
          <p:spPr>
            <a:xfrm>
              <a:off x="17254795" y="20470392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63" name="61.6" descr="t129">
              <a:extLst>
                <a:ext uri="{FF2B5EF4-FFF2-40B4-BE49-F238E27FC236}">
                  <ns2:creationId id="{10064744-19CB-411C-AE85-23C28916DCF4}"/>
                </a:ext>
              </a:extLst>
            </p:cNvPr>
            <p:cNvSpPr>
              <a:spLocks noGrp="1"/>
            </p:cNvSpPr>
            <p:nvPr/>
          </p:nvSpPr>
          <p:spPr>
            <a:xfrm>
              <a:off x="17675978" y="18444936"/>
              <a:ext cx="4657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61.6</a:t>
              </a:r>
              <a:endParaRPr lang="en-GB" sz="2339"/>
            </a:p>
          </p:txBody>
        </p:sp>
        <p:sp>
          <p:nvSpPr>
            <p:cNvPr id="264" name="R1" descr="t130">
              <a:extLst>
                <a:ext uri="{FF2B5EF4-FFF2-40B4-BE49-F238E27FC236}">
                  <ns2:creationId id="{945F1C74-FF7F-4483-8421-554440D19DD5}"/>
                </a:ext>
              </a:extLst>
            </p:cNvPr>
            <p:cNvSpPr>
              <a:spLocks noGrp="1"/>
            </p:cNvSpPr>
            <p:nvPr/>
          </p:nvSpPr>
          <p:spPr>
            <a:xfrm>
              <a:off x="17780605" y="20470392"/>
              <a:ext cx="256480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65" name="52.9" descr="t131">
              <a:extLst>
                <a:ext uri="{FF2B5EF4-FFF2-40B4-BE49-F238E27FC236}">
                  <ns2:creationId id="{8D5FB7A6-79AF-4B2D-8A55-CFC9929A222D}"/>
                </a:ext>
              </a:extLst>
            </p:cNvPr>
            <p:cNvSpPr>
              <a:spLocks noGrp="1"/>
            </p:cNvSpPr>
            <p:nvPr/>
          </p:nvSpPr>
          <p:spPr>
            <a:xfrm>
              <a:off x="18151484" y="19152912"/>
              <a:ext cx="51294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52.9</a:t>
              </a:r>
              <a:endParaRPr lang="en-GB" sz="2339"/>
            </a:p>
          </p:txBody>
        </p:sp>
        <p:sp>
          <p:nvSpPr>
            <p:cNvPr id="266" name="R2" descr="t132">
              <a:extLst>
                <a:ext uri="{FF2B5EF4-FFF2-40B4-BE49-F238E27FC236}">
                  <ns2:creationId id="{893D5E05-8EA9-4295-8B17-4155617ED609}"/>
                </a:ext>
              </a:extLst>
            </p:cNvPr>
            <p:cNvSpPr>
              <a:spLocks noGrp="1"/>
            </p:cNvSpPr>
            <p:nvPr/>
          </p:nvSpPr>
          <p:spPr>
            <a:xfrm>
              <a:off x="18258789" y="20470392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67" name="72.7" descr="t133">
              <a:extLst>
                <a:ext uri="{FF2B5EF4-FFF2-40B4-BE49-F238E27FC236}">
                  <ns2:creationId id="{53AE29E7-654B-46BD-B7FF-EB219FFE4F0C}"/>
                </a:ext>
              </a:extLst>
            </p:cNvPr>
            <p:cNvSpPr>
              <a:spLocks noGrp="1"/>
            </p:cNvSpPr>
            <p:nvPr/>
          </p:nvSpPr>
          <p:spPr>
            <a:xfrm>
              <a:off x="18664495" y="18212169"/>
              <a:ext cx="48502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72.7</a:t>
              </a:r>
              <a:endParaRPr lang="en-GB" sz="2339"/>
            </a:p>
          </p:txBody>
        </p:sp>
        <p:sp>
          <p:nvSpPr>
            <p:cNvPr id="268" name="R3" descr="t134">
              <a:extLst>
                <a:ext uri="{FF2B5EF4-FFF2-40B4-BE49-F238E27FC236}">
                  <ns2:creationId id="{0ABA49BB-DF28-4255-A827-0C8DA854141D}"/>
                </a:ext>
              </a:extLst>
            </p:cNvPr>
            <p:cNvSpPr>
              <a:spLocks noGrp="1"/>
            </p:cNvSpPr>
            <p:nvPr/>
          </p:nvSpPr>
          <p:spPr>
            <a:xfrm>
              <a:off x="18757066" y="20470392"/>
              <a:ext cx="29982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69" name="78.9" descr="t135">
              <a:extLst>
                <a:ext uri="{FF2B5EF4-FFF2-40B4-BE49-F238E27FC236}">
                  <ns2:creationId id="{2DE09343-A793-41AF-A56C-F1491057C84A}"/>
                </a:ext>
              </a:extLst>
            </p:cNvPr>
            <p:cNvSpPr>
              <a:spLocks noGrp="1"/>
            </p:cNvSpPr>
            <p:nvPr/>
          </p:nvSpPr>
          <p:spPr>
            <a:xfrm>
              <a:off x="19153991" y="18080158"/>
              <a:ext cx="5040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270" name="R4" descr="t136">
              <a:extLst>
                <a:ext uri="{FF2B5EF4-FFF2-40B4-BE49-F238E27FC236}">
                  <ns2:creationId id="{7BB9726E-EC90-45E8-A5FC-B3816C33C8CD}"/>
                </a:ext>
              </a:extLst>
            </p:cNvPr>
            <p:cNvSpPr>
              <a:spLocks noGrp="1"/>
            </p:cNvSpPr>
            <p:nvPr/>
          </p:nvSpPr>
          <p:spPr>
            <a:xfrm>
              <a:off x="19255194" y="20470392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71" name="78.9" descr="t137">
              <a:extLst>
                <a:ext uri="{FF2B5EF4-FFF2-40B4-BE49-F238E27FC236}">
                  <ns2:creationId id="{76293EFB-B357-4315-A62D-5FC4EB095A4C}"/>
                </a:ext>
              </a:extLst>
            </p:cNvPr>
            <p:cNvSpPr>
              <a:spLocks noGrp="1"/>
            </p:cNvSpPr>
            <p:nvPr/>
          </p:nvSpPr>
          <p:spPr>
            <a:xfrm>
              <a:off x="19653160" y="18638562"/>
              <a:ext cx="5040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272" name="R5" descr="t138">
              <a:extLst>
                <a:ext uri="{FF2B5EF4-FFF2-40B4-BE49-F238E27FC236}">
                  <ns2:creationId id="{78F1F45C-E64A-4A23-A00F-5D4B84A1DBB7}"/>
                </a:ext>
              </a:extLst>
            </p:cNvPr>
            <p:cNvSpPr>
              <a:spLocks noGrp="1"/>
            </p:cNvSpPr>
            <p:nvPr/>
          </p:nvSpPr>
          <p:spPr>
            <a:xfrm>
              <a:off x="19755107" y="20470392"/>
              <a:ext cx="300112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73" name="74.7" descr="t139">
              <a:extLst>
                <a:ext uri="{FF2B5EF4-FFF2-40B4-BE49-F238E27FC236}">
                  <ns2:creationId id="{83BB5464-4B75-453B-9635-381D662887E8}"/>
                </a:ext>
              </a:extLst>
            </p:cNvPr>
            <p:cNvSpPr>
              <a:spLocks noGrp="1"/>
            </p:cNvSpPr>
            <p:nvPr/>
          </p:nvSpPr>
          <p:spPr>
            <a:xfrm>
              <a:off x="20154860" y="18168711"/>
              <a:ext cx="49868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74.7</a:t>
              </a:r>
              <a:endParaRPr lang="en-GB" sz="2339"/>
            </a:p>
          </p:txBody>
        </p:sp>
        <p:sp>
          <p:nvSpPr>
            <p:cNvPr id="274" name="R6" descr="t140">
              <a:extLst>
                <a:ext uri="{FF2B5EF4-FFF2-40B4-BE49-F238E27FC236}">
                  <ns2:creationId id="{113F56AE-00EB-4C21-B05D-945A13E41A9D}"/>
                </a:ext>
              </a:extLst>
            </p:cNvPr>
            <p:cNvSpPr>
              <a:spLocks noGrp="1"/>
            </p:cNvSpPr>
            <p:nvPr/>
          </p:nvSpPr>
          <p:spPr>
            <a:xfrm>
              <a:off x="20253979" y="20470392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</p:grpSp>
      <p:grpSp>
        <p:nvGrpSpPr>
          <p:cNvPr id="541" name="9. Results: OCR robustness"/>
          <p:cNvGrpSpPr/>
          <p:nvPr/>
        </p:nvGrpSpPr>
        <p:grpSpPr>
          <a:xfrm>
            <a:off x="20975241" y="1351657"/>
            <a:ext cx="9012734" cy="3960316"/>
            <a:chOff x="20975241" y="1351657"/>
            <a:chExt cx="9012734" cy="3960316"/>
          </a:xfrm>
        </p:grpSpPr>
        <p:sp>
          <p:nvSpPr>
            <p:cNvPr id="42" name="Panel H2" descr="s41">
              <a:extLst>
                <a:ext uri="{FF2B5EF4-FFF2-40B4-BE49-F238E27FC236}">
                  <ns2:creationId id="{16B8440A-A9D5-4E50-9D60-588476A2A5CA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351657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43" name="Panel content" descr="s42">
              <a:extLst>
                <a:ext uri="{FF2B5EF4-FFF2-40B4-BE49-F238E27FC236}">
                  <ns2:creationId id="{8DAA5623-17C3-4964-800A-FEBACF3EA989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868984"/>
              <a:ext cx="9012734" cy="3442990"/>
            </a:xfrm>
            <a:custGeom>
              <a:avLst/>
              <a:gdLst/>
              <a:ahLst/>
              <a:cxnLst/>
              <a:rect l="0" t="0" r="r" b="b"/>
              <a:pathLst>
                <a:path w="946219" h="361469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52469"/>
                  </a:lnTo>
                  <a:cubicBezTo>
                    <a:pt x="946219" y="357439"/>
                    <a:pt x="942189" y="361469"/>
                    <a:pt x="937219" y="361469"/>
                  </a:cubicBezTo>
                  <a:lnTo>
                    <a:pt x="9000" y="361469"/>
                  </a:lnTo>
                  <a:cubicBezTo>
                    <a:pt x="4029" y="361469"/>
                    <a:pt x="0" y="357439"/>
                    <a:pt x="0" y="35246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grpSp>
          <p:nvGrpSpPr>
            <p:cNvPr id="540" name="ocr-bars"/>
            <p:cNvGrpSpPr/>
            <p:nvPr/>
          </p:nvGrpSpPr>
          <p:grpSpPr>
            <a:xfrm>
              <a:off x="21137166" y="2398068"/>
              <a:ext cx="8688884" cy="2073920"/>
              <a:chOff x="21137166" y="2398068"/>
              <a:chExt cx="8688884" cy="2073920"/>
            </a:xfrm>
          </p:grpSpPr>
          <p:sp>
            <p:nvSpPr>
              <p:cNvPr id="44" name="Panel track" descr="s43">
                <a:extLst>
                  <a:ext uri="{FF2B5EF4-FFF2-40B4-BE49-F238E27FC236}">
                    <ns2:creationId id="{2D416C05-FE10-4A42-B64F-1D26E00B25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729359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5" name="Panel bar" descr="s44">
                <a:extLst>
                  <a:ext uri="{FF2B5EF4-FFF2-40B4-BE49-F238E27FC236}">
                    <ns2:creationId id="{A41AEB4A-0277-4F22-AE69-E7DB886BF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729359"/>
                <a:ext cx="5171033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46" name="Panel track" descr="s45">
                <a:extLst>
                  <a:ext uri="{FF2B5EF4-FFF2-40B4-BE49-F238E27FC236}">
                    <ns2:creationId id="{309B391C-5F7B-49D3-A978-4F77B98214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327350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7" name="Panel bar" descr="s46">
                <a:extLst>
                  <a:ext uri="{FF2B5EF4-FFF2-40B4-BE49-F238E27FC236}">
                    <ns2:creationId id="{5ECAA590-6082-4FB4-8756-D1BEF8C8BE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327350"/>
                <a:ext cx="3652838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48" name="Panel track" descr="s47">
                <a:extLst>
                  <a:ext uri="{FF2B5EF4-FFF2-40B4-BE49-F238E27FC236}">
                    <ns2:creationId id="{4673F160-39C5-4AA4-8E9E-6308821DCE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925342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9" name="Panel bar" descr="s48">
                <a:extLst>
                  <a:ext uri="{FF2B5EF4-FFF2-40B4-BE49-F238E27FC236}">
                    <ns2:creationId id="{24BEE708-0152-43B9-95CB-9C9FE03ADD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925342"/>
                <a:ext cx="4997053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277" name="Original corpus · R0" descr="t143">
                <a:extLst>
                  <a:ext uri="{FF2B5EF4-FFF2-40B4-BE49-F238E27FC236}">
                    <ns2:creationId id="{BA111EDD-9E8D-41AD-ABD9-2601351FA8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368582"/>
                <a:ext cx="1906178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Original corpus · R0</a:t>
                </a:r>
                <a:endParaRPr lang="en-GB" sz="2200"/>
              </a:p>
            </p:txBody>
          </p:sp>
          <p:sp>
            <p:nvSpPr>
              <p:cNvPr id="278" name="Mixed corpus (original + synthetic scans) · R0" descr="t144">
                <a:extLst>
                  <a:ext uri="{FF2B5EF4-FFF2-40B4-BE49-F238E27FC236}">
                    <ns2:creationId id="{CE3C7885-CABB-4D17-A704-DB7175B471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968657"/>
                <a:ext cx="4332622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Mixed corpus (original + synthetic scans) · R0</a:t>
                </a:r>
                <a:endParaRPr lang="en-GB" sz="2200"/>
              </a:p>
            </p:txBody>
          </p:sp>
          <p:sp>
            <p:nvSpPr>
              <p:cNvPr id="279" name="Mixed corpus + OCR · R1" descr="t145">
                <a:extLst>
                  <a:ext uri="{FF2B5EF4-FFF2-40B4-BE49-F238E27FC236}">
                    <ns2:creationId id="{15ACFEB9-0AE8-4E0A-BC54-0703DE45DF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559207"/>
                <a:ext cx="2276039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Mixed corpus + OCR · R1</a:t>
                </a:r>
                <a:endParaRPr lang="en-GB" sz="2200"/>
              </a:p>
            </p:txBody>
          </p:sp>
          <p:sp>
            <p:nvSpPr>
              <p:cNvPr id="280" name="0" descr="t146">
                <a:extLst>
                  <a:ext uri="{FF2B5EF4-FFF2-40B4-BE49-F238E27FC236}">
                    <ns2:creationId id="{29AA0F10-7148-420B-B9E7-C2B2D38024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4162425"/>
                <a:ext cx="175564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0</a:t>
                </a:r>
                <a:endParaRPr lang="en-GB" sz="2100"/>
              </a:p>
            </p:txBody>
          </p:sp>
          <p:sp>
            <p:nvSpPr>
              <p:cNvPr id="281" name="50" descr="t147">
                <a:extLst>
                  <a:ext uri="{FF2B5EF4-FFF2-40B4-BE49-F238E27FC236}">
                    <ns2:creationId id="{9920BB56-59CE-4BB6-B83C-5FDD5D7EC86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779288" y="4162425"/>
                <a:ext cx="284646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50</a:t>
                </a:r>
                <a:endParaRPr lang="en-GB" sz="2100"/>
              </a:p>
            </p:txBody>
          </p:sp>
          <p:sp>
            <p:nvSpPr>
              <p:cNvPr id="282" name="100%" descr="t148">
                <a:extLst>
                  <a:ext uri="{FF2B5EF4-FFF2-40B4-BE49-F238E27FC236}">
                    <ns2:creationId id="{1D345E19-6499-4E07-99EE-E10541C0AD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530500" y="4162425"/>
                <a:ext cx="570551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100%</a:t>
                </a:r>
                <a:endParaRPr lang="en-GB" sz="2100"/>
              </a:p>
            </p:txBody>
          </p:sp>
          <p:sp>
            <p:nvSpPr>
              <p:cNvPr id="400" name="65.4" descr="t266">
                <a:extLst>
                  <a:ext uri="{FF2B5EF4-FFF2-40B4-BE49-F238E27FC236}">
                    <ns2:creationId id="{9E829721-7239-449F-83D4-65F931A124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384399" y="2651189"/>
                <a:ext cx="520281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65.4</a:t>
                </a:r>
                <a:endParaRPr lang="en-GB" sz="2299"/>
              </a:p>
            </p:txBody>
          </p:sp>
          <p:sp>
            <p:nvSpPr>
              <p:cNvPr id="401" name="46.2" descr="t267">
                <a:extLst>
                  <a:ext uri="{FF2B5EF4-FFF2-40B4-BE49-F238E27FC236}">
                    <ns2:creationId id="{65929D98-A525-4AD5-BDF7-C39939C6DD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866203" y="3241739"/>
                <a:ext cx="519987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46.2</a:t>
                </a:r>
                <a:endParaRPr lang="en-GB" sz="2299"/>
              </a:p>
            </p:txBody>
          </p:sp>
          <p:sp>
            <p:nvSpPr>
              <p:cNvPr id="402" name="63.2" descr="t268">
                <a:extLst>
                  <a:ext uri="{FF2B5EF4-FFF2-40B4-BE49-F238E27FC236}">
                    <ns2:creationId id="{B66E8D36-5D2A-4869-98C1-027043ECC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210419" y="3841814"/>
                <a:ext cx="505972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63.2</a:t>
                </a:r>
                <a:endParaRPr lang="en-GB" sz="2299"/>
              </a:p>
            </p:txBody>
          </p:sp>
        </p:grpSp>
        <p:sp>
          <p:nvSpPr>
            <p:cNvPr id="275" name="9. Results: OCR robustness" descr="t141">
              <a:extLst>
                <a:ext uri="{FF2B5EF4-FFF2-40B4-BE49-F238E27FC236}">
                  <ns2:creationId id="{99E273F0-B60F-40FD-935B-5D31C4EB8196}"/>
                </a:ext>
              </a:extLst>
            </p:cNvPr>
            <p:cNvSpPr>
              <a:spLocks noGrp="1"/>
            </p:cNvSpPr>
            <p:nvPr/>
          </p:nvSpPr>
          <p:spPr>
            <a:xfrm>
              <a:off x="21108591" y="1397032"/>
              <a:ext cx="3597148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9. Results: OCR robustness</a:t>
              </a:r>
              <a:endParaRPr lang="en-GB" sz="2800"/>
            </a:p>
          </p:txBody>
        </p:sp>
        <p:sp>
          <p:nvSpPr>
            <p:cNvPr id="276" name="OCR recovers performance on scanned documents" descr="t142">
              <a:extLst>
                <a:ext uri="{FF2B5EF4-FFF2-40B4-BE49-F238E27FC236}">
                  <ns2:creationId id="{54FDD7FB-824D-4010-A108-CC59952B0F4E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943100"/>
              <a:ext cx="563743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OCR recovers performance on scanned documents</a:t>
              </a:r>
              <a:endParaRPr lang="en-GB" sz="2400"/>
            </a:p>
          </p:txBody>
        </p:sp>
        <p:sp>
          <p:nvSpPr>
            <p:cNvPr id="283" name="Converting 10 documents into synthetic scans reduces answer quality fr" descr="t149">
              <a:extLst>
                <a:ext uri="{FF2B5EF4-FFF2-40B4-BE49-F238E27FC236}">
                  <ns2:creationId id="{DAEECB34-EDB2-4B30-AF72-2E3BEF8258F5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4552950"/>
              <a:ext cx="854858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Converting 10 documents into synthetic scans reduces answer quality from 65.4%</a:t>
              </a:r>
              <a:endParaRPr lang="en-GB" sz="2400"/>
            </a:p>
          </p:txBody>
        </p:sp>
        <p:sp>
          <p:nvSpPr>
            <p:cNvPr id="284" name="to 46.2%. OCR restores most of this loss, reaching 63.2%." descr="t150">
              <a:extLst>
                <a:ext uri="{FF2B5EF4-FFF2-40B4-BE49-F238E27FC236}">
                  <ns2:creationId id="{8A488D84-B514-4DD2-A083-F95804D09474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4867275"/>
              <a:ext cx="601660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46.2%. OCR restores most of this loss, reaching 63.2%.</a:t>
              </a:r>
              <a:endParaRPr lang="en-GB" sz="2400"/>
            </a:p>
          </p:txBody>
        </p:sp>
      </p:grpSp>
      <p:grpSp>
        <p:nvGrpSpPr>
          <p:cNvPr id="539" name="10. Results: Hypothesis evaluation"/>
          <p:cNvGrpSpPr/>
          <p:nvPr/>
        </p:nvGrpSpPr>
        <p:grpSpPr>
          <a:xfrm>
            <a:off x="20975241" y="5412581"/>
            <a:ext cx="9012734" cy="3719215"/>
            <a:chOff x="20975241" y="5412581"/>
            <a:chExt cx="9012734" cy="3719215"/>
          </a:xfrm>
        </p:grpSpPr>
        <p:sp>
          <p:nvSpPr>
            <p:cNvPr id="50" name="Panel H2" descr="s49">
              <a:extLst>
                <a:ext uri="{FF2B5EF4-FFF2-40B4-BE49-F238E27FC236}">
                  <ns2:creationId id="{FCE47388-9763-4BC7-88D9-12D3641EFB63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5412581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1" name="Panel content" descr="s50">
              <a:extLst>
                <a:ext uri="{FF2B5EF4-FFF2-40B4-BE49-F238E27FC236}">
                  <ns2:creationId id="{6BFC2851-760F-422A-8253-06B126A0A75F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5929908"/>
              <a:ext cx="9012734" cy="3201888"/>
            </a:xfrm>
            <a:custGeom>
              <a:avLst/>
              <a:gdLst/>
              <a:ahLst/>
              <a:cxnLst/>
              <a:rect l="0" t="0" r="r" b="b"/>
              <a:pathLst>
                <a:path w="946219" h="336156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27156"/>
                  </a:lnTo>
                  <a:cubicBezTo>
                    <a:pt x="946219" y="332127"/>
                    <a:pt x="942189" y="336156"/>
                    <a:pt x="937219" y="336156"/>
                  </a:cubicBezTo>
                  <a:lnTo>
                    <a:pt x="9000" y="336156"/>
                  </a:lnTo>
                  <a:cubicBezTo>
                    <a:pt x="4029" y="336156"/>
                    <a:pt x="0" y="332127"/>
                    <a:pt x="0" y="32715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9E9F1"/>
              </a:solidFill>
            </a:ln>
          </p:spPr>
        </p:sp>
        <p:sp>
          <p:nvSpPr>
            <p:cNvPr id="52" name="Panel hyp-result h1" descr="s51">
              <a:extLst>
                <a:ext uri="{FF2B5EF4-FFF2-40B4-BE49-F238E27FC236}">
                  <ns2:creationId id="{D099235C-26A1-463A-BC5C-0894979CC056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6053733"/>
              <a:ext cx="8765084" cy="1159966"/>
            </a:xfrm>
            <a:custGeom>
              <a:avLst/>
              <a:gdLst/>
              <a:ahLst/>
              <a:cxnLst/>
              <a:rect l="0" t="0" r="r" b="b"/>
              <a:pathLst>
                <a:path w="920219" h="121781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114781"/>
                  </a:lnTo>
                  <a:cubicBezTo>
                    <a:pt x="920219" y="118647"/>
                    <a:pt x="917085" y="121781"/>
                    <a:pt x="913219" y="121781"/>
                  </a:cubicBezTo>
                  <a:lnTo>
                    <a:pt x="7000" y="121781"/>
                  </a:lnTo>
                  <a:cubicBezTo>
                    <a:pt x="3134" y="121781"/>
                    <a:pt x="0" y="118647"/>
                    <a:pt x="0" y="114781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AF4FB"/>
            </a:solidFill>
            <a:ln w="0">
              <a:noFill/>
            </a:ln>
          </p:spPr>
        </p:sp>
        <p:sp>
          <p:nvSpPr>
            <p:cNvPr id="53" name="Panel hyp-result h2" descr="s52">
              <a:extLst>
                <a:ext uri="{FF2B5EF4-FFF2-40B4-BE49-F238E27FC236}">
                  <ns2:creationId id="{9EF43E87-7733-4CB7-B122-D2F2D75D1A55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7270849"/>
              <a:ext cx="8765084" cy="839986"/>
            </a:xfrm>
            <a:custGeom>
              <a:avLst/>
              <a:gdLst/>
              <a:ahLst/>
              <a:cxnLst/>
              <a:rect l="0" t="0" r="r" b="b"/>
              <a:pathLst>
                <a:path w="920219" h="88188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81188"/>
                  </a:lnTo>
                  <a:cubicBezTo>
                    <a:pt x="920219" y="85053"/>
                    <a:pt x="917085" y="88188"/>
                    <a:pt x="913219" y="88188"/>
                  </a:cubicBezTo>
                  <a:lnTo>
                    <a:pt x="7000" y="88188"/>
                  </a:lnTo>
                  <a:cubicBezTo>
                    <a:pt x="3134" y="88188"/>
                    <a:pt x="0" y="85053"/>
                    <a:pt x="0" y="81188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FF7E9"/>
            </a:solidFill>
            <a:ln w="0">
              <a:noFill/>
            </a:ln>
          </p:spPr>
        </p:sp>
        <p:sp>
          <p:nvSpPr>
            <p:cNvPr id="54" name="Panel hyp-result h3" descr="s53">
              <a:extLst>
                <a:ext uri="{FF2B5EF4-FFF2-40B4-BE49-F238E27FC236}">
                  <ns2:creationId id="{6674BC3C-0D19-48B4-AE24-33369D5E082A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8167985"/>
              <a:ext cx="8765084" cy="839986"/>
            </a:xfrm>
            <a:custGeom>
              <a:avLst/>
              <a:gdLst/>
              <a:ahLst/>
              <a:cxnLst/>
              <a:rect l="0" t="0" r="r" b="b"/>
              <a:pathLst>
                <a:path w="920219" h="88188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81188"/>
                  </a:lnTo>
                  <a:cubicBezTo>
                    <a:pt x="920219" y="85053"/>
                    <a:pt x="917085" y="88188"/>
                    <a:pt x="913219" y="88188"/>
                  </a:cubicBezTo>
                  <a:lnTo>
                    <a:pt x="7000" y="88188"/>
                  </a:lnTo>
                  <a:cubicBezTo>
                    <a:pt x="3134" y="88188"/>
                    <a:pt x="0" y="85053"/>
                    <a:pt x="0" y="81188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2EBFA"/>
            </a:solidFill>
            <a:ln w="0">
              <a:noFill/>
            </a:ln>
          </p:spPr>
        </p:sp>
        <p:sp>
          <p:nvSpPr>
            <p:cNvPr id="285" name="10. Results: Hypothesis evaluation" descr="t151">
              <a:extLst>
                <a:ext uri="{FF2B5EF4-FFF2-40B4-BE49-F238E27FC236}">
                  <ns2:creationId id="{C830288A-3E11-45DB-807D-F58AA382CBCA}"/>
                </a:ext>
              </a:extLst>
            </p:cNvPr>
            <p:cNvSpPr>
              <a:spLocks noGrp="1"/>
            </p:cNvSpPr>
            <p:nvPr/>
          </p:nvSpPr>
          <p:spPr>
            <a:xfrm>
              <a:off x="21108591" y="5454682"/>
              <a:ext cx="4548649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10. Results: Hypothesis evaluation</a:t>
              </a:r>
              <a:endParaRPr lang="en-GB" sz="2800"/>
            </a:p>
          </p:txBody>
        </p:sp>
        <p:sp>
          <p:nvSpPr>
            <p:cNvPr id="286" name="H1 — Retrieval &amp; representation" descr="t152">
              <a:extLst>
                <a:ext uri="{FF2B5EF4-FFF2-40B4-BE49-F238E27FC236}">
                  <ns2:creationId id="{F750C180-E1F1-4139-9236-871F9B552722}"/>
                </a:ext>
              </a:extLst>
            </p:cNvPr>
            <p:cNvSpPr>
              <a:spLocks noGrp="1"/>
            </p:cNvSpPr>
            <p:nvPr/>
          </p:nvSpPr>
          <p:spPr>
            <a:xfrm>
              <a:off x="21222891" y="6134100"/>
              <a:ext cx="352608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H1 — Retrieval &amp; representation</a:t>
              </a:r>
              <a:endParaRPr lang="en-GB" sz="2400"/>
            </a:p>
          </p:txBody>
        </p:sp>
        <p:sp>
          <p:nvSpPr>
            <p:cNvPr id="287" name="Partially supported." descr="t153">
              <a:extLst>
                <a:ext uri="{FF2B5EF4-FFF2-40B4-BE49-F238E27FC236}">
                  <ns2:creationId id="{57999790-3D54-47DD-8F5C-BD0B49A17773}"/>
                </a:ext>
              </a:extLst>
            </p:cNvPr>
            <p:cNvSpPr>
              <a:spLocks noGrp="1"/>
            </p:cNvSpPr>
            <p:nvPr/>
          </p:nvSpPr>
          <p:spPr>
            <a:xfrm>
              <a:off x="24848195" y="6134100"/>
              <a:ext cx="223586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Partially supported.</a:t>
              </a:r>
              <a:endParaRPr lang="en-GB" sz="2400"/>
            </a:p>
          </p:txBody>
        </p:sp>
        <p:sp>
          <p:nvSpPr>
            <p:cNvPr id="288" name=" Multi-scale" descr="t154">
              <a:extLst>
                <a:ext uri="{FF2B5EF4-FFF2-40B4-BE49-F238E27FC236}">
                  <ns2:creationId id="{200A1A25-4AAD-4D87-9D3D-31E45612A505}"/>
                </a:ext>
              </a:extLst>
            </p:cNvPr>
            <p:cNvSpPr>
              <a:spLocks noGrp="1"/>
            </p:cNvSpPr>
            <p:nvPr/>
          </p:nvSpPr>
          <p:spPr>
            <a:xfrm>
              <a:off x="27027039" y="6134100"/>
              <a:ext cx="12431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Multi-scale</a:t>
              </a:r>
              <a:endParaRPr lang="en-GB" sz="2400"/>
            </a:p>
          </p:txBody>
        </p:sp>
        <p:sp>
          <p:nvSpPr>
            <p:cNvPr id="289" name="representations alone reduce Q, but adding lexical retrieval and reran" descr="t155">
              <a:extLst>
                <a:ext uri="{FF2B5EF4-FFF2-40B4-BE49-F238E27FC236}">
                  <ns2:creationId id="{1678B759-38FB-4FEF-978E-B5FB8F4F9721}"/>
                </a:ext>
              </a:extLst>
            </p:cNvPr>
            <p:cNvSpPr>
              <a:spLocks noGrp="1"/>
            </p:cNvSpPr>
            <p:nvPr/>
          </p:nvSpPr>
          <p:spPr>
            <a:xfrm>
              <a:off x="21222891" y="6448425"/>
              <a:ext cx="765797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representations alone reduce Q, but adding lexical retrieval and reranking</a:t>
              </a:r>
              <a:endParaRPr lang="en-GB" sz="2400"/>
            </a:p>
          </p:txBody>
        </p:sp>
        <p:sp>
          <p:nvSpPr>
            <p:cNvPr id="290" name="substantially improves answer quality and source-page recall." descr="t156">
              <a:extLst>
                <a:ext uri="{FF2B5EF4-FFF2-40B4-BE49-F238E27FC236}">
                  <ns2:creationId id="{9BFE9856-F922-44A3-BB23-9AFD9F056578}"/>
                </a:ext>
              </a:extLst>
            </p:cNvPr>
            <p:cNvSpPr>
              <a:spLocks noGrp="1"/>
            </p:cNvSpPr>
            <p:nvPr/>
          </p:nvSpPr>
          <p:spPr>
            <a:xfrm>
              <a:off x="21222891" y="6772275"/>
              <a:ext cx="6453094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substantially improves answer quality and source-page recall.</a:t>
              </a:r>
              <a:endParaRPr lang="en-GB" sz="2400"/>
            </a:p>
          </p:txBody>
        </p:sp>
        <p:sp>
          <p:nvSpPr>
            <p:cNvPr id="291" name="H2 — Scan robustness" descr="t157">
              <a:extLst>
                <a:ext uri="{FF2B5EF4-FFF2-40B4-BE49-F238E27FC236}">
                  <ns2:creationId id="{76721F2C-A92C-4121-B831-B0E73101A75C}"/>
                </a:ext>
              </a:extLst>
            </p:cNvPr>
            <p:cNvSpPr>
              <a:spLocks noGrp="1"/>
            </p:cNvSpPr>
            <p:nvPr/>
          </p:nvSpPr>
          <p:spPr>
            <a:xfrm>
              <a:off x="21222891" y="7343775"/>
              <a:ext cx="247482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H2 — Scan robustness</a:t>
              </a:r>
              <a:endParaRPr lang="en-GB" sz="2400"/>
            </a:p>
          </p:txBody>
        </p:sp>
        <p:sp>
          <p:nvSpPr>
            <p:cNvPr id="292" name="Supported." descr="t158">
              <a:extLst>
                <a:ext uri="{FF2B5EF4-FFF2-40B4-BE49-F238E27FC236}">
                  <ns2:creationId id="{D86A6FEA-7AF5-41D3-8BF3-7D27A6976E94}"/>
                </a:ext>
              </a:extLst>
            </p:cNvPr>
            <p:cNvSpPr>
              <a:spLocks noGrp="1"/>
            </p:cNvSpPr>
            <p:nvPr/>
          </p:nvSpPr>
          <p:spPr>
            <a:xfrm>
              <a:off x="23796873" y="7343775"/>
              <a:ext cx="126050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Supported.</a:t>
              </a:r>
              <a:endParaRPr lang="en-GB" sz="2400"/>
            </a:p>
          </p:txBody>
        </p:sp>
        <p:sp>
          <p:nvSpPr>
            <p:cNvPr id="293" name=" OCR restores most of the answer-quality loss" descr="t159">
              <a:extLst>
                <a:ext uri="{FF2B5EF4-FFF2-40B4-BE49-F238E27FC236}">
                  <ns2:creationId id="{71530DDE-BBFD-4E13-AB6C-E68E1FE99E36}"/>
                </a:ext>
              </a:extLst>
            </p:cNvPr>
            <p:cNvSpPr>
              <a:spLocks noGrp="1"/>
            </p:cNvSpPr>
            <p:nvPr/>
          </p:nvSpPr>
          <p:spPr>
            <a:xfrm>
              <a:off x="25000297" y="7343775"/>
              <a:ext cx="475717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OCR restores most of the answer-quality loss</a:t>
              </a:r>
              <a:endParaRPr lang="en-GB" sz="2400"/>
            </a:p>
          </p:txBody>
        </p:sp>
        <p:sp>
          <p:nvSpPr>
            <p:cNvPr id="294" name="caused by removing the machine-readable text layer." descr="t160">
              <a:extLst>
                <a:ext uri="{FF2B5EF4-FFF2-40B4-BE49-F238E27FC236}">
                  <ns2:creationId id="{125179A3-BFE8-4847-822E-317FE890EC4C}"/>
                </a:ext>
              </a:extLst>
            </p:cNvPr>
            <p:cNvSpPr>
              <a:spLocks noGrp="1"/>
            </p:cNvSpPr>
            <p:nvPr/>
          </p:nvSpPr>
          <p:spPr>
            <a:xfrm>
              <a:off x="21222891" y="7667625"/>
              <a:ext cx="555635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caused by removing the machine-readable text layer.</a:t>
              </a:r>
              <a:endParaRPr lang="en-GB" sz="2400"/>
            </a:p>
          </p:txBody>
        </p:sp>
        <p:sp>
          <p:nvSpPr>
            <p:cNvPr id="295" name="H3 — Citation selection" descr="t161">
              <a:extLst>
                <a:ext uri="{FF2B5EF4-FFF2-40B4-BE49-F238E27FC236}">
                  <ns2:creationId id="{5E170E0F-9D6A-4CFB-BD74-50EC4D6ED34D}"/>
                </a:ext>
              </a:extLst>
            </p:cNvPr>
            <p:cNvSpPr>
              <a:spLocks noGrp="1"/>
            </p:cNvSpPr>
            <p:nvPr/>
          </p:nvSpPr>
          <p:spPr>
            <a:xfrm>
              <a:off x="21222891" y="8248650"/>
              <a:ext cx="2571144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H3 — Citation selection</a:t>
              </a:r>
              <a:endParaRPr lang="en-GB" sz="2400"/>
            </a:p>
          </p:txBody>
        </p:sp>
        <p:sp>
          <p:nvSpPr>
            <p:cNvPr id="296" name="Supported with a trade-off." descr="t162">
              <a:extLst>
                <a:ext uri="{FF2B5EF4-FFF2-40B4-BE49-F238E27FC236}">
                  <ns2:creationId id="{DB84FAEB-4300-4400-8932-15AECA4F5383}"/>
                </a:ext>
              </a:extLst>
            </p:cNvPr>
            <p:cNvSpPr>
              <a:spLocks noGrp="1"/>
            </p:cNvSpPr>
            <p:nvPr/>
          </p:nvSpPr>
          <p:spPr>
            <a:xfrm>
              <a:off x="23893165" y="8248650"/>
              <a:ext cx="306552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Supported with a trade-off.</a:t>
              </a:r>
              <a:endParaRPr lang="en-GB" sz="2400"/>
            </a:p>
          </p:txBody>
        </p:sp>
        <p:sp>
          <p:nvSpPr>
            <p:cNvPr id="297" name=" Precision rises from 27.1%" descr="t163">
              <a:extLst>
                <a:ext uri="{FF2B5EF4-FFF2-40B4-BE49-F238E27FC236}">
                  <ns2:creationId id="{106E98AC-87A3-424F-8636-F7CA3CCDE543}"/>
                </a:ext>
              </a:extLst>
            </p:cNvPr>
            <p:cNvSpPr>
              <a:spLocks noGrp="1"/>
            </p:cNvSpPr>
            <p:nvPr/>
          </p:nvSpPr>
          <p:spPr>
            <a:xfrm>
              <a:off x="26901577" y="8248650"/>
              <a:ext cx="285826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Precision rises from 27.1%</a:t>
              </a:r>
              <a:endParaRPr lang="en-GB" sz="2400"/>
            </a:p>
          </p:txBody>
        </p:sp>
        <p:sp>
          <p:nvSpPr>
            <p:cNvPr id="298" name="to 61.8%, while recall decreases moderately from 78.9% to 74.7%." descr="t164">
              <a:extLst>
                <a:ext uri="{FF2B5EF4-FFF2-40B4-BE49-F238E27FC236}">
                  <ns2:creationId id="{29728C0E-AE31-43BC-98BF-A77BEC843EA3}"/>
                </a:ext>
              </a:extLst>
            </p:cNvPr>
            <p:cNvSpPr>
              <a:spLocks noGrp="1"/>
            </p:cNvSpPr>
            <p:nvPr/>
          </p:nvSpPr>
          <p:spPr>
            <a:xfrm>
              <a:off x="21222891" y="8562975"/>
              <a:ext cx="688406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61.8%, while recall decreases moderately from 78.9% to 74.7%.</a:t>
              </a:r>
              <a:endParaRPr lang="en-GB" sz="2400"/>
            </a:p>
          </p:txBody>
        </p:sp>
      </p:grpSp>
      <p:grpSp>
        <p:nvGrpSpPr>
          <p:cNvPr id="538" name="11. Conclusion and takeaways"/>
          <p:cNvGrpSpPr/>
          <p:nvPr/>
        </p:nvGrpSpPr>
        <p:grpSpPr>
          <a:xfrm>
            <a:off x="20975241" y="9232404"/>
            <a:ext cx="9012734" cy="6221909"/>
            <a:chOff x="20975241" y="9232404"/>
            <a:chExt cx="9012734" cy="6221909"/>
          </a:xfrm>
        </p:grpSpPr>
        <p:sp>
          <p:nvSpPr>
            <p:cNvPr id="55" name="Panel H2" descr="s54">
              <a:extLst>
                <a:ext uri="{FF2B5EF4-FFF2-40B4-BE49-F238E27FC236}">
                  <ns2:creationId id="{9E5E4B37-E368-4F90-AFA6-D0AB3852BA03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9232404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6" name="Panel content" descr="s55">
              <a:extLst>
                <a:ext uri="{FF2B5EF4-FFF2-40B4-BE49-F238E27FC236}">
                  <ns2:creationId id="{C724D722-91D8-435B-9976-7C53255D73AD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9749730"/>
              <a:ext cx="9012734" cy="5704582"/>
            </a:xfrm>
            <a:custGeom>
              <a:avLst/>
              <a:gdLst/>
              <a:ahLst/>
              <a:cxnLst/>
              <a:rect l="0" t="0" r="r" b="b"/>
              <a:pathLst>
                <a:path w="946219" h="598906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589906"/>
                  </a:lnTo>
                  <a:cubicBezTo>
                    <a:pt x="946219" y="594877"/>
                    <a:pt x="942189" y="598906"/>
                    <a:pt x="937219" y="598906"/>
                  </a:cubicBezTo>
                  <a:lnTo>
                    <a:pt x="9000" y="598906"/>
                  </a:lnTo>
                  <a:cubicBezTo>
                    <a:pt x="4029" y="598906"/>
                    <a:pt x="0" y="594877"/>
                    <a:pt x="0" y="58990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57" name="Panel main-takeaway" descr="s56">
              <a:extLst>
                <a:ext uri="{FF2B5EF4-FFF2-40B4-BE49-F238E27FC236}">
                  <ns2:creationId id="{7F4ADE35-E8CF-4290-A4B5-E7F43564B0E7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9844980"/>
              <a:ext cx="8688884" cy="1866602"/>
            </a:xfrm>
            <a:custGeom>
              <a:avLst/>
              <a:gdLst/>
              <a:ahLst/>
              <a:cxnLst/>
              <a:rect l="0" t="0" r="r" b="b"/>
              <a:pathLst>
                <a:path w="912219" h="195969">
                  <a:moveTo>
                    <a:pt x="8000" y="0"/>
                  </a:moveTo>
                  <a:lnTo>
                    <a:pt x="904219" y="0"/>
                  </a:lnTo>
                  <a:cubicBezTo>
                    <a:pt x="908637" y="0"/>
                    <a:pt x="912219" y="3582"/>
                    <a:pt x="912219" y="8000"/>
                  </a:cubicBezTo>
                  <a:lnTo>
                    <a:pt x="912219" y="187969"/>
                  </a:lnTo>
                  <a:cubicBezTo>
                    <a:pt x="912219" y="192387"/>
                    <a:pt x="908637" y="195969"/>
                    <a:pt x="904219" y="195969"/>
                  </a:cubicBezTo>
                  <a:lnTo>
                    <a:pt x="8000" y="195969"/>
                  </a:lnTo>
                  <a:cubicBezTo>
                    <a:pt x="3582" y="195969"/>
                    <a:pt x="0" y="192387"/>
                    <a:pt x="0" y="187969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075C91"/>
            </a:solidFill>
            <a:ln w="0">
              <a:noFill/>
            </a:ln>
          </p:spPr>
        </p:sp>
        <p:sp>
          <p:nvSpPr>
            <p:cNvPr id="58" name="Rule" descr="s57">
              <a:extLst>
                <a:ext uri="{FF2B5EF4-FFF2-40B4-BE49-F238E27FC236}">
                  <ns2:creationId id="{8428B80F-8F7B-46E1-9390-240B21AAA230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4614327"/>
              <a:ext cx="8688884" cy="9525"/>
            </a:xfrm>
            <a:prstGeom prst="rect">
              <a:avLst/>
            </a:prstGeom>
            <a:solidFill>
              <a:srgbClr val="C8DCE7"/>
            </a:solidFill>
            <a:ln w="0">
              <a:noFill/>
            </a:ln>
          </p:spPr>
        </p:sp>
        <p:sp>
          <p:nvSpPr>
            <p:cNvPr id="299" name="11. Conclusion and takeaways" descr="t165">
              <a:extLst>
                <a:ext uri="{FF2B5EF4-FFF2-40B4-BE49-F238E27FC236}">
                  <ns2:creationId id="{213DAE21-DDDF-44B0-85E1-B93F93318547}"/>
                </a:ext>
              </a:extLst>
            </p:cNvPr>
            <p:cNvSpPr>
              <a:spLocks noGrp="1"/>
            </p:cNvSpPr>
            <p:nvPr/>
          </p:nvSpPr>
          <p:spPr>
            <a:xfrm>
              <a:off x="21108591" y="9274207"/>
              <a:ext cx="3915346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11. Conclusion and takeaways</a:t>
              </a:r>
              <a:endParaRPr lang="en-GB" sz="2800"/>
            </a:p>
          </p:txBody>
        </p:sp>
        <p:sp>
          <p:nvSpPr>
            <p:cNvPr id="300" name="Legal RAG should be designed as a multi-stage pipeline: OCR improves" descr="t166">
              <a:extLst>
                <a:ext uri="{FF2B5EF4-FFF2-40B4-BE49-F238E27FC236}">
                  <ns2:creationId id="{43EF8139-43D4-41A3-A9A2-AF11E5A9DD22}"/>
                </a:ext>
              </a:extLst>
            </p:cNvPr>
            <p:cNvSpPr>
              <a:spLocks noGrp="1"/>
            </p:cNvSpPr>
            <p:nvPr/>
          </p:nvSpPr>
          <p:spPr>
            <a:xfrm>
              <a:off x="21270516" y="9953625"/>
              <a:ext cx="729616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Legal RAG should be designed as a multi-stage pipeline: OCR improves</a:t>
              </a:r>
              <a:endParaRPr lang="en-GB" sz="2400"/>
            </a:p>
          </p:txBody>
        </p:sp>
        <p:sp>
          <p:nvSpPr>
            <p:cNvPr id="301" name="robustness to unreadable PDFs, hybrid retrieval and reranking improve " descr="t167">
              <a:extLst>
                <a:ext uri="{FF2B5EF4-FFF2-40B4-BE49-F238E27FC236}">
                  <ns2:creationId id="{23EAD2E8-1EAD-45AE-8532-3745D54842BE}"/>
                </a:ext>
              </a:extLst>
            </p:cNvPr>
            <p:cNvSpPr>
              <a:spLocks noGrp="1"/>
            </p:cNvSpPr>
            <p:nvPr/>
          </p:nvSpPr>
          <p:spPr>
            <a:xfrm>
              <a:off x="21270516" y="10267950"/>
              <a:ext cx="814931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robustness to unreadable PDFs, hybrid retrieval and reranking improve answer</a:t>
              </a:r>
              <a:endParaRPr lang="en-GB" sz="2400"/>
            </a:p>
          </p:txBody>
        </p:sp>
        <p:sp>
          <p:nvSpPr>
            <p:cNvPr id="302" name="quality, and post-answer citation selection improves citation precisio" descr="t168">
              <a:extLst>
                <a:ext uri="{FF2B5EF4-FFF2-40B4-BE49-F238E27FC236}">
                  <ns2:creationId id="{52A11CB8-1769-4A32-85DD-2BA3CC97134B}"/>
                </a:ext>
              </a:extLst>
            </p:cNvPr>
            <p:cNvSpPr>
              <a:spLocks noGrp="1"/>
            </p:cNvSpPr>
            <p:nvPr/>
          </p:nvSpPr>
          <p:spPr>
            <a:xfrm>
              <a:off x="21270516" y="10591800"/>
              <a:ext cx="840106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quality, and post-answer citation selection improves citation precision. However,</a:t>
              </a:r>
              <a:endParaRPr lang="en-GB" sz="2400"/>
            </a:p>
          </p:txBody>
        </p:sp>
        <p:sp>
          <p:nvSpPr>
            <p:cNvPr id="303" name="citation selection introduces a precision–recall trade-off, so answer " descr="t169">
              <a:extLst>
                <a:ext uri="{FF2B5EF4-FFF2-40B4-BE49-F238E27FC236}">
                  <ns2:creationId id="{71FD2C59-FE01-40DF-AD1D-9597B6E7D7DF}"/>
                </a:ext>
              </a:extLst>
            </p:cNvPr>
            <p:cNvSpPr>
              <a:spLocks noGrp="1"/>
            </p:cNvSpPr>
            <p:nvPr/>
          </p:nvSpPr>
          <p:spPr>
            <a:xfrm>
              <a:off x="21270516" y="10906125"/>
              <a:ext cx="82782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citation selection introduces a precision–recall trade-off, so answer quality and</a:t>
              </a:r>
              <a:endParaRPr lang="en-GB" sz="2400"/>
            </a:p>
          </p:txBody>
        </p:sp>
        <p:sp>
          <p:nvSpPr>
            <p:cNvPr id="304" name="citation quality should be optimized and evaluated separately." descr="t170">
              <a:extLst>
                <a:ext uri="{FF2B5EF4-FFF2-40B4-BE49-F238E27FC236}">
                  <ns2:creationId id="{8A564B3F-3E1E-47B3-8C82-E39E5D6972A1}"/>
                </a:ext>
              </a:extLst>
            </p:cNvPr>
            <p:cNvSpPr>
              <a:spLocks noGrp="1"/>
            </p:cNvSpPr>
            <p:nvPr/>
          </p:nvSpPr>
          <p:spPr>
            <a:xfrm>
              <a:off x="21270516" y="11229975"/>
              <a:ext cx="646405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citation quality should be optimized and evaluated separately.</a:t>
              </a:r>
              <a:endParaRPr lang="en-GB" sz="2400"/>
            </a:p>
          </p:txBody>
        </p:sp>
        <p:sp>
          <p:nvSpPr>
            <p:cNvPr id="305" name="1 · Ensure document robustness" descr="t171">
              <a:extLst>
                <a:ext uri="{FF2B5EF4-FFF2-40B4-BE49-F238E27FC236}">
                  <ns2:creationId id="{BECAB606-F880-4921-AC7E-CCBE6A015F5A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1782425"/>
              <a:ext cx="355411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1 · Ensure document robustness</a:t>
              </a:r>
              <a:endParaRPr lang="en-GB" sz="2400"/>
            </a:p>
          </p:txBody>
        </p:sp>
        <p:sp>
          <p:nvSpPr>
            <p:cNvPr id="306" name=" OCR provides robustness when machine-" descr="t172">
              <a:extLst>
                <a:ext uri="{FF2B5EF4-FFF2-40B4-BE49-F238E27FC236}">
                  <ns2:creationId id="{4064B21F-9CB1-43DC-89C2-412FBE49FF31}"/>
                </a:ext>
              </a:extLst>
            </p:cNvPr>
            <p:cNvSpPr>
              <a:spLocks noGrp="1"/>
            </p:cNvSpPr>
            <p:nvPr/>
          </p:nvSpPr>
          <p:spPr>
            <a:xfrm>
              <a:off x="24710380" y="11782425"/>
              <a:ext cx="43372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OCR provides robustness when machine-</a:t>
              </a:r>
              <a:endParaRPr lang="en-GB" sz="2400"/>
            </a:p>
          </p:txBody>
        </p:sp>
        <p:sp>
          <p:nvSpPr>
            <p:cNvPr id="307" name="readable text is unavailable. It recovered most of the performance los" descr="t173">
              <a:extLst>
                <a:ext uri="{FF2B5EF4-FFF2-40B4-BE49-F238E27FC236}">
                  <ns2:creationId id="{E6278E60-EE3A-4F9F-A359-E84DD34F238E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2096750"/>
              <a:ext cx="854980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readable text is unavailable. It recovered most of the performance loss introduced</a:t>
              </a:r>
              <a:endParaRPr lang="en-GB" sz="2400"/>
            </a:p>
          </p:txBody>
        </p:sp>
        <p:sp>
          <p:nvSpPr>
            <p:cNvPr id="308" name="by synthetic scans." descr="t174">
              <a:extLst>
                <a:ext uri="{FF2B5EF4-FFF2-40B4-BE49-F238E27FC236}">
                  <ns2:creationId id="{A57DCACD-6660-472F-BFA5-1F7568E204FE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2420600"/>
              <a:ext cx="203622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by synthetic scans.</a:t>
              </a:r>
              <a:endParaRPr lang="en-GB" sz="2400"/>
            </a:p>
          </p:txBody>
        </p:sp>
        <p:sp>
          <p:nvSpPr>
            <p:cNvPr id="309" name="2 · Optimize retrieval" descr="t175">
              <a:extLst>
                <a:ext uri="{FF2B5EF4-FFF2-40B4-BE49-F238E27FC236}">
                  <ns2:creationId id="{BAA31426-3D38-4739-875F-A95A756101C9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2811125"/>
              <a:ext cx="233705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2 · Optimize retrieval</a:t>
              </a:r>
              <a:endParaRPr lang="en-GB" sz="2400"/>
            </a:p>
          </p:txBody>
        </p:sp>
        <p:sp>
          <p:nvSpPr>
            <p:cNvPr id="310" name=" Hybrid retrieval and reranking produced the largest" descr="t176">
              <a:extLst>
                <a:ext uri="{FF2B5EF4-FFF2-40B4-BE49-F238E27FC236}">
                  <ns2:creationId id="{6F1093D9-A09F-4A25-81C8-481FA67A6E0C}"/>
                </a:ext>
              </a:extLst>
            </p:cNvPr>
            <p:cNvSpPr>
              <a:spLocks noGrp="1"/>
            </p:cNvSpPr>
            <p:nvPr/>
          </p:nvSpPr>
          <p:spPr>
            <a:xfrm>
              <a:off x="23493413" y="12811125"/>
              <a:ext cx="541926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Hybrid retrieval and reranking produced the largest</a:t>
              </a:r>
              <a:endParaRPr lang="en-GB" sz="2400"/>
            </a:p>
          </p:txBody>
        </p:sp>
        <p:sp>
          <p:nvSpPr>
            <p:cNvPr id="311" name="observed gains in answer quality. Additional representation complexity" descr="t177">
              <a:extLst>
                <a:ext uri="{FF2B5EF4-FFF2-40B4-BE49-F238E27FC236}">
                  <ns2:creationId id="{EB8C7455-9800-4FAC-A32E-FCF7EC0D6A8B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3134975"/>
              <a:ext cx="815082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observed gains in answer quality. Additional representation complexity did not</a:t>
              </a:r>
              <a:endParaRPr lang="en-GB" sz="2400"/>
            </a:p>
          </p:txBody>
        </p:sp>
        <p:sp>
          <p:nvSpPr>
            <p:cNvPr id="312" name="consistently improve performance." descr="t178">
              <a:extLst>
                <a:ext uri="{FF2B5EF4-FFF2-40B4-BE49-F238E27FC236}">
                  <ns2:creationId id="{1C3B4AF9-D2C5-4692-8F88-3FF3358A0C21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3458825"/>
              <a:ext cx="366934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consistently improve performance.</a:t>
              </a:r>
              <a:endParaRPr lang="en-GB" sz="2400"/>
            </a:p>
          </p:txBody>
        </p:sp>
        <p:sp>
          <p:nvSpPr>
            <p:cNvPr id="313" name="3 · Optimize citations separately" descr="t179">
              <a:extLst>
                <a:ext uri="{FF2B5EF4-FFF2-40B4-BE49-F238E27FC236}">
                  <ns2:creationId id="{1EBC80FB-7FFB-4C42-89CC-2DE7F8176A0F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3849350"/>
              <a:ext cx="361173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3 · Optimize citations separately</a:t>
              </a:r>
              <a:endParaRPr lang="en-GB" sz="2400"/>
            </a:p>
          </p:txBody>
        </p:sp>
        <p:sp>
          <p:nvSpPr>
            <p:cNvPr id="314" name=" Post-answer citation selection substantially" descr="t180">
              <a:extLst>
                <a:ext uri="{FF2B5EF4-FFF2-40B4-BE49-F238E27FC236}">
                  <ns2:creationId id="{CFC54292-AEE4-4E8C-8510-2CAFFF5802E1}"/>
                </a:ext>
              </a:extLst>
            </p:cNvPr>
            <p:cNvSpPr>
              <a:spLocks noGrp="1"/>
            </p:cNvSpPr>
            <p:nvPr/>
          </p:nvSpPr>
          <p:spPr>
            <a:xfrm>
              <a:off x="24767977" y="13849350"/>
              <a:ext cx="464810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Post-answer citation selection substantially</a:t>
              </a:r>
              <a:endParaRPr lang="en-GB" sz="2400"/>
            </a:p>
          </p:txBody>
        </p:sp>
        <p:sp>
          <p:nvSpPr>
            <p:cNvPr id="315" name="increased precision, with a small reduction in recall." descr="t181">
              <a:extLst>
                <a:ext uri="{FF2B5EF4-FFF2-40B4-BE49-F238E27FC236}">
                  <ns2:creationId id="{36306B5B-B5AC-4EC0-A095-2CCB30642A47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4173200"/>
              <a:ext cx="544328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increased precision, with a small reduction in recall.</a:t>
              </a:r>
              <a:endParaRPr lang="en-GB" sz="2400"/>
            </a:p>
          </p:txBody>
        </p:sp>
        <p:sp>
          <p:nvSpPr>
            <p:cNvPr id="316" name="Unexpected outcome:" descr="t182">
              <a:extLst>
                <a:ext uri="{FF2B5EF4-FFF2-40B4-BE49-F238E27FC236}">
                  <ns2:creationId id="{BDDCA4F5-015C-4D46-B7C5-B2D30B9BD1C1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4687550"/>
              <a:ext cx="247329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Unexpected outcome:</a:t>
              </a:r>
              <a:endParaRPr lang="en-GB" sz="2400"/>
            </a:p>
          </p:txBody>
        </p:sp>
        <p:sp>
          <p:nvSpPr>
            <p:cNvPr id="317" name=" Multi-scale representations did not improve performance; Q" descr="t183">
              <a:extLst>
                <a:ext uri="{FF2B5EF4-FFF2-40B4-BE49-F238E27FC236}">
                  <ns2:creationId id="{EBB8D42B-3271-4B03-A021-840F8A763BBF}"/>
                </a:ext>
              </a:extLst>
            </p:cNvPr>
            <p:cNvSpPr>
              <a:spLocks noGrp="1"/>
            </p:cNvSpPr>
            <p:nvPr/>
          </p:nvSpPr>
          <p:spPr>
            <a:xfrm>
              <a:off x="23553390" y="14687550"/>
              <a:ext cx="628513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Multi-scale representations did not improve performance; Q</a:t>
              </a:r>
              <a:endParaRPr lang="en-GB" sz="2400"/>
            </a:p>
          </p:txBody>
        </p:sp>
        <p:sp>
          <p:nvSpPr>
            <p:cNvPr id="318" name="decreased from 63.2% to 49.8% after R2." descr="t184">
              <a:extLst>
                <a:ext uri="{FF2B5EF4-FFF2-40B4-BE49-F238E27FC236}">
                  <ns2:creationId id="{41628D32-7BB6-44D1-B1A8-DF5A321E7582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5011400"/>
              <a:ext cx="436794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decreased from 63.2% to 49.8% after R2.</a:t>
              </a:r>
              <a:endParaRPr lang="en-GB" sz="2400"/>
            </a:p>
          </p:txBody>
        </p:sp>
      </p:grpSp>
      <p:grpSp>
        <p:nvGrpSpPr>
          <p:cNvPr id="537" name="12. Limitations"/>
          <p:cNvGrpSpPr/>
          <p:nvPr/>
        </p:nvGrpSpPr>
        <p:grpSpPr>
          <a:xfrm>
            <a:off x="20975241" y="15554920"/>
            <a:ext cx="9012734" cy="1366838"/>
            <a:chOff x="20975241" y="15554920"/>
            <a:chExt cx="9012734" cy="1366838"/>
          </a:xfrm>
        </p:grpSpPr>
        <p:sp>
          <p:nvSpPr>
            <p:cNvPr id="59" name="Panel H2" descr="s58">
              <a:extLst>
                <a:ext uri="{FF2B5EF4-FFF2-40B4-BE49-F238E27FC236}">
                  <ns2:creationId id="{2A8B7349-EE5B-4413-9CB7-C006BAE9E6E7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5554920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60" name="Panel content" descr="s59">
              <a:extLst>
                <a:ext uri="{FF2B5EF4-FFF2-40B4-BE49-F238E27FC236}">
                  <ns2:creationId id="{EE68587D-32AB-4152-BC82-BF6F510A7CE7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6072247"/>
              <a:ext cx="9012734" cy="849511"/>
            </a:xfrm>
            <a:custGeom>
              <a:avLst/>
              <a:gdLst/>
              <a:ahLst/>
              <a:cxnLst/>
              <a:rect l="0" t="0" r="r" b="b"/>
              <a:pathLst>
                <a:path w="946219" h="89188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80188"/>
                  </a:lnTo>
                  <a:cubicBezTo>
                    <a:pt x="946219" y="85158"/>
                    <a:pt x="942189" y="89188"/>
                    <a:pt x="937219" y="89188"/>
                  </a:cubicBezTo>
                  <a:lnTo>
                    <a:pt x="9000" y="89188"/>
                  </a:lnTo>
                  <a:cubicBezTo>
                    <a:pt x="4029" y="89188"/>
                    <a:pt x="0" y="85158"/>
                    <a:pt x="0" y="8018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319" name="12. Limitations" descr="t185">
              <a:extLst>
                <a:ext uri="{FF2B5EF4-FFF2-40B4-BE49-F238E27FC236}">
                  <ns2:creationId id="{3E4DD7C9-C180-4D19-8834-E51B376F66D0}"/>
                </a:ext>
              </a:extLst>
            </p:cNvPr>
            <p:cNvSpPr>
              <a:spLocks noGrp="1"/>
            </p:cNvSpPr>
            <p:nvPr/>
          </p:nvSpPr>
          <p:spPr>
            <a:xfrm>
              <a:off x="21108591" y="15598806"/>
              <a:ext cx="2005505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12. Limitations</a:t>
              </a:r>
              <a:endParaRPr lang="en-GB" sz="2800"/>
            </a:p>
          </p:txBody>
        </p:sp>
        <p:sp>
          <p:nvSpPr>
            <p:cNvPr id="320" name="one DIFC corpus and 100 questions; one run per condition with no signi" descr="t186">
              <a:extLst>
                <a:ext uri="{FF2B5EF4-FFF2-40B4-BE49-F238E27FC236}">
                  <ns2:creationId id="{D32FA478-A1E2-46AB-B99F-B31AFB53E9C4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6144875"/>
              <a:ext cx="815783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one DIFC corpus and 100 questions; one run per condition with no significance</a:t>
              </a:r>
              <a:endParaRPr lang="en-GB" sz="2400"/>
            </a:p>
          </p:txBody>
        </p:sp>
        <p:sp>
          <p:nvSpPr>
            <p:cNvPr id="321" name="testing; LLM-based evaluation of free-text answers." descr="t187">
              <a:extLst>
                <a:ext uri="{FF2B5EF4-FFF2-40B4-BE49-F238E27FC236}">
                  <ns2:creationId id="{4E644E41-D0BE-421E-BCC3-ABBEE59A5425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6468725"/>
              <a:ext cx="537561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testing; LLM-based evaluation of free-text answers.</a:t>
              </a:r>
              <a:endParaRPr lang="en-GB" sz="2400"/>
            </a:p>
          </p:txBody>
        </p:sp>
      </p:grpSp>
      <p:grpSp>
        <p:nvGrpSpPr>
          <p:cNvPr id="536" name="13. References"/>
          <p:cNvGrpSpPr/>
          <p:nvPr/>
        </p:nvGrpSpPr>
        <p:grpSpPr>
          <a:xfrm>
            <a:off x="20975241" y="17022366"/>
            <a:ext cx="9012734" cy="4073575"/>
            <a:chOff x="20975241" y="17022366"/>
            <a:chExt cx="9012734" cy="4073575"/>
          </a:xfrm>
        </p:grpSpPr>
        <p:sp>
          <p:nvSpPr>
            <p:cNvPr id="61" name="Panel H2" descr="s60">
              <a:extLst>
                <a:ext uri="{FF2B5EF4-FFF2-40B4-BE49-F238E27FC236}">
                  <ns2:creationId id="{EC04A66B-788E-40A5-ABBB-ACE8F67C8FBF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7022366"/>
              <a:ext cx="9012734" cy="462409"/>
            </a:xfrm>
            <a:custGeom>
              <a:avLst/>
              <a:gdLst/>
              <a:ahLst/>
              <a:cxnLst/>
              <a:rect l="0" t="0" r="r" b="b"/>
              <a:pathLst>
                <a:path w="946219" h="48547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48547"/>
                  </a:lnTo>
                  <a:cubicBezTo>
                    <a:pt x="946219" y="48547"/>
                    <a:pt x="946219" y="48547"/>
                    <a:pt x="946219" y="48547"/>
                  </a:cubicBezTo>
                  <a:lnTo>
                    <a:pt x="0" y="48547"/>
                  </a:lnTo>
                  <a:cubicBezTo>
                    <a:pt x="0" y="48547"/>
                    <a:pt x="0" y="48547"/>
                    <a:pt x="0" y="48547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62" name="Panel content" descr="s61">
              <a:extLst>
                <a:ext uri="{FF2B5EF4-FFF2-40B4-BE49-F238E27FC236}">
                  <ns2:creationId id="{9D763CA3-3B24-4AA1-99FB-BEA321DC83CA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7484775"/>
              <a:ext cx="9012734" cy="3611166"/>
            </a:xfrm>
            <a:custGeom>
              <a:avLst/>
              <a:gdLst/>
              <a:ahLst/>
              <a:cxnLst/>
              <a:rect l="0" t="0" r="r" b="b"/>
              <a:pathLst>
                <a:path w="946219" h="379125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70125"/>
                  </a:lnTo>
                  <a:cubicBezTo>
                    <a:pt x="946219" y="375096"/>
                    <a:pt x="942189" y="379125"/>
                    <a:pt x="937219" y="379125"/>
                  </a:cubicBezTo>
                  <a:lnTo>
                    <a:pt x="9000" y="379125"/>
                  </a:lnTo>
                  <a:cubicBezTo>
                    <a:pt x="4029" y="379125"/>
                    <a:pt x="0" y="375096"/>
                    <a:pt x="0" y="370125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8FBFD"/>
            </a:solidFill>
            <a:ln w="9525">
              <a:solidFill>
                <a:srgbClr val="D9E9F1"/>
              </a:solidFill>
            </a:ln>
          </p:spPr>
        </p:sp>
        <p:sp>
          <p:nvSpPr>
            <p:cNvPr id="63" name="Rule" descr="s62">
              <a:extLst>
                <a:ext uri="{FF2B5EF4-FFF2-40B4-BE49-F238E27FC236}">
                  <ns2:creationId id="{9EFC8CA5-651E-4C42-8D62-395307C32A83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20265479"/>
              <a:ext cx="8765084" cy="9525"/>
            </a:xfrm>
            <a:prstGeom prst="rect">
              <a:avLst/>
            </a:prstGeom>
            <a:solidFill>
              <a:srgbClr val="C8DCE7"/>
            </a:solidFill>
            <a:ln w="0">
              <a:noFill/>
            </a:ln>
          </p:spPr>
        </p:sp>
        <p:sp>
          <p:nvSpPr>
            <p:cNvPr id="322" name="13. References" descr="t188">
              <a:extLst>
                <a:ext uri="{FF2B5EF4-FFF2-40B4-BE49-F238E27FC236}">
                  <ns2:creationId id="{A87E6995-DF34-4BFA-90C0-757CF90327D6}"/>
                </a:ext>
              </a:extLst>
            </p:cNvPr>
            <p:cNvSpPr>
              <a:spLocks noGrp="1"/>
            </p:cNvSpPr>
            <p:nvPr/>
          </p:nvSpPr>
          <p:spPr>
            <a:xfrm>
              <a:off x="21108591" y="17068800"/>
              <a:ext cx="174639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13. References</a:t>
              </a:r>
              <a:endParaRPr lang="en-GB" sz="2400"/>
            </a:p>
          </p:txBody>
        </p:sp>
        <p:sp>
          <p:nvSpPr>
            <p:cNvPr id="323" name="1. Lewis, P., Perez, E., Piktus, A., Petroni, F., Karpukhin, V., Goyal" descr="t189">
              <a:extLst>
                <a:ext uri="{FF2B5EF4-FFF2-40B4-BE49-F238E27FC236}">
                  <ns2:creationId id="{C64D1F0F-F055-4804-AEF8-3EFD0D851D2E}"/>
                </a:ext>
              </a:extLst>
            </p:cNvPr>
            <p:cNvSpPr>
              <a:spLocks noGrp="1"/>
            </p:cNvSpPr>
            <p:nvPr/>
          </p:nvSpPr>
          <p:spPr>
            <a:xfrm>
              <a:off x="21236434" y="17570481"/>
              <a:ext cx="8580927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1. Lewis, P., Perez, E., Piktus, A., Petroni, F., Karpukhin, V., Goyal, N., ... &amp; Kiela, D. (2020). Retrieval-augmented generation for</a:t>
              </a:r>
              <a:endParaRPr lang="en-GB" sz="1600"/>
            </a:p>
          </p:txBody>
        </p:sp>
        <p:sp>
          <p:nvSpPr>
            <p:cNvPr id="324" name="knowledge-intensive nlp tasks. Advances in neural information processi" descr="t190">
              <a:extLst>
                <a:ext uri="{FF2B5EF4-FFF2-40B4-BE49-F238E27FC236}">
                  <ns2:creationId id="{532BB03F-3642-4308-843E-09C27F344EE4}"/>
                </a:ext>
              </a:extLst>
            </p:cNvPr>
            <p:cNvSpPr>
              <a:spLocks noGrp="1"/>
            </p:cNvSpPr>
            <p:nvPr/>
          </p:nvSpPr>
          <p:spPr>
            <a:xfrm>
              <a:off x="21441966" y="17770506"/>
              <a:ext cx="6844450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knowledge-intensive nlp tasks. Advances in neural information processing systems, 33, 9459-9474.</a:t>
              </a:r>
              <a:endParaRPr lang="en-GB" sz="1600"/>
            </a:p>
          </p:txBody>
        </p:sp>
        <p:sp>
          <p:nvSpPr>
            <p:cNvPr id="325" name="2. Pipitone, Nicholas, and Ghita Houir Alami. &quot;Legalbench-rag: A bench" descr="t191">
              <a:extLst>
                <a:ext uri="{FF2B5EF4-FFF2-40B4-BE49-F238E27FC236}">
                  <ns2:creationId id="{FDEFC8A1-F5B8-4598-8C58-1619EA34E22D}"/>
                </a:ext>
              </a:extLst>
            </p:cNvPr>
            <p:cNvSpPr>
              <a:spLocks noGrp="1"/>
            </p:cNvSpPr>
            <p:nvPr/>
          </p:nvSpPr>
          <p:spPr>
            <a:xfrm>
              <a:off x="21236434" y="17999106"/>
              <a:ext cx="8529944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2. Pipitone, Nicholas, and Ghita Houir Alami. "Legalbench-rag: A benchmark for retrieval-augmented generation in the legal</a:t>
              </a:r>
              <a:endParaRPr lang="en-GB" sz="1600"/>
            </a:p>
          </p:txBody>
        </p:sp>
        <p:sp>
          <p:nvSpPr>
            <p:cNvPr id="326" name="domain.&quot; arXiv preprint arXiv:2408.10343 (2024)." descr="t192">
              <a:extLst>
                <a:ext uri="{FF2B5EF4-FFF2-40B4-BE49-F238E27FC236}">
                  <ns2:creationId id="{82E75172-2B8D-460A-8758-BC8E5510C014}"/>
                </a:ext>
              </a:extLst>
            </p:cNvPr>
            <p:cNvSpPr>
              <a:spLocks noGrp="1"/>
            </p:cNvSpPr>
            <p:nvPr/>
          </p:nvSpPr>
          <p:spPr>
            <a:xfrm>
              <a:off x="21441966" y="18208656"/>
              <a:ext cx="3357958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domain." arXiv preprint arXiv:2408.10343 (2024).</a:t>
              </a:r>
              <a:endParaRPr lang="en-GB" sz="1600"/>
            </a:p>
          </p:txBody>
        </p:sp>
        <p:sp>
          <p:nvSpPr>
            <p:cNvPr id="327" name="3. Gokhan, T., &amp; Briscoe, T. (2025, November). Grounded Answers from M" descr="t193">
              <a:extLst>
                <a:ext uri="{FF2B5EF4-FFF2-40B4-BE49-F238E27FC236}">
                  <ns2:creationId id="{946C21D4-0697-4805-944A-4C4BF5D79165}"/>
                </a:ext>
              </a:extLst>
            </p:cNvPr>
            <p:cNvSpPr>
              <a:spLocks noGrp="1"/>
            </p:cNvSpPr>
            <p:nvPr/>
          </p:nvSpPr>
          <p:spPr>
            <a:xfrm>
              <a:off x="21236434" y="18437256"/>
              <a:ext cx="8250402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3. Gokhan, T., &amp; Briscoe, T. (2025, November). Grounded Answers from Multi-Passage Regulations: Learning-to-Rank for</a:t>
              </a:r>
              <a:endParaRPr lang="en-GB" sz="1600"/>
            </a:p>
          </p:txBody>
        </p:sp>
        <p:sp>
          <p:nvSpPr>
            <p:cNvPr id="328" name="Regulatory RAG. In Proceedings of the Natural Legal Language Processin" descr="t194">
              <a:extLst>
                <a:ext uri="{FF2B5EF4-FFF2-40B4-BE49-F238E27FC236}">
                  <ns2:creationId id="{BF6C8751-AB4A-4353-9584-4205F9FCA0B4}"/>
                </a:ext>
              </a:extLst>
            </p:cNvPr>
            <p:cNvSpPr>
              <a:spLocks noGrp="1"/>
            </p:cNvSpPr>
            <p:nvPr/>
          </p:nvSpPr>
          <p:spPr>
            <a:xfrm>
              <a:off x="21441966" y="18637281"/>
              <a:ext cx="7124799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Regulatory RAG. In Proceedings of the Natural Legal Language Processing Workshop 2025 (pp. 135-146).</a:t>
              </a:r>
              <a:endParaRPr lang="en-GB" sz="1600"/>
            </a:p>
          </p:txBody>
        </p:sp>
        <p:sp>
          <p:nvSpPr>
            <p:cNvPr id="329" name="4. Butler, A. R., &amp; Butler, U. (2026). Legal RAG Bench: an end-to-end " descr="t195">
              <a:extLst>
                <a:ext uri="{FF2B5EF4-FFF2-40B4-BE49-F238E27FC236}">
                  <ns2:creationId id="{B943CC74-BD9F-4C9A-AC5B-1730D2DE9244}"/>
                </a:ext>
              </a:extLst>
            </p:cNvPr>
            <p:cNvSpPr>
              <a:spLocks noGrp="1"/>
            </p:cNvSpPr>
            <p:nvPr/>
          </p:nvSpPr>
          <p:spPr>
            <a:xfrm>
              <a:off x="21236434" y="18875406"/>
              <a:ext cx="8603059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4. Butler, A. R., &amp; Butler, U. (2026). Legal RAG Bench: an end-to-end benchmark for legal RAG. arXiv preprint arXiv:2603.01710.</a:t>
              </a:r>
              <a:endParaRPr lang="en-GB" sz="1600"/>
            </a:p>
          </p:txBody>
        </p:sp>
        <p:sp>
          <p:nvSpPr>
            <p:cNvPr id="330" name="5. Trautmann, D., Ostapuk, N., Grail, Q., Pol, A., Bonifazi, G., Gao, " descr="t196">
              <a:extLst>
                <a:ext uri="{FF2B5EF4-FFF2-40B4-BE49-F238E27FC236}">
                  <ns2:creationId id="{84422D4D-6FC7-4CB5-9F40-F4E648871FD9}"/>
                </a:ext>
              </a:extLst>
            </p:cNvPr>
            <p:cNvSpPr>
              <a:spLocks noGrp="1"/>
            </p:cNvSpPr>
            <p:nvPr/>
          </p:nvSpPr>
          <p:spPr>
            <a:xfrm>
              <a:off x="21236434" y="19104006"/>
              <a:ext cx="8659344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5. Trautmann, D., Ostapuk, N., Grail, Q., Pol, A., Bonifazi, G., Gao, S., &amp; Gajek, M. (2024, November). Measuring the groundedness</a:t>
              </a:r>
              <a:endParaRPr lang="en-GB" sz="1600"/>
            </a:p>
          </p:txBody>
        </p:sp>
        <p:sp>
          <p:nvSpPr>
            <p:cNvPr id="331" name="of legal question-answering systems. In Proceedings of the Natural Leg" descr="t197">
              <a:extLst>
                <a:ext uri="{FF2B5EF4-FFF2-40B4-BE49-F238E27FC236}">
                  <ns2:creationId id="{83A62097-D476-4793-B6D7-C6648533C142}"/>
                </a:ext>
              </a:extLst>
            </p:cNvPr>
            <p:cNvSpPr>
              <a:spLocks noGrp="1"/>
            </p:cNvSpPr>
            <p:nvPr/>
          </p:nvSpPr>
          <p:spPr>
            <a:xfrm>
              <a:off x="21441966" y="19304031"/>
              <a:ext cx="8297385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of legal question-answering systems. In Proceedings of the Natural Legal Language Processing Workshop 2024 (pp. 176-</a:t>
              </a:r>
              <a:endParaRPr lang="en-GB" sz="1600"/>
            </a:p>
          </p:txBody>
        </p:sp>
        <p:sp>
          <p:nvSpPr>
            <p:cNvPr id="332" name="186)." descr="t198">
              <a:extLst>
                <a:ext uri="{FF2B5EF4-FFF2-40B4-BE49-F238E27FC236}">
                  <ns2:creationId id="{7E813F23-D3E6-4A0F-9449-743B6A5898EF}"/>
                </a:ext>
              </a:extLst>
            </p:cNvPr>
            <p:cNvSpPr>
              <a:spLocks noGrp="1"/>
            </p:cNvSpPr>
            <p:nvPr/>
          </p:nvSpPr>
          <p:spPr>
            <a:xfrm>
              <a:off x="21441966" y="19513581"/>
              <a:ext cx="361880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186).</a:t>
              </a:r>
              <a:endParaRPr lang="en-GB" sz="1600"/>
            </a:p>
          </p:txBody>
        </p:sp>
        <p:sp>
          <p:nvSpPr>
            <p:cNvPr id="333" name="6. Gao, T., Yen, H., Yu, J., &amp; Chen, D. (2023, December). Enabling lar" descr="t199">
              <a:extLst>
                <a:ext uri="{FF2B5EF4-FFF2-40B4-BE49-F238E27FC236}">
                  <ns2:creationId id="{5BC6EFD4-1BA8-41CC-B4DA-E3829949C858}"/>
                </a:ext>
              </a:extLst>
            </p:cNvPr>
            <p:cNvSpPr>
              <a:spLocks noGrp="1"/>
            </p:cNvSpPr>
            <p:nvPr/>
          </p:nvSpPr>
          <p:spPr>
            <a:xfrm>
              <a:off x="21236434" y="19742181"/>
              <a:ext cx="8307682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6. Gao, T., Yen, H., Yu, J., &amp; Chen, D. (2023, December). Enabling large language models to generate text with citations. In</a:t>
              </a:r>
              <a:endParaRPr lang="en-GB" sz="1600"/>
            </a:p>
          </p:txBody>
        </p:sp>
        <p:sp>
          <p:nvSpPr>
            <p:cNvPr id="334" name="Proceedings of the 2023 Conference on Empirical Methods in Natural Lan" descr="t200">
              <a:extLst>
                <a:ext uri="{FF2B5EF4-FFF2-40B4-BE49-F238E27FC236}">
                  <ns2:creationId id="{A946928E-DCC6-4806-8763-FB4E47B1D3D2}"/>
                </a:ext>
              </a:extLst>
            </p:cNvPr>
            <p:cNvSpPr>
              <a:spLocks noGrp="1"/>
            </p:cNvSpPr>
            <p:nvPr/>
          </p:nvSpPr>
          <p:spPr>
            <a:xfrm>
              <a:off x="21441966" y="19942206"/>
              <a:ext cx="7459393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Proceedings of the 2023 Conference on Empirical Methods in Natural Language Processing (pp. 6465-6488).</a:t>
              </a:r>
              <a:endParaRPr lang="en-GB" sz="1600"/>
            </a:p>
          </p:txBody>
        </p:sp>
        <p:sp>
          <p:nvSpPr>
            <p:cNvPr id="335" name="Code, protocol &amp; results" descr="t201">
              <a:extLst>
                <a:ext uri="{FF2B5EF4-FFF2-40B4-BE49-F238E27FC236}">
                  <ns2:creationId id="{3026A7CB-DC7E-4BD7-9F89-C7A4A255EB42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20326350"/>
              <a:ext cx="272140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Code, protocol &amp; results</a:t>
              </a:r>
              <a:endParaRPr lang="en-GB" sz="2400"/>
            </a:p>
          </p:txBody>
        </p:sp>
        <p:sp>
          <p:nvSpPr>
            <p:cNvPr id="336" name="github.com/SteinVR/Trends-in-NLP-Poster" descr="t202">
              <a:extLst>
                <a:ext uri="{FF2B5EF4-FFF2-40B4-BE49-F238E27FC236}">
                  <ns2:creationId id="{69ED79E2-5F7E-430D-AF13-00E0C49173C0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20640675"/>
              <a:ext cx="447005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075a8b"/>
                  </a:solidFill>
                  <a:latin typeface="Barlow Condensed"/>
                  <a:ea typeface="Barlow Condensed"/>
                  <a:cs typeface="Barlow Condensed"/>
                </a:rPr>
                <a:t>github.com/SteinVR/Trends-in-NLP-Poster</a:t>
              </a:r>
              <a:endParaRPr lang="en-GB" sz="2400"/>
            </a:p>
          </p:txBody>
        </p:sp>
      </p:grpSp>
      <p:pic>
        <p:nvPicPr>
          <p:cNvPr id="535" name="Universität Trier" descr="s132"/>
          <p:cNvPicPr>
            <a:picLocks noChangeAspect="1"/>
          </p:cNvPicPr>
          <p:nvPr/>
        </p:nvPicPr>
        <p:blipFill>
          <a:blip r:embed="R02314f3531f74082">
            <a:extLst>
              <a:ext uri="{96DAC541-7B7A-43D3-8B79-37D633B846F1}">
                <ns4:svgBlip r:embed="R311fc11a30024f58"/>
              </a:ext>
            </a:extLst>
          </a:blip>
          <a:stretch/>
        </p:blipFill>
        <p:spPr>
          <a:xfrm>
            <a:off x="27035224" y="374005"/>
            <a:ext cx="2857500" cy="720179"/>
          </a:xfrm>
          <a:prstGeom prst="rect">
            <a:avLst/>
          </a:prstGeom>
        </p:spPr>
      </p:pic>
      <p:sp>
        <p:nvSpPr>
          <p:cNvPr id="134" name="Building Legal RAG: what each component contributes" descr="t0">
            <a:extLst>
              <a:ext uri="{FF2B5EF4-FFF2-40B4-BE49-F238E27FC236}">
                <ns2:creationId id="{65780CB4-E978-401B-8D37-3CAB48150234}"/>
              </a:ext>
            </a:extLst>
          </p:cNvPr>
          <p:cNvSpPr>
            <a:spLocks noGrp="1"/>
          </p:cNvSpPr>
          <p:nvPr/>
        </p:nvSpPr>
        <p:spPr>
          <a:xfrm>
            <a:off x="383232" y="191795"/>
            <a:ext cx="13889971" cy="76459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spcBef>
                <a:spcPts val="0"/>
              </a:spcBef>
              <a:spcAft>
                <a:spcPts val="0"/>
              </a:spcAft>
            </a:pPr>
            <a:r>
              <a:rPr lang="en-GB" sz="4200" b="1" i="0" spc="-98" kern="0" dirty="0">
                <a:solidFill>
                  <a:srgbClr val="082b51"/>
                </a:solidFill>
                <a:latin typeface="Noto Sans"/>
                <a:ea typeface="Noto Sans"/>
                <a:cs typeface="Noto Sans"/>
              </a:rPr>
              <a:t>Building Legal RAG: what each component contributes</a:t>
            </a:r>
            <a:endParaRPr lang="en-GB" sz="4200"/>
          </a:p>
        </p:txBody>
      </p:sp>
      <p:sp>
        <p:nvSpPr>
          <p:cNvPr id="135" name="Aleksandr Loginov, Yulia Malakhova" descr="t1">
            <a:extLst>
              <a:ext uri="{FF2B5EF4-FFF2-40B4-BE49-F238E27FC236}">
                <ns2:creationId id="{904D1480-070C-4F23-9114-393C11F98C4F}"/>
              </a:ext>
            </a:extLst>
          </p:cNvPr>
          <p:cNvSpPr>
            <a:spLocks noGrp="1"/>
          </p:cNvSpPr>
          <p:nvPr/>
        </p:nvSpPr>
        <p:spPr>
          <a:xfrm>
            <a:off x="383232" y="847725"/>
            <a:ext cx="3687325" cy="4038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>
                <a:solidFill>
                  <a:srgbClr val="34566e"/>
                </a:solidFill>
                <a:latin typeface="Barlow Condensed"/>
                <a:ea typeface="Barlow Condensed"/>
                <a:cs typeface="Barlow Condensed"/>
              </a:rPr>
              <a:t>Aleksandr Loginov, Yulia Malakhova</a:t>
            </a:r>
            <a:endParaRPr lang="en-GB" sz="2400"/>
          </a:p>
        </p:txBody>
      </p:sp>
    </p:spTree>
    <p:extLst>
      <p:ext uri="{BB962C8B-B14F-4D97-AF65-F5344CB8AC3E}">
        <ns5:creationId val="106589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2026-09-29T12:11:18.6000000Z</dcterms:created>
  <dcterms:modified xsi:type="dcterms:W3CDTF">2026-09-29T12:11:18.6000000Z</dcterms:modified>
</coreProperties>
</file>