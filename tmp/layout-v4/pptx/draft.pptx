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4e8773a6cb46dd" /><Relationship Type="http://schemas.openxmlformats.org/officeDocument/2006/relationships/extended-properties" Target="/docProps/app.xml" Id="R036f1eb3f94846ea" /><Relationship Type="http://schemas.openxmlformats.org/officeDocument/2006/relationships/officeDocument" Target="/ppt/presentation.xml" Id="R0e34d5f9f11044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0a93dd25ef46e4"/>
  </p:sldMasterIdLst>
  <p:notesMasterIdLst>
    <p:notesMasterId xmlns:r="http://schemas.openxmlformats.org/officeDocument/2006/relationships" r:id="R377e7a503a484ca8"/>
  </p:notesMasterIdLst>
  <p:sldIdLst>
    <p:sldId xmlns:r="http://schemas.openxmlformats.org/officeDocument/2006/relationships" id="256" r:id="Rc9b390fdee1a4af6"/>
  </p:sldIdLst>
  <p:sldSz cx="30276000" cy="2138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c2871dfd594d46" /><Relationship Type="http://schemas.openxmlformats.org/officeDocument/2006/relationships/slideMaster" Target="/ppt/slideMasters/slideMaster1.xml" Id="Ra60a93dd25ef46e4" /><Relationship Type="http://schemas.openxmlformats.org/officeDocument/2006/relationships/notesMaster" Target="/ppt/notesMasters/notesMaster1.xml" Id="R377e7a503a484ca8" /><Relationship Type="http://schemas.openxmlformats.org/officeDocument/2006/relationships/presProps" Target="/ppt/presProps.xml" Id="R4c6d8cad6778492f" /><Relationship Type="http://schemas.openxmlformats.org/officeDocument/2006/relationships/tableStyles" Target="/ppt/tableStyles.xml" Id="R96f142e105b54f1c" /><Relationship Type="http://schemas.openxmlformats.org/officeDocument/2006/relationships/slide" Target="/ppt/slides/slide1.xml" Id="Rc9b390fdee1a4a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2b717716604b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f36e5a3a82456a" /><Relationship Type="http://schemas.openxmlformats.org/officeDocument/2006/relationships/notesMaster" Target="/ppt/notesMasters/notesMaster1.xml" Id="R345c532a33cd4a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Faithful editable reconstruction of the approved layout-v4 poster. Source: ../index.html and ../poster.pdf. Text, cards, plot series and data labels are native editable objects; charts use grouped vector elements to preserve the approved layout rather than Excel chart objects. Icons and university logo are vector SVG graphics. Measurements: ../../results/metrics.csv. Scientific text: external/Final layout and text.pdf. Code and reproducibility: https://github.com/SteinVR/Trends-in-NLP-Poster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daae4a81c4e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aa053039734730" /><Relationship Type="http://schemas.openxmlformats.org/officeDocument/2006/relationships/slideLayout" Target="/ppt/slideLayouts/slideLayout1.xml" Id="R2f26a8cf40fd49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26a8cf40fd49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6bf3c71aa42ee" /><Relationship Type="http://schemas.openxmlformats.org/officeDocument/2006/relationships/image" Target="/ppt/media/image.png" Id="Rbc8f7fe3c81b4ab8" /><Relationship Type="http://schemas.openxmlformats.org/officeDocument/2006/relationships/image" Target="/ppt/media/image.svg" Id="Rdb333644fa424497" /><Relationship Type="http://schemas.openxmlformats.org/officeDocument/2006/relationships/image" Target="/ppt/media/image2.png" Id="R3cefcdab79504b20" /><Relationship Type="http://schemas.openxmlformats.org/officeDocument/2006/relationships/image" Target="/ppt/media/image2.svg" Id="R455c67edd2734b89" /><Relationship Type="http://schemas.openxmlformats.org/officeDocument/2006/relationships/image" Target="/ppt/media/image3.png" Id="R7fed2d3dd82d473f" /><Relationship Type="http://schemas.openxmlformats.org/officeDocument/2006/relationships/image" Target="/ppt/media/image3.svg" Id="R17cf09e1076c4e46" /><Relationship Type="http://schemas.openxmlformats.org/officeDocument/2006/relationships/image" Target="/ppt/media/image4.png" Id="R16e9ebc7e354487a" /><Relationship Type="http://schemas.openxmlformats.org/officeDocument/2006/relationships/image" Target="/ppt/media/image4.svg" Id="Rf5a70fbbc7f94a40" /><Relationship Type="http://schemas.openxmlformats.org/officeDocument/2006/relationships/image" Target="/ppt/media/image5.png" Id="R3b8f3b8281604ca6" /><Relationship Type="http://schemas.openxmlformats.org/officeDocument/2006/relationships/image" Target="/ppt/media/image5.svg" Id="R75c2c647d0ae4e00" /><Relationship Type="http://schemas.openxmlformats.org/officeDocument/2006/relationships/image" Target="/ppt/media/image6.png" Id="Rafdf736ee59c47cc" /><Relationship Type="http://schemas.openxmlformats.org/officeDocument/2006/relationships/image" Target="/ppt/media/image6.svg" Id="R6cccafd5af4848d2" /><Relationship Type="http://schemas.openxmlformats.org/officeDocument/2006/relationships/image" Target="/ppt/media/image7.png" Id="Rb5b5cd85b7434022" /><Relationship Type="http://schemas.openxmlformats.org/officeDocument/2006/relationships/image" Target="/ppt/media/image7.svg" Id="Rc0bd8c8098634ab8" /><Relationship Type="http://schemas.openxmlformats.org/officeDocument/2006/relationships/image" Target="/ppt/media/image8.png" Id="R06b17e4c381c4c55" /><Relationship Type="http://schemas.openxmlformats.org/officeDocument/2006/relationships/image" Target="/ppt/media/image8.svg" Id="R17c3a88c45284ac4" /><Relationship Type="http://schemas.openxmlformats.org/officeDocument/2006/relationships/image" Target="/ppt/media/image9.png" Id="Rf1b0872b5a6a4938" /><Relationship Type="http://schemas.openxmlformats.org/officeDocument/2006/relationships/image" Target="/ppt/media/image9.svg" Id="R43b79e1ce16f4af0" /><Relationship Type="http://schemas.openxmlformats.org/officeDocument/2006/relationships/image" Target="/ppt/media/image10.png" Id="Ra600342c4bc94505" /><Relationship Type="http://schemas.openxmlformats.org/officeDocument/2006/relationships/image" Target="/ppt/media/image10.svg" Id="Reb48d4c706254c8a" /><Relationship Type="http://schemas.openxmlformats.org/officeDocument/2006/relationships/image" Target="/ppt/media/image11.png" Id="R02314f3531f74082" /><Relationship Type="http://schemas.openxmlformats.org/officeDocument/2006/relationships/image" Target="/ppt/media/image11.svg" Id="R311fc11a30024f58" /><Relationship Type="http://schemas.openxmlformats.org/officeDocument/2006/relationships/notesSlide" Target="/ppt/notesSlides/notesSlide1.xml" Id="R0635ee216f4942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3" name="s0">
            <a:extLst xmlns:a="http://schemas.openxmlformats.org/drawingml/2006/main">
              <a:ext uri="{FF2B5EF4-FFF2-40B4-BE49-F238E27FC236}">
                <a16:creationId xmlns:a16="http://schemas.microsoft.com/office/drawing/2014/main" id="{C4510521-74E6-4FEC-B042-BDB90C27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82" y="1256407"/>
            <a:ext cx="2969999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BDC"/>
          </a:solidFill>
          <a:ln xmlns:a="http://schemas.openxmlformats.org/drawingml/2006/main" w="0">
            <a:noFill/>
          </a:ln>
        </p:spPr>
      </p:sp>
      <p:sp>
        <p:nvSpPr>
          <p:cNvPr id="2" name="s1">
            <a:extLst xmlns:a="http://schemas.openxmlformats.org/drawingml/2006/main">
              <a:ext uri="{FF2B5EF4-FFF2-40B4-BE49-F238E27FC236}">
                <a16:creationId xmlns:a16="http://schemas.microsoft.com/office/drawing/2014/main" id="{BC725857-FF33-4EF9-B75C-DCEFC00F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82" y="1351657"/>
            <a:ext cx="8612981" cy="517327"/>
          </a:xfrm>
          <a:prstGeom xmlns:a="http://schemas.openxmlformats.org/drawingml/2006/main" prst="roundRect">
            <a:avLst>
              <a:gd name="adj" fmla="val 11047"/>
            </a:avLst>
          </a:prstGeom>
          <a:gradFill xmlns:a="http://schemas.openxmlformats.org/drawingml/2006/main">
            <a:gsLst>
              <a:gs pos="0">
                <a:srgbClr val="056097"/>
              </a:gs>
              <a:gs pos="100000">
                <a:srgbClr val="0071A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s2">
            <a:extLst xmlns:a="http://schemas.openxmlformats.org/drawingml/2006/main">
              <a:ext uri="{FF2B5EF4-FFF2-40B4-BE49-F238E27FC236}">
                <a16:creationId xmlns:a16="http://schemas.microsoft.com/office/drawing/2014/main" id="{A520929F-D725-48A1-8573-9033C48B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82" y="1868984"/>
            <a:ext cx="8612981" cy="3466505"/>
          </a:xfrm>
          <a:prstGeom xmlns:a="http://schemas.openxmlformats.org/drawingml/2006/main" prst="roundRect">
            <a:avLst>
              <a:gd name="adj" fmla="val 2473"/>
            </a:avLst>
          </a:prstGeom>
          <a:solidFill xmlns:a="http://schemas.openxmlformats.org/drawingml/2006/main">
            <a:srgbClr val="F2F8FC"/>
          </a:solidFill>
          <a:ln xmlns:a="http://schemas.openxmlformats.org/drawingml/2006/main" w="9525">
            <a:solidFill>
              <a:srgbClr val="D9E9F1"/>
            </a:solidFill>
          </a:ln>
        </p:spPr>
      </p:sp>
      <p:sp>
        <p:nvSpPr>
          <p:cNvPr id="4" name="s3">
            <a:extLst xmlns:a="http://schemas.openxmlformats.org/drawingml/2006/main">
              <a:ext uri="{FF2B5EF4-FFF2-40B4-BE49-F238E27FC236}">
                <a16:creationId xmlns:a16="http://schemas.microsoft.com/office/drawing/2014/main" id="{F74DE179-0C76-4C2D-9949-58D5F7F5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82" y="5588943"/>
            <a:ext cx="8612981" cy="517327"/>
          </a:xfrm>
          <a:prstGeom xmlns:a="http://schemas.openxmlformats.org/drawingml/2006/main" prst="roundRect">
            <a:avLst>
              <a:gd name="adj" fmla="val 11047"/>
            </a:avLst>
          </a:prstGeom>
          <a:gradFill xmlns:a="http://schemas.openxmlformats.org/drawingml/2006/main">
            <a:gsLst>
              <a:gs pos="0">
                <a:srgbClr val="056097"/>
              </a:gs>
              <a:gs pos="100000">
                <a:srgbClr val="0071A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5" name="s4">
            <a:extLst xmlns:a="http://schemas.openxmlformats.org/drawingml/2006/main">
              <a:ext uri="{FF2B5EF4-FFF2-40B4-BE49-F238E27FC236}">
                <a16:creationId xmlns:a16="http://schemas.microsoft.com/office/drawing/2014/main" id="{C9274C89-88B7-4D93-AA81-D94FE3F3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82" y="6106269"/>
            <a:ext cx="8612981" cy="4936927"/>
          </a:xfrm>
          <a:prstGeom xmlns:a="http://schemas.openxmlformats.org/drawingml/2006/main" prst="roundRect">
            <a:avLst>
              <a:gd name="adj" fmla="val 1736"/>
            </a:avLst>
          </a:prstGeom>
          <a:solidFill xmlns:a="http://schemas.openxmlformats.org/drawingml/2006/main">
            <a:srgbClr val="F2F8FC"/>
          </a:solidFill>
          <a:ln xmlns:a="http://schemas.openxmlformats.org/drawingml/2006/main" w="9525">
            <a:solidFill>
              <a:srgbClr val="D9E9F1"/>
            </a:solidFill>
          </a:ln>
        </p:spPr>
      </p:sp>
      <p:sp>
        <p:nvSpPr>
          <p:cNvPr id="6" name="s5">
            <a:extLst xmlns:a="http://schemas.openxmlformats.org/drawingml/2006/main">
              <a:ext uri="{FF2B5EF4-FFF2-40B4-BE49-F238E27FC236}">
                <a16:creationId xmlns:a16="http://schemas.microsoft.com/office/drawing/2014/main" id="{FD928323-573F-4156-8AB9-513B5C35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82" y="11296650"/>
            <a:ext cx="8612981" cy="517327"/>
          </a:xfrm>
          <a:prstGeom xmlns:a="http://schemas.openxmlformats.org/drawingml/2006/main" prst="roundRect">
            <a:avLst>
              <a:gd name="adj" fmla="val 11047"/>
            </a:avLst>
          </a:prstGeom>
          <a:gradFill xmlns:a="http://schemas.openxmlformats.org/drawingml/2006/main">
            <a:gsLst>
              <a:gs pos="0">
                <a:srgbClr val="056097"/>
              </a:gs>
              <a:gs pos="100000">
                <a:srgbClr val="0071A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" name="s6">
            <a:extLst xmlns:a="http://schemas.openxmlformats.org/drawingml/2006/main">
              <a:ext uri="{FF2B5EF4-FFF2-40B4-BE49-F238E27FC236}">
                <a16:creationId xmlns:a16="http://schemas.microsoft.com/office/drawing/2014/main" id="{0A62A24F-2E8F-4755-8745-F6AC91D0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82" y="11813977"/>
            <a:ext cx="8612981" cy="1371302"/>
          </a:xfrm>
          <a:prstGeom xmlns:a="http://schemas.openxmlformats.org/drawingml/2006/main" prst="roundRect">
            <a:avLst>
              <a:gd name="adj" fmla="val 6251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D9E9F1"/>
            </a:solidFill>
          </a:ln>
        </p:spPr>
      </p:sp>
      <p:sp>
        <p:nvSpPr>
          <p:cNvPr id="8" name="s7">
            <a:extLst xmlns:a="http://schemas.openxmlformats.org/drawingml/2006/main">
              <a:ext uri="{FF2B5EF4-FFF2-40B4-BE49-F238E27FC236}">
                <a16:creationId xmlns:a16="http://schemas.microsoft.com/office/drawing/2014/main" id="{10E16712-CB8A-4B65-A47D-59A03663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82" y="13438733"/>
            <a:ext cx="8612981" cy="517327"/>
          </a:xfrm>
          <a:prstGeom xmlns:a="http://schemas.openxmlformats.org/drawingml/2006/main" prst="roundRect">
            <a:avLst>
              <a:gd name="adj" fmla="val 11047"/>
            </a:avLst>
          </a:prstGeom>
          <a:gradFill xmlns:a="http://schemas.openxmlformats.org/drawingml/2006/main">
            <a:gsLst>
              <a:gs pos="0">
                <a:srgbClr val="056097"/>
              </a:gs>
              <a:gs pos="100000">
                <a:srgbClr val="0071A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9" name="s8">
            <a:extLst xmlns:a="http://schemas.openxmlformats.org/drawingml/2006/main">
              <a:ext uri="{FF2B5EF4-FFF2-40B4-BE49-F238E27FC236}">
                <a16:creationId xmlns:a16="http://schemas.microsoft.com/office/drawing/2014/main" id="{5BCF1005-A4A3-4A93-ADB0-7A87C920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82" y="13956060"/>
            <a:ext cx="8612981" cy="2186583"/>
          </a:xfrm>
          <a:prstGeom xmlns:a="http://schemas.openxmlformats.org/drawingml/2006/main" prst="roundRect">
            <a:avLst>
              <a:gd name="adj" fmla="val 3921"/>
            </a:avLst>
          </a:prstGeom>
          <a:solidFill xmlns:a="http://schemas.openxmlformats.org/drawingml/2006/main">
            <a:srgbClr val="F2F8FC"/>
          </a:solidFill>
          <a:ln xmlns:a="http://schemas.openxmlformats.org/drawingml/2006/main" w="9525">
            <a:solidFill>
              <a:srgbClr val="D9E9F1"/>
            </a:solidFill>
          </a:ln>
        </p:spPr>
      </p:sp>
      <p:sp>
        <p:nvSpPr>
          <p:cNvPr id="10" name="s9">
            <a:extLst xmlns:a="http://schemas.openxmlformats.org/drawingml/2006/main">
              <a:ext uri="{FF2B5EF4-FFF2-40B4-BE49-F238E27FC236}">
                <a16:creationId xmlns:a16="http://schemas.microsoft.com/office/drawing/2014/main" id="{2C264C3A-0C1A-406B-B597-6FA63F87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82" y="16396097"/>
            <a:ext cx="8612981" cy="517327"/>
          </a:xfrm>
          <a:prstGeom xmlns:a="http://schemas.openxmlformats.org/drawingml/2006/main" prst="roundRect">
            <a:avLst>
              <a:gd name="adj" fmla="val 11047"/>
            </a:avLst>
          </a:prstGeom>
          <a:gradFill xmlns:a="http://schemas.openxmlformats.org/drawingml/2006/main">
            <a:gsLst>
              <a:gs pos="0">
                <a:srgbClr val="056097"/>
              </a:gs>
              <a:gs pos="100000">
                <a:srgbClr val="0071A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1" name="s10">
            <a:extLst xmlns:a="http://schemas.openxmlformats.org/drawingml/2006/main">
              <a:ext uri="{FF2B5EF4-FFF2-40B4-BE49-F238E27FC236}">
                <a16:creationId xmlns:a16="http://schemas.microsoft.com/office/drawing/2014/main" id="{41F2048A-56F7-4AFF-BBB8-1E76EF51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82" y="16970573"/>
            <a:ext cx="8612981" cy="4125367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s11">
            <a:extLst xmlns:a="http://schemas.openxmlformats.org/drawingml/2006/main">
              <a:ext uri="{FF2B5EF4-FFF2-40B4-BE49-F238E27FC236}">
                <a16:creationId xmlns:a16="http://schemas.microsoft.com/office/drawing/2014/main" id="{36F1CF4A-CA8C-4AB3-A533-DFFE1FD8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82" y="16970573"/>
            <a:ext cx="8612981" cy="1550343"/>
          </a:xfrm>
          <a:prstGeom xmlns:a="http://schemas.openxmlformats.org/drawingml/2006/main" prst="roundRect">
            <a:avLst>
              <a:gd name="adj" fmla="val 4915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3" name="s12">
            <a:extLst xmlns:a="http://schemas.openxmlformats.org/drawingml/2006/main">
              <a:ext uri="{FF2B5EF4-FFF2-40B4-BE49-F238E27FC236}">
                <a16:creationId xmlns:a16="http://schemas.microsoft.com/office/drawing/2014/main" id="{BD720A7A-F724-4B55-BA36-45ADEE90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82" y="18578066"/>
            <a:ext cx="8612981" cy="1230362"/>
          </a:xfrm>
          <a:prstGeom xmlns:a="http://schemas.openxmlformats.org/drawingml/2006/main" prst="roundRect">
            <a:avLst>
              <a:gd name="adj" fmla="val 6193"/>
            </a:avLst>
          </a:prstGeom>
          <a:solidFill xmlns:a="http://schemas.openxmlformats.org/drawingml/2006/main">
            <a:srgbClr val="EFF7E9"/>
          </a:solidFill>
          <a:ln xmlns:a="http://schemas.openxmlformats.org/drawingml/2006/main" w="0">
            <a:noFill/>
          </a:ln>
        </p:spPr>
      </p:sp>
      <p:sp>
        <p:nvSpPr>
          <p:cNvPr id="14" name="s13">
            <a:extLst xmlns:a="http://schemas.openxmlformats.org/drawingml/2006/main">
              <a:ext uri="{FF2B5EF4-FFF2-40B4-BE49-F238E27FC236}">
                <a16:creationId xmlns:a16="http://schemas.microsoft.com/office/drawing/2014/main" id="{38E326A5-2A58-4A8B-9F03-95F37343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82" y="19865578"/>
            <a:ext cx="8612981" cy="1230362"/>
          </a:xfrm>
          <a:prstGeom xmlns:a="http://schemas.openxmlformats.org/drawingml/2006/main" prst="roundRect">
            <a:avLst>
              <a:gd name="adj" fmla="val 6193"/>
            </a:avLst>
          </a:prstGeom>
          <a:solidFill xmlns:a="http://schemas.openxmlformats.org/drawingml/2006/main">
            <a:srgbClr val="F2EBFA"/>
          </a:solidFill>
          <a:ln xmlns:a="http://schemas.openxmlformats.org/drawingml/2006/main" w="0">
            <a:noFill/>
          </a:ln>
        </p:spPr>
      </p:sp>
      <p:sp>
        <p:nvSpPr>
          <p:cNvPr id="15" name="s14">
            <a:extLst xmlns:a="http://schemas.openxmlformats.org/drawingml/2006/main">
              <a:ext uri="{FF2B5EF4-FFF2-40B4-BE49-F238E27FC236}">
                <a16:creationId xmlns:a16="http://schemas.microsoft.com/office/drawing/2014/main" id="{179DF8A4-5011-4F12-931C-FD83E3BB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414" y="1351657"/>
            <a:ext cx="11731377" cy="517327"/>
          </a:xfrm>
          <a:prstGeom xmlns:a="http://schemas.openxmlformats.org/drawingml/2006/main" prst="roundRect">
            <a:avLst>
              <a:gd name="adj" fmla="val 11047"/>
            </a:avLst>
          </a:prstGeom>
          <a:gradFill xmlns:a="http://schemas.openxmlformats.org/drawingml/2006/main">
            <a:gsLst>
              <a:gs pos="0">
                <a:srgbClr val="056097"/>
              </a:gs>
              <a:gs pos="100000">
                <a:srgbClr val="0071A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6" name="s15">
            <a:extLst xmlns:a="http://schemas.openxmlformats.org/drawingml/2006/main">
              <a:ext uri="{FF2B5EF4-FFF2-40B4-BE49-F238E27FC236}">
                <a16:creationId xmlns:a16="http://schemas.microsoft.com/office/drawing/2014/main" id="{AE84D980-9F66-4C33-88B8-0B04DB36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414" y="1868984"/>
            <a:ext cx="11731377" cy="10341025"/>
          </a:xfrm>
          <a:prstGeom xmlns:a="http://schemas.openxmlformats.org/drawingml/2006/main" prst="roundRect">
            <a:avLst>
              <a:gd name="adj" fmla="val 829"/>
            </a:avLst>
          </a:prstGeom>
          <a:solidFill xmlns:a="http://schemas.openxmlformats.org/drawingml/2006/main">
            <a:srgbClr val="F2F8FC"/>
          </a:solidFill>
          <a:ln xmlns:a="http://schemas.openxmlformats.org/drawingml/2006/main" w="9525">
            <a:solidFill>
              <a:srgbClr val="D9E9F1"/>
            </a:solidFill>
          </a:ln>
        </p:spPr>
      </p:sp>
      <p:sp>
        <p:nvSpPr>
          <p:cNvPr id="17" name="s16">
            <a:extLst xmlns:a="http://schemas.openxmlformats.org/drawingml/2006/main">
              <a:ext uri="{FF2B5EF4-FFF2-40B4-BE49-F238E27FC236}">
                <a16:creationId xmlns:a16="http://schemas.microsoft.com/office/drawing/2014/main" id="{5B3951E1-A121-414E-8786-1711E643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339" y="4678263"/>
            <a:ext cx="11407527" cy="1338858"/>
          </a:xfrm>
          <a:prstGeom xmlns:a="http://schemas.openxmlformats.org/drawingml/2006/main" prst="roundRect">
            <a:avLst>
              <a:gd name="adj" fmla="val 5691"/>
            </a:avLst>
          </a:prstGeom>
          <a:solidFill xmlns:a="http://schemas.openxmlformats.org/drawingml/2006/main">
            <a:srgbClr val="E6F3FB"/>
          </a:solidFill>
          <a:ln xmlns:a="http://schemas.openxmlformats.org/drawingml/2006/main" w="9525">
            <a:solidFill>
              <a:srgbClr val="CFDFEB"/>
            </a:solidFill>
          </a:ln>
        </p:spPr>
      </p:sp>
      <p:sp>
        <p:nvSpPr>
          <p:cNvPr id="18" name="s17">
            <a:extLst xmlns:a="http://schemas.openxmlformats.org/drawingml/2006/main">
              <a:ext uri="{FF2B5EF4-FFF2-40B4-BE49-F238E27FC236}">
                <a16:creationId xmlns:a16="http://schemas.microsoft.com/office/drawing/2014/main" id="{628A1AA3-6311-4A78-887E-0BA6C246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339" y="6150471"/>
            <a:ext cx="3726210" cy="426541"/>
          </a:xfrm>
          <a:prstGeom xmlns:a="http://schemas.openxmlformats.org/drawingml/2006/main" prst="roundRect">
            <a:avLst>
              <a:gd name="adj" fmla="val 13398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</a:ln>
        </p:spPr>
      </p:sp>
      <p:sp>
        <p:nvSpPr>
          <p:cNvPr id="19" name="s18">
            <a:extLst xmlns:a="http://schemas.openxmlformats.org/drawingml/2006/main">
              <a:ext uri="{FF2B5EF4-FFF2-40B4-BE49-F238E27FC236}">
                <a16:creationId xmlns:a16="http://schemas.microsoft.com/office/drawing/2014/main" id="{10CDEEE0-D35B-4FDB-96F7-6AC48AD9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4848" y="6150471"/>
            <a:ext cx="3726359" cy="426541"/>
          </a:xfrm>
          <a:prstGeom xmlns:a="http://schemas.openxmlformats.org/drawingml/2006/main" prst="roundRect">
            <a:avLst>
              <a:gd name="adj" fmla="val 13398"/>
            </a:avLst>
          </a:prstGeom>
          <a:solidFill xmlns:a="http://schemas.openxmlformats.org/drawingml/2006/main">
            <a:srgbClr val="EEF7E9"/>
          </a:solidFill>
          <a:ln xmlns:a="http://schemas.openxmlformats.org/drawingml/2006/main" w="0">
            <a:noFill/>
          </a:ln>
        </p:spPr>
      </p:sp>
      <p:sp>
        <p:nvSpPr>
          <p:cNvPr id="20" name="s19">
            <a:extLst xmlns:a="http://schemas.openxmlformats.org/drawingml/2006/main">
              <a:ext uri="{FF2B5EF4-FFF2-40B4-BE49-F238E27FC236}">
                <a16:creationId xmlns:a16="http://schemas.microsoft.com/office/drawing/2014/main" id="{1A502A78-8416-4F14-96EE-BCBD0399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5507" y="6150471"/>
            <a:ext cx="1806029" cy="426541"/>
          </a:xfrm>
          <a:prstGeom xmlns:a="http://schemas.openxmlformats.org/drawingml/2006/main" prst="roundRect">
            <a:avLst>
              <a:gd name="adj" fmla="val 13398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0">
            <a:noFill/>
          </a:ln>
        </p:spPr>
      </p:sp>
      <p:sp>
        <p:nvSpPr>
          <p:cNvPr id="21" name="s20">
            <a:extLst xmlns:a="http://schemas.openxmlformats.org/drawingml/2006/main">
              <a:ext uri="{FF2B5EF4-FFF2-40B4-BE49-F238E27FC236}">
                <a16:creationId xmlns:a16="http://schemas.microsoft.com/office/drawing/2014/main" id="{7386889A-C6E3-4664-B331-38300550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5836" y="6150471"/>
            <a:ext cx="1805880" cy="426541"/>
          </a:xfrm>
          <a:prstGeom xmlns:a="http://schemas.openxmlformats.org/drawingml/2006/main" prst="roundRect">
            <a:avLst>
              <a:gd name="adj" fmla="val 13398"/>
            </a:avLst>
          </a:prstGeom>
          <a:solidFill xmlns:a="http://schemas.openxmlformats.org/drawingml/2006/main">
            <a:srgbClr val="F1EAFB"/>
          </a:solidFill>
          <a:ln xmlns:a="http://schemas.openxmlformats.org/drawingml/2006/main" w="0">
            <a:noFill/>
          </a:ln>
        </p:spPr>
      </p:sp>
      <p:sp>
        <p:nvSpPr>
          <p:cNvPr id="22" name="s21">
            <a:extLst xmlns:a="http://schemas.openxmlformats.org/drawingml/2006/main">
              <a:ext uri="{FF2B5EF4-FFF2-40B4-BE49-F238E27FC236}">
                <a16:creationId xmlns:a16="http://schemas.microsoft.com/office/drawing/2014/main" id="{CE68F918-E2A2-4028-BD86-2CD9B772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339" y="6653213"/>
            <a:ext cx="1805880" cy="4573935"/>
          </a:xfrm>
          <a:prstGeom xmlns:a="http://schemas.openxmlformats.org/drawingml/2006/main" prst="roundRect">
            <a:avLst>
              <a:gd name="adj" fmla="val 4220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C7DCE8"/>
            </a:solidFill>
          </a:ln>
        </p:spPr>
      </p:sp>
      <p:sp>
        <p:nvSpPr>
          <p:cNvPr id="23" name="s22">
            <a:extLst xmlns:a="http://schemas.openxmlformats.org/drawingml/2006/main">
              <a:ext uri="{FF2B5EF4-FFF2-40B4-BE49-F238E27FC236}">
                <a16:creationId xmlns:a16="http://schemas.microsoft.com/office/drawing/2014/main" id="{5EEF18D5-161A-4BDB-B70F-9EF550BB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864" y="9729936"/>
            <a:ext cx="1786830" cy="1487686"/>
          </a:xfrm>
          <a:prstGeom xmlns:a="http://schemas.openxmlformats.org/drawingml/2006/main" prst="roundRect">
            <a:avLst>
              <a:gd name="adj" fmla="val 4482"/>
            </a:avLst>
          </a:prstGeom>
          <a:solidFill xmlns:a="http://schemas.openxmlformats.org/drawingml/2006/main">
            <a:srgbClr val="DCEEF9"/>
          </a:solidFill>
          <a:ln xmlns:a="http://schemas.openxmlformats.org/drawingml/2006/main" w="0">
            <a:noFill/>
          </a:ln>
        </p:spPr>
      </p:sp>
      <p:sp>
        <p:nvSpPr>
          <p:cNvPr id="24" name="s23">
            <a:extLst xmlns:a="http://schemas.openxmlformats.org/drawingml/2006/main">
              <a:ext uri="{FF2B5EF4-FFF2-40B4-BE49-F238E27FC236}">
                <a16:creationId xmlns:a16="http://schemas.microsoft.com/office/drawing/2014/main" id="{84571FD8-D2BA-4ADB-9FB1-39FD5C73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519" y="6653213"/>
            <a:ext cx="1806029" cy="4573935"/>
          </a:xfrm>
          <a:prstGeom xmlns:a="http://schemas.openxmlformats.org/drawingml/2006/main" prst="roundRect">
            <a:avLst>
              <a:gd name="adj" fmla="val 4219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C7DCE8"/>
            </a:solidFill>
          </a:ln>
        </p:spPr>
      </p:sp>
      <p:sp>
        <p:nvSpPr>
          <p:cNvPr id="25" name="s24">
            <a:extLst xmlns:a="http://schemas.openxmlformats.org/drawingml/2006/main">
              <a:ext uri="{FF2B5EF4-FFF2-40B4-BE49-F238E27FC236}">
                <a16:creationId xmlns:a16="http://schemas.microsoft.com/office/drawing/2014/main" id="{2C62A0AC-DCEB-4125-8760-34F4B537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044" y="9729936"/>
            <a:ext cx="1786979" cy="1487686"/>
          </a:xfrm>
          <a:prstGeom xmlns:a="http://schemas.openxmlformats.org/drawingml/2006/main" prst="roundRect">
            <a:avLst>
              <a:gd name="adj" fmla="val 4482"/>
            </a:avLst>
          </a:prstGeom>
          <a:solidFill xmlns:a="http://schemas.openxmlformats.org/drawingml/2006/main">
            <a:srgbClr val="DCEEF9"/>
          </a:solidFill>
          <a:ln xmlns:a="http://schemas.openxmlformats.org/drawingml/2006/main" w="0">
            <a:noFill/>
          </a:ln>
        </p:spPr>
      </p:sp>
      <p:sp>
        <p:nvSpPr>
          <p:cNvPr id="26" name="s25">
            <a:extLst xmlns:a="http://schemas.openxmlformats.org/drawingml/2006/main">
              <a:ext uri="{FF2B5EF4-FFF2-40B4-BE49-F238E27FC236}">
                <a16:creationId xmlns:a16="http://schemas.microsoft.com/office/drawing/2014/main" id="{1AE268A3-5DCC-4BF0-B70B-395DDF78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4848" y="6653213"/>
            <a:ext cx="1806029" cy="4573935"/>
          </a:xfrm>
          <a:prstGeom xmlns:a="http://schemas.openxmlformats.org/drawingml/2006/main" prst="roundRect">
            <a:avLst>
              <a:gd name="adj" fmla="val 4219"/>
            </a:avLst>
          </a:prstGeom>
          <a:solidFill xmlns:a="http://schemas.openxmlformats.org/drawingml/2006/main">
            <a:srgbClr val="EEF7E9"/>
          </a:solidFill>
          <a:ln xmlns:a="http://schemas.openxmlformats.org/drawingml/2006/main" w="9525">
            <a:solidFill>
              <a:srgbClr val="C7DCE8"/>
            </a:solidFill>
          </a:ln>
        </p:spPr>
      </p:sp>
      <p:sp>
        <p:nvSpPr>
          <p:cNvPr id="27" name="s26">
            <a:extLst xmlns:a="http://schemas.openxmlformats.org/drawingml/2006/main">
              <a:ext uri="{FF2B5EF4-FFF2-40B4-BE49-F238E27FC236}">
                <a16:creationId xmlns:a16="http://schemas.microsoft.com/office/drawing/2014/main" id="{A4AD07A2-CC28-4D03-ABDC-ABF80DD5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4373" y="9729936"/>
            <a:ext cx="1786979" cy="1487686"/>
          </a:xfrm>
          <a:prstGeom xmlns:a="http://schemas.openxmlformats.org/drawingml/2006/main" prst="roundRect">
            <a:avLst>
              <a:gd name="adj" fmla="val 4482"/>
            </a:avLst>
          </a:prstGeom>
          <a:solidFill xmlns:a="http://schemas.openxmlformats.org/drawingml/2006/main">
            <a:srgbClr val="E1EFD9"/>
          </a:solidFill>
          <a:ln xmlns:a="http://schemas.openxmlformats.org/drawingml/2006/main" w="0">
            <a:noFill/>
          </a:ln>
        </p:spPr>
      </p:sp>
      <p:sp>
        <p:nvSpPr>
          <p:cNvPr id="28" name="s27">
            <a:extLst xmlns:a="http://schemas.openxmlformats.org/drawingml/2006/main">
              <a:ext uri="{FF2B5EF4-FFF2-40B4-BE49-F238E27FC236}">
                <a16:creationId xmlns:a16="http://schemas.microsoft.com/office/drawing/2014/main" id="{D4FBCDA6-72C4-415A-9FAB-1672ED78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5178" y="6653213"/>
            <a:ext cx="1806029" cy="4573935"/>
          </a:xfrm>
          <a:prstGeom xmlns:a="http://schemas.openxmlformats.org/drawingml/2006/main" prst="roundRect">
            <a:avLst>
              <a:gd name="adj" fmla="val 4219"/>
            </a:avLst>
          </a:prstGeom>
          <a:solidFill xmlns:a="http://schemas.openxmlformats.org/drawingml/2006/main">
            <a:srgbClr val="EEF7E9"/>
          </a:solidFill>
          <a:ln xmlns:a="http://schemas.openxmlformats.org/drawingml/2006/main" w="9525">
            <a:solidFill>
              <a:srgbClr val="C7DCE8"/>
            </a:solidFill>
          </a:ln>
        </p:spPr>
      </p:sp>
      <p:sp>
        <p:nvSpPr>
          <p:cNvPr id="29" name="s28">
            <a:extLst xmlns:a="http://schemas.openxmlformats.org/drawingml/2006/main">
              <a:ext uri="{FF2B5EF4-FFF2-40B4-BE49-F238E27FC236}">
                <a16:creationId xmlns:a16="http://schemas.microsoft.com/office/drawing/2014/main" id="{1DFFFE77-93E6-46B8-8617-3432A1FF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4703" y="9729936"/>
            <a:ext cx="1786979" cy="1487686"/>
          </a:xfrm>
          <a:prstGeom xmlns:a="http://schemas.openxmlformats.org/drawingml/2006/main" prst="roundRect">
            <a:avLst>
              <a:gd name="adj" fmla="val 4482"/>
            </a:avLst>
          </a:prstGeom>
          <a:solidFill xmlns:a="http://schemas.openxmlformats.org/drawingml/2006/main">
            <a:srgbClr val="E1EFD9"/>
          </a:solidFill>
          <a:ln xmlns:a="http://schemas.openxmlformats.org/drawingml/2006/main" w="0">
            <a:noFill/>
          </a:ln>
        </p:spPr>
      </p:sp>
      <p:sp>
        <p:nvSpPr>
          <p:cNvPr id="30" name="s29">
            <a:extLst xmlns:a="http://schemas.openxmlformats.org/drawingml/2006/main">
              <a:ext uri="{FF2B5EF4-FFF2-40B4-BE49-F238E27FC236}">
                <a16:creationId xmlns:a16="http://schemas.microsoft.com/office/drawing/2014/main" id="{2AF04E76-7CA7-452C-AD91-CA3B401F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5507" y="6653213"/>
            <a:ext cx="1806029" cy="4573935"/>
          </a:xfrm>
          <a:prstGeom xmlns:a="http://schemas.openxmlformats.org/drawingml/2006/main" prst="roundRect">
            <a:avLst>
              <a:gd name="adj" fmla="val 4219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C7DCE8"/>
            </a:solidFill>
          </a:ln>
        </p:spPr>
      </p:sp>
      <p:sp>
        <p:nvSpPr>
          <p:cNvPr id="31" name="s30">
            <a:extLst xmlns:a="http://schemas.openxmlformats.org/drawingml/2006/main">
              <a:ext uri="{FF2B5EF4-FFF2-40B4-BE49-F238E27FC236}">
                <a16:creationId xmlns:a16="http://schemas.microsoft.com/office/drawing/2014/main" id="{E22A3E09-3579-4D27-9D7A-2FC5DB5E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5032" y="9729936"/>
            <a:ext cx="1786979" cy="1487686"/>
          </a:xfrm>
          <a:prstGeom xmlns:a="http://schemas.openxmlformats.org/drawingml/2006/main" prst="roundRect">
            <a:avLst>
              <a:gd name="adj" fmla="val 4482"/>
            </a:avLst>
          </a:prstGeom>
          <a:solidFill xmlns:a="http://schemas.openxmlformats.org/drawingml/2006/main">
            <a:srgbClr val="F8E3CF"/>
          </a:solidFill>
          <a:ln xmlns:a="http://schemas.openxmlformats.org/drawingml/2006/main" w="0">
            <a:noFill/>
          </a:ln>
        </p:spPr>
      </p:sp>
      <p:sp>
        <p:nvSpPr>
          <p:cNvPr id="32" name="s31">
            <a:extLst xmlns:a="http://schemas.openxmlformats.org/drawingml/2006/main">
              <a:ext uri="{FF2B5EF4-FFF2-40B4-BE49-F238E27FC236}">
                <a16:creationId xmlns:a16="http://schemas.microsoft.com/office/drawing/2014/main" id="{DEA6A6DD-83E2-4A70-BF0F-31D7FCE2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5836" y="6653213"/>
            <a:ext cx="1805880" cy="4573935"/>
          </a:xfrm>
          <a:prstGeom xmlns:a="http://schemas.openxmlformats.org/drawingml/2006/main" prst="roundRect">
            <a:avLst>
              <a:gd name="adj" fmla="val 4220"/>
            </a:avLst>
          </a:prstGeom>
          <a:solidFill xmlns:a="http://schemas.openxmlformats.org/drawingml/2006/main">
            <a:srgbClr val="F1EAFB"/>
          </a:solidFill>
          <a:ln xmlns:a="http://schemas.openxmlformats.org/drawingml/2006/main" w="9525">
            <a:solidFill>
              <a:srgbClr val="C7DCE8"/>
            </a:solidFill>
          </a:ln>
        </p:spPr>
      </p:sp>
      <p:sp>
        <p:nvSpPr>
          <p:cNvPr id="33" name="s32">
            <a:extLst xmlns:a="http://schemas.openxmlformats.org/drawingml/2006/main">
              <a:ext uri="{FF2B5EF4-FFF2-40B4-BE49-F238E27FC236}">
                <a16:creationId xmlns:a16="http://schemas.microsoft.com/office/drawing/2014/main" id="{7538C7B0-4AC3-4827-8368-D722E23A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5361" y="9729936"/>
            <a:ext cx="1786830" cy="1487686"/>
          </a:xfrm>
          <a:prstGeom xmlns:a="http://schemas.openxmlformats.org/drawingml/2006/main" prst="roundRect">
            <a:avLst>
              <a:gd name="adj" fmla="val 4482"/>
            </a:avLst>
          </a:prstGeom>
          <a:solidFill xmlns:a="http://schemas.openxmlformats.org/drawingml/2006/main">
            <a:srgbClr val="E7DDF4"/>
          </a:solidFill>
          <a:ln xmlns:a="http://schemas.openxmlformats.org/drawingml/2006/main" w="0">
            <a:noFill/>
          </a:ln>
        </p:spPr>
      </p:sp>
      <p:sp>
        <p:nvSpPr>
          <p:cNvPr id="34" name="s33">
            <a:extLst xmlns:a="http://schemas.openxmlformats.org/drawingml/2006/main">
              <a:ext uri="{FF2B5EF4-FFF2-40B4-BE49-F238E27FC236}">
                <a16:creationId xmlns:a16="http://schemas.microsoft.com/office/drawing/2014/main" id="{743C12FC-C540-4972-81F3-A6D0B1D7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339" y="11331922"/>
            <a:ext cx="1140752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7"/>
          </a:solidFill>
          <a:ln xmlns:a="http://schemas.openxmlformats.org/drawingml/2006/main" w="0">
            <a:noFill/>
          </a:ln>
        </p:spPr>
      </p:sp>
      <p:sp>
        <p:nvSpPr>
          <p:cNvPr id="35" name="s34">
            <a:extLst xmlns:a="http://schemas.openxmlformats.org/drawingml/2006/main">
              <a:ext uri="{FF2B5EF4-FFF2-40B4-BE49-F238E27FC236}">
                <a16:creationId xmlns:a16="http://schemas.microsoft.com/office/drawing/2014/main" id="{940C6DBB-7251-4871-90DF-09E62835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414" y="12305258"/>
            <a:ext cx="11731377" cy="517327"/>
          </a:xfrm>
          <a:prstGeom xmlns:a="http://schemas.openxmlformats.org/drawingml/2006/main" prst="roundRect">
            <a:avLst>
              <a:gd name="adj" fmla="val 11047"/>
            </a:avLst>
          </a:prstGeom>
          <a:gradFill xmlns:a="http://schemas.openxmlformats.org/drawingml/2006/main">
            <a:gsLst>
              <a:gs pos="0">
                <a:srgbClr val="056097"/>
              </a:gs>
              <a:gs pos="100000">
                <a:srgbClr val="0071A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6" name="s35">
            <a:extLst xmlns:a="http://schemas.openxmlformats.org/drawingml/2006/main">
              <a:ext uri="{FF2B5EF4-FFF2-40B4-BE49-F238E27FC236}">
                <a16:creationId xmlns:a16="http://schemas.microsoft.com/office/drawing/2014/main" id="{B949D31A-58BC-4AB3-AC15-DC346048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414" y="12822585"/>
            <a:ext cx="11731377" cy="3316039"/>
          </a:xfrm>
          <a:prstGeom xmlns:a="http://schemas.openxmlformats.org/drawingml/2006/main" prst="roundRect">
            <a:avLst>
              <a:gd name="adj" fmla="val 2585"/>
            </a:avLst>
          </a:prstGeom>
          <a:solidFill xmlns:a="http://schemas.openxmlformats.org/drawingml/2006/main">
            <a:srgbClr val="F2F8FC"/>
          </a:solidFill>
          <a:ln xmlns:a="http://schemas.openxmlformats.org/drawingml/2006/main" w="9525">
            <a:solidFill>
              <a:srgbClr val="D9E9F1"/>
            </a:solidFill>
          </a:ln>
        </p:spPr>
      </p:sp>
      <p:sp>
        <p:nvSpPr>
          <p:cNvPr id="37" name="s36">
            <a:extLst xmlns:a="http://schemas.openxmlformats.org/drawingml/2006/main">
              <a:ext uri="{FF2B5EF4-FFF2-40B4-BE49-F238E27FC236}">
                <a16:creationId xmlns:a16="http://schemas.microsoft.com/office/drawing/2014/main" id="{7DC740D0-55C9-4C09-8008-CD843E98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339" y="14020651"/>
            <a:ext cx="3739009" cy="1984623"/>
          </a:xfrm>
          <a:prstGeom xmlns:a="http://schemas.openxmlformats.org/drawingml/2006/main" prst="roundRect">
            <a:avLst>
              <a:gd name="adj" fmla="val 3360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</a:ln>
        </p:spPr>
      </p:sp>
      <p:sp>
        <p:nvSpPr>
          <p:cNvPr id="38" name="s37">
            <a:extLst xmlns:a="http://schemas.openxmlformats.org/drawingml/2006/main">
              <a:ext uri="{FF2B5EF4-FFF2-40B4-BE49-F238E27FC236}">
                <a16:creationId xmlns:a16="http://schemas.microsoft.com/office/drawing/2014/main" id="{8B8500B7-6157-4F25-B0C9-76DF3D1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598" y="14020651"/>
            <a:ext cx="3739009" cy="1984623"/>
          </a:xfrm>
          <a:prstGeom xmlns:a="http://schemas.openxmlformats.org/drawingml/2006/main" prst="roundRect">
            <a:avLst>
              <a:gd name="adj" fmla="val 3360"/>
            </a:avLst>
          </a:prstGeom>
          <a:solidFill xmlns:a="http://schemas.openxmlformats.org/drawingml/2006/main">
            <a:srgbClr val="EEF7E9"/>
          </a:solidFill>
          <a:ln xmlns:a="http://schemas.openxmlformats.org/drawingml/2006/main" w="0">
            <a:noFill/>
          </a:ln>
        </p:spPr>
      </p:sp>
      <p:sp>
        <p:nvSpPr>
          <p:cNvPr id="39" name="s38">
            <a:extLst xmlns:a="http://schemas.openxmlformats.org/drawingml/2006/main">
              <a:ext uri="{FF2B5EF4-FFF2-40B4-BE49-F238E27FC236}">
                <a16:creationId xmlns:a16="http://schemas.microsoft.com/office/drawing/2014/main" id="{D6857FC3-377F-4037-9D18-A697F96B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2857" y="14020651"/>
            <a:ext cx="3739009" cy="1984623"/>
          </a:xfrm>
          <a:prstGeom xmlns:a="http://schemas.openxmlformats.org/drawingml/2006/main" prst="roundRect">
            <a:avLst>
              <a:gd name="adj" fmla="val 336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0">
            <a:noFill/>
          </a:ln>
        </p:spPr>
      </p:sp>
      <p:sp>
        <p:nvSpPr>
          <p:cNvPr id="40" name="s39">
            <a:extLst xmlns:a="http://schemas.openxmlformats.org/drawingml/2006/main">
              <a:ext uri="{FF2B5EF4-FFF2-40B4-BE49-F238E27FC236}">
                <a16:creationId xmlns:a16="http://schemas.microsoft.com/office/drawing/2014/main" id="{F4AC9D76-3225-4181-9A6C-167CF36A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414" y="16271825"/>
            <a:ext cx="11731377" cy="517327"/>
          </a:xfrm>
          <a:prstGeom xmlns:a="http://schemas.openxmlformats.org/drawingml/2006/main" prst="roundRect">
            <a:avLst>
              <a:gd name="adj" fmla="val 11047"/>
            </a:avLst>
          </a:prstGeom>
          <a:gradFill xmlns:a="http://schemas.openxmlformats.org/drawingml/2006/main">
            <a:gsLst>
              <a:gs pos="0">
                <a:srgbClr val="056097"/>
              </a:gs>
              <a:gs pos="100000">
                <a:srgbClr val="0071A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1" name="s40">
            <a:extLst xmlns:a="http://schemas.openxmlformats.org/drawingml/2006/main">
              <a:ext uri="{FF2B5EF4-FFF2-40B4-BE49-F238E27FC236}">
                <a16:creationId xmlns:a16="http://schemas.microsoft.com/office/drawing/2014/main" id="{3DAEF154-C38C-4CC8-91AE-1342D154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414" y="16789152"/>
            <a:ext cx="11731377" cy="4306788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2F8FC"/>
          </a:solidFill>
          <a:ln xmlns:a="http://schemas.openxmlformats.org/drawingml/2006/main" w="9525">
            <a:solidFill>
              <a:srgbClr val="D9E9F1"/>
            </a:solidFill>
          </a:ln>
        </p:spPr>
      </p:sp>
      <p:sp>
        <p:nvSpPr>
          <p:cNvPr id="42" name="s41">
            <a:extLst xmlns:a="http://schemas.openxmlformats.org/drawingml/2006/main">
              <a:ext uri="{FF2B5EF4-FFF2-40B4-BE49-F238E27FC236}">
                <a16:creationId xmlns:a16="http://schemas.microsoft.com/office/drawing/2014/main" id="{16B8440A-A9D5-4E50-9D60-588476A2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5241" y="1351657"/>
            <a:ext cx="9012734" cy="517327"/>
          </a:xfrm>
          <a:prstGeom xmlns:a="http://schemas.openxmlformats.org/drawingml/2006/main" prst="roundRect">
            <a:avLst>
              <a:gd name="adj" fmla="val 11047"/>
            </a:avLst>
          </a:prstGeom>
          <a:gradFill xmlns:a="http://schemas.openxmlformats.org/drawingml/2006/main">
            <a:gsLst>
              <a:gs pos="0">
                <a:srgbClr val="056097"/>
              </a:gs>
              <a:gs pos="100000">
                <a:srgbClr val="0071A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3" name="s42">
            <a:extLst xmlns:a="http://schemas.openxmlformats.org/drawingml/2006/main">
              <a:ext uri="{FF2B5EF4-FFF2-40B4-BE49-F238E27FC236}">
                <a16:creationId xmlns:a16="http://schemas.microsoft.com/office/drawing/2014/main" id="{8DAA5623-17C3-4964-800A-FEBACF3E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5241" y="1868984"/>
            <a:ext cx="9012734" cy="3442990"/>
          </a:xfrm>
          <a:prstGeom xmlns:a="http://schemas.openxmlformats.org/drawingml/2006/main" prst="roundRect">
            <a:avLst>
              <a:gd name="adj" fmla="val 2490"/>
            </a:avLst>
          </a:prstGeom>
          <a:solidFill xmlns:a="http://schemas.openxmlformats.org/drawingml/2006/main">
            <a:srgbClr val="F2F8FC"/>
          </a:solidFill>
          <a:ln xmlns:a="http://schemas.openxmlformats.org/drawingml/2006/main" w="9525">
            <a:solidFill>
              <a:srgbClr val="D9E9F1"/>
            </a:solidFill>
          </a:ln>
        </p:spPr>
      </p:sp>
      <p:sp>
        <p:nvSpPr>
          <p:cNvPr id="44" name="s43">
            <a:extLst xmlns:a="http://schemas.openxmlformats.org/drawingml/2006/main">
              <a:ext uri="{FF2B5EF4-FFF2-40B4-BE49-F238E27FC236}">
                <a16:creationId xmlns:a16="http://schemas.microsoft.com/office/drawing/2014/main" id="{2D416C05-FE10-4A42-B64F-1D26E00B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2729359"/>
            <a:ext cx="790679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3"/>
          </a:solidFill>
          <a:ln xmlns:a="http://schemas.openxmlformats.org/drawingml/2006/main" w="0">
            <a:noFill/>
          </a:ln>
        </p:spPr>
      </p:sp>
      <p:sp>
        <p:nvSpPr>
          <p:cNvPr id="45" name="s44">
            <a:extLst xmlns:a="http://schemas.openxmlformats.org/drawingml/2006/main">
              <a:ext uri="{FF2B5EF4-FFF2-40B4-BE49-F238E27FC236}">
                <a16:creationId xmlns:a16="http://schemas.microsoft.com/office/drawing/2014/main" id="{A41AEB4A-0277-4F22-AE69-E7DB886B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2729359"/>
            <a:ext cx="517103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B9"/>
          </a:solidFill>
          <a:ln xmlns:a="http://schemas.openxmlformats.org/drawingml/2006/main" w="0">
            <a:noFill/>
          </a:ln>
        </p:spPr>
      </p:sp>
      <p:sp>
        <p:nvSpPr>
          <p:cNvPr id="46" name="s45">
            <a:extLst xmlns:a="http://schemas.openxmlformats.org/drawingml/2006/main">
              <a:ext uri="{FF2B5EF4-FFF2-40B4-BE49-F238E27FC236}">
                <a16:creationId xmlns:a16="http://schemas.microsoft.com/office/drawing/2014/main" id="{309B391C-5F7B-49D3-A978-4F77B982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3327350"/>
            <a:ext cx="790679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3"/>
          </a:solidFill>
          <a:ln xmlns:a="http://schemas.openxmlformats.org/drawingml/2006/main" w="0">
            <a:noFill/>
          </a:ln>
        </p:spPr>
      </p:sp>
      <p:sp>
        <p:nvSpPr>
          <p:cNvPr id="47" name="s46">
            <a:extLst xmlns:a="http://schemas.openxmlformats.org/drawingml/2006/main">
              <a:ext uri="{FF2B5EF4-FFF2-40B4-BE49-F238E27FC236}">
                <a16:creationId xmlns:a16="http://schemas.microsoft.com/office/drawing/2014/main" id="{5ECAA590-6082-4FB4-8756-D1BEF8C8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3327350"/>
            <a:ext cx="36528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B9"/>
          </a:solidFill>
          <a:ln xmlns:a="http://schemas.openxmlformats.org/drawingml/2006/main" w="0">
            <a:noFill/>
          </a:ln>
        </p:spPr>
      </p:sp>
      <p:sp>
        <p:nvSpPr>
          <p:cNvPr id="48" name="s47">
            <a:extLst xmlns:a="http://schemas.openxmlformats.org/drawingml/2006/main">
              <a:ext uri="{FF2B5EF4-FFF2-40B4-BE49-F238E27FC236}">
                <a16:creationId xmlns:a16="http://schemas.microsoft.com/office/drawing/2014/main" id="{4673F160-39C5-4AA4-8E9E-6308821D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3925342"/>
            <a:ext cx="790679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3"/>
          </a:solidFill>
          <a:ln xmlns:a="http://schemas.openxmlformats.org/drawingml/2006/main" w="0">
            <a:noFill/>
          </a:ln>
        </p:spPr>
      </p:sp>
      <p:sp>
        <p:nvSpPr>
          <p:cNvPr id="49" name="s48">
            <a:extLst xmlns:a="http://schemas.openxmlformats.org/drawingml/2006/main">
              <a:ext uri="{FF2B5EF4-FFF2-40B4-BE49-F238E27FC236}">
                <a16:creationId xmlns:a16="http://schemas.microsoft.com/office/drawing/2014/main" id="{24BEE708-0152-43B9-95CB-9C9FE03A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3925342"/>
            <a:ext cx="499705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B9"/>
          </a:solidFill>
          <a:ln xmlns:a="http://schemas.openxmlformats.org/drawingml/2006/main" w="0">
            <a:noFill/>
          </a:ln>
        </p:spPr>
      </p:sp>
      <p:sp>
        <p:nvSpPr>
          <p:cNvPr id="50" name="s49">
            <a:extLst xmlns:a="http://schemas.openxmlformats.org/drawingml/2006/main">
              <a:ext uri="{FF2B5EF4-FFF2-40B4-BE49-F238E27FC236}">
                <a16:creationId xmlns:a16="http://schemas.microsoft.com/office/drawing/2014/main" id="{FCE47388-9763-4BC7-88D9-12D3641E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5241" y="5412581"/>
            <a:ext cx="9012734" cy="517327"/>
          </a:xfrm>
          <a:prstGeom xmlns:a="http://schemas.openxmlformats.org/drawingml/2006/main" prst="roundRect">
            <a:avLst>
              <a:gd name="adj" fmla="val 11047"/>
            </a:avLst>
          </a:prstGeom>
          <a:gradFill xmlns:a="http://schemas.openxmlformats.org/drawingml/2006/main">
            <a:gsLst>
              <a:gs pos="0">
                <a:srgbClr val="056097"/>
              </a:gs>
              <a:gs pos="100000">
                <a:srgbClr val="0071A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51" name="s50">
            <a:extLst xmlns:a="http://schemas.openxmlformats.org/drawingml/2006/main">
              <a:ext uri="{FF2B5EF4-FFF2-40B4-BE49-F238E27FC236}">
                <a16:creationId xmlns:a16="http://schemas.microsoft.com/office/drawing/2014/main" id="{6BFC2851-760F-422A-8253-06B126A0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5241" y="5929908"/>
            <a:ext cx="9012734" cy="3201888"/>
          </a:xfrm>
          <a:prstGeom xmlns:a="http://schemas.openxmlformats.org/drawingml/2006/main" prst="roundRect">
            <a:avLst>
              <a:gd name="adj" fmla="val 2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F1"/>
            </a:solidFill>
          </a:ln>
        </p:spPr>
      </p:sp>
      <p:sp>
        <p:nvSpPr>
          <p:cNvPr id="52" name="s51">
            <a:extLst xmlns:a="http://schemas.openxmlformats.org/drawingml/2006/main">
              <a:ext uri="{FF2B5EF4-FFF2-40B4-BE49-F238E27FC236}">
                <a16:creationId xmlns:a16="http://schemas.microsoft.com/office/drawing/2014/main" id="{D099235C-26A1-463A-BC5C-0894979C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9066" y="6053733"/>
            <a:ext cx="8765084" cy="1159966"/>
          </a:xfrm>
          <a:prstGeom xmlns:a="http://schemas.openxmlformats.org/drawingml/2006/main" prst="roundRect">
            <a:avLst>
              <a:gd name="adj" fmla="val 5748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53" name="s52">
            <a:extLst xmlns:a="http://schemas.openxmlformats.org/drawingml/2006/main">
              <a:ext uri="{FF2B5EF4-FFF2-40B4-BE49-F238E27FC236}">
                <a16:creationId xmlns:a16="http://schemas.microsoft.com/office/drawing/2014/main" id="{9EF43E87-7733-4CB7-B122-D2F2D75D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9066" y="7270849"/>
            <a:ext cx="8765084" cy="839986"/>
          </a:xfrm>
          <a:prstGeom xmlns:a="http://schemas.openxmlformats.org/drawingml/2006/main" prst="roundRect">
            <a:avLst>
              <a:gd name="adj" fmla="val 7938"/>
            </a:avLst>
          </a:prstGeom>
          <a:solidFill xmlns:a="http://schemas.openxmlformats.org/drawingml/2006/main">
            <a:srgbClr val="EFF7E9"/>
          </a:solidFill>
          <a:ln xmlns:a="http://schemas.openxmlformats.org/drawingml/2006/main" w="0">
            <a:noFill/>
          </a:ln>
        </p:spPr>
      </p:sp>
      <p:sp>
        <p:nvSpPr>
          <p:cNvPr id="54" name="s53">
            <a:extLst xmlns:a="http://schemas.openxmlformats.org/drawingml/2006/main">
              <a:ext uri="{FF2B5EF4-FFF2-40B4-BE49-F238E27FC236}">
                <a16:creationId xmlns:a16="http://schemas.microsoft.com/office/drawing/2014/main" id="{6674BC3C-0D19-48B4-AE24-33369D5E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9066" y="8167985"/>
            <a:ext cx="8765084" cy="839986"/>
          </a:xfrm>
          <a:prstGeom xmlns:a="http://schemas.openxmlformats.org/drawingml/2006/main" prst="roundRect">
            <a:avLst>
              <a:gd name="adj" fmla="val 7938"/>
            </a:avLst>
          </a:prstGeom>
          <a:solidFill xmlns:a="http://schemas.openxmlformats.org/drawingml/2006/main">
            <a:srgbClr val="F2EBFA"/>
          </a:solidFill>
          <a:ln xmlns:a="http://schemas.openxmlformats.org/drawingml/2006/main" w="0">
            <a:noFill/>
          </a:ln>
        </p:spPr>
      </p:sp>
      <p:sp>
        <p:nvSpPr>
          <p:cNvPr id="55" name="s54">
            <a:extLst xmlns:a="http://schemas.openxmlformats.org/drawingml/2006/main">
              <a:ext uri="{FF2B5EF4-FFF2-40B4-BE49-F238E27FC236}">
                <a16:creationId xmlns:a16="http://schemas.microsoft.com/office/drawing/2014/main" id="{9E5E4B37-E368-4F90-AFA6-D0AB3852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5241" y="9232404"/>
            <a:ext cx="9012734" cy="517327"/>
          </a:xfrm>
          <a:prstGeom xmlns:a="http://schemas.openxmlformats.org/drawingml/2006/main" prst="roundRect">
            <a:avLst>
              <a:gd name="adj" fmla="val 11047"/>
            </a:avLst>
          </a:prstGeom>
          <a:gradFill xmlns:a="http://schemas.openxmlformats.org/drawingml/2006/main">
            <a:gsLst>
              <a:gs pos="0">
                <a:srgbClr val="056097"/>
              </a:gs>
              <a:gs pos="100000">
                <a:srgbClr val="0071A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56" name="s55">
            <a:extLst xmlns:a="http://schemas.openxmlformats.org/drawingml/2006/main">
              <a:ext uri="{FF2B5EF4-FFF2-40B4-BE49-F238E27FC236}">
                <a16:creationId xmlns:a16="http://schemas.microsoft.com/office/drawing/2014/main" id="{C724D722-91D8-435B-9976-7C53255D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5241" y="9749730"/>
            <a:ext cx="9012734" cy="5704582"/>
          </a:xfrm>
          <a:prstGeom xmlns:a="http://schemas.openxmlformats.org/drawingml/2006/main" prst="roundRect">
            <a:avLst>
              <a:gd name="adj" fmla="val 1503"/>
            </a:avLst>
          </a:prstGeom>
          <a:solidFill xmlns:a="http://schemas.openxmlformats.org/drawingml/2006/main">
            <a:srgbClr val="F2F8FC"/>
          </a:solidFill>
          <a:ln xmlns:a="http://schemas.openxmlformats.org/drawingml/2006/main" w="9525">
            <a:solidFill>
              <a:srgbClr val="D9E9F1"/>
            </a:solidFill>
          </a:ln>
        </p:spPr>
      </p:sp>
      <p:sp>
        <p:nvSpPr>
          <p:cNvPr id="57" name="s56">
            <a:extLst xmlns:a="http://schemas.openxmlformats.org/drawingml/2006/main">
              <a:ext uri="{FF2B5EF4-FFF2-40B4-BE49-F238E27FC236}">
                <a16:creationId xmlns:a16="http://schemas.microsoft.com/office/drawing/2014/main" id="{7F4ADE35-E8CF-4290-A4B5-E7F43564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9844980"/>
            <a:ext cx="8688884" cy="1866602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075C91"/>
          </a:solidFill>
          <a:ln xmlns:a="http://schemas.openxmlformats.org/drawingml/2006/main" w="0">
            <a:noFill/>
          </a:ln>
        </p:spPr>
      </p:sp>
      <p:sp>
        <p:nvSpPr>
          <p:cNvPr id="58" name="s57">
            <a:extLst xmlns:a="http://schemas.openxmlformats.org/drawingml/2006/main">
              <a:ext uri="{FF2B5EF4-FFF2-40B4-BE49-F238E27FC236}">
                <a16:creationId xmlns:a16="http://schemas.microsoft.com/office/drawing/2014/main" id="{8428B80F-8F7B-46E1-9390-240B21AA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14614327"/>
            <a:ext cx="868888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7"/>
          </a:solidFill>
          <a:ln xmlns:a="http://schemas.openxmlformats.org/drawingml/2006/main" w="0">
            <a:noFill/>
          </a:ln>
        </p:spPr>
      </p:sp>
      <p:sp>
        <p:nvSpPr>
          <p:cNvPr id="59" name="s58">
            <a:extLst xmlns:a="http://schemas.openxmlformats.org/drawingml/2006/main">
              <a:ext uri="{FF2B5EF4-FFF2-40B4-BE49-F238E27FC236}">
                <a16:creationId xmlns:a16="http://schemas.microsoft.com/office/drawing/2014/main" id="{2A8B7349-EE5B-4413-9CB7-C006BAE9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5241" y="15554920"/>
            <a:ext cx="9012734" cy="517327"/>
          </a:xfrm>
          <a:prstGeom xmlns:a="http://schemas.openxmlformats.org/drawingml/2006/main" prst="roundRect">
            <a:avLst>
              <a:gd name="adj" fmla="val 11047"/>
            </a:avLst>
          </a:prstGeom>
          <a:gradFill xmlns:a="http://schemas.openxmlformats.org/drawingml/2006/main">
            <a:gsLst>
              <a:gs pos="0">
                <a:srgbClr val="056097"/>
              </a:gs>
              <a:gs pos="100000">
                <a:srgbClr val="0071A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60" name="s59">
            <a:extLst xmlns:a="http://schemas.openxmlformats.org/drawingml/2006/main">
              <a:ext uri="{FF2B5EF4-FFF2-40B4-BE49-F238E27FC236}">
                <a16:creationId xmlns:a16="http://schemas.microsoft.com/office/drawing/2014/main" id="{EE68587D-32AB-4152-BC82-BF6F510A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5241" y="16072247"/>
            <a:ext cx="9012734" cy="849511"/>
          </a:xfrm>
          <a:prstGeom xmlns:a="http://schemas.openxmlformats.org/drawingml/2006/main" prst="roundRect">
            <a:avLst>
              <a:gd name="adj" fmla="val 10091"/>
            </a:avLst>
          </a:prstGeom>
          <a:solidFill xmlns:a="http://schemas.openxmlformats.org/drawingml/2006/main">
            <a:srgbClr val="F2F8FC"/>
          </a:solidFill>
          <a:ln xmlns:a="http://schemas.openxmlformats.org/drawingml/2006/main" w="9525">
            <a:solidFill>
              <a:srgbClr val="D9E9F1"/>
            </a:solidFill>
          </a:ln>
        </p:spPr>
      </p:sp>
      <p:sp>
        <p:nvSpPr>
          <p:cNvPr id="61" name="s60">
            <a:extLst xmlns:a="http://schemas.openxmlformats.org/drawingml/2006/main">
              <a:ext uri="{FF2B5EF4-FFF2-40B4-BE49-F238E27FC236}">
                <a16:creationId xmlns:a16="http://schemas.microsoft.com/office/drawing/2014/main" id="{EC04A66B-788E-40A5-ABBB-ACE8F67C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5241" y="17022366"/>
            <a:ext cx="9012734" cy="462409"/>
          </a:xfrm>
          <a:prstGeom xmlns:a="http://schemas.openxmlformats.org/drawingml/2006/main" prst="roundRect">
            <a:avLst>
              <a:gd name="adj" fmla="val 12359"/>
            </a:avLst>
          </a:prstGeom>
          <a:gradFill xmlns:a="http://schemas.openxmlformats.org/drawingml/2006/main">
            <a:gsLst>
              <a:gs pos="0">
                <a:srgbClr val="056097"/>
              </a:gs>
              <a:gs pos="100000">
                <a:srgbClr val="0071A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62" name="s61">
            <a:extLst xmlns:a="http://schemas.openxmlformats.org/drawingml/2006/main">
              <a:ext uri="{FF2B5EF4-FFF2-40B4-BE49-F238E27FC236}">
                <a16:creationId xmlns:a16="http://schemas.microsoft.com/office/drawing/2014/main" id="{9D763CA3-3B24-4AA1-99FB-BEA321DC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5241" y="17484775"/>
            <a:ext cx="9012734" cy="3611166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9E9F1"/>
            </a:solidFill>
          </a:ln>
        </p:spPr>
      </p:sp>
      <p:sp>
        <p:nvSpPr>
          <p:cNvPr id="63" name="s62">
            <a:extLst xmlns:a="http://schemas.openxmlformats.org/drawingml/2006/main">
              <a:ext uri="{FF2B5EF4-FFF2-40B4-BE49-F238E27FC236}">
                <a16:creationId xmlns:a16="http://schemas.microsoft.com/office/drawing/2014/main" id="{9EFC8CA5-651E-4C42-8D62-395307C3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9066" y="20265479"/>
            <a:ext cx="876508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7"/>
          </a:solidFill>
          <a:ln xmlns:a="http://schemas.openxmlformats.org/drawingml/2006/main" w="0">
            <a:noFill/>
          </a:ln>
        </p:spPr>
      </p:sp>
      <p:sp>
        <p:nvSpPr>
          <p:cNvPr id="64" name="s63">
            <a:extLst xmlns:a="http://schemas.openxmlformats.org/drawingml/2006/main">
              <a:ext uri="{FF2B5EF4-FFF2-40B4-BE49-F238E27FC236}">
                <a16:creationId xmlns:a16="http://schemas.microsoft.com/office/drawing/2014/main" id="{775DFD82-7898-4E50-A8DF-374886EC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0219" y="9329886"/>
            <a:ext cx="104775" cy="171450"/>
          </a:xfrm>
          <a:custGeom xmlns:a="http://schemas.openxmlformats.org/drawingml/2006/main">
            <a:pathLst>
              <a:path w="104775" h="171450">
                <a:moveTo>
                  <a:pt x="0" y="51435"/>
                </a:moveTo>
                <a:lnTo>
                  <a:pt x="57626" y="51435"/>
                </a:lnTo>
                <a:lnTo>
                  <a:pt x="57626" y="0"/>
                </a:lnTo>
                <a:lnTo>
                  <a:pt x="104775" y="85725"/>
                </a:lnTo>
                <a:lnTo>
                  <a:pt x="57626" y="171450"/>
                </a:lnTo>
                <a:lnTo>
                  <a:pt x="57626" y="120015"/>
                </a:lnTo>
                <a:lnTo>
                  <a:pt x="0" y="120015"/>
                </a:lnTo>
                <a:close/>
              </a:path>
            </a:pathLst>
          </a:custGeom>
          <a:solidFill xmlns:a="http://schemas.openxmlformats.org/drawingml/2006/main">
            <a:srgbClr val="147BA7"/>
          </a:solidFill>
          <a:ln xmlns:a="http://schemas.openxmlformats.org/drawingml/2006/main" w="0">
            <a:noFill/>
          </a:ln>
        </p:spPr>
      </p:sp>
      <p:sp>
        <p:nvSpPr>
          <p:cNvPr id="65" name="s64">
            <a:extLst xmlns:a="http://schemas.openxmlformats.org/drawingml/2006/main">
              <a:ext uri="{FF2B5EF4-FFF2-40B4-BE49-F238E27FC236}">
                <a16:creationId xmlns:a16="http://schemas.microsoft.com/office/drawing/2014/main" id="{CE463E7C-2FDC-4F19-9251-2CF9EE9B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548" y="9329886"/>
            <a:ext cx="104775" cy="171450"/>
          </a:xfrm>
          <a:custGeom xmlns:a="http://schemas.openxmlformats.org/drawingml/2006/main">
            <a:pathLst>
              <a:path w="104775" h="171450">
                <a:moveTo>
                  <a:pt x="0" y="51435"/>
                </a:moveTo>
                <a:lnTo>
                  <a:pt x="57626" y="51435"/>
                </a:lnTo>
                <a:lnTo>
                  <a:pt x="57626" y="0"/>
                </a:lnTo>
                <a:lnTo>
                  <a:pt x="104775" y="85725"/>
                </a:lnTo>
                <a:lnTo>
                  <a:pt x="57626" y="171450"/>
                </a:lnTo>
                <a:lnTo>
                  <a:pt x="57626" y="120015"/>
                </a:lnTo>
                <a:lnTo>
                  <a:pt x="0" y="120015"/>
                </a:lnTo>
                <a:close/>
              </a:path>
            </a:pathLst>
          </a:custGeom>
          <a:solidFill xmlns:a="http://schemas.openxmlformats.org/drawingml/2006/main">
            <a:srgbClr val="147BA7"/>
          </a:solidFill>
          <a:ln xmlns:a="http://schemas.openxmlformats.org/drawingml/2006/main" w="0">
            <a:noFill/>
          </a:ln>
        </p:spPr>
      </p:sp>
      <p:sp>
        <p:nvSpPr>
          <p:cNvPr id="66" name="s65">
            <a:extLst xmlns:a="http://schemas.openxmlformats.org/drawingml/2006/main">
              <a:ext uri="{FF2B5EF4-FFF2-40B4-BE49-F238E27FC236}">
                <a16:creationId xmlns:a16="http://schemas.microsoft.com/office/drawing/2014/main" id="{3C3189D4-E727-4959-951E-9226E10D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0878" y="9329886"/>
            <a:ext cx="104775" cy="171450"/>
          </a:xfrm>
          <a:custGeom xmlns:a="http://schemas.openxmlformats.org/drawingml/2006/main">
            <a:pathLst>
              <a:path w="104775" h="171450">
                <a:moveTo>
                  <a:pt x="0" y="51435"/>
                </a:moveTo>
                <a:lnTo>
                  <a:pt x="57626" y="51435"/>
                </a:lnTo>
                <a:lnTo>
                  <a:pt x="57626" y="0"/>
                </a:lnTo>
                <a:lnTo>
                  <a:pt x="104775" y="85725"/>
                </a:lnTo>
                <a:lnTo>
                  <a:pt x="57626" y="171450"/>
                </a:lnTo>
                <a:lnTo>
                  <a:pt x="57626" y="120015"/>
                </a:lnTo>
                <a:lnTo>
                  <a:pt x="0" y="120015"/>
                </a:lnTo>
                <a:close/>
              </a:path>
            </a:pathLst>
          </a:custGeom>
          <a:solidFill xmlns:a="http://schemas.openxmlformats.org/drawingml/2006/main">
            <a:srgbClr val="3B782D"/>
          </a:solidFill>
          <a:ln xmlns:a="http://schemas.openxmlformats.org/drawingml/2006/main" w="0">
            <a:noFill/>
          </a:ln>
        </p:spPr>
      </p:sp>
      <p:sp>
        <p:nvSpPr>
          <p:cNvPr id="67" name="s66">
            <a:extLst xmlns:a="http://schemas.openxmlformats.org/drawingml/2006/main">
              <a:ext uri="{FF2B5EF4-FFF2-40B4-BE49-F238E27FC236}">
                <a16:creationId xmlns:a16="http://schemas.microsoft.com/office/drawing/2014/main" id="{BD4BFFE0-5AB9-447F-8635-F3A88ED4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207" y="9329886"/>
            <a:ext cx="104775" cy="171450"/>
          </a:xfrm>
          <a:custGeom xmlns:a="http://schemas.openxmlformats.org/drawingml/2006/main">
            <a:pathLst>
              <a:path w="104775" h="171450">
                <a:moveTo>
                  <a:pt x="0" y="51435"/>
                </a:moveTo>
                <a:lnTo>
                  <a:pt x="57626" y="51435"/>
                </a:lnTo>
                <a:lnTo>
                  <a:pt x="57626" y="0"/>
                </a:lnTo>
                <a:lnTo>
                  <a:pt x="104775" y="85725"/>
                </a:lnTo>
                <a:lnTo>
                  <a:pt x="57626" y="171450"/>
                </a:lnTo>
                <a:lnTo>
                  <a:pt x="57626" y="120015"/>
                </a:lnTo>
                <a:lnTo>
                  <a:pt x="0" y="120015"/>
                </a:lnTo>
                <a:close/>
              </a:path>
            </a:pathLst>
          </a:custGeom>
          <a:solidFill xmlns:a="http://schemas.openxmlformats.org/drawingml/2006/main">
            <a:srgbClr val="3B782D"/>
          </a:solidFill>
          <a:ln xmlns:a="http://schemas.openxmlformats.org/drawingml/2006/main" w="0">
            <a:noFill/>
          </a:ln>
        </p:spPr>
      </p:sp>
      <p:sp>
        <p:nvSpPr>
          <p:cNvPr id="68" name="s67">
            <a:extLst xmlns:a="http://schemas.openxmlformats.org/drawingml/2006/main">
              <a:ext uri="{FF2B5EF4-FFF2-40B4-BE49-F238E27FC236}">
                <a16:creationId xmlns:a16="http://schemas.microsoft.com/office/drawing/2014/main" id="{27F77489-89B7-4B4E-A018-A6929FD9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1536" y="9329886"/>
            <a:ext cx="104775" cy="171450"/>
          </a:xfrm>
          <a:custGeom xmlns:a="http://schemas.openxmlformats.org/drawingml/2006/main">
            <a:pathLst>
              <a:path w="104775" h="171450">
                <a:moveTo>
                  <a:pt x="0" y="51435"/>
                </a:moveTo>
                <a:lnTo>
                  <a:pt x="57626" y="51435"/>
                </a:lnTo>
                <a:lnTo>
                  <a:pt x="57626" y="0"/>
                </a:lnTo>
                <a:lnTo>
                  <a:pt x="104775" y="85725"/>
                </a:lnTo>
                <a:lnTo>
                  <a:pt x="57626" y="171450"/>
                </a:lnTo>
                <a:lnTo>
                  <a:pt x="57626" y="120015"/>
                </a:lnTo>
                <a:lnTo>
                  <a:pt x="0" y="120015"/>
                </a:lnTo>
                <a:close/>
              </a:path>
            </a:pathLst>
          </a:custGeom>
          <a:solidFill xmlns:a="http://schemas.openxmlformats.org/drawingml/2006/main">
            <a:srgbClr val="AB5826"/>
          </a:solidFill>
          <a:ln xmlns:a="http://schemas.openxmlformats.org/drawingml/2006/main" w="0">
            <a:noFill/>
          </a:ln>
        </p:spPr>
      </p:sp>
      <p:sp>
        <p:nvSpPr>
          <p:cNvPr id="69" name="s68">
            <a:extLst xmlns:a="http://schemas.openxmlformats.org/drawingml/2006/main">
              <a:ext uri="{FF2B5EF4-FFF2-40B4-BE49-F238E27FC236}">
                <a16:creationId xmlns:a16="http://schemas.microsoft.com/office/drawing/2014/main" id="{E99D9AEE-1C67-488F-853E-34A63C6A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53" y="20229433"/>
            <a:ext cx="3089479" cy="95"/>
          </a:xfrm>
          <a:custGeom xmlns:a="http://schemas.openxmlformats.org/drawingml/2006/main">
            <a:pathLst>
              <a:path w="3089479" h="95">
                <a:moveTo>
                  <a:pt x="0" y="0"/>
                </a:moveTo>
                <a:lnTo>
                  <a:pt x="30894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24">
            <a:solidFill>
              <a:srgbClr val="DCE6ED"/>
            </a:solidFill>
          </a:ln>
        </p:spPr>
      </p:sp>
      <p:sp>
        <p:nvSpPr>
          <p:cNvPr id="70" name="s69">
            <a:extLst xmlns:a="http://schemas.openxmlformats.org/drawingml/2006/main">
              <a:ext uri="{FF2B5EF4-FFF2-40B4-BE49-F238E27FC236}">
                <a16:creationId xmlns:a16="http://schemas.microsoft.com/office/drawing/2014/main" id="{DE166EF9-6DD7-4685-869A-73BEA2FA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53" y="19176039"/>
            <a:ext cx="3089479" cy="95"/>
          </a:xfrm>
          <a:custGeom xmlns:a="http://schemas.openxmlformats.org/drawingml/2006/main">
            <a:pathLst>
              <a:path w="3089479" h="95">
                <a:moveTo>
                  <a:pt x="0" y="0"/>
                </a:moveTo>
                <a:lnTo>
                  <a:pt x="30894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24">
            <a:solidFill>
              <a:srgbClr val="DCE6ED"/>
            </a:solidFill>
          </a:ln>
        </p:spPr>
      </p:sp>
      <p:sp>
        <p:nvSpPr>
          <p:cNvPr id="71" name="s70">
            <a:extLst xmlns:a="http://schemas.openxmlformats.org/drawingml/2006/main">
              <a:ext uri="{FF2B5EF4-FFF2-40B4-BE49-F238E27FC236}">
                <a16:creationId xmlns:a16="http://schemas.microsoft.com/office/drawing/2014/main" id="{BF7B65A7-BF41-43C7-A262-915518F5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53" y="18122646"/>
            <a:ext cx="3089479" cy="95"/>
          </a:xfrm>
          <a:custGeom xmlns:a="http://schemas.openxmlformats.org/drawingml/2006/main">
            <a:pathLst>
              <a:path w="3089479" h="95">
                <a:moveTo>
                  <a:pt x="0" y="0"/>
                </a:moveTo>
                <a:lnTo>
                  <a:pt x="30894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24">
            <a:solidFill>
              <a:srgbClr val="DCE6ED"/>
            </a:solidFill>
          </a:ln>
        </p:spPr>
      </p:sp>
      <p:sp>
        <p:nvSpPr>
          <p:cNvPr id="72" name="s71">
            <a:extLst xmlns:a="http://schemas.openxmlformats.org/drawingml/2006/main">
              <a:ext uri="{FF2B5EF4-FFF2-40B4-BE49-F238E27FC236}">
                <a16:creationId xmlns:a16="http://schemas.microsoft.com/office/drawing/2014/main" id="{5D0A9FB5-26B8-4C8C-9945-CA42B240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53" y="18451319"/>
            <a:ext cx="2994418" cy="804809"/>
          </a:xfrm>
          <a:custGeom xmlns:a="http://schemas.openxmlformats.org/drawingml/2006/main">
            <a:pathLst>
              <a:path w="2994418" h="804809">
                <a:moveTo>
                  <a:pt x="0" y="804809"/>
                </a:moveTo>
                <a:lnTo>
                  <a:pt x="499070" y="446667"/>
                </a:lnTo>
                <a:lnTo>
                  <a:pt x="998139" y="728879"/>
                </a:lnTo>
                <a:lnTo>
                  <a:pt x="1497209" y="206401"/>
                </a:lnTo>
                <a:lnTo>
                  <a:pt x="1996279" y="0"/>
                </a:lnTo>
                <a:lnTo>
                  <a:pt x="2495349" y="0"/>
                </a:lnTo>
                <a:lnTo>
                  <a:pt x="29944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530">
            <a:solidFill>
              <a:srgbClr val="0674B6"/>
            </a:solidFill>
          </a:ln>
        </p:spPr>
      </p:sp>
      <p:sp>
        <p:nvSpPr>
          <p:cNvPr id="73" name="s72">
            <a:extLst xmlns:a="http://schemas.openxmlformats.org/drawingml/2006/main">
              <a:ext uri="{FF2B5EF4-FFF2-40B4-BE49-F238E27FC236}">
                <a16:creationId xmlns:a16="http://schemas.microsoft.com/office/drawing/2014/main" id="{585E4787-EF7B-40A7-9031-64B309DD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340" y="19196715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74" name="s73">
            <a:extLst xmlns:a="http://schemas.openxmlformats.org/drawingml/2006/main">
              <a:ext uri="{FF2B5EF4-FFF2-40B4-BE49-F238E27FC236}">
                <a16:creationId xmlns:a16="http://schemas.microsoft.com/office/drawing/2014/main" id="{FE2D9BA2-4486-4A85-B278-BFBC4DD8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409" y="18838573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75" name="s74">
            <a:extLst xmlns:a="http://schemas.openxmlformats.org/drawingml/2006/main">
              <a:ext uri="{FF2B5EF4-FFF2-40B4-BE49-F238E27FC236}">
                <a16:creationId xmlns:a16="http://schemas.microsoft.com/office/drawing/2014/main" id="{DFD8D27B-3B40-4AAA-B34D-2C3BDBF1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479" y="19120785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76" name="s75">
            <a:extLst xmlns:a="http://schemas.openxmlformats.org/drawingml/2006/main">
              <a:ext uri="{FF2B5EF4-FFF2-40B4-BE49-F238E27FC236}">
                <a16:creationId xmlns:a16="http://schemas.microsoft.com/office/drawing/2014/main" id="{F2D23BED-E36C-474A-B748-827C2992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7549" y="18598307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77" name="s76">
            <a:extLst xmlns:a="http://schemas.openxmlformats.org/drawingml/2006/main">
              <a:ext uri="{FF2B5EF4-FFF2-40B4-BE49-F238E27FC236}">
                <a16:creationId xmlns:a16="http://schemas.microsoft.com/office/drawing/2014/main" id="{1B950AD6-EAFE-407E-917F-6F8A7495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6618" y="18391906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78" name="s77">
            <a:extLst xmlns:a="http://schemas.openxmlformats.org/drawingml/2006/main">
              <a:ext uri="{FF2B5EF4-FFF2-40B4-BE49-F238E27FC236}">
                <a16:creationId xmlns:a16="http://schemas.microsoft.com/office/drawing/2014/main" id="{CF6D37E5-E269-45A5-BF0A-FBDC9CBF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5688" y="18391906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79" name="s78">
            <a:extLst xmlns:a="http://schemas.openxmlformats.org/drawingml/2006/main">
              <a:ext uri="{FF2B5EF4-FFF2-40B4-BE49-F238E27FC236}">
                <a16:creationId xmlns:a16="http://schemas.microsoft.com/office/drawing/2014/main" id="{D4C7F58E-B53B-4A42-9BB9-7D95063A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4758" y="18391906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80" name="s79">
            <a:extLst xmlns:a="http://schemas.openxmlformats.org/drawingml/2006/main">
              <a:ext uri="{FF2B5EF4-FFF2-40B4-BE49-F238E27FC236}">
                <a16:creationId xmlns:a16="http://schemas.microsoft.com/office/drawing/2014/main" id="{6142C6E8-FD30-427A-A244-94570941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7836" y="20229433"/>
            <a:ext cx="3089479" cy="95"/>
          </a:xfrm>
          <a:custGeom xmlns:a="http://schemas.openxmlformats.org/drawingml/2006/main">
            <a:pathLst>
              <a:path w="3089479" h="95">
                <a:moveTo>
                  <a:pt x="0" y="0"/>
                </a:moveTo>
                <a:lnTo>
                  <a:pt x="30894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24">
            <a:solidFill>
              <a:srgbClr val="DCE6ED"/>
            </a:solidFill>
          </a:ln>
        </p:spPr>
      </p:sp>
      <p:sp>
        <p:nvSpPr>
          <p:cNvPr id="81" name="s80">
            <a:extLst xmlns:a="http://schemas.openxmlformats.org/drawingml/2006/main">
              <a:ext uri="{FF2B5EF4-FFF2-40B4-BE49-F238E27FC236}">
                <a16:creationId xmlns:a16="http://schemas.microsoft.com/office/drawing/2014/main" id="{79AB11E4-93A1-47D4-8082-9395CBA6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7836" y="19176039"/>
            <a:ext cx="3089479" cy="95"/>
          </a:xfrm>
          <a:custGeom xmlns:a="http://schemas.openxmlformats.org/drawingml/2006/main">
            <a:pathLst>
              <a:path w="3089479" h="95">
                <a:moveTo>
                  <a:pt x="0" y="0"/>
                </a:moveTo>
                <a:lnTo>
                  <a:pt x="30894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24">
            <a:solidFill>
              <a:srgbClr val="DCE6ED"/>
            </a:solidFill>
          </a:ln>
        </p:spPr>
      </p:sp>
      <p:sp>
        <p:nvSpPr>
          <p:cNvPr id="82" name="s81">
            <a:extLst xmlns:a="http://schemas.openxmlformats.org/drawingml/2006/main">
              <a:ext uri="{FF2B5EF4-FFF2-40B4-BE49-F238E27FC236}">
                <a16:creationId xmlns:a16="http://schemas.microsoft.com/office/drawing/2014/main" id="{607D023F-EAF4-456F-8429-94670809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7836" y="18122646"/>
            <a:ext cx="3089479" cy="95"/>
          </a:xfrm>
          <a:custGeom xmlns:a="http://schemas.openxmlformats.org/drawingml/2006/main">
            <a:pathLst>
              <a:path w="3089479" h="95">
                <a:moveTo>
                  <a:pt x="0" y="0"/>
                </a:moveTo>
                <a:lnTo>
                  <a:pt x="30894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24">
            <a:solidFill>
              <a:srgbClr val="DCE6ED"/>
            </a:solidFill>
          </a:ln>
        </p:spPr>
      </p:sp>
      <p:sp>
        <p:nvSpPr>
          <p:cNvPr id="83" name="s82">
            <a:extLst xmlns:a="http://schemas.openxmlformats.org/drawingml/2006/main">
              <a:ext uri="{FF2B5EF4-FFF2-40B4-BE49-F238E27FC236}">
                <a16:creationId xmlns:a16="http://schemas.microsoft.com/office/drawing/2014/main" id="{60581578-1674-417B-A4BC-7C22CC3E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7836" y="18928168"/>
            <a:ext cx="2994418" cy="1141087"/>
          </a:xfrm>
          <a:custGeom xmlns:a="http://schemas.openxmlformats.org/drawingml/2006/main">
            <a:pathLst>
              <a:path w="2994418" h="1141087">
                <a:moveTo>
                  <a:pt x="0" y="1141087"/>
                </a:moveTo>
                <a:lnTo>
                  <a:pt x="499070" y="1064920"/>
                </a:lnTo>
                <a:lnTo>
                  <a:pt x="998139" y="990891"/>
                </a:lnTo>
                <a:lnTo>
                  <a:pt x="1497209" y="833922"/>
                </a:lnTo>
                <a:lnTo>
                  <a:pt x="1996279" y="730781"/>
                </a:lnTo>
                <a:lnTo>
                  <a:pt x="2495349" y="730781"/>
                </a:lnTo>
                <a:lnTo>
                  <a:pt x="29944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530">
            <a:solidFill>
              <a:srgbClr val="0674B6"/>
            </a:solidFill>
          </a:ln>
        </p:spPr>
      </p:sp>
      <p:sp>
        <p:nvSpPr>
          <p:cNvPr id="84" name="s83">
            <a:extLst xmlns:a="http://schemas.openxmlformats.org/drawingml/2006/main">
              <a:ext uri="{FF2B5EF4-FFF2-40B4-BE49-F238E27FC236}">
                <a16:creationId xmlns:a16="http://schemas.microsoft.com/office/drawing/2014/main" id="{D8395ED3-37D4-48CF-A78C-0B6A213C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8423" y="20009842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85" name="s84">
            <a:extLst xmlns:a="http://schemas.openxmlformats.org/drawingml/2006/main">
              <a:ext uri="{FF2B5EF4-FFF2-40B4-BE49-F238E27FC236}">
                <a16:creationId xmlns:a16="http://schemas.microsoft.com/office/drawing/2014/main" id="{F53A1E31-F5F7-40BC-B498-AA3F8E19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7493" y="19933675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86" name="s85">
            <a:extLst xmlns:a="http://schemas.openxmlformats.org/drawingml/2006/main">
              <a:ext uri="{FF2B5EF4-FFF2-40B4-BE49-F238E27FC236}">
                <a16:creationId xmlns:a16="http://schemas.microsoft.com/office/drawing/2014/main" id="{35577972-1440-43C4-BF82-D096ED7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6563" y="19859646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87" name="s86">
            <a:extLst xmlns:a="http://schemas.openxmlformats.org/drawingml/2006/main">
              <a:ext uri="{FF2B5EF4-FFF2-40B4-BE49-F238E27FC236}">
                <a16:creationId xmlns:a16="http://schemas.microsoft.com/office/drawing/2014/main" id="{18BE6425-FE7A-41EA-A49E-23319A19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5633" y="19702677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88" name="s87">
            <a:extLst xmlns:a="http://schemas.openxmlformats.org/drawingml/2006/main">
              <a:ext uri="{FF2B5EF4-FFF2-40B4-BE49-F238E27FC236}">
                <a16:creationId xmlns:a16="http://schemas.microsoft.com/office/drawing/2014/main" id="{AA5FD3D5-3ADC-45E6-8CBF-5B1E8BFE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4702" y="19599536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89" name="s88">
            <a:extLst xmlns:a="http://schemas.openxmlformats.org/drawingml/2006/main">
              <a:ext uri="{FF2B5EF4-FFF2-40B4-BE49-F238E27FC236}">
                <a16:creationId xmlns:a16="http://schemas.microsoft.com/office/drawing/2014/main" id="{971C39F6-F338-4266-9FC3-0FD2E5E9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3772" y="19599536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90" name="s89">
            <a:extLst xmlns:a="http://schemas.openxmlformats.org/drawingml/2006/main">
              <a:ext uri="{FF2B5EF4-FFF2-40B4-BE49-F238E27FC236}">
                <a16:creationId xmlns:a16="http://schemas.microsoft.com/office/drawing/2014/main" id="{AA96D0E7-FE44-4F45-90D3-0865DA1B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2842" y="18868755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91" name="s90">
            <a:extLst xmlns:a="http://schemas.openxmlformats.org/drawingml/2006/main">
              <a:ext uri="{FF2B5EF4-FFF2-40B4-BE49-F238E27FC236}">
                <a16:creationId xmlns:a16="http://schemas.microsoft.com/office/drawing/2014/main" id="{5CCB7950-7FDD-474B-9551-E0BE4473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5920" y="20229433"/>
            <a:ext cx="3089479" cy="95"/>
          </a:xfrm>
          <a:custGeom xmlns:a="http://schemas.openxmlformats.org/drawingml/2006/main">
            <a:pathLst>
              <a:path w="3089479" h="95">
                <a:moveTo>
                  <a:pt x="0" y="0"/>
                </a:moveTo>
                <a:lnTo>
                  <a:pt x="30894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24">
            <a:solidFill>
              <a:srgbClr val="DCE6ED"/>
            </a:solidFill>
          </a:ln>
        </p:spPr>
      </p:sp>
      <p:sp>
        <p:nvSpPr>
          <p:cNvPr id="92" name="s91">
            <a:extLst xmlns:a="http://schemas.openxmlformats.org/drawingml/2006/main">
              <a:ext uri="{FF2B5EF4-FFF2-40B4-BE49-F238E27FC236}">
                <a16:creationId xmlns:a16="http://schemas.microsoft.com/office/drawing/2014/main" id="{A0E5A0DE-F668-483C-9E76-1EE62F33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5920" y="19176039"/>
            <a:ext cx="3089479" cy="95"/>
          </a:xfrm>
          <a:custGeom xmlns:a="http://schemas.openxmlformats.org/drawingml/2006/main">
            <a:pathLst>
              <a:path w="3089479" h="95">
                <a:moveTo>
                  <a:pt x="0" y="0"/>
                </a:moveTo>
                <a:lnTo>
                  <a:pt x="30894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24">
            <a:solidFill>
              <a:srgbClr val="DCE6ED"/>
            </a:solidFill>
          </a:ln>
        </p:spPr>
      </p:sp>
      <p:sp>
        <p:nvSpPr>
          <p:cNvPr id="93" name="s92">
            <a:extLst xmlns:a="http://schemas.openxmlformats.org/drawingml/2006/main">
              <a:ext uri="{FF2B5EF4-FFF2-40B4-BE49-F238E27FC236}">
                <a16:creationId xmlns:a16="http://schemas.microsoft.com/office/drawing/2014/main" id="{C5565621-6B99-4AA6-87C9-BF2507FF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5920" y="18122646"/>
            <a:ext cx="3089479" cy="95"/>
          </a:xfrm>
          <a:custGeom xmlns:a="http://schemas.openxmlformats.org/drawingml/2006/main">
            <a:pathLst>
              <a:path w="3089479" h="95">
                <a:moveTo>
                  <a:pt x="0" y="0"/>
                </a:moveTo>
                <a:lnTo>
                  <a:pt x="30894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24">
            <a:solidFill>
              <a:srgbClr val="DCE6ED"/>
            </a:solidFill>
          </a:ln>
        </p:spPr>
      </p:sp>
      <p:sp>
        <p:nvSpPr>
          <p:cNvPr id="94" name="s93">
            <a:extLst xmlns:a="http://schemas.openxmlformats.org/drawingml/2006/main">
              <a:ext uri="{FF2B5EF4-FFF2-40B4-BE49-F238E27FC236}">
                <a16:creationId xmlns:a16="http://schemas.microsoft.com/office/drawing/2014/main" id="{B947FA2A-17C0-42D5-A78A-D0E18DD3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5920" y="18566224"/>
            <a:ext cx="2994418" cy="851864"/>
          </a:xfrm>
          <a:custGeom xmlns:a="http://schemas.openxmlformats.org/drawingml/2006/main">
            <a:pathLst>
              <a:path w="2994418" h="851864">
                <a:moveTo>
                  <a:pt x="0" y="851864"/>
                </a:moveTo>
                <a:lnTo>
                  <a:pt x="499070" y="364915"/>
                </a:lnTo>
                <a:lnTo>
                  <a:pt x="998139" y="548858"/>
                </a:lnTo>
                <a:lnTo>
                  <a:pt x="1497209" y="132135"/>
                </a:lnTo>
                <a:lnTo>
                  <a:pt x="1996279" y="0"/>
                </a:lnTo>
                <a:lnTo>
                  <a:pt x="2495349" y="0"/>
                </a:lnTo>
                <a:lnTo>
                  <a:pt x="2994418" y="88644"/>
                </a:lnTo>
              </a:path>
            </a:pathLst>
          </a:custGeom>
          <a:noFill xmlns:a="http://schemas.openxmlformats.org/drawingml/2006/main"/>
          <a:ln xmlns:a="http://schemas.openxmlformats.org/drawingml/2006/main" w="47530">
            <a:solidFill>
              <a:srgbClr val="0674B6"/>
            </a:solidFill>
          </a:ln>
        </p:spPr>
      </p:sp>
      <p:sp>
        <p:nvSpPr>
          <p:cNvPr id="95" name="s94">
            <a:extLst xmlns:a="http://schemas.openxmlformats.org/drawingml/2006/main">
              <a:ext uri="{FF2B5EF4-FFF2-40B4-BE49-F238E27FC236}">
                <a16:creationId xmlns:a16="http://schemas.microsoft.com/office/drawing/2014/main" id="{5AE444F8-2D37-4FDB-BDF5-CCF4D906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6507" y="19358675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96" name="s95">
            <a:extLst xmlns:a="http://schemas.openxmlformats.org/drawingml/2006/main">
              <a:ext uri="{FF2B5EF4-FFF2-40B4-BE49-F238E27FC236}">
                <a16:creationId xmlns:a16="http://schemas.microsoft.com/office/drawing/2014/main" id="{2C1C3B2E-F0A6-4D39-84F1-65FF05D5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5577" y="18871726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97" name="s96">
            <a:extLst xmlns:a="http://schemas.openxmlformats.org/drawingml/2006/main">
              <a:ext uri="{FF2B5EF4-FFF2-40B4-BE49-F238E27FC236}">
                <a16:creationId xmlns:a16="http://schemas.microsoft.com/office/drawing/2014/main" id="{3C75FE5F-7B11-45C9-9EC8-F5414E69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4647" y="19055669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98" name="s97">
            <a:extLst xmlns:a="http://schemas.openxmlformats.org/drawingml/2006/main">
              <a:ext uri="{FF2B5EF4-FFF2-40B4-BE49-F238E27FC236}">
                <a16:creationId xmlns:a16="http://schemas.microsoft.com/office/drawing/2014/main" id="{C3B65E9D-5455-4FA8-8E8B-1080D015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3716" y="18638945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99" name="s98">
            <a:extLst xmlns:a="http://schemas.openxmlformats.org/drawingml/2006/main">
              <a:ext uri="{FF2B5EF4-FFF2-40B4-BE49-F238E27FC236}">
                <a16:creationId xmlns:a16="http://schemas.microsoft.com/office/drawing/2014/main" id="{1CC16FB2-3583-424D-B9DC-386F2201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2786" y="18506811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100" name="s99">
            <a:extLst xmlns:a="http://schemas.openxmlformats.org/drawingml/2006/main">
              <a:ext uri="{FF2B5EF4-FFF2-40B4-BE49-F238E27FC236}">
                <a16:creationId xmlns:a16="http://schemas.microsoft.com/office/drawing/2014/main" id="{BC4D2EBB-1BFA-4801-9EDA-7FC993EB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21856" y="18506811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101" name="s100">
            <a:extLst xmlns:a="http://schemas.openxmlformats.org/drawingml/2006/main">
              <a:ext uri="{FF2B5EF4-FFF2-40B4-BE49-F238E27FC236}">
                <a16:creationId xmlns:a16="http://schemas.microsoft.com/office/drawing/2014/main" id="{BF6C87E4-E615-4B16-AD9C-3BA0CFF3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926" y="18595455"/>
            <a:ext cx="118826" cy="118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4B6"/>
          </a:solidFill>
          <a:ln xmlns:a="http://schemas.openxmlformats.org/drawingml/2006/main" w="0">
            <a:noFill/>
          </a:ln>
        </p:spPr>
      </p:sp>
      <p:sp>
        <p:nvSpPr>
          <p:cNvPr id="102" name="s101">
            <a:extLst xmlns:a="http://schemas.openxmlformats.org/drawingml/2006/main">
              <a:ext uri="{FF2B5EF4-FFF2-40B4-BE49-F238E27FC236}">
                <a16:creationId xmlns:a16="http://schemas.microsoft.com/office/drawing/2014/main" id="{F1988B32-0ECC-42C6-BBF7-A8B00C3E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381" y="19326838"/>
            <a:ext cx="531057" cy="39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46.2</a:t>
            </a:r>
          </a:p>
        </p:txBody>
      </p:sp>
      <p:sp>
        <p:nvSpPr>
          <p:cNvPr id="103" name="s102">
            <a:extLst xmlns:a="http://schemas.openxmlformats.org/drawingml/2006/main">
              <a:ext uri="{FF2B5EF4-FFF2-40B4-BE49-F238E27FC236}">
                <a16:creationId xmlns:a16="http://schemas.microsoft.com/office/drawing/2014/main" id="{8B391E20-4764-436D-A1A6-759CC30B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0594" y="18410213"/>
            <a:ext cx="516806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63.2</a:t>
            </a:r>
          </a:p>
        </p:txBody>
      </p:sp>
      <p:sp>
        <p:nvSpPr>
          <p:cNvPr id="104" name="s103">
            <a:extLst xmlns:a="http://schemas.openxmlformats.org/drawingml/2006/main">
              <a:ext uri="{FF2B5EF4-FFF2-40B4-BE49-F238E27FC236}">
                <a16:creationId xmlns:a16="http://schemas.microsoft.com/office/drawing/2014/main" id="{EFF32B0B-BC4B-4A2A-9E25-C39ED77B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967" y="19216448"/>
            <a:ext cx="52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49.8</a:t>
            </a:r>
          </a:p>
        </p:txBody>
      </p:sp>
      <p:sp>
        <p:nvSpPr>
          <p:cNvPr id="105" name="s104">
            <a:extLst xmlns:a="http://schemas.openxmlformats.org/drawingml/2006/main">
              <a:ext uri="{FF2B5EF4-FFF2-40B4-BE49-F238E27FC236}">
                <a16:creationId xmlns:a16="http://schemas.microsoft.com/office/drawing/2014/main" id="{7B102BA5-1E94-4D13-B910-C89C7054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6204" y="18169947"/>
            <a:ext cx="51866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74.6</a:t>
            </a:r>
          </a:p>
        </p:txBody>
      </p:sp>
      <p:sp>
        <p:nvSpPr>
          <p:cNvPr id="106" name="s105">
            <a:extLst xmlns:a="http://schemas.openxmlformats.org/drawingml/2006/main">
              <a:ext uri="{FF2B5EF4-FFF2-40B4-BE49-F238E27FC236}">
                <a16:creationId xmlns:a16="http://schemas.microsoft.com/office/drawing/2014/main" id="{0C32CC99-BFA2-4C07-821F-26056EEE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889" y="17963545"/>
            <a:ext cx="541437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84.4</a:t>
            </a:r>
          </a:p>
        </p:txBody>
      </p:sp>
      <p:sp>
        <p:nvSpPr>
          <p:cNvPr id="107" name="s106">
            <a:extLst xmlns:a="http://schemas.openxmlformats.org/drawingml/2006/main">
              <a:ext uri="{FF2B5EF4-FFF2-40B4-BE49-F238E27FC236}">
                <a16:creationId xmlns:a16="http://schemas.microsoft.com/office/drawing/2014/main" id="{059EC231-B194-4AF4-BE8B-A37B3EF5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2958" y="18522029"/>
            <a:ext cx="541437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84.4</a:t>
            </a:r>
          </a:p>
        </p:txBody>
      </p:sp>
      <p:sp>
        <p:nvSpPr>
          <p:cNvPr id="108" name="s107">
            <a:extLst xmlns:a="http://schemas.openxmlformats.org/drawingml/2006/main">
              <a:ext uri="{FF2B5EF4-FFF2-40B4-BE49-F238E27FC236}">
                <a16:creationId xmlns:a16="http://schemas.microsoft.com/office/drawing/2014/main" id="{4E3E319F-9027-4051-957E-23446B39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2028" y="17963545"/>
            <a:ext cx="541437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84.4</a:t>
            </a:r>
          </a:p>
        </p:txBody>
      </p:sp>
      <p:sp>
        <p:nvSpPr>
          <p:cNvPr id="109" name="s108">
            <a:extLst xmlns:a="http://schemas.openxmlformats.org/drawingml/2006/main">
              <a:ext uri="{FF2B5EF4-FFF2-40B4-BE49-F238E27FC236}">
                <a16:creationId xmlns:a16="http://schemas.microsoft.com/office/drawing/2014/main" id="{AC10687F-1601-4155-8170-BBC1AA83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5809" y="19581482"/>
            <a:ext cx="361206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7.6</a:t>
            </a:r>
          </a:p>
        </p:txBody>
      </p:sp>
      <p:sp>
        <p:nvSpPr>
          <p:cNvPr id="110" name="s109">
            <a:extLst xmlns:a="http://schemas.openxmlformats.org/drawingml/2006/main">
              <a:ext uri="{FF2B5EF4-FFF2-40B4-BE49-F238E27FC236}">
                <a16:creationId xmlns:a16="http://schemas.microsoft.com/office/drawing/2014/main" id="{F3AF9A4C-DBEE-4176-A547-AB7799BB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5634" y="19505314"/>
            <a:ext cx="422981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11.2</a:t>
            </a:r>
          </a:p>
        </p:txBody>
      </p:sp>
      <p:sp>
        <p:nvSpPr>
          <p:cNvPr id="111" name="s110">
            <a:extLst xmlns:a="http://schemas.openxmlformats.org/drawingml/2006/main">
              <a:ext uri="{FF2B5EF4-FFF2-40B4-BE49-F238E27FC236}">
                <a16:creationId xmlns:a16="http://schemas.microsoft.com/office/drawing/2014/main" id="{3D51FB1D-6658-4BFA-B444-C183832C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421" y="19431286"/>
            <a:ext cx="465117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14.7</a:t>
            </a:r>
          </a:p>
        </p:txBody>
      </p:sp>
      <p:sp>
        <p:nvSpPr>
          <p:cNvPr id="112" name="s111">
            <a:extLst xmlns:a="http://schemas.openxmlformats.org/drawingml/2006/main">
              <a:ext uri="{FF2B5EF4-FFF2-40B4-BE49-F238E27FC236}">
                <a16:creationId xmlns:a16="http://schemas.microsoft.com/office/drawing/2014/main" id="{4E1654FF-B959-408A-99D8-16D3D875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6818" y="19274317"/>
            <a:ext cx="516806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22.2</a:t>
            </a:r>
          </a:p>
        </p:txBody>
      </p:sp>
      <p:sp>
        <p:nvSpPr>
          <p:cNvPr id="113" name="s112">
            <a:extLst xmlns:a="http://schemas.openxmlformats.org/drawingml/2006/main">
              <a:ext uri="{FF2B5EF4-FFF2-40B4-BE49-F238E27FC236}">
                <a16:creationId xmlns:a16="http://schemas.microsoft.com/office/drawing/2014/main" id="{835FB043-E3ED-4CC3-AA08-3CA41A5D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0193" y="19171175"/>
            <a:ext cx="444996" cy="39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27.1</a:t>
            </a:r>
          </a:p>
        </p:txBody>
      </p:sp>
      <p:sp>
        <p:nvSpPr>
          <p:cNvPr id="114" name="s113">
            <a:extLst xmlns:a="http://schemas.openxmlformats.org/drawingml/2006/main">
              <a:ext uri="{FF2B5EF4-FFF2-40B4-BE49-F238E27FC236}">
                <a16:creationId xmlns:a16="http://schemas.microsoft.com/office/drawing/2014/main" id="{CB4F576A-476B-40D7-B63E-82F7679A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263" y="19695198"/>
            <a:ext cx="444996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27.1</a:t>
            </a:r>
          </a:p>
        </p:txBody>
      </p:sp>
      <p:sp>
        <p:nvSpPr>
          <p:cNvPr id="115" name="s114">
            <a:extLst xmlns:a="http://schemas.openxmlformats.org/drawingml/2006/main">
              <a:ext uri="{FF2B5EF4-FFF2-40B4-BE49-F238E27FC236}">
                <a16:creationId xmlns:a16="http://schemas.microsoft.com/office/drawing/2014/main" id="{CE4F273C-9007-411A-AF78-F33A5C06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7914" y="18440395"/>
            <a:ext cx="465832" cy="390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61.8</a:t>
            </a:r>
          </a:p>
        </p:txBody>
      </p:sp>
      <p:sp>
        <p:nvSpPr>
          <p:cNvPr id="116" name="s115">
            <a:extLst xmlns:a="http://schemas.openxmlformats.org/drawingml/2006/main">
              <a:ext uri="{FF2B5EF4-FFF2-40B4-BE49-F238E27FC236}">
                <a16:creationId xmlns:a16="http://schemas.microsoft.com/office/drawing/2014/main" id="{944AF8D0-D39E-4746-BE44-B9FC7D02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543" y="19488798"/>
            <a:ext cx="513904" cy="39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38.5</a:t>
            </a:r>
          </a:p>
        </p:txBody>
      </p:sp>
      <p:sp>
        <p:nvSpPr>
          <p:cNvPr id="117" name="s116">
            <a:extLst xmlns:a="http://schemas.openxmlformats.org/drawingml/2006/main">
              <a:ext uri="{FF2B5EF4-FFF2-40B4-BE49-F238E27FC236}">
                <a16:creationId xmlns:a16="http://schemas.microsoft.com/office/drawing/2014/main" id="{3EC9E7C3-EE46-4FFB-9D59-504B6855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0650" y="18443365"/>
            <a:ext cx="465831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61.6</a:t>
            </a:r>
          </a:p>
        </p:txBody>
      </p:sp>
      <p:sp>
        <p:nvSpPr>
          <p:cNvPr id="118" name="s117">
            <a:extLst xmlns:a="http://schemas.openxmlformats.org/drawingml/2006/main">
              <a:ext uri="{FF2B5EF4-FFF2-40B4-BE49-F238E27FC236}">
                <a16:creationId xmlns:a16="http://schemas.microsoft.com/office/drawing/2014/main" id="{FF29E425-F6F8-4C2B-B8DB-4346C996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6129" y="19151331"/>
            <a:ext cx="513011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52.9</a:t>
            </a:r>
          </a:p>
        </p:txBody>
      </p:sp>
      <p:sp>
        <p:nvSpPr>
          <p:cNvPr id="119" name="s118">
            <a:extLst xmlns:a="http://schemas.openxmlformats.org/drawingml/2006/main">
              <a:ext uri="{FF2B5EF4-FFF2-40B4-BE49-F238E27FC236}">
                <a16:creationId xmlns:a16="http://schemas.microsoft.com/office/drawing/2014/main" id="{F0969A82-D0DC-492C-9BD0-05888F7A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190" y="18210585"/>
            <a:ext cx="487978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72.7</a:t>
            </a:r>
          </a:p>
        </p:txBody>
      </p:sp>
      <p:sp>
        <p:nvSpPr>
          <p:cNvPr id="120" name="s119">
            <a:extLst xmlns:a="http://schemas.openxmlformats.org/drawingml/2006/main">
              <a:ext uri="{FF2B5EF4-FFF2-40B4-BE49-F238E27FC236}">
                <a16:creationId xmlns:a16="http://schemas.microsoft.com/office/drawing/2014/main" id="{60534B34-3684-43DE-82AB-1B98E594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8734" y="18078450"/>
            <a:ext cx="50408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78.9</a:t>
            </a:r>
          </a:p>
        </p:txBody>
      </p:sp>
      <p:sp>
        <p:nvSpPr>
          <p:cNvPr id="121" name="s120">
            <a:extLst xmlns:a="http://schemas.openxmlformats.org/drawingml/2006/main">
              <a:ext uri="{FF2B5EF4-FFF2-40B4-BE49-F238E27FC236}">
                <a16:creationId xmlns:a16="http://schemas.microsoft.com/office/drawing/2014/main" id="{771CDB85-2FAC-4634-958E-993A0B65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7805" y="18636933"/>
            <a:ext cx="504081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78.9</a:t>
            </a:r>
          </a:p>
        </p:txBody>
      </p:sp>
      <p:sp>
        <p:nvSpPr>
          <p:cNvPr id="122" name="s121">
            <a:extLst xmlns:a="http://schemas.openxmlformats.org/drawingml/2006/main">
              <a:ext uri="{FF2B5EF4-FFF2-40B4-BE49-F238E27FC236}">
                <a16:creationId xmlns:a16="http://schemas.microsoft.com/office/drawing/2014/main" id="{088803AF-1C49-457A-82A2-F48B1B29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9551" y="18167095"/>
            <a:ext cx="501639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74.7</a:t>
            </a:r>
          </a:p>
        </p:txBody>
      </p:sp>
      <p:pic>
        <p:nvPicPr>
          <p:cNvPr id="5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f7fe3c81b4ab8">
            <a:extLst>
              <a:ext uri="{96DAC541-7B7A-43D3-8B79-37D633B846F1}">
                <asvg:svgBlip xmlns:asvg="http://schemas.microsoft.com/office/drawing/2016/SVG/main" r:embed="Rdb333644fa4244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67839" y="5157192"/>
            <a:ext cx="381000" cy="381000"/>
          </a:xfrm>
          <a:prstGeom xmlns:a="http://schemas.openxmlformats.org/drawingml/2006/main" prst="rect">
            <a:avLst/>
          </a:prstGeom>
        </p:spPr>
      </p:pic>
      <p:pic>
        <p:nvPicPr>
          <p:cNvPr id="5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fcdab79504b20">
            <a:extLst>
              <a:ext uri="{96DAC541-7B7A-43D3-8B79-37D633B846F1}">
                <asvg:svgBlip xmlns:asvg="http://schemas.microsoft.com/office/drawing/2016/SVG/main" r:embed="R455c67edd2734b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597259" y="5157192"/>
            <a:ext cx="381000" cy="381000"/>
          </a:xfrm>
          <a:prstGeom xmlns:a="http://schemas.openxmlformats.org/drawingml/2006/main" prst="rect">
            <a:avLst/>
          </a:prstGeom>
        </p:spPr>
      </p:pic>
      <p:pic>
        <p:nvPicPr>
          <p:cNvPr id="5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d2d3dd82d473f">
            <a:extLst>
              <a:ext uri="{96DAC541-7B7A-43D3-8B79-37D633B846F1}">
                <asvg:svgBlip xmlns:asvg="http://schemas.microsoft.com/office/drawing/2016/SVG/main" r:embed="R17cf09e1076c4e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913894" y="5157192"/>
            <a:ext cx="381000" cy="381000"/>
          </a:xfrm>
          <a:prstGeom xmlns:a="http://schemas.openxmlformats.org/drawingml/2006/main" prst="rect">
            <a:avLst/>
          </a:prstGeom>
        </p:spPr>
      </p:pic>
      <p:pic>
        <p:nvPicPr>
          <p:cNvPr id="5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9ebc7e354487a">
            <a:extLst>
              <a:ext uri="{96DAC541-7B7A-43D3-8B79-37D633B846F1}">
                <asvg:svgBlip xmlns:asvg="http://schemas.microsoft.com/office/drawing/2016/SVG/main" r:embed="Rf5a70fbbc7f94a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311217" y="5157192"/>
            <a:ext cx="381000" cy="381000"/>
          </a:xfrm>
          <a:prstGeom xmlns:a="http://schemas.openxmlformats.org/drawingml/2006/main" prst="rect">
            <a:avLst/>
          </a:prstGeom>
        </p:spPr>
      </p:pic>
      <p:pic>
        <p:nvPicPr>
          <p:cNvPr id="5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f3b8281604ca6">
            <a:extLst>
              <a:ext uri="{96DAC541-7B7A-43D3-8B79-37D633B846F1}">
                <asvg:svgBlip xmlns:asvg="http://schemas.microsoft.com/office/drawing/2016/SVG/main" r:embed="R75c2c647d0ae4e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99154" y="9177486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5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f736ee59c47cc">
            <a:extLst>
              <a:ext uri="{96DAC541-7B7A-43D3-8B79-37D633B846F1}">
                <asvg:svgBlip xmlns:asvg="http://schemas.microsoft.com/office/drawing/2016/SVG/main" r:embed="R6cccafd5af4848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819334" y="9177486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5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5cd85b7434022">
            <a:extLst>
              <a:ext uri="{96DAC541-7B7A-43D3-8B79-37D633B846F1}">
                <asvg:svgBlip xmlns:asvg="http://schemas.microsoft.com/office/drawing/2016/SVG/main" r:embed="Rc0bd8c8098634a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39664" y="9177486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5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17e4c381c4c55">
            <a:extLst>
              <a:ext uri="{96DAC541-7B7A-43D3-8B79-37D633B846F1}">
                <asvg:svgBlip xmlns:asvg="http://schemas.microsoft.com/office/drawing/2016/SVG/main" r:embed="R17c3a88c45284a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659993" y="9177486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5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0872b5a6a4938">
            <a:extLst>
              <a:ext uri="{96DAC541-7B7A-43D3-8B79-37D633B846F1}">
                <asvg:svgBlip xmlns:asvg="http://schemas.microsoft.com/office/drawing/2016/SVG/main" r:embed="R43b79e1ce16f4a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580322" y="9177486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5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0342c4bc94505">
            <a:extLst>
              <a:ext uri="{96DAC541-7B7A-43D3-8B79-37D633B846F1}">
                <asvg:svgBlip xmlns:asvg="http://schemas.microsoft.com/office/drawing/2016/SVG/main" r:embed="Reb48d4c706254c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500652" y="9177486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5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14f3531f74082">
            <a:extLst>
              <a:ext uri="{96DAC541-7B7A-43D3-8B79-37D633B846F1}">
                <asvg:svgBlip xmlns:asvg="http://schemas.microsoft.com/office/drawing/2016/SVG/main" r:embed="R311fc11a30024f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035224" y="374005"/>
            <a:ext cx="2857500" cy="720179"/>
          </a:xfrm>
          <a:prstGeom xmlns:a="http://schemas.openxmlformats.org/drawingml/2006/main" prst="rect">
            <a:avLst/>
          </a:prstGeom>
        </p:spPr>
      </p:pic>
      <p:sp>
        <p:nvSpPr>
          <p:cNvPr id="134" name="t0">
            <a:extLst xmlns:a="http://schemas.openxmlformats.org/drawingml/2006/main">
              <a:ext uri="{FF2B5EF4-FFF2-40B4-BE49-F238E27FC236}">
                <a16:creationId xmlns:a16="http://schemas.microsoft.com/office/drawing/2014/main" id="{65780CB4-E978-401B-8D37-3CAB4815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32" y="191795"/>
            <a:ext cx="13889971" cy="764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082B51"/>
                </a:solidFill>
                <a:latin typeface="Noto Sans"/>
                <a:ea typeface="Noto Sans"/>
                <a:cs typeface="Noto Sans"/>
              </a:defRPr>
            </a:pPr>
            <a:r>
              <a:rPr sz="4200" b="1" i="0">
                <a:solidFill>
                  <a:srgbClr val="082B51"/>
                </a:solidFill>
                <a:latin typeface="Noto Sans"/>
                <a:ea typeface="Noto Sans"/>
                <a:cs typeface="Noto Sans"/>
              </a:rPr>
              <a:t>Building Legal RAG: what each component contributes</a:t>
            </a:r>
          </a:p>
        </p:txBody>
      </p:sp>
      <p:sp>
        <p:nvSpPr>
          <p:cNvPr id="135" name="t1">
            <a:extLst xmlns:a="http://schemas.openxmlformats.org/drawingml/2006/main">
              <a:ext uri="{FF2B5EF4-FFF2-40B4-BE49-F238E27FC236}">
                <a16:creationId xmlns:a16="http://schemas.microsoft.com/office/drawing/2014/main" id="{904D1480-070C-4F23-9114-393C11F9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32" y="847725"/>
            <a:ext cx="3687325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34566E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34566E"/>
                </a:solidFill>
                <a:latin typeface="Barlow Condensed"/>
                <a:ea typeface="Barlow Condensed"/>
                <a:cs typeface="Barlow Condensed"/>
              </a:rPr>
              <a:t>Aleksandr Loginov, Yulia Malakhova</a:t>
            </a:r>
          </a:p>
        </p:txBody>
      </p:sp>
      <p:sp>
        <p:nvSpPr>
          <p:cNvPr id="136" name="t2">
            <a:extLst xmlns:a="http://schemas.openxmlformats.org/drawingml/2006/main">
              <a:ext uri="{FF2B5EF4-FFF2-40B4-BE49-F238E27FC236}">
                <a16:creationId xmlns:a16="http://schemas.microsoft.com/office/drawing/2014/main" id="{214A690C-2F3D-4CC3-82E8-3E591B56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32" y="1397032"/>
            <a:ext cx="2675470" cy="46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1. Research Context</a:t>
            </a:r>
          </a:p>
        </p:txBody>
      </p:sp>
      <p:sp>
        <p:nvSpPr>
          <p:cNvPr id="137" name="t3">
            <a:extLst xmlns:a="http://schemas.openxmlformats.org/drawingml/2006/main">
              <a:ext uri="{FF2B5EF4-FFF2-40B4-BE49-F238E27FC236}">
                <a16:creationId xmlns:a16="http://schemas.microsoft.com/office/drawing/2014/main" id="{AD374315-61ED-48B2-A9CA-4C3A147D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1971675"/>
            <a:ext cx="770216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RAG grounds language-model answers in external documents, but legal QA</a:t>
            </a:r>
          </a:p>
        </p:txBody>
      </p:sp>
      <p:sp>
        <p:nvSpPr>
          <p:cNvPr id="138" name="t4">
            <a:extLst xmlns:a="http://schemas.openxmlformats.org/drawingml/2006/main">
              <a:ext uri="{FF2B5EF4-FFF2-40B4-BE49-F238E27FC236}">
                <a16:creationId xmlns:a16="http://schemas.microsoft.com/office/drawing/2014/main" id="{45ACC1EA-5B24-4F35-A6DD-F8CC8BC0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2295525"/>
            <a:ext cx="7540616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requires a pipeline to satisfy two goals at once: retrieve enough relevant</a:t>
            </a:r>
          </a:p>
        </p:txBody>
      </p:sp>
      <p:sp>
        <p:nvSpPr>
          <p:cNvPr id="139" name="t5">
            <a:extLst xmlns:a="http://schemas.openxmlformats.org/drawingml/2006/main">
              <a:ext uri="{FF2B5EF4-FFF2-40B4-BE49-F238E27FC236}">
                <a16:creationId xmlns:a16="http://schemas.microsoft.com/office/drawing/2014/main" id="{026C5774-53D5-4CF3-8F30-BF0C514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2609850"/>
            <a:ext cx="784358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evidence to produce a correct answer, while keeping source-page citations</a:t>
            </a:r>
          </a:p>
        </p:txBody>
      </p:sp>
      <p:sp>
        <p:nvSpPr>
          <p:cNvPr id="140" name="t6">
            <a:extLst xmlns:a="http://schemas.openxmlformats.org/drawingml/2006/main">
              <a:ext uri="{FF2B5EF4-FFF2-40B4-BE49-F238E27FC236}">
                <a16:creationId xmlns:a16="http://schemas.microsoft.com/office/drawing/2014/main" id="{3FD8FCFD-365A-40EB-BECA-7B04F86E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2933700"/>
            <a:ext cx="7353773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precise and complete. This is challenging because legal PDFs may lack</a:t>
            </a:r>
          </a:p>
        </p:txBody>
      </p:sp>
      <p:sp>
        <p:nvSpPr>
          <p:cNvPr id="141" name="t7">
            <a:extLst xmlns:a="http://schemas.openxmlformats.org/drawingml/2006/main">
              <a:ext uri="{FF2B5EF4-FFF2-40B4-BE49-F238E27FC236}">
                <a16:creationId xmlns:a16="http://schemas.microsoft.com/office/drawing/2014/main" id="{3029FAD8-CF09-4908-9629-16639C1C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3257550"/>
            <a:ext cx="7899671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machine-readable text, evidence can appear at different textual scales, and</a:t>
            </a:r>
          </a:p>
        </p:txBody>
      </p:sp>
      <p:sp>
        <p:nvSpPr>
          <p:cNvPr id="142" name="t8">
            <a:extLst xmlns:a="http://schemas.openxmlformats.org/drawingml/2006/main">
              <a:ext uri="{FF2B5EF4-FFF2-40B4-BE49-F238E27FC236}">
                <a16:creationId xmlns:a16="http://schemas.microsoft.com/office/drawing/2014/main" id="{954449D4-E3D4-4B59-8C92-608FA79B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3571875"/>
            <a:ext cx="8112422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questions may depend on either exact legal references or semantic similarity.</a:t>
            </a:r>
          </a:p>
        </p:txBody>
      </p:sp>
      <p:sp>
        <p:nvSpPr>
          <p:cNvPr id="143" name="t9">
            <a:extLst xmlns:a="http://schemas.openxmlformats.org/drawingml/2006/main">
              <a:ext uri="{FF2B5EF4-FFF2-40B4-BE49-F238E27FC236}">
                <a16:creationId xmlns:a16="http://schemas.microsoft.com/office/drawing/2014/main" id="{42E57847-6976-4007-B24D-6B23C0FD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3895725"/>
            <a:ext cx="7136147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Moreover, retrieving more evidence can improve coverage while also</a:t>
            </a:r>
          </a:p>
        </p:txBody>
      </p:sp>
      <p:sp>
        <p:nvSpPr>
          <p:cNvPr id="144" name="t10">
            <a:extLst xmlns:a="http://schemas.openxmlformats.org/drawingml/2006/main">
              <a:ext uri="{FF2B5EF4-FFF2-40B4-BE49-F238E27FC236}">
                <a16:creationId xmlns:a16="http://schemas.microsoft.com/office/drawing/2014/main" id="{46BDC178-E0F9-4B75-85C2-1244BFD6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4210050"/>
            <a:ext cx="8222759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introducing irrelevant source pages. We therefore examine how design choices</a:t>
            </a:r>
          </a:p>
        </p:txBody>
      </p:sp>
      <p:sp>
        <p:nvSpPr>
          <p:cNvPr id="145" name="t11">
            <a:extLst xmlns:a="http://schemas.openxmlformats.org/drawingml/2006/main">
              <a:ext uri="{FF2B5EF4-FFF2-40B4-BE49-F238E27FC236}">
                <a16:creationId xmlns:a16="http://schemas.microsoft.com/office/drawing/2014/main" id="{F6A7BC27-514A-410A-8004-90FA9AD4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4533900"/>
            <a:ext cx="8080722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in document processing, retrieval, and attribution can improve answer quality</a:t>
            </a:r>
          </a:p>
        </p:txBody>
      </p:sp>
      <p:sp>
        <p:nvSpPr>
          <p:cNvPr id="146" name="t12">
            <a:extLst xmlns:a="http://schemas.openxmlformats.org/drawingml/2006/main">
              <a:ext uri="{FF2B5EF4-FFF2-40B4-BE49-F238E27FC236}">
                <a16:creationId xmlns:a16="http://schemas.microsoft.com/office/drawing/2014/main" id="{6D646C2A-05FA-4717-A35C-EC20C133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4857750"/>
            <a:ext cx="3669953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without sacrificing citation quality.</a:t>
            </a:r>
          </a:p>
        </p:txBody>
      </p:sp>
      <p:sp>
        <p:nvSpPr>
          <p:cNvPr id="147" name="t13">
            <a:extLst xmlns:a="http://schemas.openxmlformats.org/drawingml/2006/main">
              <a:ext uri="{FF2B5EF4-FFF2-40B4-BE49-F238E27FC236}">
                <a16:creationId xmlns:a16="http://schemas.microsoft.com/office/drawing/2014/main" id="{6F787020-65EF-4B31-9D5D-43C029D4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32" y="5635657"/>
            <a:ext cx="3739702" cy="46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2. Prior Work &amp; Study Focus</a:t>
            </a:r>
          </a:p>
        </p:txBody>
      </p:sp>
      <p:sp>
        <p:nvSpPr>
          <p:cNvPr id="148" name="t14">
            <a:extLst xmlns:a="http://schemas.openxmlformats.org/drawingml/2006/main">
              <a:ext uri="{FF2B5EF4-FFF2-40B4-BE49-F238E27FC236}">
                <a16:creationId xmlns:a16="http://schemas.microsoft.com/office/drawing/2014/main" id="{E5AEE112-2843-407F-8CC6-719DE4D3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6210300"/>
            <a:ext cx="811425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Retrieval-augmented generation (RAG) conditions language-model answers on</a:t>
            </a:r>
          </a:p>
        </p:txBody>
      </p:sp>
      <p:sp>
        <p:nvSpPr>
          <p:cNvPr id="149" name="t15">
            <a:extLst xmlns:a="http://schemas.openxmlformats.org/drawingml/2006/main">
              <a:ext uri="{FF2B5EF4-FFF2-40B4-BE49-F238E27FC236}">
                <a16:creationId xmlns:a16="http://schemas.microsoft.com/office/drawing/2014/main" id="{F360ACE6-1C0C-4449-9379-5D31646C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6534150"/>
            <a:ext cx="8115775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retrieved documents [1]. Legal retrieval must balance precision and coverage:</a:t>
            </a:r>
          </a:p>
        </p:txBody>
      </p:sp>
      <p:sp>
        <p:nvSpPr>
          <p:cNvPr id="150" name="t16">
            <a:extLst xmlns:a="http://schemas.openxmlformats.org/drawingml/2006/main">
              <a:ext uri="{FF2B5EF4-FFF2-40B4-BE49-F238E27FC236}">
                <a16:creationId xmlns:a16="http://schemas.microsoft.com/office/drawing/2014/main" id="{421F9068-1426-4114-A8C4-118E67E4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6848475"/>
            <a:ext cx="7829872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LegalBench-RAG targets minimal relevant passages [2], while regulatory QA</a:t>
            </a:r>
          </a:p>
        </p:txBody>
      </p:sp>
      <p:sp>
        <p:nvSpPr>
          <p:cNvPr id="151" name="t17">
            <a:extLst xmlns:a="http://schemas.openxmlformats.org/drawingml/2006/main">
              <a:ext uri="{FF2B5EF4-FFF2-40B4-BE49-F238E27FC236}">
                <a16:creationId xmlns:a16="http://schemas.microsoft.com/office/drawing/2014/main" id="{8ED068F2-DBCD-4450-9214-8A24311C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7172325"/>
            <a:ext cx="7977699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studies show that retrieving all supporting evidence becomes harder when it</a:t>
            </a:r>
          </a:p>
        </p:txBody>
      </p:sp>
      <p:sp>
        <p:nvSpPr>
          <p:cNvPr id="152" name="t18">
            <a:extLst xmlns:a="http://schemas.openxmlformats.org/drawingml/2006/main">
              <a:ext uri="{FF2B5EF4-FFF2-40B4-BE49-F238E27FC236}">
                <a16:creationId xmlns:a16="http://schemas.microsoft.com/office/drawing/2014/main" id="{4F9804B7-C190-407C-8C0D-8610C350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7486650"/>
            <a:ext cx="8300482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spans multiple passages [3]. In an end-to-end legal benchmark, retrieval-model</a:t>
            </a:r>
          </a:p>
        </p:txBody>
      </p:sp>
      <p:sp>
        <p:nvSpPr>
          <p:cNvPr id="153" name="t19">
            <a:extLst xmlns:a="http://schemas.openxmlformats.org/drawingml/2006/main">
              <a:ext uri="{FF2B5EF4-FFF2-40B4-BE49-F238E27FC236}">
                <a16:creationId xmlns:a16="http://schemas.microsoft.com/office/drawing/2014/main" id="{E1B0EDB7-14DA-4171-B541-BEC4E0F0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7810500"/>
            <a:ext cx="791735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choice had a larger effect on answer correctness than generator choice [4].</a:t>
            </a:r>
          </a:p>
        </p:txBody>
      </p:sp>
      <p:sp>
        <p:nvSpPr>
          <p:cNvPr id="154" name="t20">
            <a:extLst xmlns:a="http://schemas.openxmlformats.org/drawingml/2006/main">
              <a:ext uri="{FF2B5EF4-FFF2-40B4-BE49-F238E27FC236}">
                <a16:creationId xmlns:a16="http://schemas.microsoft.com/office/drawing/2014/main" id="{66538862-91F3-4098-B9E9-F90D5B9D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8229600"/>
            <a:ext cx="7609501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Evaluation also extends beyond correctness. Legal QA research examines</a:t>
            </a:r>
          </a:p>
        </p:txBody>
      </p:sp>
      <p:sp>
        <p:nvSpPr>
          <p:cNvPr id="155" name="t21">
            <a:extLst xmlns:a="http://schemas.openxmlformats.org/drawingml/2006/main">
              <a:ext uri="{FF2B5EF4-FFF2-40B4-BE49-F238E27FC236}">
                <a16:creationId xmlns:a16="http://schemas.microsoft.com/office/drawing/2014/main" id="{AE6FBC87-7B3C-4B06-BD97-EAB7212B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8543925"/>
            <a:ext cx="7409551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whether answers are supported by the supplied context [5], while ALCE</a:t>
            </a:r>
          </a:p>
        </p:txBody>
      </p:sp>
      <p:sp>
        <p:nvSpPr>
          <p:cNvPr id="156" name="t22">
            <a:extLst xmlns:a="http://schemas.openxmlformats.org/drawingml/2006/main">
              <a:ext uri="{FF2B5EF4-FFF2-40B4-BE49-F238E27FC236}">
                <a16:creationId xmlns:a16="http://schemas.microsoft.com/office/drawing/2014/main" id="{B1C9504E-5631-48B9-A158-E09C0771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8867775"/>
            <a:ext cx="7798173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evaluates answer correctness and citation quality separately [6]. Together,</a:t>
            </a:r>
          </a:p>
        </p:txBody>
      </p:sp>
      <p:sp>
        <p:nvSpPr>
          <p:cNvPr id="157" name="t23">
            <a:extLst xmlns:a="http://schemas.openxmlformats.org/drawingml/2006/main">
              <a:ext uri="{FF2B5EF4-FFF2-40B4-BE49-F238E27FC236}">
                <a16:creationId xmlns:a16="http://schemas.microsoft.com/office/drawing/2014/main" id="{AD703068-6E6C-40B6-9D98-2CFD2ECA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9182100"/>
            <a:ext cx="8182831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these studies motivate evaluating both the evidence available to the generator</a:t>
            </a:r>
          </a:p>
        </p:txBody>
      </p:sp>
      <p:sp>
        <p:nvSpPr>
          <p:cNvPr id="158" name="t24">
            <a:extLst xmlns:a="http://schemas.openxmlformats.org/drawingml/2006/main">
              <a:ext uri="{FF2B5EF4-FFF2-40B4-BE49-F238E27FC236}">
                <a16:creationId xmlns:a16="http://schemas.microsoft.com/office/drawing/2014/main" id="{4D8BAD09-02E2-4958-8B2A-44CF408A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9505950"/>
            <a:ext cx="3440742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and the sources ultimately cited.</a:t>
            </a:r>
          </a:p>
        </p:txBody>
      </p:sp>
      <p:sp>
        <p:nvSpPr>
          <p:cNvPr id="159" name="t25">
            <a:extLst xmlns:a="http://schemas.openxmlformats.org/drawingml/2006/main">
              <a:ext uri="{FF2B5EF4-FFF2-40B4-BE49-F238E27FC236}">
                <a16:creationId xmlns:a16="http://schemas.microsoft.com/office/drawing/2014/main" id="{6AADEED6-660E-4D16-BAFB-8B2FEE04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9925050"/>
            <a:ext cx="8024333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Our study complements these approaches by holding the generator fixed and</a:t>
            </a:r>
          </a:p>
        </p:txBody>
      </p:sp>
      <p:sp>
        <p:nvSpPr>
          <p:cNvPr id="160" name="t26">
            <a:extLst xmlns:a="http://schemas.openxmlformats.org/drawingml/2006/main">
              <a:ext uri="{FF2B5EF4-FFF2-40B4-BE49-F238E27FC236}">
                <a16:creationId xmlns:a16="http://schemas.microsoft.com/office/drawing/2014/main" id="{85BF4F1C-B9B9-453D-8B10-2F8C1802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10239375"/>
            <a:ext cx="8165456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examining a broader sequence of pipeline choices, from document processing</a:t>
            </a:r>
          </a:p>
        </p:txBody>
      </p:sp>
      <p:sp>
        <p:nvSpPr>
          <p:cNvPr id="161" name="t27">
            <a:extLst xmlns:a="http://schemas.openxmlformats.org/drawingml/2006/main">
              <a:ext uri="{FF2B5EF4-FFF2-40B4-BE49-F238E27FC236}">
                <a16:creationId xmlns:a16="http://schemas.microsoft.com/office/drawing/2014/main" id="{2DAB989F-1F98-43E5-B84C-BF5D1E46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10563225"/>
            <a:ext cx="240503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to final page selection.</a:t>
            </a:r>
          </a:p>
        </p:txBody>
      </p:sp>
      <p:sp>
        <p:nvSpPr>
          <p:cNvPr id="162" name="t28">
            <a:extLst xmlns:a="http://schemas.openxmlformats.org/drawingml/2006/main">
              <a:ext uri="{FF2B5EF4-FFF2-40B4-BE49-F238E27FC236}">
                <a16:creationId xmlns:a16="http://schemas.microsoft.com/office/drawing/2014/main" id="{088C9B19-6585-4508-8FFE-9167A742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32" y="11341132"/>
            <a:ext cx="2850391" cy="46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3. Research question</a:t>
            </a:r>
          </a:p>
        </p:txBody>
      </p:sp>
      <p:sp>
        <p:nvSpPr>
          <p:cNvPr id="163" name="t29">
            <a:extLst xmlns:a="http://schemas.openxmlformats.org/drawingml/2006/main">
              <a:ext uri="{FF2B5EF4-FFF2-40B4-BE49-F238E27FC236}">
                <a16:creationId xmlns:a16="http://schemas.microsoft.com/office/drawing/2014/main" id="{DD4BACB0-E69E-4D85-9AA2-0B0321AE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15" y="11950732"/>
            <a:ext cx="7674998" cy="419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 b="1" i="0">
                <a:solidFill>
                  <a:srgbClr val="082F56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500" b="1" i="0">
                <a:solidFill>
                  <a:srgbClr val="082F56"/>
                </a:solidFill>
                <a:latin typeface="Barlow Condensed"/>
                <a:ea typeface="Barlow Condensed"/>
                <a:cs typeface="Barlow Condensed"/>
              </a:rPr>
              <a:t>With the answer generator fixed, which pipeline additions improve</a:t>
            </a:r>
          </a:p>
        </p:txBody>
      </p:sp>
      <p:sp>
        <p:nvSpPr>
          <p:cNvPr id="164" name="t30">
            <a:extLst xmlns:a="http://schemas.openxmlformats.org/drawingml/2006/main">
              <a:ext uri="{FF2B5EF4-FFF2-40B4-BE49-F238E27FC236}">
                <a16:creationId xmlns:a16="http://schemas.microsoft.com/office/drawing/2014/main" id="{0E7AAC97-686B-47A7-A159-53BF724C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80" y="12303157"/>
            <a:ext cx="8123238" cy="419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 b="1" i="0">
                <a:solidFill>
                  <a:srgbClr val="082F56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500" b="1" i="0">
                <a:solidFill>
                  <a:srgbClr val="082F56"/>
                </a:solidFill>
                <a:latin typeface="Barlow Condensed"/>
                <a:ea typeface="Barlow Condensed"/>
                <a:cs typeface="Barlow Condensed"/>
              </a:rPr>
              <a:t>answer quality and page-level citation precision and recall, and where</a:t>
            </a:r>
          </a:p>
        </p:txBody>
      </p:sp>
      <p:sp>
        <p:nvSpPr>
          <p:cNvPr id="165" name="t31">
            <a:extLst xmlns:a="http://schemas.openxmlformats.org/drawingml/2006/main">
              <a:ext uri="{FF2B5EF4-FFF2-40B4-BE49-F238E27FC236}">
                <a16:creationId xmlns:a16="http://schemas.microsoft.com/office/drawing/2014/main" id="{23F63FE0-16E0-4C11-BE00-8923A672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593" y="12655582"/>
            <a:ext cx="3376730" cy="419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 b="1" i="0">
                <a:solidFill>
                  <a:srgbClr val="082F56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500" b="1" i="0">
                <a:solidFill>
                  <a:srgbClr val="082F56"/>
                </a:solidFill>
                <a:latin typeface="Barlow Condensed"/>
                <a:ea typeface="Barlow Condensed"/>
                <a:cs typeface="Barlow Condensed"/>
              </a:rPr>
              <a:t>do these objectives conflict?</a:t>
            </a:r>
          </a:p>
        </p:txBody>
      </p:sp>
      <p:sp>
        <p:nvSpPr>
          <p:cNvPr id="166" name="t32">
            <a:extLst xmlns:a="http://schemas.openxmlformats.org/drawingml/2006/main">
              <a:ext uri="{FF2B5EF4-FFF2-40B4-BE49-F238E27FC236}">
                <a16:creationId xmlns:a16="http://schemas.microsoft.com/office/drawing/2014/main" id="{C6A5A21B-458F-4DF7-BE66-1EF345D2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32" y="13484256"/>
            <a:ext cx="2575948" cy="46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4. Our Contribution</a:t>
            </a:r>
          </a:p>
        </p:txBody>
      </p:sp>
      <p:sp>
        <p:nvSpPr>
          <p:cNvPr id="167" name="t33">
            <a:extLst xmlns:a="http://schemas.openxmlformats.org/drawingml/2006/main">
              <a:ext uri="{FF2B5EF4-FFF2-40B4-BE49-F238E27FC236}">
                <a16:creationId xmlns:a16="http://schemas.microsoft.com/office/drawing/2014/main" id="{832CD1E5-D462-4BE0-B125-51F8AABD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14058900"/>
            <a:ext cx="7914301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We build a Legal RAG pipeline and provide an empirical comparison of seven</a:t>
            </a:r>
          </a:p>
        </p:txBody>
      </p:sp>
      <p:sp>
        <p:nvSpPr>
          <p:cNvPr id="168" name="t34">
            <a:extLst xmlns:a="http://schemas.openxmlformats.org/drawingml/2006/main">
              <a:ext uri="{FF2B5EF4-FFF2-40B4-BE49-F238E27FC236}">
                <a16:creationId xmlns:a16="http://schemas.microsoft.com/office/drawing/2014/main" id="{B5304FE5-00A3-4FA6-A7DC-6002D014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14382750"/>
            <a:ext cx="7678689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cumulative configurations on 30 documents and 100 questions. By adding</a:t>
            </a:r>
          </a:p>
        </p:txBody>
      </p:sp>
      <p:sp>
        <p:nvSpPr>
          <p:cNvPr id="169" name="t35">
            <a:extLst xmlns:a="http://schemas.openxmlformats.org/drawingml/2006/main">
              <a:ext uri="{FF2B5EF4-FFF2-40B4-BE49-F238E27FC236}">
                <a16:creationId xmlns:a16="http://schemas.microsoft.com/office/drawing/2014/main" id="{5E397B48-C1EE-43E4-A628-43D7713E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14697075"/>
            <a:ext cx="8343155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components sequentially while keeping the answer generator fixed, we measure</a:t>
            </a:r>
          </a:p>
        </p:txBody>
      </p:sp>
      <p:sp>
        <p:nvSpPr>
          <p:cNvPr id="170" name="t36">
            <a:extLst xmlns:a="http://schemas.openxmlformats.org/drawingml/2006/main">
              <a:ext uri="{FF2B5EF4-FFF2-40B4-BE49-F238E27FC236}">
                <a16:creationId xmlns:a16="http://schemas.microsoft.com/office/drawing/2014/main" id="{A9D90773-06CB-48AC-8BFD-7C0E6AE9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15020925"/>
            <a:ext cx="8021897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changes in answer quality and page-level citation precision and recall across</a:t>
            </a:r>
          </a:p>
        </p:txBody>
      </p:sp>
      <p:sp>
        <p:nvSpPr>
          <p:cNvPr id="171" name="t37">
            <a:extLst xmlns:a="http://schemas.openxmlformats.org/drawingml/2006/main">
              <a:ext uri="{FF2B5EF4-FFF2-40B4-BE49-F238E27FC236}">
                <a16:creationId xmlns:a16="http://schemas.microsoft.com/office/drawing/2014/main" id="{1E1B5F3B-B52E-476E-872D-AF40BBD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15344775"/>
            <a:ext cx="7943562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stages of document processing, retrieval, reranking, answer processing, and</a:t>
            </a:r>
          </a:p>
        </p:txBody>
      </p:sp>
      <p:sp>
        <p:nvSpPr>
          <p:cNvPr id="172" name="t38">
            <a:extLst xmlns:a="http://schemas.openxmlformats.org/drawingml/2006/main">
              <a:ext uri="{FF2B5EF4-FFF2-40B4-BE49-F238E27FC236}">
                <a16:creationId xmlns:a16="http://schemas.microsoft.com/office/drawing/2014/main" id="{5EF3CE09-1B27-4037-B6F8-221F4823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" y="15659100"/>
            <a:ext cx="1904852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citation selection.</a:t>
            </a:r>
          </a:p>
        </p:txBody>
      </p:sp>
      <p:sp>
        <p:nvSpPr>
          <p:cNvPr id="173" name="t39">
            <a:extLst xmlns:a="http://schemas.openxmlformats.org/drawingml/2006/main">
              <a:ext uri="{FF2B5EF4-FFF2-40B4-BE49-F238E27FC236}">
                <a16:creationId xmlns:a16="http://schemas.microsoft.com/office/drawing/2014/main" id="{5826C9A2-7BD6-4CA9-907D-CFDFC6F1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32" y="16437006"/>
            <a:ext cx="1872909" cy="46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5. Hypothesis</a:t>
            </a:r>
          </a:p>
        </p:txBody>
      </p:sp>
      <p:sp>
        <p:nvSpPr>
          <p:cNvPr id="174" name="t40">
            <a:extLst xmlns:a="http://schemas.openxmlformats.org/drawingml/2006/main">
              <a:ext uri="{FF2B5EF4-FFF2-40B4-BE49-F238E27FC236}">
                <a16:creationId xmlns:a16="http://schemas.microsoft.com/office/drawing/2014/main" id="{D6947970-1E68-4AC7-938C-C7FCD4A0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32" y="17046606"/>
            <a:ext cx="1642498" cy="4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5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rPr>
              <a:t>H1 — Retrieval</a:t>
            </a:r>
          </a:p>
        </p:txBody>
      </p:sp>
      <p:sp>
        <p:nvSpPr>
          <p:cNvPr id="175" name="t41">
            <a:extLst xmlns:a="http://schemas.openxmlformats.org/drawingml/2006/main">
              <a:ext uri="{FF2B5EF4-FFF2-40B4-BE49-F238E27FC236}">
                <a16:creationId xmlns:a16="http://schemas.microsoft.com/office/drawing/2014/main" id="{72C00E64-9ECF-4DB5-B6B6-142EEF8A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32" y="17440275"/>
            <a:ext cx="7549455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Combining multiple text granularities, semantic and lexical retrieval, and</a:t>
            </a:r>
          </a:p>
        </p:txBody>
      </p:sp>
      <p:sp>
        <p:nvSpPr>
          <p:cNvPr id="176" name="t42">
            <a:extLst xmlns:a="http://schemas.openxmlformats.org/drawingml/2006/main">
              <a:ext uri="{FF2B5EF4-FFF2-40B4-BE49-F238E27FC236}">
                <a16:creationId xmlns:a16="http://schemas.microsoft.com/office/drawing/2014/main" id="{90B0D906-97ED-4780-BE88-F5071149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32" y="17754600"/>
            <a:ext cx="7347372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relevance reranking will improve answer quality and evidence retrieval</a:t>
            </a:r>
          </a:p>
        </p:txBody>
      </p:sp>
      <p:sp>
        <p:nvSpPr>
          <p:cNvPr id="177" name="t43">
            <a:extLst xmlns:a="http://schemas.openxmlformats.org/drawingml/2006/main">
              <a:ext uri="{FF2B5EF4-FFF2-40B4-BE49-F238E27FC236}">
                <a16:creationId xmlns:a16="http://schemas.microsoft.com/office/drawing/2014/main" id="{6522E251-496F-42CE-B4B7-2ED68ABC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32" y="18078450"/>
            <a:ext cx="5494184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compared with a simple semantic-retrieval baseline.</a:t>
            </a:r>
          </a:p>
        </p:txBody>
      </p:sp>
      <p:sp>
        <p:nvSpPr>
          <p:cNvPr id="178" name="t44">
            <a:extLst xmlns:a="http://schemas.openxmlformats.org/drawingml/2006/main">
              <a:ext uri="{FF2B5EF4-FFF2-40B4-BE49-F238E27FC236}">
                <a16:creationId xmlns:a16="http://schemas.microsoft.com/office/drawing/2014/main" id="{6BBC1CEB-108D-4FA0-B316-790456B5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32" y="18646806"/>
            <a:ext cx="4674148" cy="4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5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rPr>
              <a:t>H2 — Robustness to scanned documents</a:t>
            </a:r>
          </a:p>
        </p:txBody>
      </p:sp>
      <p:sp>
        <p:nvSpPr>
          <p:cNvPr id="179" name="t45">
            <a:extLst xmlns:a="http://schemas.openxmlformats.org/drawingml/2006/main">
              <a:ext uri="{FF2B5EF4-FFF2-40B4-BE49-F238E27FC236}">
                <a16:creationId xmlns:a16="http://schemas.microsoft.com/office/drawing/2014/main" id="{4E58C571-616B-41AA-9924-4B50DED1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32" y="19040475"/>
            <a:ext cx="7978308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Recovering text from scan-like legal documents will reduce the performance</a:t>
            </a:r>
          </a:p>
        </p:txBody>
      </p:sp>
      <p:sp>
        <p:nvSpPr>
          <p:cNvPr id="180" name="t46">
            <a:extLst xmlns:a="http://schemas.openxmlformats.org/drawingml/2006/main">
              <a:ext uri="{FF2B5EF4-FFF2-40B4-BE49-F238E27FC236}">
                <a16:creationId xmlns:a16="http://schemas.microsoft.com/office/drawing/2014/main" id="{6BED2ACC-8D63-42EC-B613-DBED01B2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32" y="19364325"/>
            <a:ext cx="6381154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loss caused by the absence of a machine-readable text layer.</a:t>
            </a:r>
          </a:p>
        </p:txBody>
      </p:sp>
      <p:sp>
        <p:nvSpPr>
          <p:cNvPr id="181" name="t47">
            <a:extLst xmlns:a="http://schemas.openxmlformats.org/drawingml/2006/main">
              <a:ext uri="{FF2B5EF4-FFF2-40B4-BE49-F238E27FC236}">
                <a16:creationId xmlns:a16="http://schemas.microsoft.com/office/drawing/2014/main" id="{71684BB9-C600-4459-9DA3-45DF2D8A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32" y="19942206"/>
            <a:ext cx="2847542" cy="4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5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rPr>
              <a:t>H3 — Citation attribution</a:t>
            </a:r>
          </a:p>
        </p:txBody>
      </p:sp>
      <p:sp>
        <p:nvSpPr>
          <p:cNvPr id="182" name="t48">
            <a:extLst xmlns:a="http://schemas.openxmlformats.org/drawingml/2006/main">
              <a:ext uri="{FF2B5EF4-FFF2-40B4-BE49-F238E27FC236}">
                <a16:creationId xmlns:a16="http://schemas.microsoft.com/office/drawing/2014/main" id="{9DA0991D-5624-41EF-9ECC-84E1A9A0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32" y="20335875"/>
            <a:ext cx="7994464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Selecting source pages after answer generation will produce a more focused</a:t>
            </a:r>
          </a:p>
        </p:txBody>
      </p:sp>
      <p:sp>
        <p:nvSpPr>
          <p:cNvPr id="183" name="t49">
            <a:extLst xmlns:a="http://schemas.openxmlformats.org/drawingml/2006/main">
              <a:ext uri="{FF2B5EF4-FFF2-40B4-BE49-F238E27FC236}">
                <a16:creationId xmlns:a16="http://schemas.microsoft.com/office/drawing/2014/main" id="{05B2ECAC-FB57-42DF-AB4A-19DBF40C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32" y="20650200"/>
            <a:ext cx="8041708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citation set without substantially reducing the coverage of relevant evidence.</a:t>
            </a:r>
          </a:p>
        </p:txBody>
      </p:sp>
      <p:sp>
        <p:nvSpPr>
          <p:cNvPr id="184" name="t50">
            <a:extLst xmlns:a="http://schemas.openxmlformats.org/drawingml/2006/main">
              <a:ext uri="{FF2B5EF4-FFF2-40B4-BE49-F238E27FC236}">
                <a16:creationId xmlns:a16="http://schemas.microsoft.com/office/drawing/2014/main" id="{238B2948-5ED2-4179-A327-22AD896E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64" y="1397032"/>
            <a:ext cx="2737383" cy="46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6. Data and Methods</a:t>
            </a:r>
          </a:p>
        </p:txBody>
      </p:sp>
      <p:sp>
        <p:nvSpPr>
          <p:cNvPr id="185" name="t51">
            <a:extLst xmlns:a="http://schemas.openxmlformats.org/drawingml/2006/main">
              <a:ext uri="{FF2B5EF4-FFF2-40B4-BE49-F238E27FC236}">
                <a16:creationId xmlns:a16="http://schemas.microsoft.com/office/drawing/2014/main" id="{C5022EEB-AA5F-4EDC-8E56-2185783B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339" y="1978057"/>
            <a:ext cx="583807" cy="419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5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rPr>
              <a:t>Data</a:t>
            </a:r>
          </a:p>
        </p:txBody>
      </p:sp>
      <p:sp>
        <p:nvSpPr>
          <p:cNvPr id="186" name="t52">
            <a:extLst xmlns:a="http://schemas.openxmlformats.org/drawingml/2006/main">
              <a:ext uri="{FF2B5EF4-FFF2-40B4-BE49-F238E27FC236}">
                <a16:creationId xmlns:a16="http://schemas.microsoft.com/office/drawing/2014/main" id="{C5A2AA13-1CAA-476F-96FA-109D95E2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339" y="2371725"/>
            <a:ext cx="10985773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30 DIFC legal PDFs (590 pages), 100 questions, including 70 structured-answer and 30 free-text questions.</a:t>
            </a:r>
          </a:p>
        </p:txBody>
      </p:sp>
      <p:sp>
        <p:nvSpPr>
          <p:cNvPr id="187" name="t53">
            <a:extLst xmlns:a="http://schemas.openxmlformats.org/drawingml/2006/main">
              <a:ext uri="{FF2B5EF4-FFF2-40B4-BE49-F238E27FC236}">
                <a16:creationId xmlns:a16="http://schemas.microsoft.com/office/drawing/2014/main" id="{9FFFBA01-BE0D-4873-B9E6-D9FEBE79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339" y="2695575"/>
            <a:ext cx="11300637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Reference source pages are available for 95 questions. For the scan-robustness test, 10 of the 30 documents</a:t>
            </a:r>
          </a:p>
        </p:txBody>
      </p:sp>
      <p:sp>
        <p:nvSpPr>
          <p:cNvPr id="188" name="t54">
            <a:extLst xmlns:a="http://schemas.openxmlformats.org/drawingml/2006/main">
              <a:ext uri="{FF2B5EF4-FFF2-40B4-BE49-F238E27FC236}">
                <a16:creationId xmlns:a16="http://schemas.microsoft.com/office/drawing/2014/main" id="{79BD9FB8-DFF0-40B5-A0D9-374AC7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339" y="3009900"/>
            <a:ext cx="10905617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(107 pages) were converted into synthetic scans: each page was rasterised as an image and its machine-</a:t>
            </a:r>
          </a:p>
        </p:txBody>
      </p:sp>
      <p:sp>
        <p:nvSpPr>
          <p:cNvPr id="189" name="t55">
            <a:extLst xmlns:a="http://schemas.openxmlformats.org/drawingml/2006/main">
              <a:ext uri="{FF2B5EF4-FFF2-40B4-BE49-F238E27FC236}">
                <a16:creationId xmlns:a16="http://schemas.microsoft.com/office/drawing/2014/main" id="{0A3C4027-9846-41CB-8748-98B5DAEC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339" y="3333750"/>
            <a:ext cx="3466955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readable text layer was removed.</a:t>
            </a:r>
          </a:p>
        </p:txBody>
      </p:sp>
      <p:sp>
        <p:nvSpPr>
          <p:cNvPr id="190" name="t56">
            <a:extLst xmlns:a="http://schemas.openxmlformats.org/drawingml/2006/main">
              <a:ext uri="{FF2B5EF4-FFF2-40B4-BE49-F238E27FC236}">
                <a16:creationId xmlns:a16="http://schemas.microsoft.com/office/drawing/2014/main" id="{B546C388-8EA3-4BA9-9321-08271629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339" y="3778282"/>
            <a:ext cx="971096" cy="419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5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rPr>
              <a:t>Pipeline</a:t>
            </a:r>
          </a:p>
        </p:txBody>
      </p:sp>
      <p:sp>
        <p:nvSpPr>
          <p:cNvPr id="191" name="t57">
            <a:extLst xmlns:a="http://schemas.openxmlformats.org/drawingml/2006/main">
              <a:ext uri="{FF2B5EF4-FFF2-40B4-BE49-F238E27FC236}">
                <a16:creationId xmlns:a16="http://schemas.microsoft.com/office/drawing/2014/main" id="{43E23A1B-7AA3-425C-BB00-2F51D9DB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339" y="4171950"/>
            <a:ext cx="11306125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Starting from a simple baseline, we add one capability at a time. Each variant includes all previous additions.</a:t>
            </a:r>
          </a:p>
        </p:txBody>
      </p:sp>
      <p:sp>
        <p:nvSpPr>
          <p:cNvPr id="192" name="t58">
            <a:extLst xmlns:a="http://schemas.openxmlformats.org/drawingml/2006/main">
              <a:ext uri="{FF2B5EF4-FFF2-40B4-BE49-F238E27FC236}">
                <a16:creationId xmlns:a16="http://schemas.microsoft.com/office/drawing/2014/main" id="{18939359-381D-46A5-A693-9CDE50D1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334" y="6188107"/>
            <a:ext cx="2423255" cy="373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DOCUMENT PROCESSING</a:t>
            </a:r>
          </a:p>
        </p:txBody>
      </p:sp>
      <p:sp>
        <p:nvSpPr>
          <p:cNvPr id="193" name="t59">
            <a:extLst xmlns:a="http://schemas.openxmlformats.org/drawingml/2006/main">
              <a:ext uri="{FF2B5EF4-FFF2-40B4-BE49-F238E27FC236}">
                <a16:creationId xmlns:a16="http://schemas.microsoft.com/office/drawing/2014/main" id="{F2612C7B-2B23-4468-B57A-87EF3823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949" y="6188107"/>
            <a:ext cx="1129023" cy="373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RETRIEVAL</a:t>
            </a:r>
          </a:p>
        </p:txBody>
      </p:sp>
      <p:sp>
        <p:nvSpPr>
          <p:cNvPr id="194" name="t60">
            <a:extLst xmlns:a="http://schemas.openxmlformats.org/drawingml/2006/main">
              <a:ext uri="{FF2B5EF4-FFF2-40B4-BE49-F238E27FC236}">
                <a16:creationId xmlns:a16="http://schemas.microsoft.com/office/drawing/2014/main" id="{8DA8A1E1-CDC8-4EBE-BAB2-4942C66A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7004" y="6188107"/>
            <a:ext cx="1239926" cy="373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ANSWERING</a:t>
            </a:r>
          </a:p>
        </p:txBody>
      </p:sp>
      <p:sp>
        <p:nvSpPr>
          <p:cNvPr id="195" name="t61">
            <a:extLst xmlns:a="http://schemas.openxmlformats.org/drawingml/2006/main">
              <a:ext uri="{FF2B5EF4-FFF2-40B4-BE49-F238E27FC236}">
                <a16:creationId xmlns:a16="http://schemas.microsoft.com/office/drawing/2014/main" id="{2C38FFE2-5230-4965-A97F-9DEB48F2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7701" y="6188107"/>
            <a:ext cx="1079297" cy="373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CITATIONS</a:t>
            </a:r>
          </a:p>
        </p:txBody>
      </p:sp>
      <p:sp>
        <p:nvSpPr>
          <p:cNvPr id="196" name="t62">
            <a:extLst xmlns:a="http://schemas.openxmlformats.org/drawingml/2006/main">
              <a:ext uri="{FF2B5EF4-FFF2-40B4-BE49-F238E27FC236}">
                <a16:creationId xmlns:a16="http://schemas.microsoft.com/office/drawing/2014/main" id="{8CF083A1-9FBA-4A43-8630-1CA35DA3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339" y="11410950"/>
            <a:ext cx="2213617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Answer generation:</a:t>
            </a:r>
          </a:p>
        </p:txBody>
      </p:sp>
      <p:sp>
        <p:nvSpPr>
          <p:cNvPr id="197" name="t63">
            <a:extLst xmlns:a="http://schemas.openxmlformats.org/drawingml/2006/main">
              <a:ext uri="{FF2B5EF4-FFF2-40B4-BE49-F238E27FC236}">
                <a16:creationId xmlns:a16="http://schemas.microsoft.com/office/drawing/2014/main" id="{E6EC64BD-CED8-440C-A294-B1B2CD29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0858" y="11410950"/>
            <a:ext cx="9059436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 A fixed GPT-5.4-mini configuration is used across variants, so changes in performance</a:t>
            </a:r>
          </a:p>
        </p:txBody>
      </p:sp>
      <p:sp>
        <p:nvSpPr>
          <p:cNvPr id="198" name="t64">
            <a:extLst xmlns:a="http://schemas.openxmlformats.org/drawingml/2006/main">
              <a:ext uri="{FF2B5EF4-FFF2-40B4-BE49-F238E27FC236}">
                <a16:creationId xmlns:a16="http://schemas.microsoft.com/office/drawing/2014/main" id="{A8198CB9-93A1-4ED2-9C52-C71CE4BD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339" y="11725275"/>
            <a:ext cx="967757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reflect modifications to the surrounding pipeline rather than a change of the generating LLM.</a:t>
            </a:r>
          </a:p>
        </p:txBody>
      </p:sp>
      <p:sp>
        <p:nvSpPr>
          <p:cNvPr id="199" name="t65">
            <a:extLst xmlns:a="http://schemas.openxmlformats.org/drawingml/2006/main">
              <a:ext uri="{FF2B5EF4-FFF2-40B4-BE49-F238E27FC236}">
                <a16:creationId xmlns:a16="http://schemas.microsoft.com/office/drawing/2014/main" id="{303B87CE-C761-4781-ACED-39237D70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64" y="12350782"/>
            <a:ext cx="1773403" cy="46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7. Evaluation</a:t>
            </a:r>
          </a:p>
        </p:txBody>
      </p:sp>
      <p:sp>
        <p:nvSpPr>
          <p:cNvPr id="200" name="t66">
            <a:extLst xmlns:a="http://schemas.openxmlformats.org/drawingml/2006/main">
              <a:ext uri="{FF2B5EF4-FFF2-40B4-BE49-F238E27FC236}">
                <a16:creationId xmlns:a16="http://schemas.microsoft.com/office/drawing/2014/main" id="{3C03BFF7-5E18-4FE7-830E-AC1A0DEC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339" y="12925425"/>
            <a:ext cx="10940968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A correct answer does not necessarily imply good citations. A system may produce the right answer while</a:t>
            </a:r>
          </a:p>
        </p:txBody>
      </p:sp>
      <p:sp>
        <p:nvSpPr>
          <p:cNvPr id="201" name="t67">
            <a:extLst xmlns:a="http://schemas.openxmlformats.org/drawingml/2006/main">
              <a:ext uri="{FF2B5EF4-FFF2-40B4-BE49-F238E27FC236}">
                <a16:creationId xmlns:a16="http://schemas.microsoft.com/office/drawing/2014/main" id="{93F7FE5C-7BB6-4F3A-B7E3-F822D6A6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339" y="13249275"/>
            <a:ext cx="11210111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citing irrelevant pages, or it may cite only part of the evidence required to support the answer. We therefore</a:t>
            </a:r>
          </a:p>
        </p:txBody>
      </p:sp>
      <p:sp>
        <p:nvSpPr>
          <p:cNvPr id="202" name="t68">
            <a:extLst xmlns:a="http://schemas.openxmlformats.org/drawingml/2006/main">
              <a:ext uri="{FF2B5EF4-FFF2-40B4-BE49-F238E27FC236}">
                <a16:creationId xmlns:a16="http://schemas.microsoft.com/office/drawing/2014/main" id="{031D79D1-2931-4628-BBFC-CA8CFB3B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339" y="13563600"/>
            <a:ext cx="5756317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evaluate answer quality and citation quality separately.</a:t>
            </a:r>
          </a:p>
        </p:txBody>
      </p:sp>
      <p:sp>
        <p:nvSpPr>
          <p:cNvPr id="203" name="t69">
            <a:extLst xmlns:a="http://schemas.openxmlformats.org/drawingml/2006/main">
              <a:ext uri="{FF2B5EF4-FFF2-40B4-BE49-F238E27FC236}">
                <a16:creationId xmlns:a16="http://schemas.microsoft.com/office/drawing/2014/main" id="{50F3F8B9-2AEC-4CC7-AEC4-A048A47A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589" y="14093856"/>
            <a:ext cx="1758371" cy="4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5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rPr>
              <a:t>Answer quality</a:t>
            </a:r>
          </a:p>
        </p:txBody>
      </p:sp>
      <p:sp>
        <p:nvSpPr>
          <p:cNvPr id="204" name="t70">
            <a:extLst xmlns:a="http://schemas.openxmlformats.org/drawingml/2006/main">
              <a:ext uri="{FF2B5EF4-FFF2-40B4-BE49-F238E27FC236}">
                <a16:creationId xmlns:a16="http://schemas.microsoft.com/office/drawing/2014/main" id="{5CBF4A23-6DBE-4333-A51D-9FD86461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349" y="14506575"/>
            <a:ext cx="3570284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1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1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Is the generated answer correct?</a:t>
            </a:r>
          </a:p>
        </p:txBody>
      </p:sp>
      <p:sp>
        <p:nvSpPr>
          <p:cNvPr id="205" name="t71">
            <a:extLst xmlns:a="http://schemas.openxmlformats.org/drawingml/2006/main">
              <a:ext uri="{FF2B5EF4-FFF2-40B4-BE49-F238E27FC236}">
                <a16:creationId xmlns:a16="http://schemas.microsoft.com/office/drawing/2014/main" id="{A656AB94-4E2C-478E-9C38-D7B99339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589" y="14925675"/>
            <a:ext cx="2869243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Q = 0.7 × structured score</a:t>
            </a:r>
          </a:p>
        </p:txBody>
      </p:sp>
      <p:sp>
        <p:nvSpPr>
          <p:cNvPr id="206" name="t72">
            <a:extLst xmlns:a="http://schemas.openxmlformats.org/drawingml/2006/main">
              <a:ext uri="{FF2B5EF4-FFF2-40B4-BE49-F238E27FC236}">
                <a16:creationId xmlns:a16="http://schemas.microsoft.com/office/drawing/2014/main" id="{CAEC8E54-392D-49BD-98A6-614D02E2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589" y="15240000"/>
            <a:ext cx="2515367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+ 0.3 × free-text score</a:t>
            </a:r>
          </a:p>
        </p:txBody>
      </p:sp>
      <p:sp>
        <p:nvSpPr>
          <p:cNvPr id="207" name="t73">
            <a:extLst xmlns:a="http://schemas.openxmlformats.org/drawingml/2006/main">
              <a:ext uri="{FF2B5EF4-FFF2-40B4-BE49-F238E27FC236}">
                <a16:creationId xmlns:a16="http://schemas.microsoft.com/office/drawing/2014/main" id="{6F47D281-C705-4D37-B051-C1D92D76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848" y="14093856"/>
            <a:ext cx="2086614" cy="4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5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rPr>
              <a:t>Citation precision</a:t>
            </a:r>
          </a:p>
        </p:txBody>
      </p:sp>
      <p:sp>
        <p:nvSpPr>
          <p:cNvPr id="208" name="t74">
            <a:extLst xmlns:a="http://schemas.openxmlformats.org/drawingml/2006/main">
              <a:ext uri="{FF2B5EF4-FFF2-40B4-BE49-F238E27FC236}">
                <a16:creationId xmlns:a16="http://schemas.microsoft.com/office/drawing/2014/main" id="{5DB96BC2-7411-4152-B3C3-BF103B98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8608" y="14506575"/>
            <a:ext cx="3010367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1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1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Are the cited pages actually</a:t>
            </a:r>
          </a:p>
        </p:txBody>
      </p:sp>
      <p:sp>
        <p:nvSpPr>
          <p:cNvPr id="209" name="t75">
            <a:extLst xmlns:a="http://schemas.openxmlformats.org/drawingml/2006/main">
              <a:ext uri="{FF2B5EF4-FFF2-40B4-BE49-F238E27FC236}">
                <a16:creationId xmlns:a16="http://schemas.microsoft.com/office/drawing/2014/main" id="{7E47C846-8E17-4488-8B2C-DC206523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8608" y="14830425"/>
            <a:ext cx="1100787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1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1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relevant?</a:t>
            </a:r>
          </a:p>
        </p:txBody>
      </p:sp>
      <p:sp>
        <p:nvSpPr>
          <p:cNvPr id="210" name="t76">
            <a:extLst xmlns:a="http://schemas.openxmlformats.org/drawingml/2006/main">
              <a:ext uri="{FF2B5EF4-FFF2-40B4-BE49-F238E27FC236}">
                <a16:creationId xmlns:a16="http://schemas.microsoft.com/office/drawing/2014/main" id="{967169F8-2DF3-407D-9198-F8F4B92E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848" y="15240000"/>
            <a:ext cx="3525481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Share of cited pages that support</a:t>
            </a:r>
          </a:p>
        </p:txBody>
      </p:sp>
      <p:sp>
        <p:nvSpPr>
          <p:cNvPr id="211" name="t77">
            <a:extLst xmlns:a="http://schemas.openxmlformats.org/drawingml/2006/main">
              <a:ext uri="{FF2B5EF4-FFF2-40B4-BE49-F238E27FC236}">
                <a16:creationId xmlns:a16="http://schemas.microsoft.com/office/drawing/2014/main" id="{E4566832-0745-4026-8180-47EBEB90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848" y="15563850"/>
            <a:ext cx="1256847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the answer.</a:t>
            </a:r>
          </a:p>
        </p:txBody>
      </p:sp>
      <p:sp>
        <p:nvSpPr>
          <p:cNvPr id="212" name="t78">
            <a:extLst xmlns:a="http://schemas.openxmlformats.org/drawingml/2006/main">
              <a:ext uri="{FF2B5EF4-FFF2-40B4-BE49-F238E27FC236}">
                <a16:creationId xmlns:a16="http://schemas.microsoft.com/office/drawing/2014/main" id="{CD416F8F-BDAA-43C8-BDC3-25529D7E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8107" y="14093856"/>
            <a:ext cx="1666625" cy="4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5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rPr>
              <a:t>Citation recall</a:t>
            </a:r>
          </a:p>
        </p:txBody>
      </p:sp>
      <p:sp>
        <p:nvSpPr>
          <p:cNvPr id="213" name="t79">
            <a:extLst xmlns:a="http://schemas.openxmlformats.org/drawingml/2006/main">
              <a:ext uri="{FF2B5EF4-FFF2-40B4-BE49-F238E27FC236}">
                <a16:creationId xmlns:a16="http://schemas.microsoft.com/office/drawing/2014/main" id="{E871D556-5F92-4CE1-85BB-EE4822FC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2867" y="14506575"/>
            <a:ext cx="3363936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1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1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Did the system cite all required</a:t>
            </a:r>
          </a:p>
        </p:txBody>
      </p:sp>
      <p:sp>
        <p:nvSpPr>
          <p:cNvPr id="214" name="t80">
            <a:extLst xmlns:a="http://schemas.openxmlformats.org/drawingml/2006/main">
              <a:ext uri="{FF2B5EF4-FFF2-40B4-BE49-F238E27FC236}">
                <a16:creationId xmlns:a16="http://schemas.microsoft.com/office/drawing/2014/main" id="{92F4DDF6-E0C3-42DA-AB8F-35984762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2867" y="14830425"/>
            <a:ext cx="1191312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1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1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evidence?</a:t>
            </a:r>
          </a:p>
        </p:txBody>
      </p:sp>
      <p:sp>
        <p:nvSpPr>
          <p:cNvPr id="215" name="t81">
            <a:extLst xmlns:a="http://schemas.openxmlformats.org/drawingml/2006/main">
              <a:ext uri="{FF2B5EF4-FFF2-40B4-BE49-F238E27FC236}">
                <a16:creationId xmlns:a16="http://schemas.microsoft.com/office/drawing/2014/main" id="{7FEBC677-D6E0-4B8D-9FFC-265930BB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8107" y="15240000"/>
            <a:ext cx="3216714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Share of annotated supporting</a:t>
            </a:r>
          </a:p>
        </p:txBody>
      </p:sp>
      <p:sp>
        <p:nvSpPr>
          <p:cNvPr id="216" name="t82">
            <a:extLst xmlns:a="http://schemas.openxmlformats.org/drawingml/2006/main">
              <a:ext uri="{FF2B5EF4-FFF2-40B4-BE49-F238E27FC236}">
                <a16:creationId xmlns:a16="http://schemas.microsoft.com/office/drawing/2014/main" id="{C5F255A5-7C48-48ED-AF74-066DE9BB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8107" y="15563850"/>
            <a:ext cx="2358399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pages that were cited.</a:t>
            </a:r>
          </a:p>
        </p:txBody>
      </p:sp>
      <p:sp>
        <p:nvSpPr>
          <p:cNvPr id="217" name="t83">
            <a:extLst xmlns:a="http://schemas.openxmlformats.org/drawingml/2006/main">
              <a:ext uri="{FF2B5EF4-FFF2-40B4-BE49-F238E27FC236}">
                <a16:creationId xmlns:a16="http://schemas.microsoft.com/office/drawing/2014/main" id="{7023BABD-B572-42CB-B851-E0FA3D14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64" y="16313181"/>
            <a:ext cx="4365188" cy="46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8. Results: Pipeline performance</a:t>
            </a:r>
          </a:p>
        </p:txBody>
      </p:sp>
      <p:sp>
        <p:nvSpPr>
          <p:cNvPr id="218" name="t84">
            <a:extLst xmlns:a="http://schemas.openxmlformats.org/drawingml/2006/main">
              <a:ext uri="{FF2B5EF4-FFF2-40B4-BE49-F238E27FC236}">
                <a16:creationId xmlns:a16="http://schemas.microsoft.com/office/drawing/2014/main" id="{29BC5003-0490-4BD2-90EE-E9456BE8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10" y="16937850"/>
            <a:ext cx="2620425" cy="465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6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806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Answer quality Q, %</a:t>
            </a:r>
          </a:p>
        </p:txBody>
      </p:sp>
      <p:sp>
        <p:nvSpPr>
          <p:cNvPr id="219" name="t85">
            <a:extLst xmlns:a="http://schemas.openxmlformats.org/drawingml/2006/main">
              <a:ext uri="{FF2B5EF4-FFF2-40B4-BE49-F238E27FC236}">
                <a16:creationId xmlns:a16="http://schemas.microsoft.com/office/drawing/2014/main" id="{934C72F0-76B6-44B2-8EC1-80E95AF5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10" y="17424922"/>
            <a:ext cx="1386836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100 questions</a:t>
            </a:r>
          </a:p>
        </p:txBody>
      </p:sp>
      <p:sp>
        <p:nvSpPr>
          <p:cNvPr id="220" name="t86">
            <a:extLst xmlns:a="http://schemas.openxmlformats.org/drawingml/2006/main">
              <a:ext uri="{FF2B5EF4-FFF2-40B4-BE49-F238E27FC236}">
                <a16:creationId xmlns:a16="http://schemas.microsoft.com/office/drawing/2014/main" id="{AB88E7F9-D651-46B8-8645-7EB6821B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531" y="20033135"/>
            <a:ext cx="183769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0</a:t>
            </a:r>
          </a:p>
        </p:txBody>
      </p:sp>
      <p:sp>
        <p:nvSpPr>
          <p:cNvPr id="221" name="t87">
            <a:extLst xmlns:a="http://schemas.openxmlformats.org/drawingml/2006/main">
              <a:ext uri="{FF2B5EF4-FFF2-40B4-BE49-F238E27FC236}">
                <a16:creationId xmlns:a16="http://schemas.microsoft.com/office/drawing/2014/main" id="{3BDDCF0D-5135-467F-A68E-545EFB59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850" y="18979730"/>
            <a:ext cx="300398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50</a:t>
            </a:r>
          </a:p>
        </p:txBody>
      </p:sp>
      <p:sp>
        <p:nvSpPr>
          <p:cNvPr id="222" name="t88">
            <a:extLst xmlns:a="http://schemas.openxmlformats.org/drawingml/2006/main">
              <a:ext uri="{FF2B5EF4-FFF2-40B4-BE49-F238E27FC236}">
                <a16:creationId xmlns:a16="http://schemas.microsoft.com/office/drawing/2014/main" id="{8A12B84B-D5B2-45E2-B049-D0B6D0EE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953" y="17926324"/>
            <a:ext cx="383377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100</a:t>
            </a:r>
          </a:p>
        </p:txBody>
      </p:sp>
      <p:sp>
        <p:nvSpPr>
          <p:cNvPr id="223" name="t89">
            <a:extLst xmlns:a="http://schemas.openxmlformats.org/drawingml/2006/main">
              <a:ext uri="{FF2B5EF4-FFF2-40B4-BE49-F238E27FC236}">
                <a16:creationId xmlns:a16="http://schemas.microsoft.com/office/drawing/2014/main" id="{EE80CC41-F892-4D6C-85F7-C8FB6041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745" y="19328529"/>
            <a:ext cx="527789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46.2</a:t>
            </a:r>
          </a:p>
        </p:txBody>
      </p:sp>
      <p:sp>
        <p:nvSpPr>
          <p:cNvPr id="224" name="t90">
            <a:extLst xmlns:a="http://schemas.openxmlformats.org/drawingml/2006/main">
              <a:ext uri="{FF2B5EF4-FFF2-40B4-BE49-F238E27FC236}">
                <a16:creationId xmlns:a16="http://schemas.microsoft.com/office/drawing/2014/main" id="{6B8C731F-D9FA-4573-BB89-A61E0BBC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539" y="20470392"/>
            <a:ext cx="310093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R0</a:t>
            </a:r>
          </a:p>
        </p:txBody>
      </p:sp>
      <p:sp>
        <p:nvSpPr>
          <p:cNvPr id="225" name="t91">
            <a:extLst xmlns:a="http://schemas.openxmlformats.org/drawingml/2006/main">
              <a:ext uri="{FF2B5EF4-FFF2-40B4-BE49-F238E27FC236}">
                <a16:creationId xmlns:a16="http://schemas.microsoft.com/office/drawing/2014/main" id="{BF41883D-25BD-4351-AFE3-7B4CC997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5910" y="18411896"/>
            <a:ext cx="513537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63.2</a:t>
            </a:r>
          </a:p>
        </p:txBody>
      </p:sp>
      <p:sp>
        <p:nvSpPr>
          <p:cNvPr id="226" name="t92">
            <a:extLst xmlns:a="http://schemas.openxmlformats.org/drawingml/2006/main">
              <a:ext uri="{FF2B5EF4-FFF2-40B4-BE49-F238E27FC236}">
                <a16:creationId xmlns:a16="http://schemas.microsoft.com/office/drawing/2014/main" id="{21A67C2C-F2A2-4A1B-AA86-D3C4B476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348" y="20470392"/>
            <a:ext cx="256479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R1</a:t>
            </a:r>
          </a:p>
        </p:txBody>
      </p:sp>
      <p:sp>
        <p:nvSpPr>
          <p:cNvPr id="227" name="t93">
            <a:extLst xmlns:a="http://schemas.openxmlformats.org/drawingml/2006/main">
              <a:ext uri="{FF2B5EF4-FFF2-40B4-BE49-F238E27FC236}">
                <a16:creationId xmlns:a16="http://schemas.microsoft.com/office/drawing/2014/main" id="{36811B5D-E6AC-4FC6-8E87-FB84B313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233" y="19218098"/>
            <a:ext cx="526899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49.8</a:t>
            </a:r>
          </a:p>
        </p:txBody>
      </p:sp>
      <p:sp>
        <p:nvSpPr>
          <p:cNvPr id="228" name="t94">
            <a:extLst xmlns:a="http://schemas.openxmlformats.org/drawingml/2006/main">
              <a:ext uri="{FF2B5EF4-FFF2-40B4-BE49-F238E27FC236}">
                <a16:creationId xmlns:a16="http://schemas.microsoft.com/office/drawing/2014/main" id="{1A0A842A-D029-4DF8-9697-03C45268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682" y="20470392"/>
            <a:ext cx="298115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R2</a:t>
            </a:r>
          </a:p>
        </p:txBody>
      </p:sp>
      <p:sp>
        <p:nvSpPr>
          <p:cNvPr id="229" name="t95">
            <a:extLst xmlns:a="http://schemas.openxmlformats.org/drawingml/2006/main">
              <a:ext uri="{FF2B5EF4-FFF2-40B4-BE49-F238E27FC236}">
                <a16:creationId xmlns:a16="http://schemas.microsoft.com/office/drawing/2014/main" id="{721ECD98-EBE6-4656-9840-66D48C5C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1570" y="18171539"/>
            <a:ext cx="518585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74.6</a:t>
            </a:r>
          </a:p>
        </p:txBody>
      </p:sp>
      <p:sp>
        <p:nvSpPr>
          <p:cNvPr id="230" name="t96">
            <a:extLst xmlns:a="http://schemas.openxmlformats.org/drawingml/2006/main">
              <a:ext uri="{FF2B5EF4-FFF2-40B4-BE49-F238E27FC236}">
                <a16:creationId xmlns:a16="http://schemas.microsoft.com/office/drawing/2014/main" id="{0BF9DD5B-1E77-4B70-9F67-F20903F0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0959" y="20470392"/>
            <a:ext cx="299826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R3</a:t>
            </a:r>
          </a:p>
        </p:txBody>
      </p:sp>
      <p:sp>
        <p:nvSpPr>
          <p:cNvPr id="231" name="t97">
            <a:extLst xmlns:a="http://schemas.openxmlformats.org/drawingml/2006/main">
              <a:ext uri="{FF2B5EF4-FFF2-40B4-BE49-F238E27FC236}">
                <a16:creationId xmlns:a16="http://schemas.microsoft.com/office/drawing/2014/main" id="{FBD8C83D-216D-42B5-839B-03857413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9131" y="17965114"/>
            <a:ext cx="541450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84.4</a:t>
            </a:r>
          </a:p>
        </p:txBody>
      </p:sp>
      <p:sp>
        <p:nvSpPr>
          <p:cNvPr id="232" name="t98">
            <a:extLst xmlns:a="http://schemas.openxmlformats.org/drawingml/2006/main">
              <a:ext uri="{FF2B5EF4-FFF2-40B4-BE49-F238E27FC236}">
                <a16:creationId xmlns:a16="http://schemas.microsoft.com/office/drawing/2014/main" id="{3E787904-60D5-467A-B8E8-2A9B82D6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8937" y="20470392"/>
            <a:ext cx="301823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R4</a:t>
            </a:r>
          </a:p>
        </p:txBody>
      </p:sp>
      <p:sp>
        <p:nvSpPr>
          <p:cNvPr id="233" name="t99">
            <a:extLst xmlns:a="http://schemas.openxmlformats.org/drawingml/2006/main">
              <a:ext uri="{FF2B5EF4-FFF2-40B4-BE49-F238E27FC236}">
                <a16:creationId xmlns:a16="http://schemas.microsoft.com/office/drawing/2014/main" id="{B90760EC-EFF5-4E28-AFBB-4D389851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8300" y="18523666"/>
            <a:ext cx="541450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84.4</a:t>
            </a:r>
          </a:p>
        </p:txBody>
      </p:sp>
      <p:sp>
        <p:nvSpPr>
          <p:cNvPr id="234" name="t100">
            <a:extLst xmlns:a="http://schemas.openxmlformats.org/drawingml/2006/main">
              <a:ext uri="{FF2B5EF4-FFF2-40B4-BE49-F238E27FC236}">
                <a16:creationId xmlns:a16="http://schemas.microsoft.com/office/drawing/2014/main" id="{FA15D5B7-5F1C-4B6F-9D2A-472D4A0C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851" y="20470392"/>
            <a:ext cx="300111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R5</a:t>
            </a:r>
          </a:p>
        </p:txBody>
      </p:sp>
      <p:sp>
        <p:nvSpPr>
          <p:cNvPr id="235" name="t101">
            <a:extLst xmlns:a="http://schemas.openxmlformats.org/drawingml/2006/main">
              <a:ext uri="{FF2B5EF4-FFF2-40B4-BE49-F238E27FC236}">
                <a16:creationId xmlns:a16="http://schemas.microsoft.com/office/drawing/2014/main" id="{9B1633E3-8D7F-47F4-A63C-B42E5EC3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7321" y="17965114"/>
            <a:ext cx="541450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84.4</a:t>
            </a:r>
          </a:p>
        </p:txBody>
      </p:sp>
      <p:sp>
        <p:nvSpPr>
          <p:cNvPr id="236" name="t102">
            <a:extLst xmlns:a="http://schemas.openxmlformats.org/drawingml/2006/main">
              <a:ext uri="{FF2B5EF4-FFF2-40B4-BE49-F238E27FC236}">
                <a16:creationId xmlns:a16="http://schemas.microsoft.com/office/drawing/2014/main" id="{E9CAD513-6441-4F74-88BE-2618A93B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7872" y="20470392"/>
            <a:ext cx="300396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R6</a:t>
            </a:r>
          </a:p>
        </p:txBody>
      </p:sp>
      <p:sp>
        <p:nvSpPr>
          <p:cNvPr id="237" name="t103">
            <a:extLst xmlns:a="http://schemas.openxmlformats.org/drawingml/2006/main">
              <a:ext uri="{FF2B5EF4-FFF2-40B4-BE49-F238E27FC236}">
                <a16:creationId xmlns:a16="http://schemas.microsoft.com/office/drawing/2014/main" id="{E8A6F76F-3B2E-4AB2-AAEE-56689E57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438" y="16937850"/>
            <a:ext cx="2752260" cy="465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6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806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Citation precision, %</a:t>
            </a:r>
          </a:p>
        </p:txBody>
      </p:sp>
      <p:sp>
        <p:nvSpPr>
          <p:cNvPr id="238" name="t104">
            <a:extLst xmlns:a="http://schemas.openxmlformats.org/drawingml/2006/main">
              <a:ext uri="{FF2B5EF4-FFF2-40B4-BE49-F238E27FC236}">
                <a16:creationId xmlns:a16="http://schemas.microsoft.com/office/drawing/2014/main" id="{8BEE01D7-CC0C-4C1A-BB2B-457F74D5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438" y="17424922"/>
            <a:ext cx="1292165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95 questions</a:t>
            </a:r>
          </a:p>
        </p:txBody>
      </p:sp>
      <p:sp>
        <p:nvSpPr>
          <p:cNvPr id="239" name="t105">
            <a:extLst xmlns:a="http://schemas.openxmlformats.org/drawingml/2006/main">
              <a:ext uri="{FF2B5EF4-FFF2-40B4-BE49-F238E27FC236}">
                <a16:creationId xmlns:a16="http://schemas.microsoft.com/office/drawing/2014/main" id="{304FE509-69C2-4980-9E56-87CDD942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510" y="20033135"/>
            <a:ext cx="183769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0</a:t>
            </a:r>
          </a:p>
        </p:txBody>
      </p:sp>
      <p:sp>
        <p:nvSpPr>
          <p:cNvPr id="240" name="t106">
            <a:extLst xmlns:a="http://schemas.openxmlformats.org/drawingml/2006/main">
              <a:ext uri="{FF2B5EF4-FFF2-40B4-BE49-F238E27FC236}">
                <a16:creationId xmlns:a16="http://schemas.microsoft.com/office/drawing/2014/main" id="{78799B9C-9776-42A9-98E5-AE0A38D7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829" y="18979730"/>
            <a:ext cx="300397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50</a:t>
            </a:r>
          </a:p>
        </p:txBody>
      </p:sp>
      <p:sp>
        <p:nvSpPr>
          <p:cNvPr id="241" name="t107">
            <a:extLst xmlns:a="http://schemas.openxmlformats.org/drawingml/2006/main">
              <a:ext uri="{FF2B5EF4-FFF2-40B4-BE49-F238E27FC236}">
                <a16:creationId xmlns:a16="http://schemas.microsoft.com/office/drawing/2014/main" id="{F21C0D33-016B-4086-8AB1-CBA0D22E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9932" y="17926324"/>
            <a:ext cx="383378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100</a:t>
            </a:r>
          </a:p>
        </p:txBody>
      </p:sp>
      <p:sp>
        <p:nvSpPr>
          <p:cNvPr id="242" name="t108">
            <a:extLst xmlns:a="http://schemas.openxmlformats.org/drawingml/2006/main">
              <a:ext uri="{FF2B5EF4-FFF2-40B4-BE49-F238E27FC236}">
                <a16:creationId xmlns:a16="http://schemas.microsoft.com/office/drawing/2014/main" id="{C22C35B7-8EC1-4500-A75C-DD11B9F0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068" y="19583174"/>
            <a:ext cx="361220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7.6</a:t>
            </a:r>
          </a:p>
        </p:txBody>
      </p:sp>
      <p:sp>
        <p:nvSpPr>
          <p:cNvPr id="243" name="t109">
            <a:extLst xmlns:a="http://schemas.openxmlformats.org/drawingml/2006/main">
              <a:ext uri="{FF2B5EF4-FFF2-40B4-BE49-F238E27FC236}">
                <a16:creationId xmlns:a16="http://schemas.microsoft.com/office/drawing/2014/main" id="{5766AA0F-7D52-4C63-B536-77C69F3A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666" y="20470392"/>
            <a:ext cx="310093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R0</a:t>
            </a:r>
          </a:p>
        </p:txBody>
      </p:sp>
      <p:sp>
        <p:nvSpPr>
          <p:cNvPr id="244" name="t110">
            <a:extLst xmlns:a="http://schemas.openxmlformats.org/drawingml/2006/main">
              <a:ext uri="{FF2B5EF4-FFF2-40B4-BE49-F238E27FC236}">
                <a16:creationId xmlns:a16="http://schemas.microsoft.com/office/drawing/2014/main" id="{469EF558-3388-4264-AF0A-29E0F7E1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0918" y="19506974"/>
            <a:ext cx="419714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11.2</a:t>
            </a:r>
          </a:p>
        </p:txBody>
      </p:sp>
      <p:sp>
        <p:nvSpPr>
          <p:cNvPr id="245" name="t111">
            <a:extLst xmlns:a="http://schemas.openxmlformats.org/drawingml/2006/main">
              <a:ext uri="{FF2B5EF4-FFF2-40B4-BE49-F238E27FC236}">
                <a16:creationId xmlns:a16="http://schemas.microsoft.com/office/drawing/2014/main" id="{E51BBBB4-D975-486C-A3E7-1175900C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2476" y="20470392"/>
            <a:ext cx="256480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R1</a:t>
            </a:r>
          </a:p>
        </p:txBody>
      </p:sp>
      <p:sp>
        <p:nvSpPr>
          <p:cNvPr id="246" name="t112">
            <a:extLst xmlns:a="http://schemas.openxmlformats.org/drawingml/2006/main">
              <a:ext uri="{FF2B5EF4-FFF2-40B4-BE49-F238E27FC236}">
                <a16:creationId xmlns:a16="http://schemas.microsoft.com/office/drawing/2014/main" id="{876FA3BD-AAF5-4E05-8F85-0C6E5282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8805" y="19432857"/>
            <a:ext cx="462167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14.7</a:t>
            </a:r>
          </a:p>
        </p:txBody>
      </p:sp>
      <p:sp>
        <p:nvSpPr>
          <p:cNvPr id="247" name="t113">
            <a:extLst xmlns:a="http://schemas.openxmlformats.org/drawingml/2006/main">
              <a:ext uri="{FF2B5EF4-FFF2-40B4-BE49-F238E27FC236}">
                <a16:creationId xmlns:a16="http://schemas.microsoft.com/office/drawing/2014/main" id="{FCFB595F-A21D-4270-9A76-A9C85EB6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10" y="20470392"/>
            <a:ext cx="298115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R2</a:t>
            </a:r>
          </a:p>
        </p:txBody>
      </p:sp>
      <p:sp>
        <p:nvSpPr>
          <p:cNvPr id="248" name="t114">
            <a:extLst xmlns:a="http://schemas.openxmlformats.org/drawingml/2006/main">
              <a:ext uri="{FF2B5EF4-FFF2-40B4-BE49-F238E27FC236}">
                <a16:creationId xmlns:a16="http://schemas.microsoft.com/office/drawing/2014/main" id="{5AD38856-63D6-4987-8B73-BFD251CE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2079" y="19275992"/>
            <a:ext cx="513538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22.2</a:t>
            </a:r>
          </a:p>
        </p:txBody>
      </p:sp>
      <p:sp>
        <p:nvSpPr>
          <p:cNvPr id="249" name="t115">
            <a:extLst xmlns:a="http://schemas.openxmlformats.org/drawingml/2006/main">
              <a:ext uri="{FF2B5EF4-FFF2-40B4-BE49-F238E27FC236}">
                <a16:creationId xmlns:a16="http://schemas.microsoft.com/office/drawing/2014/main" id="{3F9CCEFF-4E39-4E07-B9D4-2F7979B3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8937" y="20470392"/>
            <a:ext cx="299827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R3</a:t>
            </a:r>
          </a:p>
        </p:txBody>
      </p:sp>
      <p:sp>
        <p:nvSpPr>
          <p:cNvPr id="250" name="t116">
            <a:extLst xmlns:a="http://schemas.openxmlformats.org/drawingml/2006/main">
              <a:ext uri="{FF2B5EF4-FFF2-40B4-BE49-F238E27FC236}">
                <a16:creationId xmlns:a16="http://schemas.microsoft.com/office/drawing/2014/main" id="{65FA957B-101A-4E44-A075-EB01AE35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5479" y="19172855"/>
            <a:ext cx="444936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27.1</a:t>
            </a:r>
          </a:p>
        </p:txBody>
      </p:sp>
      <p:sp>
        <p:nvSpPr>
          <p:cNvPr id="251" name="t117">
            <a:extLst xmlns:a="http://schemas.openxmlformats.org/drawingml/2006/main">
              <a:ext uri="{FF2B5EF4-FFF2-40B4-BE49-F238E27FC236}">
                <a16:creationId xmlns:a16="http://schemas.microsoft.com/office/drawing/2014/main" id="{B3749257-FB37-4CC7-A459-5BCB0DC1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7065" y="20470392"/>
            <a:ext cx="301823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R4</a:t>
            </a:r>
          </a:p>
        </p:txBody>
      </p:sp>
      <p:sp>
        <p:nvSpPr>
          <p:cNvPr id="252" name="t118">
            <a:extLst xmlns:a="http://schemas.openxmlformats.org/drawingml/2006/main">
              <a:ext uri="{FF2B5EF4-FFF2-40B4-BE49-F238E27FC236}">
                <a16:creationId xmlns:a16="http://schemas.microsoft.com/office/drawing/2014/main" id="{95E23768-22C3-40EA-9FA3-8A5B4472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4500" y="19696878"/>
            <a:ext cx="444936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27.1</a:t>
            </a:r>
          </a:p>
        </p:txBody>
      </p:sp>
      <p:sp>
        <p:nvSpPr>
          <p:cNvPr id="253" name="t119">
            <a:extLst xmlns:a="http://schemas.openxmlformats.org/drawingml/2006/main">
              <a:ext uri="{FF2B5EF4-FFF2-40B4-BE49-F238E27FC236}">
                <a16:creationId xmlns:a16="http://schemas.microsoft.com/office/drawing/2014/main" id="{14034703-D3B2-4EF5-B019-AF0178E0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6979" y="20470392"/>
            <a:ext cx="300112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R5</a:t>
            </a:r>
          </a:p>
        </p:txBody>
      </p:sp>
      <p:sp>
        <p:nvSpPr>
          <p:cNvPr id="254" name="t120">
            <a:extLst xmlns:a="http://schemas.openxmlformats.org/drawingml/2006/main">
              <a:ext uri="{FF2B5EF4-FFF2-40B4-BE49-F238E27FC236}">
                <a16:creationId xmlns:a16="http://schemas.microsoft.com/office/drawing/2014/main" id="{AFC4CA6B-0E1B-43D7-8604-9484F366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251" y="18441960"/>
            <a:ext cx="465734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61.8</a:t>
            </a:r>
          </a:p>
        </p:txBody>
      </p:sp>
      <p:sp>
        <p:nvSpPr>
          <p:cNvPr id="255" name="t121">
            <a:extLst xmlns:a="http://schemas.openxmlformats.org/drawingml/2006/main">
              <a:ext uri="{FF2B5EF4-FFF2-40B4-BE49-F238E27FC236}">
                <a16:creationId xmlns:a16="http://schemas.microsoft.com/office/drawing/2014/main" id="{B86D79B5-D818-4FC3-90AE-367607F1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5851" y="20470392"/>
            <a:ext cx="300397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R6</a:t>
            </a:r>
          </a:p>
        </p:txBody>
      </p:sp>
      <p:sp>
        <p:nvSpPr>
          <p:cNvPr id="256" name="t122">
            <a:extLst xmlns:a="http://schemas.openxmlformats.org/drawingml/2006/main">
              <a:ext uri="{FF2B5EF4-FFF2-40B4-BE49-F238E27FC236}">
                <a16:creationId xmlns:a16="http://schemas.microsoft.com/office/drawing/2014/main" id="{72BED4AA-8C10-4684-8A8F-1997F800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3418" y="16937850"/>
            <a:ext cx="2283020" cy="465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6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806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Citation recall, %</a:t>
            </a:r>
          </a:p>
        </p:txBody>
      </p:sp>
      <p:sp>
        <p:nvSpPr>
          <p:cNvPr id="257" name="t123">
            <a:extLst xmlns:a="http://schemas.openxmlformats.org/drawingml/2006/main">
              <a:ext uri="{FF2B5EF4-FFF2-40B4-BE49-F238E27FC236}">
                <a16:creationId xmlns:a16="http://schemas.microsoft.com/office/drawing/2014/main" id="{A3BBF6D3-3D66-46D2-BD95-A0381D0F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3418" y="17424922"/>
            <a:ext cx="1292163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95 questions</a:t>
            </a:r>
          </a:p>
        </p:txBody>
      </p:sp>
      <p:sp>
        <p:nvSpPr>
          <p:cNvPr id="258" name="t124">
            <a:extLst xmlns:a="http://schemas.openxmlformats.org/drawingml/2006/main">
              <a:ext uri="{FF2B5EF4-FFF2-40B4-BE49-F238E27FC236}">
                <a16:creationId xmlns:a16="http://schemas.microsoft.com/office/drawing/2014/main" id="{5D498C17-54F5-4000-9424-FF52C6AA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7639" y="20033135"/>
            <a:ext cx="183769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0</a:t>
            </a:r>
          </a:p>
        </p:txBody>
      </p:sp>
      <p:sp>
        <p:nvSpPr>
          <p:cNvPr id="259" name="t125">
            <a:extLst xmlns:a="http://schemas.openxmlformats.org/drawingml/2006/main">
              <a:ext uri="{FF2B5EF4-FFF2-40B4-BE49-F238E27FC236}">
                <a16:creationId xmlns:a16="http://schemas.microsoft.com/office/drawing/2014/main" id="{3567F253-97C5-438A-B20E-365B513B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957" y="18979730"/>
            <a:ext cx="300397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50</a:t>
            </a:r>
          </a:p>
        </p:txBody>
      </p:sp>
      <p:sp>
        <p:nvSpPr>
          <p:cNvPr id="260" name="t126">
            <a:extLst xmlns:a="http://schemas.openxmlformats.org/drawingml/2006/main">
              <a:ext uri="{FF2B5EF4-FFF2-40B4-BE49-F238E27FC236}">
                <a16:creationId xmlns:a16="http://schemas.microsoft.com/office/drawing/2014/main" id="{B8A8C18F-4B38-4D39-B260-021C78BA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8060" y="17926324"/>
            <a:ext cx="383378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100</a:t>
            </a:r>
          </a:p>
        </p:txBody>
      </p:sp>
      <p:sp>
        <p:nvSpPr>
          <p:cNvPr id="261" name="t127">
            <a:extLst xmlns:a="http://schemas.openxmlformats.org/drawingml/2006/main">
              <a:ext uri="{FF2B5EF4-FFF2-40B4-BE49-F238E27FC236}">
                <a16:creationId xmlns:a16="http://schemas.microsoft.com/office/drawing/2014/main" id="{F86521E7-32FB-438D-99B1-8D681207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2848" y="19490454"/>
            <a:ext cx="513834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38.5</a:t>
            </a:r>
          </a:p>
        </p:txBody>
      </p:sp>
      <p:sp>
        <p:nvSpPr>
          <p:cNvPr id="262" name="t128">
            <a:extLst xmlns:a="http://schemas.openxmlformats.org/drawingml/2006/main">
              <a:ext uri="{FF2B5EF4-FFF2-40B4-BE49-F238E27FC236}">
                <a16:creationId xmlns:a16="http://schemas.microsoft.com/office/drawing/2014/main" id="{3FAC0A59-8A23-44D6-BCF0-E812ED10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4795" y="20470392"/>
            <a:ext cx="310093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R0</a:t>
            </a:r>
          </a:p>
        </p:txBody>
      </p:sp>
      <p:sp>
        <p:nvSpPr>
          <p:cNvPr id="263" name="t129">
            <a:extLst xmlns:a="http://schemas.openxmlformats.org/drawingml/2006/main">
              <a:ext uri="{FF2B5EF4-FFF2-40B4-BE49-F238E27FC236}">
                <a16:creationId xmlns:a16="http://schemas.microsoft.com/office/drawing/2014/main" id="{10064744-19CB-411C-AE85-23C28916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5978" y="18444936"/>
            <a:ext cx="465734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61.6</a:t>
            </a:r>
          </a:p>
        </p:txBody>
      </p:sp>
      <p:sp>
        <p:nvSpPr>
          <p:cNvPr id="264" name="t130">
            <a:extLst xmlns:a="http://schemas.openxmlformats.org/drawingml/2006/main">
              <a:ext uri="{FF2B5EF4-FFF2-40B4-BE49-F238E27FC236}">
                <a16:creationId xmlns:a16="http://schemas.microsoft.com/office/drawing/2014/main" id="{945F1C74-FF7F-4483-8421-554440D1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605" y="20470392"/>
            <a:ext cx="256480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R1</a:t>
            </a:r>
          </a:p>
        </p:txBody>
      </p:sp>
      <p:sp>
        <p:nvSpPr>
          <p:cNvPr id="265" name="t131">
            <a:extLst xmlns:a="http://schemas.openxmlformats.org/drawingml/2006/main">
              <a:ext uri="{FF2B5EF4-FFF2-40B4-BE49-F238E27FC236}">
                <a16:creationId xmlns:a16="http://schemas.microsoft.com/office/drawing/2014/main" id="{8D5FB7A6-79AF-4B2D-8A55-CFC9929A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1484" y="19152912"/>
            <a:ext cx="512944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52.9</a:t>
            </a:r>
          </a:p>
        </p:txBody>
      </p:sp>
      <p:sp>
        <p:nvSpPr>
          <p:cNvPr id="266" name="t132">
            <a:extLst xmlns:a="http://schemas.openxmlformats.org/drawingml/2006/main">
              <a:ext uri="{FF2B5EF4-FFF2-40B4-BE49-F238E27FC236}">
                <a16:creationId xmlns:a16="http://schemas.microsoft.com/office/drawing/2014/main" id="{893D5E05-8EA9-4295-8B17-4155617E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8789" y="20470392"/>
            <a:ext cx="298115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R2</a:t>
            </a:r>
          </a:p>
        </p:txBody>
      </p:sp>
      <p:sp>
        <p:nvSpPr>
          <p:cNvPr id="267" name="t133">
            <a:extLst xmlns:a="http://schemas.openxmlformats.org/drawingml/2006/main">
              <a:ext uri="{FF2B5EF4-FFF2-40B4-BE49-F238E27FC236}">
                <a16:creationId xmlns:a16="http://schemas.microsoft.com/office/drawing/2014/main" id="{53AE29E7-654B-46BD-B7FF-EB219FFE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4495" y="18212169"/>
            <a:ext cx="485029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72.7</a:t>
            </a:r>
          </a:p>
        </p:txBody>
      </p:sp>
      <p:sp>
        <p:nvSpPr>
          <p:cNvPr id="268" name="t134">
            <a:extLst xmlns:a="http://schemas.openxmlformats.org/drawingml/2006/main">
              <a:ext uri="{FF2B5EF4-FFF2-40B4-BE49-F238E27FC236}">
                <a16:creationId xmlns:a16="http://schemas.microsoft.com/office/drawing/2014/main" id="{0ABA49BB-DF28-4255-A827-0C8DA854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7066" y="20470392"/>
            <a:ext cx="299827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R3</a:t>
            </a:r>
          </a:p>
        </p:txBody>
      </p:sp>
      <p:sp>
        <p:nvSpPr>
          <p:cNvPr id="269" name="t135">
            <a:extLst xmlns:a="http://schemas.openxmlformats.org/drawingml/2006/main">
              <a:ext uri="{FF2B5EF4-FFF2-40B4-BE49-F238E27FC236}">
                <a16:creationId xmlns:a16="http://schemas.microsoft.com/office/drawing/2014/main" id="{2DE09343-A793-41AF-A56C-F1491057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3991" y="18080158"/>
            <a:ext cx="504036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78.9</a:t>
            </a:r>
          </a:p>
        </p:txBody>
      </p:sp>
      <p:sp>
        <p:nvSpPr>
          <p:cNvPr id="270" name="t136">
            <a:extLst xmlns:a="http://schemas.openxmlformats.org/drawingml/2006/main">
              <a:ext uri="{FF2B5EF4-FFF2-40B4-BE49-F238E27FC236}">
                <a16:creationId xmlns:a16="http://schemas.microsoft.com/office/drawing/2014/main" id="{7BB9726E-EC90-45E8-A5FC-B3816C33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5194" y="20470392"/>
            <a:ext cx="301823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R4</a:t>
            </a:r>
          </a:p>
        </p:txBody>
      </p:sp>
      <p:sp>
        <p:nvSpPr>
          <p:cNvPr id="271" name="t137">
            <a:extLst xmlns:a="http://schemas.openxmlformats.org/drawingml/2006/main">
              <a:ext uri="{FF2B5EF4-FFF2-40B4-BE49-F238E27FC236}">
                <a16:creationId xmlns:a16="http://schemas.microsoft.com/office/drawing/2014/main" id="{76293EFB-B357-4315-A62D-5FC4EB09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3160" y="18638562"/>
            <a:ext cx="504036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78.9</a:t>
            </a:r>
          </a:p>
        </p:txBody>
      </p:sp>
      <p:sp>
        <p:nvSpPr>
          <p:cNvPr id="272" name="t138">
            <a:extLst xmlns:a="http://schemas.openxmlformats.org/drawingml/2006/main">
              <a:ext uri="{FF2B5EF4-FFF2-40B4-BE49-F238E27FC236}">
                <a16:creationId xmlns:a16="http://schemas.microsoft.com/office/drawing/2014/main" id="{78F1F45C-E64A-4A23-A00F-5D4B84A1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5107" y="20470392"/>
            <a:ext cx="300112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R5</a:t>
            </a:r>
          </a:p>
        </p:txBody>
      </p:sp>
      <p:sp>
        <p:nvSpPr>
          <p:cNvPr id="273" name="t139">
            <a:extLst xmlns:a="http://schemas.openxmlformats.org/drawingml/2006/main">
              <a:ext uri="{FF2B5EF4-FFF2-40B4-BE49-F238E27FC236}">
                <a16:creationId xmlns:a16="http://schemas.microsoft.com/office/drawing/2014/main" id="{83BB5464-4B75-453B-9635-381D6628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4860" y="18168711"/>
            <a:ext cx="498687" cy="394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39" b="1" i="0">
                <a:solidFill>
                  <a:srgbClr val="13304C"/>
                </a:solidFill>
                <a:latin typeface="Barlow Condensed"/>
                <a:ea typeface="Barlow Condensed"/>
                <a:cs typeface="Barlow Condensed"/>
              </a:rPr>
              <a:t>74.7</a:t>
            </a:r>
          </a:p>
        </p:txBody>
      </p:sp>
      <p:sp>
        <p:nvSpPr>
          <p:cNvPr id="274" name="t140">
            <a:extLst xmlns:a="http://schemas.openxmlformats.org/drawingml/2006/main">
              <a:ext uri="{FF2B5EF4-FFF2-40B4-BE49-F238E27FC236}">
                <a16:creationId xmlns:a16="http://schemas.microsoft.com/office/drawing/2014/main" id="{113F56AE-00EB-4C21-B05D-945A13E4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3979" y="20470392"/>
            <a:ext cx="300397" cy="38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45" b="0" i="0">
                <a:solidFill>
                  <a:srgbClr val="516578"/>
                </a:solidFill>
                <a:latin typeface="Barlow Condensed"/>
                <a:ea typeface="Barlow Condensed"/>
                <a:cs typeface="Barlow Condensed"/>
              </a:rPr>
              <a:t>R6</a:t>
            </a:r>
          </a:p>
        </p:txBody>
      </p:sp>
      <p:sp>
        <p:nvSpPr>
          <p:cNvPr id="275" name="t141">
            <a:extLst xmlns:a="http://schemas.openxmlformats.org/drawingml/2006/main">
              <a:ext uri="{FF2B5EF4-FFF2-40B4-BE49-F238E27FC236}">
                <a16:creationId xmlns:a16="http://schemas.microsoft.com/office/drawing/2014/main" id="{99E273F0-B60F-40FD-935B-5D31C4EB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8591" y="1397032"/>
            <a:ext cx="3597148" cy="46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9. Results: OCR robustness</a:t>
            </a:r>
          </a:p>
        </p:txBody>
      </p:sp>
      <p:sp>
        <p:nvSpPr>
          <p:cNvPr id="276" name="t142">
            <a:extLst xmlns:a="http://schemas.openxmlformats.org/drawingml/2006/main">
              <a:ext uri="{FF2B5EF4-FFF2-40B4-BE49-F238E27FC236}">
                <a16:creationId xmlns:a16="http://schemas.microsoft.com/office/drawing/2014/main" id="{54FDD7FB-824D-4010-A108-CC59952B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1943100"/>
            <a:ext cx="5637436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rPr>
              <a:t>OCR recovers performance on scanned documents</a:t>
            </a:r>
          </a:p>
        </p:txBody>
      </p:sp>
      <p:sp>
        <p:nvSpPr>
          <p:cNvPr id="277" name="t143">
            <a:extLst xmlns:a="http://schemas.openxmlformats.org/drawingml/2006/main">
              <a:ext uri="{FF2B5EF4-FFF2-40B4-BE49-F238E27FC236}">
                <a16:creationId xmlns:a16="http://schemas.microsoft.com/office/drawing/2014/main" id="{BA111EDD-9E8D-41AD-ABD9-2601351F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2368582"/>
            <a:ext cx="1906178" cy="373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Original corpus · R0</a:t>
            </a:r>
          </a:p>
        </p:txBody>
      </p:sp>
      <p:sp>
        <p:nvSpPr>
          <p:cNvPr id="278" name="t144">
            <a:extLst xmlns:a="http://schemas.openxmlformats.org/drawingml/2006/main">
              <a:ext uri="{FF2B5EF4-FFF2-40B4-BE49-F238E27FC236}">
                <a16:creationId xmlns:a16="http://schemas.microsoft.com/office/drawing/2014/main" id="{CE3C7885-CABB-4D17-A704-DB7175B4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2968657"/>
            <a:ext cx="4332622" cy="373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Mixed corpus (original + synthetic scans) · R0</a:t>
            </a:r>
          </a:p>
        </p:txBody>
      </p:sp>
      <p:sp>
        <p:nvSpPr>
          <p:cNvPr id="279" name="t145">
            <a:extLst xmlns:a="http://schemas.openxmlformats.org/drawingml/2006/main">
              <a:ext uri="{FF2B5EF4-FFF2-40B4-BE49-F238E27FC236}">
                <a16:creationId xmlns:a16="http://schemas.microsoft.com/office/drawing/2014/main" id="{15ACFEB9-0AE8-4E0A-BC54-0703DE45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3559207"/>
            <a:ext cx="2276039" cy="373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Mixed corpus + OCR · R1</a:t>
            </a:r>
          </a:p>
        </p:txBody>
      </p:sp>
      <p:sp>
        <p:nvSpPr>
          <p:cNvPr id="280" name="t146">
            <a:extLst xmlns:a="http://schemas.openxmlformats.org/drawingml/2006/main">
              <a:ext uri="{FF2B5EF4-FFF2-40B4-BE49-F238E27FC236}">
                <a16:creationId xmlns:a16="http://schemas.microsoft.com/office/drawing/2014/main" id="{29AA0F10-7148-420B-B9E7-C2B2D380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4162425"/>
            <a:ext cx="175564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476579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100" b="0" i="0">
                <a:solidFill>
                  <a:srgbClr val="476579"/>
                </a:solidFill>
                <a:latin typeface="Barlow Condensed"/>
                <a:ea typeface="Barlow Condensed"/>
                <a:cs typeface="Barlow Condensed"/>
              </a:rPr>
              <a:t>0</a:t>
            </a:r>
          </a:p>
        </p:txBody>
      </p:sp>
      <p:sp>
        <p:nvSpPr>
          <p:cNvPr id="281" name="t147">
            <a:extLst xmlns:a="http://schemas.openxmlformats.org/drawingml/2006/main">
              <a:ext uri="{FF2B5EF4-FFF2-40B4-BE49-F238E27FC236}">
                <a16:creationId xmlns:a16="http://schemas.microsoft.com/office/drawing/2014/main" id="{9920BB56-59CE-4BB6-B83C-5FDD5D7E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9288" y="4162425"/>
            <a:ext cx="284646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476579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100" b="0" i="0">
                <a:solidFill>
                  <a:srgbClr val="476579"/>
                </a:solidFill>
                <a:latin typeface="Barlow Condensed"/>
                <a:ea typeface="Barlow Condensed"/>
                <a:cs typeface="Barlow Condensed"/>
              </a:rPr>
              <a:t>50</a:t>
            </a:r>
          </a:p>
        </p:txBody>
      </p:sp>
      <p:sp>
        <p:nvSpPr>
          <p:cNvPr id="282" name="t148">
            <a:extLst xmlns:a="http://schemas.openxmlformats.org/drawingml/2006/main">
              <a:ext uri="{FF2B5EF4-FFF2-40B4-BE49-F238E27FC236}">
                <a16:creationId xmlns:a16="http://schemas.microsoft.com/office/drawing/2014/main" id="{1D345E19-6499-4E07-99EE-E10541C0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0500" y="4162425"/>
            <a:ext cx="570551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476579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100" b="0" i="0">
                <a:solidFill>
                  <a:srgbClr val="476579"/>
                </a:solidFill>
                <a:latin typeface="Barlow Condensed"/>
                <a:ea typeface="Barlow Condensed"/>
                <a:cs typeface="Barlow Condensed"/>
              </a:rPr>
              <a:t>100%</a:t>
            </a:r>
          </a:p>
        </p:txBody>
      </p:sp>
      <p:sp>
        <p:nvSpPr>
          <p:cNvPr id="283" name="t149">
            <a:extLst xmlns:a="http://schemas.openxmlformats.org/drawingml/2006/main">
              <a:ext uri="{FF2B5EF4-FFF2-40B4-BE49-F238E27FC236}">
                <a16:creationId xmlns:a16="http://schemas.microsoft.com/office/drawing/2014/main" id="{DAEECB34-EDB2-4B30-AF72-2E3BEF82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4552950"/>
            <a:ext cx="854858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Converting 10 documents into synthetic scans reduces answer quality from 65.4%</a:t>
            </a:r>
          </a:p>
        </p:txBody>
      </p:sp>
      <p:sp>
        <p:nvSpPr>
          <p:cNvPr id="284" name="t150">
            <a:extLst xmlns:a="http://schemas.openxmlformats.org/drawingml/2006/main">
              <a:ext uri="{FF2B5EF4-FFF2-40B4-BE49-F238E27FC236}">
                <a16:creationId xmlns:a16="http://schemas.microsoft.com/office/drawing/2014/main" id="{8A488D84-B514-4DD2-A083-F95804D0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4867275"/>
            <a:ext cx="6016609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to 46.2%. OCR restores most of this loss, reaching 63.2%.</a:t>
            </a:r>
          </a:p>
        </p:txBody>
      </p:sp>
      <p:sp>
        <p:nvSpPr>
          <p:cNvPr id="285" name="t151">
            <a:extLst xmlns:a="http://schemas.openxmlformats.org/drawingml/2006/main">
              <a:ext uri="{FF2B5EF4-FFF2-40B4-BE49-F238E27FC236}">
                <a16:creationId xmlns:a16="http://schemas.microsoft.com/office/drawing/2014/main" id="{C830288A-3E11-45DB-807D-F58AA382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8591" y="5454682"/>
            <a:ext cx="4548649" cy="46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10. Results: Hypothesis evaluation</a:t>
            </a:r>
          </a:p>
        </p:txBody>
      </p:sp>
      <p:sp>
        <p:nvSpPr>
          <p:cNvPr id="286" name="t152">
            <a:extLst xmlns:a="http://schemas.openxmlformats.org/drawingml/2006/main">
              <a:ext uri="{FF2B5EF4-FFF2-40B4-BE49-F238E27FC236}">
                <a16:creationId xmlns:a16="http://schemas.microsoft.com/office/drawing/2014/main" id="{F750C180-E1F1-4139-9236-871F9B55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2891" y="6134100"/>
            <a:ext cx="3526081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rPr>
              <a:t>H1 — Retrieval &amp; representation</a:t>
            </a:r>
          </a:p>
        </p:txBody>
      </p:sp>
      <p:sp>
        <p:nvSpPr>
          <p:cNvPr id="287" name="t153">
            <a:extLst xmlns:a="http://schemas.openxmlformats.org/drawingml/2006/main">
              <a:ext uri="{FF2B5EF4-FFF2-40B4-BE49-F238E27FC236}">
                <a16:creationId xmlns:a16="http://schemas.microsoft.com/office/drawing/2014/main" id="{57999790-3D54-47DD-8F5C-BD0B49A1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8195" y="6134100"/>
            <a:ext cx="223586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Partially supported.</a:t>
            </a:r>
          </a:p>
        </p:txBody>
      </p:sp>
      <p:sp>
        <p:nvSpPr>
          <p:cNvPr id="288" name="t154">
            <a:extLst xmlns:a="http://schemas.openxmlformats.org/drawingml/2006/main">
              <a:ext uri="{FF2B5EF4-FFF2-40B4-BE49-F238E27FC236}">
                <a16:creationId xmlns:a16="http://schemas.microsoft.com/office/drawing/2014/main" id="{200A1A25-4AAD-4D87-9D3D-31E45612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7039" y="6134100"/>
            <a:ext cx="124313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 Multi-scale</a:t>
            </a:r>
          </a:p>
        </p:txBody>
      </p:sp>
      <p:sp>
        <p:nvSpPr>
          <p:cNvPr id="289" name="t155">
            <a:extLst xmlns:a="http://schemas.openxmlformats.org/drawingml/2006/main">
              <a:ext uri="{FF2B5EF4-FFF2-40B4-BE49-F238E27FC236}">
                <a16:creationId xmlns:a16="http://schemas.microsoft.com/office/drawing/2014/main" id="{1678B759-38FB-4FEF-978E-B5FB8F4F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2891" y="6448425"/>
            <a:ext cx="765797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representations alone reduce Q, but adding lexical retrieval and reranking</a:t>
            </a:r>
          </a:p>
        </p:txBody>
      </p:sp>
      <p:sp>
        <p:nvSpPr>
          <p:cNvPr id="290" name="t156">
            <a:extLst xmlns:a="http://schemas.openxmlformats.org/drawingml/2006/main">
              <a:ext uri="{FF2B5EF4-FFF2-40B4-BE49-F238E27FC236}">
                <a16:creationId xmlns:a16="http://schemas.microsoft.com/office/drawing/2014/main" id="{9BFE9856-F922-44A3-BB23-9AFD9F05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2891" y="6772275"/>
            <a:ext cx="6453094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substantially improves answer quality and source-page recall.</a:t>
            </a:r>
          </a:p>
        </p:txBody>
      </p:sp>
      <p:sp>
        <p:nvSpPr>
          <p:cNvPr id="291" name="t157">
            <a:extLst xmlns:a="http://schemas.openxmlformats.org/drawingml/2006/main">
              <a:ext uri="{FF2B5EF4-FFF2-40B4-BE49-F238E27FC236}">
                <a16:creationId xmlns:a16="http://schemas.microsoft.com/office/drawing/2014/main" id="{76721F2C-A92C-4121-B831-B0E73101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2891" y="7343775"/>
            <a:ext cx="2474823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rPr>
              <a:t>H2 — Scan robustness</a:t>
            </a:r>
          </a:p>
        </p:txBody>
      </p:sp>
      <p:sp>
        <p:nvSpPr>
          <p:cNvPr id="292" name="t158">
            <a:extLst xmlns:a="http://schemas.openxmlformats.org/drawingml/2006/main">
              <a:ext uri="{FF2B5EF4-FFF2-40B4-BE49-F238E27FC236}">
                <a16:creationId xmlns:a16="http://schemas.microsoft.com/office/drawing/2014/main" id="{D86A6FEA-7AF5-41D3-8BF3-7D27A697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873" y="7343775"/>
            <a:ext cx="126050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Supported.</a:t>
            </a:r>
          </a:p>
        </p:txBody>
      </p:sp>
      <p:sp>
        <p:nvSpPr>
          <p:cNvPr id="293" name="t159">
            <a:extLst xmlns:a="http://schemas.openxmlformats.org/drawingml/2006/main">
              <a:ext uri="{FF2B5EF4-FFF2-40B4-BE49-F238E27FC236}">
                <a16:creationId xmlns:a16="http://schemas.microsoft.com/office/drawing/2014/main" id="{71530DDE-BBFD-4E13-AB6C-E68E1FE9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0297" y="7343775"/>
            <a:ext cx="475717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 OCR restores most of the answer-quality loss</a:t>
            </a:r>
          </a:p>
        </p:txBody>
      </p:sp>
      <p:sp>
        <p:nvSpPr>
          <p:cNvPr id="294" name="t160">
            <a:extLst xmlns:a="http://schemas.openxmlformats.org/drawingml/2006/main">
              <a:ext uri="{FF2B5EF4-FFF2-40B4-BE49-F238E27FC236}">
                <a16:creationId xmlns:a16="http://schemas.microsoft.com/office/drawing/2014/main" id="{125179A3-BFE8-4847-822E-317FE890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2891" y="7667625"/>
            <a:ext cx="5556359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caused by removing the machine-readable text layer.</a:t>
            </a:r>
          </a:p>
        </p:txBody>
      </p:sp>
      <p:sp>
        <p:nvSpPr>
          <p:cNvPr id="295" name="t161">
            <a:extLst xmlns:a="http://schemas.openxmlformats.org/drawingml/2006/main">
              <a:ext uri="{FF2B5EF4-FFF2-40B4-BE49-F238E27FC236}">
                <a16:creationId xmlns:a16="http://schemas.microsoft.com/office/drawing/2014/main" id="{5E170E0F-9D6A-4CFB-BD74-50EC4D6E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2891" y="8248650"/>
            <a:ext cx="2571144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rPr>
              <a:t>H3 — Citation selection</a:t>
            </a:r>
          </a:p>
        </p:txBody>
      </p:sp>
      <p:sp>
        <p:nvSpPr>
          <p:cNvPr id="296" name="t162">
            <a:extLst xmlns:a="http://schemas.openxmlformats.org/drawingml/2006/main">
              <a:ext uri="{FF2B5EF4-FFF2-40B4-BE49-F238E27FC236}">
                <a16:creationId xmlns:a16="http://schemas.microsoft.com/office/drawing/2014/main" id="{DB84FAEB-4300-4400-8932-15AECA4F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3165" y="8248650"/>
            <a:ext cx="306552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Supported with a trade-off.</a:t>
            </a:r>
          </a:p>
        </p:txBody>
      </p:sp>
      <p:sp>
        <p:nvSpPr>
          <p:cNvPr id="297" name="t163">
            <a:extLst xmlns:a="http://schemas.openxmlformats.org/drawingml/2006/main">
              <a:ext uri="{FF2B5EF4-FFF2-40B4-BE49-F238E27FC236}">
                <a16:creationId xmlns:a16="http://schemas.microsoft.com/office/drawing/2014/main" id="{106E98AC-87A3-424F-8636-F7CA3CCD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1577" y="8248650"/>
            <a:ext cx="2858266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 Precision rises from 27.1%</a:t>
            </a:r>
          </a:p>
        </p:txBody>
      </p:sp>
      <p:sp>
        <p:nvSpPr>
          <p:cNvPr id="298" name="t164">
            <a:extLst xmlns:a="http://schemas.openxmlformats.org/drawingml/2006/main">
              <a:ext uri="{FF2B5EF4-FFF2-40B4-BE49-F238E27FC236}">
                <a16:creationId xmlns:a16="http://schemas.microsoft.com/office/drawing/2014/main" id="{29728C0E-AE31-43BC-98BF-A77BEC84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2891" y="8562975"/>
            <a:ext cx="6884067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to 61.8%, while recall decreases moderately from 78.9% to 74.7%.</a:t>
            </a:r>
          </a:p>
        </p:txBody>
      </p:sp>
      <p:sp>
        <p:nvSpPr>
          <p:cNvPr id="299" name="t165">
            <a:extLst xmlns:a="http://schemas.openxmlformats.org/drawingml/2006/main">
              <a:ext uri="{FF2B5EF4-FFF2-40B4-BE49-F238E27FC236}">
                <a16:creationId xmlns:a16="http://schemas.microsoft.com/office/drawing/2014/main" id="{213DAE21-DDDF-44B0-85E1-B93F9331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8591" y="9274207"/>
            <a:ext cx="3915346" cy="46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11. Conclusion and takeaways</a:t>
            </a:r>
          </a:p>
        </p:txBody>
      </p:sp>
      <p:sp>
        <p:nvSpPr>
          <p:cNvPr id="300" name="t166">
            <a:extLst xmlns:a="http://schemas.openxmlformats.org/drawingml/2006/main">
              <a:ext uri="{FF2B5EF4-FFF2-40B4-BE49-F238E27FC236}">
                <a16:creationId xmlns:a16="http://schemas.microsoft.com/office/drawing/2014/main" id="{43EF8139-43D4-41A3-A9A2-AF11E5A9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0516" y="9953625"/>
            <a:ext cx="7296169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Legal RAG should be designed as a multi-stage pipeline: OCR improves</a:t>
            </a:r>
          </a:p>
        </p:txBody>
      </p:sp>
      <p:sp>
        <p:nvSpPr>
          <p:cNvPr id="301" name="t167">
            <a:extLst xmlns:a="http://schemas.openxmlformats.org/drawingml/2006/main">
              <a:ext uri="{FF2B5EF4-FFF2-40B4-BE49-F238E27FC236}">
                <a16:creationId xmlns:a16="http://schemas.microsoft.com/office/drawing/2014/main" id="{23EAD2E8-1EAD-45AE-8532-3745D548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0516" y="10267950"/>
            <a:ext cx="814931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robustness to unreadable PDFs, hybrid retrieval and reranking improve answer</a:t>
            </a:r>
          </a:p>
        </p:txBody>
      </p:sp>
      <p:sp>
        <p:nvSpPr>
          <p:cNvPr id="302" name="t168">
            <a:extLst xmlns:a="http://schemas.openxmlformats.org/drawingml/2006/main">
              <a:ext uri="{FF2B5EF4-FFF2-40B4-BE49-F238E27FC236}">
                <a16:creationId xmlns:a16="http://schemas.microsoft.com/office/drawing/2014/main" id="{52A11CB8-1769-4A32-85DD-2BA3CC97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0516" y="10591800"/>
            <a:ext cx="8401062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quality, and post-answer citation selection improves citation precision. However,</a:t>
            </a:r>
          </a:p>
        </p:txBody>
      </p:sp>
      <p:sp>
        <p:nvSpPr>
          <p:cNvPr id="303" name="t169">
            <a:extLst xmlns:a="http://schemas.openxmlformats.org/drawingml/2006/main">
              <a:ext uri="{FF2B5EF4-FFF2-40B4-BE49-F238E27FC236}">
                <a16:creationId xmlns:a16="http://schemas.microsoft.com/office/drawing/2014/main" id="{71FD2C59-FE01-40DF-AD1D-9597B6E7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0516" y="10906125"/>
            <a:ext cx="827823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citation selection introduces a precision–recall trade-off, so answer quality and</a:t>
            </a:r>
          </a:p>
        </p:txBody>
      </p:sp>
      <p:sp>
        <p:nvSpPr>
          <p:cNvPr id="304" name="t170">
            <a:extLst xmlns:a="http://schemas.openxmlformats.org/drawingml/2006/main">
              <a:ext uri="{FF2B5EF4-FFF2-40B4-BE49-F238E27FC236}">
                <a16:creationId xmlns:a16="http://schemas.microsoft.com/office/drawing/2014/main" id="{8A564B3F-3E1E-47B3-8C82-E39E5D69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0516" y="11229975"/>
            <a:ext cx="646405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citation quality should be optimized and evaluated separately.</a:t>
            </a:r>
          </a:p>
        </p:txBody>
      </p:sp>
      <p:sp>
        <p:nvSpPr>
          <p:cNvPr id="305" name="t171">
            <a:extLst xmlns:a="http://schemas.openxmlformats.org/drawingml/2006/main">
              <a:ext uri="{FF2B5EF4-FFF2-40B4-BE49-F238E27FC236}">
                <a16:creationId xmlns:a16="http://schemas.microsoft.com/office/drawing/2014/main" id="{BECAB606-F880-4921-AC7E-CCBE6A01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11782425"/>
            <a:ext cx="3554115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rPr>
              <a:t>1 · Ensure document robustness</a:t>
            </a:r>
          </a:p>
        </p:txBody>
      </p:sp>
      <p:sp>
        <p:nvSpPr>
          <p:cNvPr id="306" name="t172">
            <a:extLst xmlns:a="http://schemas.openxmlformats.org/drawingml/2006/main">
              <a:ext uri="{FF2B5EF4-FFF2-40B4-BE49-F238E27FC236}">
                <a16:creationId xmlns:a16="http://schemas.microsoft.com/office/drawing/2014/main" id="{4064B21F-9CB1-43DC-89C2-412FBE49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0380" y="11782425"/>
            <a:ext cx="4337217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 OCR provides robustness when machine-</a:t>
            </a:r>
          </a:p>
        </p:txBody>
      </p:sp>
      <p:sp>
        <p:nvSpPr>
          <p:cNvPr id="307" name="t173">
            <a:extLst xmlns:a="http://schemas.openxmlformats.org/drawingml/2006/main">
              <a:ext uri="{FF2B5EF4-FFF2-40B4-BE49-F238E27FC236}">
                <a16:creationId xmlns:a16="http://schemas.microsoft.com/office/drawing/2014/main" id="{E6278E60-EE3A-4F9F-A359-E84DD34F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12096750"/>
            <a:ext cx="8549801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readable text is unavailable. It recovered most of the performance loss introduced</a:t>
            </a:r>
          </a:p>
        </p:txBody>
      </p:sp>
      <p:sp>
        <p:nvSpPr>
          <p:cNvPr id="308" name="t174">
            <a:extLst xmlns:a="http://schemas.openxmlformats.org/drawingml/2006/main">
              <a:ext uri="{FF2B5EF4-FFF2-40B4-BE49-F238E27FC236}">
                <a16:creationId xmlns:a16="http://schemas.microsoft.com/office/drawing/2014/main" id="{A57DCACD-6660-472F-BFA5-1F7568E2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12420600"/>
            <a:ext cx="203622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by synthetic scans.</a:t>
            </a:r>
          </a:p>
        </p:txBody>
      </p:sp>
      <p:sp>
        <p:nvSpPr>
          <p:cNvPr id="309" name="t175">
            <a:extLst xmlns:a="http://schemas.openxmlformats.org/drawingml/2006/main">
              <a:ext uri="{FF2B5EF4-FFF2-40B4-BE49-F238E27FC236}">
                <a16:creationId xmlns:a16="http://schemas.microsoft.com/office/drawing/2014/main" id="{BAA31426-3D38-4739-875F-A95A7561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12811125"/>
            <a:ext cx="2337053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rPr>
              <a:t>2 · Optimize retrieval</a:t>
            </a:r>
          </a:p>
        </p:txBody>
      </p:sp>
      <p:sp>
        <p:nvSpPr>
          <p:cNvPr id="310" name="t176">
            <a:extLst xmlns:a="http://schemas.openxmlformats.org/drawingml/2006/main">
              <a:ext uri="{FF2B5EF4-FFF2-40B4-BE49-F238E27FC236}">
                <a16:creationId xmlns:a16="http://schemas.microsoft.com/office/drawing/2014/main" id="{6F1093D9-A09F-4A25-81C8-481FA67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3413" y="12811125"/>
            <a:ext cx="5419263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 Hybrid retrieval and reranking produced the largest</a:t>
            </a:r>
          </a:p>
        </p:txBody>
      </p:sp>
      <p:sp>
        <p:nvSpPr>
          <p:cNvPr id="311" name="t177">
            <a:extLst xmlns:a="http://schemas.openxmlformats.org/drawingml/2006/main">
              <a:ext uri="{FF2B5EF4-FFF2-40B4-BE49-F238E27FC236}">
                <a16:creationId xmlns:a16="http://schemas.microsoft.com/office/drawing/2014/main" id="{EB8C7455-9800-4FAC-A32E-FCF7EC0D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13134975"/>
            <a:ext cx="8150823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observed gains in answer quality. Additional representation complexity did not</a:t>
            </a:r>
          </a:p>
        </p:txBody>
      </p:sp>
      <p:sp>
        <p:nvSpPr>
          <p:cNvPr id="312" name="t178">
            <a:extLst xmlns:a="http://schemas.openxmlformats.org/drawingml/2006/main">
              <a:ext uri="{FF2B5EF4-FFF2-40B4-BE49-F238E27FC236}">
                <a16:creationId xmlns:a16="http://schemas.microsoft.com/office/drawing/2014/main" id="{1C3B4AF9-D2C5-4692-8F88-3FF3358A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13458825"/>
            <a:ext cx="3669342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consistently improve performance.</a:t>
            </a:r>
          </a:p>
        </p:txBody>
      </p:sp>
      <p:sp>
        <p:nvSpPr>
          <p:cNvPr id="313" name="t179">
            <a:extLst xmlns:a="http://schemas.openxmlformats.org/drawingml/2006/main">
              <a:ext uri="{FF2B5EF4-FFF2-40B4-BE49-F238E27FC236}">
                <a16:creationId xmlns:a16="http://schemas.microsoft.com/office/drawing/2014/main" id="{1EBC80FB-7FFB-4C42-89CC-2DE7F817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13849350"/>
            <a:ext cx="3611731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rPr>
              <a:t>3 · Optimize citations separately</a:t>
            </a:r>
          </a:p>
        </p:txBody>
      </p:sp>
      <p:sp>
        <p:nvSpPr>
          <p:cNvPr id="314" name="t180">
            <a:extLst xmlns:a="http://schemas.openxmlformats.org/drawingml/2006/main">
              <a:ext uri="{FF2B5EF4-FFF2-40B4-BE49-F238E27FC236}">
                <a16:creationId xmlns:a16="http://schemas.microsoft.com/office/drawing/2014/main" id="{CFC54292-AEE4-4E8C-8510-2CAFFF58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7977" y="13849350"/>
            <a:ext cx="4648107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 Post-answer citation selection substantially</a:t>
            </a:r>
          </a:p>
        </p:txBody>
      </p:sp>
      <p:sp>
        <p:nvSpPr>
          <p:cNvPr id="315" name="t181">
            <a:extLst xmlns:a="http://schemas.openxmlformats.org/drawingml/2006/main">
              <a:ext uri="{FF2B5EF4-FFF2-40B4-BE49-F238E27FC236}">
                <a16:creationId xmlns:a16="http://schemas.microsoft.com/office/drawing/2014/main" id="{36306B5B-B5AC-4EC0-A095-2CCB3064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14173200"/>
            <a:ext cx="5443283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increased precision, with a small reduction in recall.</a:t>
            </a:r>
          </a:p>
        </p:txBody>
      </p:sp>
      <p:sp>
        <p:nvSpPr>
          <p:cNvPr id="316" name="t182">
            <a:extLst xmlns:a="http://schemas.openxmlformats.org/drawingml/2006/main">
              <a:ext uri="{FF2B5EF4-FFF2-40B4-BE49-F238E27FC236}">
                <a16:creationId xmlns:a16="http://schemas.microsoft.com/office/drawing/2014/main" id="{BDDCA4F5-015C-4D46-B7C5-B2D30B9B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14687550"/>
            <a:ext cx="2473297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Unexpected outcome:</a:t>
            </a:r>
          </a:p>
        </p:txBody>
      </p:sp>
      <p:sp>
        <p:nvSpPr>
          <p:cNvPr id="317" name="t183">
            <a:extLst xmlns:a="http://schemas.openxmlformats.org/drawingml/2006/main">
              <a:ext uri="{FF2B5EF4-FFF2-40B4-BE49-F238E27FC236}">
                <a16:creationId xmlns:a16="http://schemas.microsoft.com/office/drawing/2014/main" id="{EBB8D42B-3271-4B03-A021-840F8A76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3390" y="14687550"/>
            <a:ext cx="6285139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 Multi-scale representations did not improve performance; Q</a:t>
            </a:r>
          </a:p>
        </p:txBody>
      </p:sp>
      <p:sp>
        <p:nvSpPr>
          <p:cNvPr id="318" name="t184">
            <a:extLst xmlns:a="http://schemas.openxmlformats.org/drawingml/2006/main">
              <a:ext uri="{FF2B5EF4-FFF2-40B4-BE49-F238E27FC236}">
                <a16:creationId xmlns:a16="http://schemas.microsoft.com/office/drawing/2014/main" id="{41628D32-7BB6-44D1-B1A8-DF5A321E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15011400"/>
            <a:ext cx="4367944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decreased from 63.2% to 49.8% after R2.</a:t>
            </a:r>
          </a:p>
        </p:txBody>
      </p:sp>
      <p:sp>
        <p:nvSpPr>
          <p:cNvPr id="319" name="t185">
            <a:extLst xmlns:a="http://schemas.openxmlformats.org/drawingml/2006/main">
              <a:ext uri="{FF2B5EF4-FFF2-40B4-BE49-F238E27FC236}">
                <a16:creationId xmlns:a16="http://schemas.microsoft.com/office/drawing/2014/main" id="{3E4DD7C9-C180-4D19-8834-E51B376F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8591" y="15598806"/>
            <a:ext cx="2005505" cy="46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8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12. Limitations</a:t>
            </a:r>
          </a:p>
        </p:txBody>
      </p:sp>
      <p:sp>
        <p:nvSpPr>
          <p:cNvPr id="320" name="t186">
            <a:extLst xmlns:a="http://schemas.openxmlformats.org/drawingml/2006/main">
              <a:ext uri="{FF2B5EF4-FFF2-40B4-BE49-F238E27FC236}">
                <a16:creationId xmlns:a16="http://schemas.microsoft.com/office/drawing/2014/main" id="{D32FA478-A1E2-46AB-B99F-B31AFB53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16144875"/>
            <a:ext cx="8157831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one DIFC corpus and 100 questions; one run per condition with no significance</a:t>
            </a:r>
          </a:p>
        </p:txBody>
      </p:sp>
      <p:sp>
        <p:nvSpPr>
          <p:cNvPr id="321" name="t187">
            <a:extLst xmlns:a="http://schemas.openxmlformats.org/drawingml/2006/main">
              <a:ext uri="{FF2B5EF4-FFF2-40B4-BE49-F238E27FC236}">
                <a16:creationId xmlns:a16="http://schemas.microsoft.com/office/drawing/2014/main" id="{4E644E41-D0BE-421E-BCC3-ABBEE59A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166" y="16468725"/>
            <a:ext cx="5375616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testing; LLM-based evaluation of free-text answers.</a:t>
            </a:r>
          </a:p>
        </p:txBody>
      </p:sp>
      <p:sp>
        <p:nvSpPr>
          <p:cNvPr id="322" name="t188">
            <a:extLst xmlns:a="http://schemas.openxmlformats.org/drawingml/2006/main">
              <a:ext uri="{FF2B5EF4-FFF2-40B4-BE49-F238E27FC236}">
                <a16:creationId xmlns:a16="http://schemas.microsoft.com/office/drawing/2014/main" id="{A87E6995-DF34-4BFA-90C0-757CF903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8591" y="17068800"/>
            <a:ext cx="1746399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13. References</a:t>
            </a:r>
          </a:p>
        </p:txBody>
      </p:sp>
      <p:sp>
        <p:nvSpPr>
          <p:cNvPr id="323" name="t189">
            <a:extLst xmlns:a="http://schemas.openxmlformats.org/drawingml/2006/main">
              <a:ext uri="{FF2B5EF4-FFF2-40B4-BE49-F238E27FC236}">
                <a16:creationId xmlns:a16="http://schemas.microsoft.com/office/drawing/2014/main" id="{C64D1F0F-F055-4804-AEF8-3EFD0D85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6434" y="17570481"/>
            <a:ext cx="8580927" cy="28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1. Lewis, P., Perez, E., Piktus, A., Petroni, F., Karpukhin, V., Goyal, N., ... &amp; Kiela, D. (2020). Retrieval-augmented generation for</a:t>
            </a:r>
          </a:p>
        </p:txBody>
      </p:sp>
      <p:sp>
        <p:nvSpPr>
          <p:cNvPr id="324" name="t190">
            <a:extLst xmlns:a="http://schemas.openxmlformats.org/drawingml/2006/main">
              <a:ext uri="{FF2B5EF4-FFF2-40B4-BE49-F238E27FC236}">
                <a16:creationId xmlns:a16="http://schemas.microsoft.com/office/drawing/2014/main" id="{532BB03F-3642-4308-843E-09C27F34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1966" y="17770506"/>
            <a:ext cx="6844450" cy="28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knowledge-intensive nlp tasks. Advances in neural information processing systems, 33, 9459-9474.</a:t>
            </a:r>
          </a:p>
        </p:txBody>
      </p:sp>
      <p:sp>
        <p:nvSpPr>
          <p:cNvPr id="325" name="t191">
            <a:extLst xmlns:a="http://schemas.openxmlformats.org/drawingml/2006/main">
              <a:ext uri="{FF2B5EF4-FFF2-40B4-BE49-F238E27FC236}">
                <a16:creationId xmlns:a16="http://schemas.microsoft.com/office/drawing/2014/main" id="{FDEFC8A1-F5B8-4598-8C58-1619EA34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6434" y="17999106"/>
            <a:ext cx="8529944" cy="28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2. Pipitone, Nicholas, and Ghita Houir Alami. "Legalbench-rag: A benchmark for retrieval-augmented generation in the legal</a:t>
            </a:r>
          </a:p>
        </p:txBody>
      </p:sp>
      <p:sp>
        <p:nvSpPr>
          <p:cNvPr id="326" name="t192">
            <a:extLst xmlns:a="http://schemas.openxmlformats.org/drawingml/2006/main">
              <a:ext uri="{FF2B5EF4-FFF2-40B4-BE49-F238E27FC236}">
                <a16:creationId xmlns:a16="http://schemas.microsoft.com/office/drawing/2014/main" id="{82E75172-2B8D-460A-8758-BC8E5510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1966" y="18208656"/>
            <a:ext cx="3357958" cy="28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domain." arXiv preprint arXiv:2408.10343 (2024).</a:t>
            </a:r>
          </a:p>
        </p:txBody>
      </p:sp>
      <p:sp>
        <p:nvSpPr>
          <p:cNvPr id="327" name="t193">
            <a:extLst xmlns:a="http://schemas.openxmlformats.org/drawingml/2006/main">
              <a:ext uri="{FF2B5EF4-FFF2-40B4-BE49-F238E27FC236}">
                <a16:creationId xmlns:a16="http://schemas.microsoft.com/office/drawing/2014/main" id="{946C21D4-0697-4805-944A-4C4BF5D7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6434" y="18437256"/>
            <a:ext cx="8250402" cy="28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3. Gokhan, T., &amp; Briscoe, T. (2025, November). Grounded Answers from Multi-Passage Regulations: Learning-to-Rank for</a:t>
            </a:r>
          </a:p>
        </p:txBody>
      </p:sp>
      <p:sp>
        <p:nvSpPr>
          <p:cNvPr id="328" name="t194">
            <a:extLst xmlns:a="http://schemas.openxmlformats.org/drawingml/2006/main">
              <a:ext uri="{FF2B5EF4-FFF2-40B4-BE49-F238E27FC236}">
                <a16:creationId xmlns:a16="http://schemas.microsoft.com/office/drawing/2014/main" id="{BF6C8751-AB4A-4353-9584-4205F9FC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1966" y="18637281"/>
            <a:ext cx="7124799" cy="28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Regulatory RAG. In Proceedings of the Natural Legal Language Processing Workshop 2025 (pp. 135-146).</a:t>
            </a:r>
          </a:p>
        </p:txBody>
      </p:sp>
      <p:sp>
        <p:nvSpPr>
          <p:cNvPr id="329" name="t195">
            <a:extLst xmlns:a="http://schemas.openxmlformats.org/drawingml/2006/main">
              <a:ext uri="{FF2B5EF4-FFF2-40B4-BE49-F238E27FC236}">
                <a16:creationId xmlns:a16="http://schemas.microsoft.com/office/drawing/2014/main" id="{B943CC74-BD9F-4C9A-AC5B-1730D2DE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6434" y="18875406"/>
            <a:ext cx="8603059" cy="28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4. Butler, A. R., &amp; Butler, U. (2026). Legal RAG Bench: an end-to-end benchmark for legal RAG. arXiv preprint arXiv:2603.01710.</a:t>
            </a:r>
          </a:p>
        </p:txBody>
      </p:sp>
      <p:sp>
        <p:nvSpPr>
          <p:cNvPr id="330" name="t196">
            <a:extLst xmlns:a="http://schemas.openxmlformats.org/drawingml/2006/main">
              <a:ext uri="{FF2B5EF4-FFF2-40B4-BE49-F238E27FC236}">
                <a16:creationId xmlns:a16="http://schemas.microsoft.com/office/drawing/2014/main" id="{84422D4D-6FC7-4CB5-9F40-F4E64887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6434" y="19104006"/>
            <a:ext cx="8659344" cy="28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5. Trautmann, D., Ostapuk, N., Grail, Q., Pol, A., Bonifazi, G., Gao, S., &amp; Gajek, M. (2024, November). Measuring the groundedness</a:t>
            </a:r>
          </a:p>
        </p:txBody>
      </p:sp>
      <p:sp>
        <p:nvSpPr>
          <p:cNvPr id="331" name="t197">
            <a:extLst xmlns:a="http://schemas.openxmlformats.org/drawingml/2006/main">
              <a:ext uri="{FF2B5EF4-FFF2-40B4-BE49-F238E27FC236}">
                <a16:creationId xmlns:a16="http://schemas.microsoft.com/office/drawing/2014/main" id="{83A62097-D476-4793-B6D7-C6648533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1966" y="19304031"/>
            <a:ext cx="8297385" cy="28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of legal question-answering systems. In Proceedings of the Natural Legal Language Processing Workshop 2024 (pp. 176-</a:t>
            </a:r>
          </a:p>
        </p:txBody>
      </p:sp>
      <p:sp>
        <p:nvSpPr>
          <p:cNvPr id="332" name="t198">
            <a:extLst xmlns:a="http://schemas.openxmlformats.org/drawingml/2006/main">
              <a:ext uri="{FF2B5EF4-FFF2-40B4-BE49-F238E27FC236}">
                <a16:creationId xmlns:a16="http://schemas.microsoft.com/office/drawing/2014/main" id="{7E813F23-D3E6-4A0F-9449-743B6A58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1966" y="19513581"/>
            <a:ext cx="361880" cy="28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186).</a:t>
            </a:r>
          </a:p>
        </p:txBody>
      </p:sp>
      <p:sp>
        <p:nvSpPr>
          <p:cNvPr id="333" name="t199">
            <a:extLst xmlns:a="http://schemas.openxmlformats.org/drawingml/2006/main">
              <a:ext uri="{FF2B5EF4-FFF2-40B4-BE49-F238E27FC236}">
                <a16:creationId xmlns:a16="http://schemas.microsoft.com/office/drawing/2014/main" id="{5BC6EFD4-1BA8-41CC-B4DA-E3829949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6434" y="19742181"/>
            <a:ext cx="8307682" cy="28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6. Gao, T., Yen, H., Yu, J., &amp; Chen, D. (2023, December). Enabling large language models to generate text with citations. In</a:t>
            </a:r>
          </a:p>
        </p:txBody>
      </p:sp>
      <p:sp>
        <p:nvSpPr>
          <p:cNvPr id="334" name="t200">
            <a:extLst xmlns:a="http://schemas.openxmlformats.org/drawingml/2006/main">
              <a:ext uri="{FF2B5EF4-FFF2-40B4-BE49-F238E27FC236}">
                <a16:creationId xmlns:a16="http://schemas.microsoft.com/office/drawing/2014/main" id="{A946928E-DCC6-4806-8763-FB4E47B1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1966" y="19942206"/>
            <a:ext cx="7459393" cy="28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6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Proceedings of the 2023 Conference on Empirical Methods in Natural Language Processing (pp. 6465-6488).</a:t>
            </a:r>
          </a:p>
        </p:txBody>
      </p:sp>
      <p:sp>
        <p:nvSpPr>
          <p:cNvPr id="335" name="t201">
            <a:extLst xmlns:a="http://schemas.openxmlformats.org/drawingml/2006/main">
              <a:ext uri="{FF2B5EF4-FFF2-40B4-BE49-F238E27FC236}">
                <a16:creationId xmlns:a16="http://schemas.microsoft.com/office/drawing/2014/main" id="{3026A7CB-DC7E-4BD7-9F89-C7A4A255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9066" y="20326350"/>
            <a:ext cx="2721406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Code, protocol &amp; results</a:t>
            </a:r>
          </a:p>
        </p:txBody>
      </p:sp>
      <p:sp>
        <p:nvSpPr>
          <p:cNvPr id="336" name="t202">
            <a:extLst xmlns:a="http://schemas.openxmlformats.org/drawingml/2006/main">
              <a:ext uri="{FF2B5EF4-FFF2-40B4-BE49-F238E27FC236}">
                <a16:creationId xmlns:a16="http://schemas.microsoft.com/office/drawing/2014/main" id="{69ED79E2-5F7E-430D-AF13-00E0C491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9066" y="20640675"/>
            <a:ext cx="4470056" cy="403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075A8B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075A8B"/>
                </a:solidFill>
                <a:latin typeface="Barlow Condensed"/>
                <a:ea typeface="Barlow Condensed"/>
                <a:cs typeface="Barlow Condensed"/>
              </a:rPr>
              <a:t>github.com/SteinVR/Trends-in-NLP-Poster</a:t>
            </a:r>
          </a:p>
        </p:txBody>
      </p:sp>
      <p:sp>
        <p:nvSpPr>
          <p:cNvPr id="337" name="t203">
            <a:extLst xmlns:a="http://schemas.openxmlformats.org/drawingml/2006/main">
              <a:ext uri="{FF2B5EF4-FFF2-40B4-BE49-F238E27FC236}">
                <a16:creationId xmlns:a16="http://schemas.microsoft.com/office/drawing/2014/main" id="{E52984AE-393F-452A-9779-5F4475C0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164" y="4991100"/>
            <a:ext cx="468326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rPr>
              <a:t>R0 ·</a:t>
            </a:r>
          </a:p>
        </p:txBody>
      </p:sp>
      <p:sp>
        <p:nvSpPr>
          <p:cNvPr id="338" name="t204">
            <a:extLst xmlns:a="http://schemas.openxmlformats.org/drawingml/2006/main">
              <a:ext uri="{FF2B5EF4-FFF2-40B4-BE49-F238E27FC236}">
                <a16:creationId xmlns:a16="http://schemas.microsoft.com/office/drawing/2014/main" id="{6894D069-702B-4F8A-AE9E-53DBE477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164" y="5324475"/>
            <a:ext cx="994412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073C64"/>
                </a:solidFill>
                <a:latin typeface="Barlow Condensed"/>
                <a:ea typeface="Barlow Condensed"/>
                <a:cs typeface="Barlow Condensed"/>
              </a:rPr>
              <a:t>Baseline</a:t>
            </a:r>
          </a:p>
        </p:txBody>
      </p:sp>
      <p:sp>
        <p:nvSpPr>
          <p:cNvPr id="339" name="t205">
            <a:extLst xmlns:a="http://schemas.openxmlformats.org/drawingml/2006/main">
              <a:ext uri="{FF2B5EF4-FFF2-40B4-BE49-F238E27FC236}">
                <a16:creationId xmlns:a16="http://schemas.microsoft.com/office/drawing/2014/main" id="{D0FEBC04-0E84-4339-B685-B61FFCD9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039" y="4829175"/>
            <a:ext cx="976429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PDF text</a:t>
            </a:r>
          </a:p>
        </p:txBody>
      </p:sp>
      <p:sp>
        <p:nvSpPr>
          <p:cNvPr id="340" name="t206">
            <a:extLst xmlns:a="http://schemas.openxmlformats.org/drawingml/2006/main">
              <a:ext uri="{FF2B5EF4-FFF2-40B4-BE49-F238E27FC236}">
                <a16:creationId xmlns:a16="http://schemas.microsoft.com/office/drawing/2014/main" id="{75277094-A6EA-4336-B4E2-33201FAA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039" y="5162550"/>
            <a:ext cx="1129134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300-token</a:t>
            </a:r>
          </a:p>
        </p:txBody>
      </p:sp>
      <p:sp>
        <p:nvSpPr>
          <p:cNvPr id="341" name="t207">
            <a:extLst xmlns:a="http://schemas.openxmlformats.org/drawingml/2006/main">
              <a:ext uri="{FF2B5EF4-FFF2-40B4-BE49-F238E27FC236}">
                <a16:creationId xmlns:a16="http://schemas.microsoft.com/office/drawing/2014/main" id="{BDF7C6AA-22AA-4DB0-9870-06BE5965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039" y="5495925"/>
            <a:ext cx="1023064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passages</a:t>
            </a:r>
          </a:p>
        </p:txBody>
      </p:sp>
      <p:sp>
        <p:nvSpPr>
          <p:cNvPr id="342" name="t208">
            <a:extLst xmlns:a="http://schemas.openxmlformats.org/drawingml/2006/main">
              <a:ext uri="{FF2B5EF4-FFF2-40B4-BE49-F238E27FC236}">
                <a16:creationId xmlns:a16="http://schemas.microsoft.com/office/drawing/2014/main" id="{ACFBCD50-64C0-446C-B24C-300BF761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834" y="5158736"/>
            <a:ext cx="419100" cy="442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 i="0">
                <a:solidFill>
                  <a:srgbClr val="427A9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0" i="0">
                <a:solidFill>
                  <a:srgbClr val="427A9C"/>
                </a:solidFill>
                <a:latin typeface="Liberation Sans"/>
                <a:ea typeface="Liberation Sans"/>
                <a:cs typeface="Liberation Sans"/>
              </a:rPr>
              <a:t>→</a:t>
            </a:r>
          </a:p>
        </p:txBody>
      </p:sp>
      <p:sp>
        <p:nvSpPr>
          <p:cNvPr id="343" name="t209">
            <a:extLst xmlns:a="http://schemas.openxmlformats.org/drawingml/2006/main">
              <a:ext uri="{FF2B5EF4-FFF2-40B4-BE49-F238E27FC236}">
                <a16:creationId xmlns:a16="http://schemas.microsoft.com/office/drawing/2014/main" id="{CA43F0FA-B46E-4967-8DF0-187BC630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4459" y="4972050"/>
            <a:ext cx="2091696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Semantic retrieval</a:t>
            </a:r>
          </a:p>
        </p:txBody>
      </p:sp>
      <p:sp>
        <p:nvSpPr>
          <p:cNvPr id="344" name="t210">
            <a:extLst xmlns:a="http://schemas.openxmlformats.org/drawingml/2006/main">
              <a:ext uri="{FF2B5EF4-FFF2-40B4-BE49-F238E27FC236}">
                <a16:creationId xmlns:a16="http://schemas.microsoft.com/office/drawing/2014/main" id="{6E75DC1D-CBE1-41DA-A26E-A385D279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4459" y="5353050"/>
            <a:ext cx="253914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Qwen3-Embedding-0.6B</a:t>
            </a:r>
          </a:p>
        </p:txBody>
      </p:sp>
      <p:sp>
        <p:nvSpPr>
          <p:cNvPr id="345" name="t211">
            <a:extLst xmlns:a="http://schemas.openxmlformats.org/drawingml/2006/main">
              <a:ext uri="{FF2B5EF4-FFF2-40B4-BE49-F238E27FC236}">
                <a16:creationId xmlns:a16="http://schemas.microsoft.com/office/drawing/2014/main" id="{63C1DBA4-F1A4-4203-8759-78FDCA76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1469" y="5158736"/>
            <a:ext cx="419100" cy="442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 i="0">
                <a:solidFill>
                  <a:srgbClr val="427A9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0" i="0">
                <a:solidFill>
                  <a:srgbClr val="427A9C"/>
                </a:solidFill>
                <a:latin typeface="Liberation Sans"/>
                <a:ea typeface="Liberation Sans"/>
                <a:cs typeface="Liberation Sans"/>
              </a:rPr>
              <a:t>→</a:t>
            </a:r>
          </a:p>
        </p:txBody>
      </p:sp>
      <p:sp>
        <p:nvSpPr>
          <p:cNvPr id="346" name="t212">
            <a:extLst xmlns:a="http://schemas.openxmlformats.org/drawingml/2006/main">
              <a:ext uri="{FF2B5EF4-FFF2-40B4-BE49-F238E27FC236}">
                <a16:creationId xmlns:a16="http://schemas.microsoft.com/office/drawing/2014/main" id="{2B0B8A75-DF36-4678-8C87-6B2E30F7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1094" y="4800600"/>
            <a:ext cx="1054762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Generate</a:t>
            </a:r>
          </a:p>
        </p:txBody>
      </p:sp>
      <p:sp>
        <p:nvSpPr>
          <p:cNvPr id="347" name="t213">
            <a:extLst xmlns:a="http://schemas.openxmlformats.org/drawingml/2006/main">
              <a:ext uri="{FF2B5EF4-FFF2-40B4-BE49-F238E27FC236}">
                <a16:creationId xmlns:a16="http://schemas.microsoft.com/office/drawing/2014/main" id="{CEE40100-280B-49CF-A5A4-29B216AA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1094" y="5133975"/>
            <a:ext cx="861822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answer</a:t>
            </a:r>
          </a:p>
        </p:txBody>
      </p:sp>
      <p:sp>
        <p:nvSpPr>
          <p:cNvPr id="348" name="t214">
            <a:extLst xmlns:a="http://schemas.openxmlformats.org/drawingml/2006/main">
              <a:ext uri="{FF2B5EF4-FFF2-40B4-BE49-F238E27FC236}">
                <a16:creationId xmlns:a16="http://schemas.microsoft.com/office/drawing/2014/main" id="{823F4880-F57E-406C-A70A-DEF9EED0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1094" y="5524500"/>
            <a:ext cx="1395833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GPT-5.4-mini</a:t>
            </a:r>
          </a:p>
        </p:txBody>
      </p:sp>
      <p:sp>
        <p:nvSpPr>
          <p:cNvPr id="349" name="t215">
            <a:extLst xmlns:a="http://schemas.openxmlformats.org/drawingml/2006/main">
              <a:ext uri="{FF2B5EF4-FFF2-40B4-BE49-F238E27FC236}">
                <a16:creationId xmlns:a16="http://schemas.microsoft.com/office/drawing/2014/main" id="{F6283317-1ACC-411B-8887-69954540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8792" y="5158736"/>
            <a:ext cx="419100" cy="442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 i="0">
                <a:solidFill>
                  <a:srgbClr val="427A9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0" i="0">
                <a:solidFill>
                  <a:srgbClr val="427A9C"/>
                </a:solidFill>
                <a:latin typeface="Liberation Sans"/>
                <a:ea typeface="Liberation Sans"/>
                <a:cs typeface="Liberation Sans"/>
              </a:rPr>
              <a:t>→</a:t>
            </a:r>
          </a:p>
        </p:txBody>
      </p:sp>
      <p:sp>
        <p:nvSpPr>
          <p:cNvPr id="350" name="t216">
            <a:extLst xmlns:a="http://schemas.openxmlformats.org/drawingml/2006/main">
              <a:ext uri="{FF2B5EF4-FFF2-40B4-BE49-F238E27FC236}">
                <a16:creationId xmlns:a16="http://schemas.microsoft.com/office/drawing/2014/main" id="{E784E573-349D-4F31-B5AA-DE80821C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8417" y="4991100"/>
            <a:ext cx="1067256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Answer +</a:t>
            </a:r>
          </a:p>
        </p:txBody>
      </p:sp>
      <p:sp>
        <p:nvSpPr>
          <p:cNvPr id="351" name="t217">
            <a:extLst xmlns:a="http://schemas.openxmlformats.org/drawingml/2006/main">
              <a:ext uri="{FF2B5EF4-FFF2-40B4-BE49-F238E27FC236}">
                <a16:creationId xmlns:a16="http://schemas.microsoft.com/office/drawing/2014/main" id="{1CEE5C45-E9AB-447B-AFA5-6D42480E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8417" y="5324475"/>
            <a:ext cx="1791159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retrieved pages</a:t>
            </a:r>
          </a:p>
        </p:txBody>
      </p:sp>
      <p:sp>
        <p:nvSpPr>
          <p:cNvPr id="352" name="t218">
            <a:extLst xmlns:a="http://schemas.openxmlformats.org/drawingml/2006/main">
              <a:ext uri="{FF2B5EF4-FFF2-40B4-BE49-F238E27FC236}">
                <a16:creationId xmlns:a16="http://schemas.microsoft.com/office/drawing/2014/main" id="{A64F7132-0F1A-4170-A88A-C6C4B819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014" y="6743700"/>
            <a:ext cx="1023977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47BA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147BA7"/>
                </a:solidFill>
                <a:latin typeface="Barlow Condensed"/>
                <a:ea typeface="Barlow Condensed"/>
                <a:cs typeface="Barlow Condensed"/>
              </a:rPr>
              <a:t>R1 · Read</a:t>
            </a:r>
          </a:p>
        </p:txBody>
      </p:sp>
      <p:sp>
        <p:nvSpPr>
          <p:cNvPr id="353" name="t219">
            <a:extLst xmlns:a="http://schemas.openxmlformats.org/drawingml/2006/main">
              <a:ext uri="{FF2B5EF4-FFF2-40B4-BE49-F238E27FC236}">
                <a16:creationId xmlns:a16="http://schemas.microsoft.com/office/drawing/2014/main" id="{6F65AD0C-E05F-4DA9-9BBE-6EF50F01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014" y="7067550"/>
            <a:ext cx="712776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47BA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147BA7"/>
                </a:solidFill>
                <a:latin typeface="Barlow Condensed"/>
                <a:ea typeface="Barlow Condensed"/>
                <a:cs typeface="Barlow Condensed"/>
              </a:rPr>
              <a:t>scans</a:t>
            </a:r>
          </a:p>
        </p:txBody>
      </p:sp>
      <p:sp>
        <p:nvSpPr>
          <p:cNvPr id="354" name="t220">
            <a:extLst xmlns:a="http://schemas.openxmlformats.org/drawingml/2006/main">
              <a:ext uri="{FF2B5EF4-FFF2-40B4-BE49-F238E27FC236}">
                <a16:creationId xmlns:a16="http://schemas.microsoft.com/office/drawing/2014/main" id="{DE20886F-FCB9-43C5-9299-F0DE8443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014" y="7791450"/>
            <a:ext cx="852071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Convert</a:t>
            </a:r>
          </a:p>
        </p:txBody>
      </p:sp>
      <p:sp>
        <p:nvSpPr>
          <p:cNvPr id="355" name="t221">
            <a:extLst xmlns:a="http://schemas.openxmlformats.org/drawingml/2006/main">
              <a:ext uri="{FF2B5EF4-FFF2-40B4-BE49-F238E27FC236}">
                <a16:creationId xmlns:a16="http://schemas.microsoft.com/office/drawing/2014/main" id="{89631579-E1E3-4772-A3F2-EDE63DA1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014" y="8115300"/>
            <a:ext cx="1611634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scanned pages</a:t>
            </a:r>
          </a:p>
        </p:txBody>
      </p:sp>
      <p:sp>
        <p:nvSpPr>
          <p:cNvPr id="356" name="t222">
            <a:extLst xmlns:a="http://schemas.openxmlformats.org/drawingml/2006/main">
              <a:ext uri="{FF2B5EF4-FFF2-40B4-BE49-F238E27FC236}">
                <a16:creationId xmlns:a16="http://schemas.microsoft.com/office/drawing/2014/main" id="{304EAB77-C40E-4E81-A15B-011B117E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014" y="8429625"/>
            <a:ext cx="1654914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into searchable</a:t>
            </a:r>
          </a:p>
        </p:txBody>
      </p:sp>
      <p:sp>
        <p:nvSpPr>
          <p:cNvPr id="357" name="t223">
            <a:extLst xmlns:a="http://schemas.openxmlformats.org/drawingml/2006/main">
              <a:ext uri="{FF2B5EF4-FFF2-40B4-BE49-F238E27FC236}">
                <a16:creationId xmlns:a16="http://schemas.microsoft.com/office/drawing/2014/main" id="{0DCCE62D-FB42-4175-97DE-2F2664AC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014" y="8753475"/>
            <a:ext cx="458573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text</a:t>
            </a:r>
          </a:p>
        </p:txBody>
      </p:sp>
      <p:sp>
        <p:nvSpPr>
          <p:cNvPr id="358" name="t224">
            <a:extLst xmlns:a="http://schemas.openxmlformats.org/drawingml/2006/main">
              <a:ext uri="{FF2B5EF4-FFF2-40B4-BE49-F238E27FC236}">
                <a16:creationId xmlns:a16="http://schemas.microsoft.com/office/drawing/2014/main" id="{8F3CE8FA-A2CF-4E8B-BD25-1D63595F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014" y="9791700"/>
            <a:ext cx="1072137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PP-OCRv5</a:t>
            </a:r>
          </a:p>
        </p:txBody>
      </p:sp>
      <p:sp>
        <p:nvSpPr>
          <p:cNvPr id="359" name="t225">
            <a:extLst xmlns:a="http://schemas.openxmlformats.org/drawingml/2006/main">
              <a:ext uri="{FF2B5EF4-FFF2-40B4-BE49-F238E27FC236}">
                <a16:creationId xmlns:a16="http://schemas.microsoft.com/office/drawing/2014/main" id="{DA8147BE-FAD7-49B2-8FE2-FB2DD5C6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194" y="6743700"/>
            <a:ext cx="1380289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47BA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147BA7"/>
                </a:solidFill>
                <a:latin typeface="Barlow Condensed"/>
                <a:ea typeface="Barlow Condensed"/>
                <a:cs typeface="Barlow Condensed"/>
              </a:rPr>
              <a:t>R2 · Multiple</a:t>
            </a:r>
          </a:p>
        </p:txBody>
      </p:sp>
      <p:sp>
        <p:nvSpPr>
          <p:cNvPr id="360" name="t226">
            <a:extLst xmlns:a="http://schemas.openxmlformats.org/drawingml/2006/main">
              <a:ext uri="{FF2B5EF4-FFF2-40B4-BE49-F238E27FC236}">
                <a16:creationId xmlns:a16="http://schemas.microsoft.com/office/drawing/2014/main" id="{59896259-6D53-47B7-BFE5-87619D46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194" y="7067550"/>
            <a:ext cx="772823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47BA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147BA7"/>
                </a:solidFill>
                <a:latin typeface="Barlow Condensed"/>
                <a:ea typeface="Barlow Condensed"/>
                <a:cs typeface="Barlow Condensed"/>
              </a:rPr>
              <a:t>scales</a:t>
            </a:r>
          </a:p>
        </p:txBody>
      </p:sp>
      <p:sp>
        <p:nvSpPr>
          <p:cNvPr id="361" name="t227">
            <a:extLst xmlns:a="http://schemas.openxmlformats.org/drawingml/2006/main">
              <a:ext uri="{FF2B5EF4-FFF2-40B4-BE49-F238E27FC236}">
                <a16:creationId xmlns:a16="http://schemas.microsoft.com/office/drawing/2014/main" id="{946D1788-DEC5-4EFA-9AF3-E2164968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194" y="7791450"/>
            <a:ext cx="110658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Represent</a:t>
            </a:r>
          </a:p>
        </p:txBody>
      </p:sp>
      <p:sp>
        <p:nvSpPr>
          <p:cNvPr id="362" name="t228">
            <a:extLst xmlns:a="http://schemas.openxmlformats.org/drawingml/2006/main">
              <a:ext uri="{FF2B5EF4-FFF2-40B4-BE49-F238E27FC236}">
                <a16:creationId xmlns:a16="http://schemas.microsoft.com/office/drawing/2014/main" id="{546A659F-48E4-4AC4-A82E-D0FE36D9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194" y="8115300"/>
            <a:ext cx="1255322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evidence at</a:t>
            </a:r>
          </a:p>
        </p:txBody>
      </p:sp>
      <p:sp>
        <p:nvSpPr>
          <p:cNvPr id="363" name="t229">
            <a:extLst xmlns:a="http://schemas.openxmlformats.org/drawingml/2006/main">
              <a:ext uri="{FF2B5EF4-FFF2-40B4-BE49-F238E27FC236}">
                <a16:creationId xmlns:a16="http://schemas.microsoft.com/office/drawing/2014/main" id="{41E9FDF8-3149-47D7-8BF0-6EAAC283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194" y="8429625"/>
            <a:ext cx="1609501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multiple scales</a:t>
            </a:r>
          </a:p>
        </p:txBody>
      </p:sp>
      <p:sp>
        <p:nvSpPr>
          <p:cNvPr id="364" name="t230">
            <a:extLst xmlns:a="http://schemas.openxmlformats.org/drawingml/2006/main">
              <a:ext uri="{FF2B5EF4-FFF2-40B4-BE49-F238E27FC236}">
                <a16:creationId xmlns:a16="http://schemas.microsoft.com/office/drawing/2014/main" id="{75638048-27F9-4CC3-A4A4-8DDD98D2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194" y="9791700"/>
            <a:ext cx="1724106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Pages, sections,</a:t>
            </a:r>
          </a:p>
        </p:txBody>
      </p:sp>
      <p:sp>
        <p:nvSpPr>
          <p:cNvPr id="365" name="t231">
            <a:extLst xmlns:a="http://schemas.openxmlformats.org/drawingml/2006/main">
              <a:ext uri="{FF2B5EF4-FFF2-40B4-BE49-F238E27FC236}">
                <a16:creationId xmlns:a16="http://schemas.microsoft.com/office/drawing/2014/main" id="{55CC1947-4F04-40B8-A606-EBF4D351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194" y="10115550"/>
            <a:ext cx="895352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clauses,</a:t>
            </a:r>
          </a:p>
        </p:txBody>
      </p:sp>
      <p:sp>
        <p:nvSpPr>
          <p:cNvPr id="366" name="t232">
            <a:extLst xmlns:a="http://schemas.openxmlformats.org/drawingml/2006/main">
              <a:ext uri="{FF2B5EF4-FFF2-40B4-BE49-F238E27FC236}">
                <a16:creationId xmlns:a16="http://schemas.microsoft.com/office/drawing/2014/main" id="{E86883E5-B9EA-4ABE-89D8-7D4D9F9D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194" y="10448925"/>
            <a:ext cx="1453745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microchunks,</a:t>
            </a:r>
          </a:p>
        </p:txBody>
      </p:sp>
      <p:sp>
        <p:nvSpPr>
          <p:cNvPr id="367" name="t233">
            <a:extLst xmlns:a="http://schemas.openxmlformats.org/drawingml/2006/main">
              <a:ext uri="{FF2B5EF4-FFF2-40B4-BE49-F238E27FC236}">
                <a16:creationId xmlns:a16="http://schemas.microsoft.com/office/drawing/2014/main" id="{21962380-7324-44F4-9A1B-9F8395EC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194" y="10772775"/>
            <a:ext cx="685954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tables</a:t>
            </a:r>
          </a:p>
        </p:txBody>
      </p:sp>
      <p:sp>
        <p:nvSpPr>
          <p:cNvPr id="368" name="t234">
            <a:extLst xmlns:a="http://schemas.openxmlformats.org/drawingml/2006/main">
              <a:ext uri="{FF2B5EF4-FFF2-40B4-BE49-F238E27FC236}">
                <a16:creationId xmlns:a16="http://schemas.microsoft.com/office/drawing/2014/main" id="{B1BED031-0C2E-4EB6-8CBE-02FE9233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1523" y="6743700"/>
            <a:ext cx="1673813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3B782D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3B782D"/>
                </a:solidFill>
                <a:latin typeface="Barlow Condensed"/>
                <a:ea typeface="Barlow Condensed"/>
                <a:cs typeface="Barlow Condensed"/>
              </a:rPr>
              <a:t>R3 · Find exact</a:t>
            </a:r>
          </a:p>
        </p:txBody>
      </p:sp>
      <p:sp>
        <p:nvSpPr>
          <p:cNvPr id="369" name="t235">
            <a:extLst xmlns:a="http://schemas.openxmlformats.org/drawingml/2006/main">
              <a:ext uri="{FF2B5EF4-FFF2-40B4-BE49-F238E27FC236}">
                <a16:creationId xmlns:a16="http://schemas.microsoft.com/office/drawing/2014/main" id="{E0452893-B78F-4E90-A662-35C679CF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1523" y="7067550"/>
            <a:ext cx="1127916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3B782D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3B782D"/>
                </a:solidFill>
                <a:latin typeface="Barlow Condensed"/>
                <a:ea typeface="Barlow Condensed"/>
                <a:cs typeface="Barlow Condensed"/>
              </a:rPr>
              <a:t>terms too</a:t>
            </a:r>
          </a:p>
        </p:txBody>
      </p:sp>
      <p:sp>
        <p:nvSpPr>
          <p:cNvPr id="370" name="t236">
            <a:extLst xmlns:a="http://schemas.openxmlformats.org/drawingml/2006/main">
              <a:ext uri="{FF2B5EF4-FFF2-40B4-BE49-F238E27FC236}">
                <a16:creationId xmlns:a16="http://schemas.microsoft.com/office/drawing/2014/main" id="{CAC401B4-636A-47AD-A6A1-A38E3A8F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1523" y="7791450"/>
            <a:ext cx="959055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Combine</a:t>
            </a:r>
          </a:p>
        </p:txBody>
      </p:sp>
      <p:sp>
        <p:nvSpPr>
          <p:cNvPr id="371" name="t237">
            <a:extLst xmlns:a="http://schemas.openxmlformats.org/drawingml/2006/main">
              <a:ext uri="{FF2B5EF4-FFF2-40B4-BE49-F238E27FC236}">
                <a16:creationId xmlns:a16="http://schemas.microsoft.com/office/drawing/2014/main" id="{CFBE3BAB-FFA4-449B-8D03-3F549307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1523" y="8115300"/>
            <a:ext cx="146014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semantic and</a:t>
            </a:r>
          </a:p>
        </p:txBody>
      </p:sp>
      <p:sp>
        <p:nvSpPr>
          <p:cNvPr id="372" name="t238">
            <a:extLst xmlns:a="http://schemas.openxmlformats.org/drawingml/2006/main">
              <a:ext uri="{FF2B5EF4-FFF2-40B4-BE49-F238E27FC236}">
                <a16:creationId xmlns:a16="http://schemas.microsoft.com/office/drawing/2014/main" id="{1C236110-CDC5-4919-B32C-011E8450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1523" y="8429625"/>
            <a:ext cx="1225756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exact-word</a:t>
            </a:r>
          </a:p>
        </p:txBody>
      </p:sp>
      <p:sp>
        <p:nvSpPr>
          <p:cNvPr id="373" name="t239">
            <a:extLst xmlns:a="http://schemas.openxmlformats.org/drawingml/2006/main">
              <a:ext uri="{FF2B5EF4-FFF2-40B4-BE49-F238E27FC236}">
                <a16:creationId xmlns:a16="http://schemas.microsoft.com/office/drawing/2014/main" id="{B76E18D4-1794-4B39-B108-FB867CD0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1523" y="8753475"/>
            <a:ext cx="759411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search</a:t>
            </a:r>
          </a:p>
        </p:txBody>
      </p:sp>
      <p:sp>
        <p:nvSpPr>
          <p:cNvPr id="374" name="t240">
            <a:extLst xmlns:a="http://schemas.openxmlformats.org/drawingml/2006/main">
              <a:ext uri="{FF2B5EF4-FFF2-40B4-BE49-F238E27FC236}">
                <a16:creationId xmlns:a16="http://schemas.microsoft.com/office/drawing/2014/main" id="{E77D7D32-C9BD-4224-A5DA-6AE9FEE3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1523" y="9791700"/>
            <a:ext cx="1249835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BM25 + RRF</a:t>
            </a:r>
          </a:p>
        </p:txBody>
      </p:sp>
      <p:sp>
        <p:nvSpPr>
          <p:cNvPr id="375" name="t241">
            <a:extLst xmlns:a="http://schemas.openxmlformats.org/drawingml/2006/main">
              <a:ext uri="{FF2B5EF4-FFF2-40B4-BE49-F238E27FC236}">
                <a16:creationId xmlns:a16="http://schemas.microsoft.com/office/drawing/2014/main" id="{4569C97B-252A-4B0D-95BE-10C93D50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1853" y="6743700"/>
            <a:ext cx="1548236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3B782D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3B782D"/>
                </a:solidFill>
                <a:latin typeface="Barlow Condensed"/>
                <a:ea typeface="Barlow Condensed"/>
                <a:cs typeface="Barlow Condensed"/>
              </a:rPr>
              <a:t>R4 · Prioritize</a:t>
            </a:r>
          </a:p>
        </p:txBody>
      </p:sp>
      <p:sp>
        <p:nvSpPr>
          <p:cNvPr id="376" name="t242">
            <a:extLst xmlns:a="http://schemas.openxmlformats.org/drawingml/2006/main">
              <a:ext uri="{FF2B5EF4-FFF2-40B4-BE49-F238E27FC236}">
                <a16:creationId xmlns:a16="http://schemas.microsoft.com/office/drawing/2014/main" id="{AB1BF752-28AA-49BD-A0A0-AE8D7C91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1853" y="7067550"/>
            <a:ext cx="73380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3B782D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3B782D"/>
                </a:solidFill>
                <a:latin typeface="Barlow Condensed"/>
                <a:ea typeface="Barlow Condensed"/>
                <a:cs typeface="Barlow Condensed"/>
              </a:rPr>
              <a:t>better</a:t>
            </a:r>
          </a:p>
        </p:txBody>
      </p:sp>
      <p:sp>
        <p:nvSpPr>
          <p:cNvPr id="377" name="t243">
            <a:extLst xmlns:a="http://schemas.openxmlformats.org/drawingml/2006/main">
              <a:ext uri="{FF2B5EF4-FFF2-40B4-BE49-F238E27FC236}">
                <a16:creationId xmlns:a16="http://schemas.microsoft.com/office/drawing/2014/main" id="{F3916A0D-109F-4296-BC40-E43E5D16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1853" y="7400925"/>
            <a:ext cx="1055373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3B782D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3B782D"/>
                </a:solidFill>
                <a:latin typeface="Barlow Condensed"/>
                <a:ea typeface="Barlow Condensed"/>
                <a:cs typeface="Barlow Condensed"/>
              </a:rPr>
              <a:t>evidence</a:t>
            </a:r>
          </a:p>
        </p:txBody>
      </p:sp>
      <p:sp>
        <p:nvSpPr>
          <p:cNvPr id="378" name="t244">
            <a:extLst xmlns:a="http://schemas.openxmlformats.org/drawingml/2006/main">
              <a:ext uri="{FF2B5EF4-FFF2-40B4-BE49-F238E27FC236}">
                <a16:creationId xmlns:a16="http://schemas.microsoft.com/office/drawing/2014/main" id="{08848F55-0C81-49C2-A1CB-ECD21847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1853" y="7791450"/>
            <a:ext cx="1551587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Move the most</a:t>
            </a:r>
          </a:p>
        </p:txBody>
      </p:sp>
      <p:sp>
        <p:nvSpPr>
          <p:cNvPr id="379" name="t245">
            <a:extLst xmlns:a="http://schemas.openxmlformats.org/drawingml/2006/main">
              <a:ext uri="{FF2B5EF4-FFF2-40B4-BE49-F238E27FC236}">
                <a16:creationId xmlns:a16="http://schemas.microsoft.com/office/drawing/2014/main" id="{AF6C953E-2374-4569-AC3A-0E8D05F5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1853" y="8115300"/>
            <a:ext cx="896572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relevant</a:t>
            </a:r>
          </a:p>
        </p:txBody>
      </p:sp>
      <p:sp>
        <p:nvSpPr>
          <p:cNvPr id="380" name="t246">
            <a:extLst xmlns:a="http://schemas.openxmlformats.org/drawingml/2006/main">
              <a:ext uri="{FF2B5EF4-FFF2-40B4-BE49-F238E27FC236}">
                <a16:creationId xmlns:a16="http://schemas.microsoft.com/office/drawing/2014/main" id="{5A6A6C04-2F0B-48B3-9B54-D5CD34D3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1853" y="8429625"/>
            <a:ext cx="168753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passages to the</a:t>
            </a:r>
          </a:p>
        </p:txBody>
      </p:sp>
      <p:sp>
        <p:nvSpPr>
          <p:cNvPr id="381" name="t247">
            <a:extLst xmlns:a="http://schemas.openxmlformats.org/drawingml/2006/main">
              <a:ext uri="{FF2B5EF4-FFF2-40B4-BE49-F238E27FC236}">
                <a16:creationId xmlns:a16="http://schemas.microsoft.com/office/drawing/2014/main" id="{F5849BB6-30B2-4CFA-9176-372AA4EA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1853" y="8753475"/>
            <a:ext cx="39547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top</a:t>
            </a:r>
          </a:p>
        </p:txBody>
      </p:sp>
      <p:sp>
        <p:nvSpPr>
          <p:cNvPr id="382" name="t248">
            <a:extLst xmlns:a="http://schemas.openxmlformats.org/drawingml/2006/main">
              <a:ext uri="{FF2B5EF4-FFF2-40B4-BE49-F238E27FC236}">
                <a16:creationId xmlns:a16="http://schemas.microsoft.com/office/drawing/2014/main" id="{BA2CDE5E-5007-4C86-99BC-6D30545C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1853" y="9791700"/>
            <a:ext cx="83103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Qwen3-</a:t>
            </a:r>
          </a:p>
        </p:txBody>
      </p:sp>
      <p:sp>
        <p:nvSpPr>
          <p:cNvPr id="383" name="t249">
            <a:extLst xmlns:a="http://schemas.openxmlformats.org/drawingml/2006/main">
              <a:ext uri="{FF2B5EF4-FFF2-40B4-BE49-F238E27FC236}">
                <a16:creationId xmlns:a16="http://schemas.microsoft.com/office/drawing/2014/main" id="{E00371E4-D3F2-43AB-99F3-C2ADA4EE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1853" y="10115550"/>
            <a:ext cx="993194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Reranker</a:t>
            </a:r>
          </a:p>
        </p:txBody>
      </p:sp>
      <p:sp>
        <p:nvSpPr>
          <p:cNvPr id="384" name="t250">
            <a:extLst xmlns:a="http://schemas.openxmlformats.org/drawingml/2006/main">
              <a:ext uri="{FF2B5EF4-FFF2-40B4-BE49-F238E27FC236}">
                <a16:creationId xmlns:a16="http://schemas.microsoft.com/office/drawing/2014/main" id="{61E389AC-5DF7-422C-A948-E30FFCEB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2182" y="6743700"/>
            <a:ext cx="1623523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AB5826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AB5826"/>
                </a:solidFill>
                <a:latin typeface="Barlow Condensed"/>
                <a:ea typeface="Barlow Condensed"/>
                <a:cs typeface="Barlow Condensed"/>
              </a:rPr>
              <a:t>R5 · Check the</a:t>
            </a:r>
          </a:p>
        </p:txBody>
      </p:sp>
      <p:sp>
        <p:nvSpPr>
          <p:cNvPr id="385" name="t251">
            <a:extLst xmlns:a="http://schemas.openxmlformats.org/drawingml/2006/main">
              <a:ext uri="{FF2B5EF4-FFF2-40B4-BE49-F238E27FC236}">
                <a16:creationId xmlns:a16="http://schemas.microsoft.com/office/drawing/2014/main" id="{C77CD4E6-DC09-433E-925C-A8144E5D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2182" y="7067550"/>
            <a:ext cx="861822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AB5826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AB5826"/>
                </a:solidFill>
                <a:latin typeface="Barlow Condensed"/>
                <a:ea typeface="Barlow Condensed"/>
                <a:cs typeface="Barlow Condensed"/>
              </a:rPr>
              <a:t>answer</a:t>
            </a:r>
          </a:p>
        </p:txBody>
      </p:sp>
      <p:sp>
        <p:nvSpPr>
          <p:cNvPr id="386" name="t252">
            <a:extLst xmlns:a="http://schemas.openxmlformats.org/drawingml/2006/main">
              <a:ext uri="{FF2B5EF4-FFF2-40B4-BE49-F238E27FC236}">
                <a16:creationId xmlns:a16="http://schemas.microsoft.com/office/drawing/2014/main" id="{E3EF7EBB-8225-40B0-9981-5D892ECA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2182" y="7791450"/>
            <a:ext cx="1543966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Normalize and</a:t>
            </a:r>
          </a:p>
        </p:txBody>
      </p:sp>
      <p:sp>
        <p:nvSpPr>
          <p:cNvPr id="387" name="t253">
            <a:extLst xmlns:a="http://schemas.openxmlformats.org/drawingml/2006/main">
              <a:ext uri="{FF2B5EF4-FFF2-40B4-BE49-F238E27FC236}">
                <a16:creationId xmlns:a16="http://schemas.microsoft.com/office/drawing/2014/main" id="{A8DA28E6-B450-4E0D-994F-AD6C02A1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2182" y="8115300"/>
            <a:ext cx="127117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validate the</a:t>
            </a:r>
          </a:p>
        </p:txBody>
      </p:sp>
      <p:sp>
        <p:nvSpPr>
          <p:cNvPr id="388" name="t254">
            <a:extLst xmlns:a="http://schemas.openxmlformats.org/drawingml/2006/main">
              <a:ext uri="{FF2B5EF4-FFF2-40B4-BE49-F238E27FC236}">
                <a16:creationId xmlns:a16="http://schemas.microsoft.com/office/drawing/2014/main" id="{EAB10741-B8E0-4664-A74F-55F37F7C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2182" y="8429625"/>
            <a:ext cx="100630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expected</a:t>
            </a:r>
          </a:p>
        </p:txBody>
      </p:sp>
      <p:sp>
        <p:nvSpPr>
          <p:cNvPr id="389" name="t255">
            <a:extLst xmlns:a="http://schemas.openxmlformats.org/drawingml/2006/main">
              <a:ext uri="{FF2B5EF4-FFF2-40B4-BE49-F238E27FC236}">
                <a16:creationId xmlns:a16="http://schemas.microsoft.com/office/drawing/2014/main" id="{F1721A53-AC83-4B27-9E21-E5539235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2182" y="8753475"/>
            <a:ext cx="131231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answer type</a:t>
            </a:r>
          </a:p>
        </p:txBody>
      </p:sp>
      <p:sp>
        <p:nvSpPr>
          <p:cNvPr id="390" name="t256">
            <a:extLst xmlns:a="http://schemas.openxmlformats.org/drawingml/2006/main">
              <a:ext uri="{FF2B5EF4-FFF2-40B4-BE49-F238E27FC236}">
                <a16:creationId xmlns:a16="http://schemas.microsoft.com/office/drawing/2014/main" id="{09DD741D-7A67-40E0-8058-2473EB62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2182" y="9791700"/>
            <a:ext cx="154671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Typed schema</a:t>
            </a:r>
          </a:p>
        </p:txBody>
      </p:sp>
      <p:sp>
        <p:nvSpPr>
          <p:cNvPr id="391" name="t257">
            <a:extLst xmlns:a="http://schemas.openxmlformats.org/drawingml/2006/main">
              <a:ext uri="{FF2B5EF4-FFF2-40B4-BE49-F238E27FC236}">
                <a16:creationId xmlns:a16="http://schemas.microsoft.com/office/drawing/2014/main" id="{60112DEF-D9C6-46D6-92B1-DF7D3A7B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2511" y="6743700"/>
            <a:ext cx="1228193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6845A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6845A0"/>
                </a:solidFill>
                <a:latin typeface="Barlow Condensed"/>
                <a:ea typeface="Barlow Condensed"/>
                <a:cs typeface="Barlow Condensed"/>
              </a:rPr>
              <a:t>R6 · Refine</a:t>
            </a:r>
          </a:p>
        </p:txBody>
      </p:sp>
      <p:sp>
        <p:nvSpPr>
          <p:cNvPr id="392" name="t258">
            <a:extLst xmlns:a="http://schemas.openxmlformats.org/drawingml/2006/main">
              <a:ext uri="{FF2B5EF4-FFF2-40B4-BE49-F238E27FC236}">
                <a16:creationId xmlns:a16="http://schemas.microsoft.com/office/drawing/2014/main" id="{FB54B945-BB25-4967-84E7-A32A94B1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2511" y="7067550"/>
            <a:ext cx="103281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6845A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1" i="0">
                <a:solidFill>
                  <a:srgbClr val="6845A0"/>
                </a:solidFill>
                <a:latin typeface="Barlow Condensed"/>
                <a:ea typeface="Barlow Condensed"/>
                <a:cs typeface="Barlow Condensed"/>
              </a:rPr>
              <a:t>citations</a:t>
            </a:r>
          </a:p>
        </p:txBody>
      </p:sp>
      <p:sp>
        <p:nvSpPr>
          <p:cNvPr id="393" name="t259">
            <a:extLst xmlns:a="http://schemas.openxmlformats.org/drawingml/2006/main">
              <a:ext uri="{FF2B5EF4-FFF2-40B4-BE49-F238E27FC236}">
                <a16:creationId xmlns:a16="http://schemas.microsoft.com/office/drawing/2014/main" id="{D687CFD9-F3F5-49FE-A885-67CE0813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2511" y="7791450"/>
            <a:ext cx="105750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Keep only</a:t>
            </a:r>
          </a:p>
        </p:txBody>
      </p:sp>
      <p:sp>
        <p:nvSpPr>
          <p:cNvPr id="394" name="t260">
            <a:extLst xmlns:a="http://schemas.openxmlformats.org/drawingml/2006/main">
              <a:ext uri="{FF2B5EF4-FFF2-40B4-BE49-F238E27FC236}">
                <a16:creationId xmlns:a16="http://schemas.microsoft.com/office/drawing/2014/main" id="{0F227BA0-964D-4729-B6A5-E6D68EBD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2511" y="8115300"/>
            <a:ext cx="115565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pages that</a:t>
            </a:r>
          </a:p>
        </p:txBody>
      </p:sp>
      <p:sp>
        <p:nvSpPr>
          <p:cNvPr id="395" name="t261">
            <a:extLst xmlns:a="http://schemas.openxmlformats.org/drawingml/2006/main">
              <a:ext uri="{FF2B5EF4-FFF2-40B4-BE49-F238E27FC236}">
                <a16:creationId xmlns:a16="http://schemas.microsoft.com/office/drawing/2014/main" id="{015E5A7F-A48E-40C2-A53F-7F28BC3B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2511" y="8429625"/>
            <a:ext cx="1253793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support the</a:t>
            </a:r>
          </a:p>
        </p:txBody>
      </p:sp>
      <p:sp>
        <p:nvSpPr>
          <p:cNvPr id="396" name="t262">
            <a:extLst xmlns:a="http://schemas.openxmlformats.org/drawingml/2006/main">
              <a:ext uri="{FF2B5EF4-FFF2-40B4-BE49-F238E27FC236}">
                <a16:creationId xmlns:a16="http://schemas.microsoft.com/office/drawing/2014/main" id="{EA5F525C-1D02-444D-BFFD-C5013502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2511" y="8753475"/>
            <a:ext cx="1322074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final answer</a:t>
            </a:r>
          </a:p>
        </p:txBody>
      </p:sp>
      <p:sp>
        <p:nvSpPr>
          <p:cNvPr id="397" name="t263">
            <a:extLst xmlns:a="http://schemas.openxmlformats.org/drawingml/2006/main">
              <a:ext uri="{FF2B5EF4-FFF2-40B4-BE49-F238E27FC236}">
                <a16:creationId xmlns:a16="http://schemas.microsoft.com/office/drawing/2014/main" id="{166304EA-5546-46FE-B1B1-1844CBAD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2511" y="9791700"/>
            <a:ext cx="1284887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Supporting-</a:t>
            </a:r>
          </a:p>
        </p:txBody>
      </p:sp>
      <p:sp>
        <p:nvSpPr>
          <p:cNvPr id="398" name="t264">
            <a:extLst xmlns:a="http://schemas.openxmlformats.org/drawingml/2006/main">
              <a:ext uri="{FF2B5EF4-FFF2-40B4-BE49-F238E27FC236}">
                <a16:creationId xmlns:a16="http://schemas.microsoft.com/office/drawing/2014/main" id="{CBE0BC7C-9811-4125-8BD6-ADE38AF1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2511" y="10115550"/>
            <a:ext cx="690829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chunk</a:t>
            </a:r>
          </a:p>
        </p:txBody>
      </p:sp>
      <p:sp>
        <p:nvSpPr>
          <p:cNvPr id="399" name="t265">
            <a:extLst xmlns:a="http://schemas.openxmlformats.org/drawingml/2006/main">
              <a:ext uri="{FF2B5EF4-FFF2-40B4-BE49-F238E27FC236}">
                <a16:creationId xmlns:a16="http://schemas.microsoft.com/office/drawing/2014/main" id="{252E5D24-0B0E-45D2-BD03-EDAD6C97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2511" y="10448925"/>
            <a:ext cx="1177292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00" b="0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references</a:t>
            </a:r>
          </a:p>
        </p:txBody>
      </p:sp>
      <p:sp>
        <p:nvSpPr>
          <p:cNvPr id="400" name="t266">
            <a:extLst xmlns:a="http://schemas.openxmlformats.org/drawingml/2006/main">
              <a:ext uri="{FF2B5EF4-FFF2-40B4-BE49-F238E27FC236}">
                <a16:creationId xmlns:a16="http://schemas.microsoft.com/office/drawing/2014/main" id="{9E829721-7239-449F-83D4-65F931A1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399" y="2651189"/>
            <a:ext cx="520281" cy="388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99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99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65.4</a:t>
            </a:r>
          </a:p>
        </p:txBody>
      </p:sp>
      <p:sp>
        <p:nvSpPr>
          <p:cNvPr id="401" name="t267">
            <a:extLst xmlns:a="http://schemas.openxmlformats.org/drawingml/2006/main">
              <a:ext uri="{FF2B5EF4-FFF2-40B4-BE49-F238E27FC236}">
                <a16:creationId xmlns:a16="http://schemas.microsoft.com/office/drawing/2014/main" id="{65929D98-A525-4AD5-BDF7-C39939C6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6203" y="3241739"/>
            <a:ext cx="519987" cy="388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99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99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46.2</a:t>
            </a:r>
          </a:p>
        </p:txBody>
      </p:sp>
      <p:sp>
        <p:nvSpPr>
          <p:cNvPr id="402" name="t268">
            <a:extLst xmlns:a="http://schemas.openxmlformats.org/drawingml/2006/main">
              <a:ext uri="{FF2B5EF4-FFF2-40B4-BE49-F238E27FC236}">
                <a16:creationId xmlns:a16="http://schemas.microsoft.com/office/drawing/2014/main" id="{B66E8D36-5D2A-4869-98C1-027043EC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0419" y="3841814"/>
            <a:ext cx="505972" cy="388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99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299" b="1" i="0">
                <a:solidFill>
                  <a:srgbClr val="18334A"/>
                </a:solidFill>
                <a:latin typeface="Barlow Condensed"/>
                <a:ea typeface="Barlow Condensed"/>
                <a:cs typeface="Barlow Condensed"/>
              </a:rPr>
              <a:t>63.2</a:t>
            </a:r>
          </a:p>
        </p:txBody>
      </p:sp>
    </p:spTree>
    <p:extLst>
      <p:ext uri="{BB962C8B-B14F-4D97-AF65-F5344CB8AC3E}">
        <p14:creationId xmlns:p14="http://schemas.microsoft.com/office/powerpoint/2010/main" val="1065893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2026-09-29T12:11:18.6000000Z</dcterms:created>
  <dcterms:modified xsi:type="dcterms:W3CDTF">2026-09-29T12:11:18.6000000Z</dcterms:modified>
</coreProperties>
</file>