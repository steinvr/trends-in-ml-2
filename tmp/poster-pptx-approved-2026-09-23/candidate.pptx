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0d576300a47c4" /><Relationship Type="http://schemas.openxmlformats.org/officeDocument/2006/relationships/extended-properties" Target="/docProps/app.xml" Id="R9523b31fefb1419d" /><Relationship Type="http://schemas.openxmlformats.org/officeDocument/2006/relationships/officeDocument" Target="/ppt/presentation.xml" Id="R87abe21c837f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cbce4e49f64c39"/>
  </p:sldMasterIdLst>
  <p:notesMasterIdLst>
    <p:notesMasterId xmlns:r="http://schemas.openxmlformats.org/officeDocument/2006/relationships" r:id="R953f2c6e94c44b38"/>
  </p:notesMasterIdLst>
  <p:sldIdLst>
    <p:sldId xmlns:r="http://schemas.openxmlformats.org/officeDocument/2006/relationships" id="256" r:id="Rf4242c0e7d4349ae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ad364c166f4c28" /><Relationship Type="http://schemas.openxmlformats.org/officeDocument/2006/relationships/slideMaster" Target="/ppt/slideMasters/slideMaster1.xml" Id="R82cbce4e49f64c39" /><Relationship Type="http://schemas.openxmlformats.org/officeDocument/2006/relationships/notesMaster" Target="/ppt/notesMasters/notesMaster1.xml" Id="R953f2c6e94c44b38" /><Relationship Type="http://schemas.openxmlformats.org/officeDocument/2006/relationships/presProps" Target="/ppt/presProps.xml" Id="Rcd0a75c5b65649fe" /><Relationship Type="http://schemas.openxmlformats.org/officeDocument/2006/relationships/tableStyles" Target="/ppt/tableStyles.xml" Id="Re22d46e38f5e48e1" /><Relationship Type="http://schemas.openxmlformats.org/officeDocument/2006/relationships/slide" Target="/ppt/slides/slide1.xml" Id="Rf4242c0e7d43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9ea7c7f2f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5c26fa93d14cce" /><Relationship Type="http://schemas.openxmlformats.org/officeDocument/2006/relationships/notesMaster" Target="/ppt/notesMasters/notesMaster1.xml" Id="R5ef4de89ce5a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Code, experimental protocol and measurements: https://github.com/SteinVR/Trends-in-NLP-Poster/tree/main/output/poster-narrative-3/results</a:t>
            </a:r>
          </a:p>
          <a:p xmlns:a="http://schemas.openxmlformats.org/drawingml/2006/main">
            <a:r>
              <a:t>References: https://arxiv.org/abs/2005.11401 ; https://arxiv.org/abs/2408.10343 ; https://doi.org/10.18653/v1/2023.emnlp-main.398</a:t>
            </a:r>
          </a:p>
          <a:p xmlns:a="http://schemas.openxmlformats.org/drawingml/2006/main">
            <a:r>
              <a:t>University logo: https://www.uni-trier.de/typo3conf/ext/zimktheme_unitrier/Resources/Public/Logos/Logo_Universitaet.svg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c29fb5b8247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6f3390d25e4b8c" /><Relationship Type="http://schemas.openxmlformats.org/officeDocument/2006/relationships/slideLayout" Target="/ppt/slideLayouts/slideLayout1.xml" Id="R3475989557b0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5989557b0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061e92cf21a4dd3" /><ns0:Relationship Type="http://schemas.openxmlformats.org/officeDocument/2006/relationships/image" Target="/ppt/media/image.png" Id="R1aee7e47b5174a07" /><ns0:Relationship Type="http://schemas.openxmlformats.org/officeDocument/2006/relationships/image" Target="/ppt/media/image.svg" Id="R36a350fe5c564b2e" /><ns0:Relationship Type="http://schemas.openxmlformats.org/officeDocument/2006/relationships/image" Target="/ppt/media/image2.png" Id="Rb5aabc1e5f1e4011" /><ns0:Relationship Type="http://schemas.openxmlformats.org/officeDocument/2006/relationships/image" Target="/ppt/media/image2.svg" Id="Rea5683c96bd64f05" /><ns0:Relationship Type="http://schemas.openxmlformats.org/officeDocument/2006/relationships/image" Target="/ppt/media/image3.png" Id="Rec46a51edb654074" /><ns0:Relationship Type="http://schemas.openxmlformats.org/officeDocument/2006/relationships/image" Target="/ppt/media/image3.svg" Id="Rb244a48c4c034e44" /><ns0:Relationship Type="http://schemas.openxmlformats.org/officeDocument/2006/relationships/image" Target="/ppt/media/image4.png" Id="R5204b51d33734634" /><ns0:Relationship Type="http://schemas.openxmlformats.org/officeDocument/2006/relationships/image" Target="/ppt/media/image4.svg" Id="R5e8b9710d685470a" /><ns0:Relationship Type="http://schemas.openxmlformats.org/officeDocument/2006/relationships/image" Target="/ppt/media/image5.png" Id="R01d1617e01a542fc" /><ns0:Relationship Type="http://schemas.openxmlformats.org/officeDocument/2006/relationships/image" Target="/ppt/media/image5.svg" Id="R8f20a0bcb13349dd" /><ns0:Relationship Type="http://schemas.openxmlformats.org/officeDocument/2006/relationships/image" Target="/ppt/media/image6.png" Id="R936908b661554177" /><ns0:Relationship Type="http://schemas.openxmlformats.org/officeDocument/2006/relationships/image" Target="/ppt/media/image6.svg" Id="R2feb3ae553994be3" /><ns0:Relationship Type="http://schemas.openxmlformats.org/officeDocument/2006/relationships/image" Target="/ppt/media/image7.png" Id="Rdae1b65233a84e15" /><ns0:Relationship Type="http://schemas.openxmlformats.org/officeDocument/2006/relationships/image" Target="/ppt/media/image7.svg" Id="R3cd8c1836b81455f" /><ns0:Relationship Type="http://schemas.openxmlformats.org/officeDocument/2006/relationships/image" Target="/ppt/media/image8.png" Id="R883aff13c55f4727" /><ns0:Relationship Type="http://schemas.openxmlformats.org/officeDocument/2006/relationships/image" Target="/ppt/media/image8.svg" Id="Ra26109d62aec45f0" /><ns0:Relationship Type="http://schemas.openxmlformats.org/officeDocument/2006/relationships/image" Target="/ppt/media/image9.png" Id="Rf3f580a15463489d" /><ns0:Relationship Type="http://schemas.openxmlformats.org/officeDocument/2006/relationships/image" Target="/ppt/media/image9.svg" Id="Re0617e814bc648aa" /><ns0:Relationship Type="http://schemas.openxmlformats.org/officeDocument/2006/relationships/image" Target="/ppt/media/image10.png" Id="R3750e2fe30324d2d" /><ns0:Relationship Type="http://schemas.openxmlformats.org/officeDocument/2006/relationships/image" Target="/ppt/media/image10.svg" Id="Ra772c17206354ff2" /><ns0:Relationship Type="http://schemas.openxmlformats.org/officeDocument/2006/relationships/image" Target="/ppt/media/image11.png" Id="Rb9308b2edf2e48c8" /><ns0:Relationship Type="http://schemas.openxmlformats.org/officeDocument/2006/relationships/image" Target="/ppt/media/image11.svg" Id="R6b0f474608eb4b7c" /><ns0:Relationship Type="http://schemas.openxmlformats.org/officeDocument/2006/relationships/image" Target="/ppt/media/image12.png" Id="R53241da1425c42d4" /><ns0:Relationship Type="http://schemas.openxmlformats.org/officeDocument/2006/relationships/image" Target="/ppt/media/image12.svg" Id="Re39c005886774c50" /><ns0:Relationship Type="http://schemas.openxmlformats.org/officeDocument/2006/relationships/image" Target="/ppt/media/image13.png" Id="Ra6534260277f419f" /><ns0:Relationship Type="http://schemas.openxmlformats.org/officeDocument/2006/relationships/image" Target="/ppt/media/image13.svg" Id="R8d8c1640d47e41a0" /><ns0:Relationship Type="http://schemas.openxmlformats.org/officeDocument/2006/relationships/notesSlide" Target="/ppt/notesSlides/notesSlide1.xml" Id="R1602fa9383de4132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Trends-in-NLP-Poster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8" name="Rule section-title" descr="s5">
            <a:extLst>
              <a:ext uri="{FF2B5EF4-FFF2-40B4-BE49-F238E27FC236}">
                <ns2:creationId id="{FC692294-430E-4E44-A2AA-34319066ABC8}"/>
              </a:ext>
            </a:extLst>
          </p:cNvPr>
          <p:cNvSpPr>
            <a:spLocks noGrp="1"/>
          </p:cNvSpPr>
          <p:nvPr/>
        </p:nvSpPr>
        <p:spPr>
          <a:xfrm>
            <a:off x="647998" y="1727746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5" name="H1 · Retrieval"/>
          <p:cNvGrpSpPr/>
          <p:nvPr/>
        </p:nvGrpSpPr>
        <p:grpSpPr>
          <a:xfrm>
            <a:off x="647998" y="4606230"/>
            <a:ext cx="20087927" cy="1806625"/>
            <a:chOff x="647998" y="4606230"/>
            <a:chExt cx="20087927" cy="1806625"/>
          </a:xfrm>
        </p:grpSpPr>
        <p:sp>
          <p:nvSpPr>
            <p:cNvPr id="2" name="Panel grid three hypotheses" descr="s6">
              <a:extLst>
                <a:ext uri="{FF2B5EF4-FFF2-40B4-BE49-F238E27FC236}">
                  <ns2:creationId id="{EF7D0DC4-B571-4556-865A-735D3C034A4B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4606230"/>
              <a:ext cx="20087927" cy="1806625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50" name="H1 · Retrieval" descr="s49">
              <a:extLst>
                <a:ext uri="{FF2B5EF4-FFF2-40B4-BE49-F238E27FC236}">
                  <ns2:creationId id="{FD48A4A3-F31B-468A-AF8B-2F08DADA2889}"/>
                </a:ext>
              </a:extLst>
            </p:cNvPr>
            <p:cNvSpPr>
              <a:spLocks noGrp="1"/>
            </p:cNvSpPr>
            <p:nvPr/>
          </p:nvSpPr>
          <p:spPr>
            <a:xfrm>
              <a:off x="827931" y="4712047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H1 · Retrieval</a:t>
              </a:r>
              <a:endParaRPr lang="en-GB" sz="2500"/>
            </a:p>
          </p:txBody>
        </p:sp>
        <p:sp>
          <p:nvSpPr>
            <p:cNvPr id="51" name="Multiple text scales, hybrid search and reranking will improve answers and evidence retrieval over R" descr="s50">
              <a:extLst>
                <a:ext uri="{FF2B5EF4-FFF2-40B4-BE49-F238E27FC236}">
                  <ns2:creationId id="{76EECF29-051E-47CB-9C1D-375BF9EF56FC}"/>
                </a:ext>
              </a:extLst>
            </p:cNvPr>
            <p:cNvSpPr>
              <a:spLocks noGrp="1"/>
            </p:cNvSpPr>
            <p:nvPr/>
          </p:nvSpPr>
          <p:spPr>
            <a:xfrm>
              <a:off x="827931" y="5161657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Multiple text scales, hybrid search and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 will improve answers and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evidence retrieval over R0.</a:t>
              </a:r>
              <a:endParaRPr lang="en-GB" sz="2400"/>
            </a:p>
          </p:txBody>
        </p:sp>
        <p:sp>
          <p:nvSpPr>
            <p:cNvPr id="52" name="H2 · Scan robustness" descr="s51">
              <a:extLst>
                <a:ext uri="{FF2B5EF4-FFF2-40B4-BE49-F238E27FC236}">
                  <ns2:creationId id="{5B19BAF8-B412-4A80-8B11-E831BC504469}"/>
                </a:ext>
              </a:extLst>
            </p:cNvPr>
            <p:cNvSpPr>
              <a:spLocks noGrp="1"/>
            </p:cNvSpPr>
            <p:nvPr/>
          </p:nvSpPr>
          <p:spPr>
            <a:xfrm>
              <a:off x="7499896" y="4712047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H2 · Scan robustness</a:t>
              </a:r>
              <a:endParaRPr lang="en-GB" sz="2500"/>
            </a:p>
          </p:txBody>
        </p:sp>
        <p:sp>
          <p:nvSpPr>
            <p:cNvPr id="53" name="Recovering text from scanned documents will reduce the performance loss caused by the missing text l" descr="s52">
              <a:extLst>
                <a:ext uri="{FF2B5EF4-FFF2-40B4-BE49-F238E27FC236}">
                  <ns2:creationId id="{6E0395BA-BA50-46C0-858C-6099D99E084A}"/>
                </a:ext>
              </a:extLst>
            </p:cNvPr>
            <p:cNvSpPr>
              <a:spLocks noGrp="1"/>
            </p:cNvSpPr>
            <p:nvPr/>
          </p:nvSpPr>
          <p:spPr>
            <a:xfrm>
              <a:off x="7499896" y="5161657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Recovering text from scanned documents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will reduce the performance loss caused by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the missing text layer.</a:t>
              </a:r>
              <a:endParaRPr lang="en-GB" sz="2400"/>
            </a:p>
          </p:txBody>
        </p:sp>
        <p:sp>
          <p:nvSpPr>
            <p:cNvPr id="54" name="H3 · Citation selection" descr="s53">
              <a:extLst>
                <a:ext uri="{FF2B5EF4-FFF2-40B4-BE49-F238E27FC236}">
                  <ns2:creationId id="{B78635F7-D8A0-45FA-B6FA-2A795C001950}"/>
                </a:ext>
              </a:extLst>
            </p:cNvPr>
            <p:cNvSpPr>
              <a:spLocks noGrp="1"/>
            </p:cNvSpPr>
            <p:nvPr/>
          </p:nvSpPr>
          <p:spPr>
            <a:xfrm>
              <a:off x="14171861" y="4712047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H3 · Citation selection</a:t>
              </a:r>
              <a:endParaRPr lang="en-GB" sz="2500"/>
            </a:p>
          </p:txBody>
        </p:sp>
        <p:sp>
          <p:nvSpPr>
            <p:cNvPr id="55" name="Selecting pages after answer generation will improve citation precision while retaining most of the " descr="s54">
              <a:extLst>
                <a:ext uri="{FF2B5EF4-FFF2-40B4-BE49-F238E27FC236}">
                  <ns2:creationId id="{0AFB3E07-2ABB-450A-962A-B726305D9961}"/>
                </a:ext>
              </a:extLst>
            </p:cNvPr>
            <p:cNvSpPr>
              <a:spLocks noGrp="1"/>
            </p:cNvSpPr>
            <p:nvPr/>
          </p:nvSpPr>
          <p:spPr>
            <a:xfrm>
              <a:off x="14171861" y="5161657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Selecting pages after answer generation will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improve citation precision while retaining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most of the relevant evidence.</a:t>
              </a:r>
              <a:endParaRPr lang="en-GB" sz="2400"/>
            </a:p>
          </p:txBody>
        </p:sp>
      </p:grpSp>
      <p:sp>
        <p:nvSpPr>
          <p:cNvPr id="3" name="Rule section-title" descr="s7">
            <a:extLst>
              <a:ext uri="{FF2B5EF4-FFF2-40B4-BE49-F238E27FC236}">
                <ns2:creationId id="{0D36C823-70B5-46B9-9210-4CA60A7DE4A9}"/>
              </a:ext>
            </a:extLst>
          </p:cNvPr>
          <p:cNvSpPr>
            <a:spLocks noGrp="1"/>
          </p:cNvSpPr>
          <p:nvPr/>
        </p:nvSpPr>
        <p:spPr>
          <a:xfrm>
            <a:off x="647998" y="6520755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6" name="R0 · Baseline"/>
          <p:cNvGrpSpPr/>
          <p:nvPr/>
        </p:nvGrpSpPr>
        <p:grpSpPr>
          <a:xfrm>
            <a:off x="647998" y="8056662"/>
            <a:ext cx="20087927" cy="1322189"/>
            <a:chOff x="647998" y="8056662"/>
            <a:chExt cx="20087927" cy="1322189"/>
          </a:xfrm>
        </p:grpSpPr>
        <p:sp>
          <p:nvSpPr>
            <p:cNvPr id="4" name="Panel baseline-flow" descr="s8">
              <a:extLst>
                <a:ext uri="{FF2B5EF4-FFF2-40B4-BE49-F238E27FC236}">
                  <ns2:creationId id="{E0469BFC-2FB2-46AC-9BAA-1503271A6765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8056662"/>
              <a:ext cx="20087927" cy="1322189"/>
            </a:xfrm>
            <a:prstGeom prst="roundRect">
              <a:avLst>
                <a:gd name="adj" fmla="val 8168"/>
              </a:avLst>
            </a:prstGeom>
            <a:solidFill>
              <a:srgbClr val="F0F5F8"/>
            </a:solidFill>
            <a:ln w="9525">
              <a:solidFill>
                <a:srgbClr val="C8D8E5"/>
              </a:solidFill>
            </a:ln>
          </p:spPr>
        </p:sp>
        <p:sp>
          <p:nvSpPr>
            <p:cNvPr id="59" name="R0 · Baseline" descr="s58">
              <a:extLst>
                <a:ext uri="{FF2B5EF4-FFF2-40B4-BE49-F238E27FC236}">
                  <ns2:creationId id="{2484C9FC-DF37-4D14-B25D-473FF58ECC50}"/>
                </a:ext>
              </a:extLst>
            </p:cNvPr>
            <p:cNvSpPr>
              <a:spLocks noGrp="1"/>
            </p:cNvSpPr>
            <p:nvPr/>
          </p:nvSpPr>
          <p:spPr>
            <a:xfrm>
              <a:off x="801439" y="8495556"/>
              <a:ext cx="2225725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R0 · Baseline</a:t>
              </a:r>
              <a:endParaRPr lang="en-GB" sz="2500"/>
            </a:p>
          </p:txBody>
        </p:sp>
        <p:sp>
          <p:nvSpPr>
            <p:cNvPr id="60" name="PDF text&#10;300-token passages" descr="s59">
              <a:extLst>
                <a:ext uri="{FF2B5EF4-FFF2-40B4-BE49-F238E27FC236}">
                  <ns2:creationId id="{B35E5CCE-8234-438A-8461-52AE14102CC9}"/>
                </a:ext>
              </a:extLst>
            </p:cNvPr>
            <p:cNvSpPr>
              <a:spLocks noGrp="1"/>
            </p:cNvSpPr>
            <p:nvPr/>
          </p:nvSpPr>
          <p:spPr>
            <a:xfrm>
              <a:off x="3898404" y="8135987"/>
              <a:ext cx="2741116" cy="114642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PDF text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300-token</a:t>
              </a:r>
              <a:endParaRPr lang="en-GB" sz="2400"/>
            </a:p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passages</a:t>
              </a:r>
              <a:endParaRPr lang="en-GB" sz="2400"/>
            </a:p>
          </p:txBody>
        </p:sp>
        <p:sp>
          <p:nvSpPr>
            <p:cNvPr id="61" name="→" descr="s60">
              <a:extLst>
                <a:ext uri="{FF2B5EF4-FFF2-40B4-BE49-F238E27FC236}">
                  <ns2:creationId id="{4F81B891-4974-4D7F-94CC-7828385A108B}"/>
                </a:ext>
              </a:extLst>
            </p:cNvPr>
            <p:cNvSpPr>
              <a:spLocks noGrp="1"/>
            </p:cNvSpPr>
            <p:nvPr/>
          </p:nvSpPr>
          <p:spPr>
            <a:xfrm>
              <a:off x="6458545" y="84622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2" name="Semantic retrieval&#10;Qwen3-Embedding-0.6B" descr="s61">
              <a:extLst>
                <a:ext uri="{FF2B5EF4-FFF2-40B4-BE49-F238E27FC236}">
                  <ns2:creationId id="{1A0F8219-F2FC-4BB3-8D93-EA0F5D9B34B7}"/>
                </a:ext>
              </a:extLst>
            </p:cNvPr>
            <p:cNvSpPr>
              <a:spLocks noGrp="1"/>
            </p:cNvSpPr>
            <p:nvPr/>
          </p:nvSpPr>
          <p:spPr>
            <a:xfrm>
              <a:off x="7510760" y="8311158"/>
              <a:ext cx="3508921" cy="7959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Semantic retrieval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Qwen3-Embedding-0.6B</a:t>
              </a:r>
              <a:endParaRPr lang="en-GB" sz="2400"/>
            </a:p>
          </p:txBody>
        </p:sp>
        <p:sp>
          <p:nvSpPr>
            <p:cNvPr id="63" name="→" descr="s62">
              <a:extLst>
                <a:ext uri="{FF2B5EF4-FFF2-40B4-BE49-F238E27FC236}">
                  <ns2:creationId id="{856CCF52-D8FD-4174-B019-7A6A6849655A}"/>
                </a:ext>
              </a:extLst>
            </p:cNvPr>
            <p:cNvSpPr>
              <a:spLocks noGrp="1"/>
            </p:cNvSpPr>
            <p:nvPr/>
          </p:nvSpPr>
          <p:spPr>
            <a:xfrm>
              <a:off x="11298882" y="84622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4" name="Generate answer&#10;GPT-5.4-mini" descr="s63">
              <a:extLst>
                <a:ext uri="{FF2B5EF4-FFF2-40B4-BE49-F238E27FC236}">
                  <ns2:creationId id="{9C7A6804-5F59-4440-A11D-022B626DB53E}"/>
                </a:ext>
              </a:extLst>
            </p:cNvPr>
            <p:cNvSpPr>
              <a:spLocks noGrp="1"/>
            </p:cNvSpPr>
            <p:nvPr/>
          </p:nvSpPr>
          <p:spPr>
            <a:xfrm>
              <a:off x="12351097" y="8311158"/>
              <a:ext cx="2630388" cy="7959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Generate answer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GPT-5.4-mini</a:t>
              </a:r>
              <a:endParaRPr lang="en-GB" sz="2400"/>
            </a:p>
          </p:txBody>
        </p:sp>
        <p:sp>
          <p:nvSpPr>
            <p:cNvPr id="65" name="→" descr="s64">
              <a:extLst>
                <a:ext uri="{FF2B5EF4-FFF2-40B4-BE49-F238E27FC236}">
                  <ns2:creationId id="{FBB77790-0A06-4CBA-940A-DFF3E778427E}"/>
                </a:ext>
              </a:extLst>
            </p:cNvPr>
            <p:cNvSpPr>
              <a:spLocks noGrp="1"/>
            </p:cNvSpPr>
            <p:nvPr/>
          </p:nvSpPr>
          <p:spPr>
            <a:xfrm>
              <a:off x="15493008" y="84622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6" name="Answer + retrieved pages&#10;All context pages as citations" descr="s65">
              <a:extLst>
                <a:ext uri="{FF2B5EF4-FFF2-40B4-BE49-F238E27FC236}">
                  <ns2:creationId id="{676FF239-4D9D-41F9-A28C-6B3F6F575179}"/>
                </a:ext>
              </a:extLst>
            </p:cNvPr>
            <p:cNvSpPr>
              <a:spLocks noGrp="1"/>
            </p:cNvSpPr>
            <p:nvPr/>
          </p:nvSpPr>
          <p:spPr>
            <a:xfrm>
              <a:off x="16545074" y="8135987"/>
              <a:ext cx="4065984" cy="114642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Answer + retrieved pages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All context pages as</a:t>
              </a:r>
              <a:endParaRPr lang="en-GB" sz="2400"/>
            </a:p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citations</a:t>
              </a:r>
              <a:endParaRPr lang="en-GB" sz="2400"/>
            </a:p>
          </p:txBody>
        </p:sp>
        <p:pic>
          <p:nvPicPr>
            <p:cNvPr id="242" name="icon-file" descr="s114"/>
            <p:cNvPicPr>
              <a:picLocks noChangeAspect="1"/>
            </p:cNvPicPr>
            <p:nvPr/>
          </p:nvPicPr>
          <p:blipFill>
            <a:blip r:embed="R1aee7e47b5174a07">
              <a:extLst>
                <a:ext uri="{96DAC541-7B7A-43D3-8B79-37D633B846F1}">
                  <ns4:svgBlip r:embed="R36a350fe5c564b2e"/>
                </a:ext>
              </a:extLst>
            </a:blip>
            <a:stretch/>
          </p:blipFill>
          <p:spPr>
            <a:xfrm>
              <a:off x="3250555" y="8447782"/>
              <a:ext cx="539948" cy="539948"/>
            </a:xfrm>
            <a:prstGeom prst="rect">
              <a:avLst/>
            </a:prstGeom>
          </p:spPr>
        </p:pic>
        <p:pic>
          <p:nvPicPr>
            <p:cNvPr id="243" name="icon-search" descr="s115"/>
            <p:cNvPicPr>
              <a:picLocks noChangeAspect="1"/>
            </p:cNvPicPr>
            <p:nvPr/>
          </p:nvPicPr>
          <p:blipFill>
            <a:blip r:embed="Rb5aabc1e5f1e4011">
              <a:extLst>
                <a:ext uri="{96DAC541-7B7A-43D3-8B79-37D633B846F1}">
                  <ns4:svgBlip r:embed="Rea5683c96bd64f05"/>
                </a:ext>
              </a:extLst>
            </a:blip>
            <a:stretch/>
          </p:blipFill>
          <p:spPr>
            <a:xfrm>
              <a:off x="6862911" y="8447633"/>
              <a:ext cx="539948" cy="539948"/>
            </a:xfrm>
            <a:prstGeom prst="rect">
              <a:avLst/>
            </a:prstGeom>
          </p:spPr>
        </p:pic>
        <p:pic>
          <p:nvPicPr>
            <p:cNvPr id="244" name="icon-answer" descr="s116"/>
            <p:cNvPicPr>
              <a:picLocks noChangeAspect="1"/>
            </p:cNvPicPr>
            <p:nvPr/>
          </p:nvPicPr>
          <p:blipFill>
            <a:blip r:embed="Rec46a51edb654074">
              <a:extLst>
                <a:ext uri="{96DAC541-7B7A-43D3-8B79-37D633B846F1}">
                  <ns4:svgBlip r:embed="Rb244a48c4c034e44"/>
                </a:ext>
              </a:extLst>
            </a:blip>
            <a:stretch/>
          </p:blipFill>
          <p:spPr>
            <a:xfrm>
              <a:off x="11703248" y="8447633"/>
              <a:ext cx="539948" cy="539948"/>
            </a:xfrm>
            <a:prstGeom prst="rect">
              <a:avLst/>
            </a:prstGeom>
          </p:spPr>
        </p:pic>
        <p:pic>
          <p:nvPicPr>
            <p:cNvPr id="245" name="icon-file" descr="s117"/>
            <p:cNvPicPr>
              <a:picLocks noChangeAspect="1"/>
            </p:cNvPicPr>
            <p:nvPr/>
          </p:nvPicPr>
          <p:blipFill>
            <a:blip r:embed="R5204b51d33734634">
              <a:extLst>
                <a:ext uri="{96DAC541-7B7A-43D3-8B79-37D633B846F1}">
                  <ns4:svgBlip r:embed="R5e8b9710d685470a"/>
                </a:ext>
              </a:extLst>
            </a:blip>
            <a:stretch/>
          </p:blipFill>
          <p:spPr>
            <a:xfrm>
              <a:off x="15897225" y="8447782"/>
              <a:ext cx="539948" cy="539948"/>
            </a:xfrm>
            <a:prstGeom prst="rect">
              <a:avLst/>
            </a:prstGeom>
          </p:spPr>
        </p:pic>
      </p:grpSp>
      <p:sp>
        <p:nvSpPr>
          <p:cNvPr id="5" name="Rule phase doc-stage" descr="s9">
            <a:extLst>
              <a:ext uri="{FF2B5EF4-FFF2-40B4-BE49-F238E27FC236}">
                <ns2:creationId id="{64D45DE8-5367-4905-A7AF-43B34FE29E5F}"/>
              </a:ext>
            </a:extLst>
          </p:cNvPr>
          <p:cNvSpPr>
            <a:spLocks noGrp="1"/>
          </p:cNvSpPr>
          <p:nvPr/>
        </p:nvSpPr>
        <p:spPr>
          <a:xfrm>
            <a:off x="647998" y="9666684"/>
            <a:ext cx="6552009" cy="9525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6" name="Rule phase doc-stage" descr="s10">
            <a:extLst>
              <a:ext uri="{FF2B5EF4-FFF2-40B4-BE49-F238E27FC236}">
                <ns2:creationId id="{FBB22390-D5EC-4AA2-BDD5-C2D6C517770B}"/>
              </a:ext>
            </a:extLst>
          </p:cNvPr>
          <p:cNvSpPr>
            <a:spLocks noGrp="1"/>
          </p:cNvSpPr>
          <p:nvPr/>
        </p:nvSpPr>
        <p:spPr>
          <a:xfrm>
            <a:off x="7190482" y="9666684"/>
            <a:ext cx="9525" cy="251966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7" name="Rule phase doc-stage" descr="s11">
            <a:extLst>
              <a:ext uri="{FF2B5EF4-FFF2-40B4-BE49-F238E27FC236}">
                <ns2:creationId id="{FAE21371-B54D-42E6-96CC-10AF39CE837F}"/>
              </a:ext>
            </a:extLst>
          </p:cNvPr>
          <p:cNvSpPr>
            <a:spLocks noGrp="1"/>
          </p:cNvSpPr>
          <p:nvPr/>
        </p:nvSpPr>
        <p:spPr>
          <a:xfrm>
            <a:off x="647998" y="9666684"/>
            <a:ext cx="9525" cy="251966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8" name="Panel SPAN" descr="s12">
            <a:extLst>
              <a:ext uri="{FF2B5EF4-FFF2-40B4-BE49-F238E27FC236}">
                <ns2:creationId id="{5D5A4EAD-8E3B-406D-87D5-5AA4EE318E83}"/>
              </a:ext>
            </a:extLst>
          </p:cNvPr>
          <p:cNvSpPr>
            <a:spLocks noGrp="1"/>
          </p:cNvSpPr>
          <p:nvPr/>
        </p:nvSpPr>
        <p:spPr>
          <a:xfrm>
            <a:off x="1930598" y="9485709"/>
            <a:ext cx="3986808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" name="Rule phase retrieval-stage" descr="s13">
            <a:extLst>
              <a:ext uri="{FF2B5EF4-FFF2-40B4-BE49-F238E27FC236}">
                <ns2:creationId id="{373CE424-088B-4289-8FC9-E8892689F3DB}"/>
              </a:ext>
            </a:extLst>
          </p:cNvPr>
          <p:cNvSpPr>
            <a:spLocks noGrp="1"/>
          </p:cNvSpPr>
          <p:nvPr/>
        </p:nvSpPr>
        <p:spPr>
          <a:xfrm>
            <a:off x="7415957" y="9666684"/>
            <a:ext cx="6552009" cy="9525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0" name="Rule phase retrieval-stage" descr="s14">
            <a:extLst>
              <a:ext uri="{FF2B5EF4-FFF2-40B4-BE49-F238E27FC236}">
                <ns2:creationId id="{727D2633-AF36-42FC-8A8F-61652A515016}"/>
              </a:ext>
            </a:extLst>
          </p:cNvPr>
          <p:cNvSpPr>
            <a:spLocks noGrp="1"/>
          </p:cNvSpPr>
          <p:nvPr/>
        </p:nvSpPr>
        <p:spPr>
          <a:xfrm>
            <a:off x="13958441" y="9666684"/>
            <a:ext cx="9525" cy="251966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1" name="Rule phase retrieval-stage" descr="s15">
            <a:extLst>
              <a:ext uri="{FF2B5EF4-FFF2-40B4-BE49-F238E27FC236}">
                <ns2:creationId id="{A4AA545F-4E6B-4B49-9897-A650CABEDFB3}"/>
              </a:ext>
            </a:extLst>
          </p:cNvPr>
          <p:cNvSpPr>
            <a:spLocks noGrp="1"/>
          </p:cNvSpPr>
          <p:nvPr/>
        </p:nvSpPr>
        <p:spPr>
          <a:xfrm>
            <a:off x="7415957" y="9666684"/>
            <a:ext cx="9525" cy="251966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2" name="Panel SPAN" descr="s16">
            <a:extLst>
              <a:ext uri="{FF2B5EF4-FFF2-40B4-BE49-F238E27FC236}">
                <ns2:creationId id="{7ABD0180-28D2-4CA8-8E58-8041E79CFB8C}"/>
              </a:ext>
            </a:extLst>
          </p:cNvPr>
          <p:cNvSpPr>
            <a:spLocks noGrp="1"/>
          </p:cNvSpPr>
          <p:nvPr/>
        </p:nvSpPr>
        <p:spPr>
          <a:xfrm>
            <a:off x="9782473" y="9485709"/>
            <a:ext cx="1818829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ule phase single answer-stage" descr="s17">
            <a:extLst>
              <a:ext uri="{FF2B5EF4-FFF2-40B4-BE49-F238E27FC236}">
                <ns2:creationId id="{FEA9F9D4-47D0-419C-A5A5-0248E1B48FB0}"/>
              </a:ext>
            </a:extLst>
          </p:cNvPr>
          <p:cNvSpPr>
            <a:spLocks noGrp="1"/>
          </p:cNvSpPr>
          <p:nvPr/>
        </p:nvSpPr>
        <p:spPr>
          <a:xfrm>
            <a:off x="14183916" y="9666684"/>
            <a:ext cx="3167955" cy="9525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4" name="Rule phase single answer-stage" descr="s18">
            <a:extLst>
              <a:ext uri="{FF2B5EF4-FFF2-40B4-BE49-F238E27FC236}">
                <ns2:creationId id="{225E8C7B-4B1D-41EF-8918-14AC7A543B3E}"/>
              </a:ext>
            </a:extLst>
          </p:cNvPr>
          <p:cNvSpPr>
            <a:spLocks noGrp="1"/>
          </p:cNvSpPr>
          <p:nvPr/>
        </p:nvSpPr>
        <p:spPr>
          <a:xfrm>
            <a:off x="17342346" y="9666684"/>
            <a:ext cx="9525" cy="251966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5" name="Rule phase single answer-stage" descr="s19">
            <a:extLst>
              <a:ext uri="{FF2B5EF4-FFF2-40B4-BE49-F238E27FC236}">
                <ns2:creationId id="{065FFFA7-2693-4A6B-8958-8561F345BF8F}"/>
              </a:ext>
            </a:extLst>
          </p:cNvPr>
          <p:cNvSpPr>
            <a:spLocks noGrp="1"/>
          </p:cNvSpPr>
          <p:nvPr/>
        </p:nvSpPr>
        <p:spPr>
          <a:xfrm>
            <a:off x="14183916" y="9666684"/>
            <a:ext cx="9525" cy="251966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6" name="Panel SPAN" descr="s20">
            <a:extLst>
              <a:ext uri="{FF2B5EF4-FFF2-40B4-BE49-F238E27FC236}">
                <ns2:creationId id="{3F7B2D6E-56F3-4157-98A4-22CA8BB675BF}"/>
              </a:ext>
            </a:extLst>
          </p:cNvPr>
          <p:cNvSpPr>
            <a:spLocks noGrp="1"/>
          </p:cNvSpPr>
          <p:nvPr/>
        </p:nvSpPr>
        <p:spPr>
          <a:xfrm>
            <a:off x="14720441" y="9485709"/>
            <a:ext cx="2094905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Rule phase single citation-stage" descr="s21">
            <a:extLst>
              <a:ext uri="{FF2B5EF4-FFF2-40B4-BE49-F238E27FC236}">
                <ns2:creationId id="{EAC3F392-0D04-4554-8C88-F257D1419E33}"/>
              </a:ext>
            </a:extLst>
          </p:cNvPr>
          <p:cNvSpPr>
            <a:spLocks noGrp="1"/>
          </p:cNvSpPr>
          <p:nvPr/>
        </p:nvSpPr>
        <p:spPr>
          <a:xfrm>
            <a:off x="17567821" y="9666684"/>
            <a:ext cx="3168104" cy="9525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18" name="Rule phase single citation-stage" descr="s22">
            <a:extLst>
              <a:ext uri="{FF2B5EF4-FFF2-40B4-BE49-F238E27FC236}">
                <ns2:creationId id="{B284C3F6-41EE-4916-87AF-4E894B760841}"/>
              </a:ext>
            </a:extLst>
          </p:cNvPr>
          <p:cNvSpPr>
            <a:spLocks noGrp="1"/>
          </p:cNvSpPr>
          <p:nvPr/>
        </p:nvSpPr>
        <p:spPr>
          <a:xfrm>
            <a:off x="20726400" y="9666684"/>
            <a:ext cx="9525" cy="251966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19" name="Rule phase single citation-stage" descr="s23">
            <a:extLst>
              <a:ext uri="{FF2B5EF4-FFF2-40B4-BE49-F238E27FC236}">
                <ns2:creationId id="{896B4789-79B0-4C66-89C2-15706FF116B4}"/>
              </a:ext>
            </a:extLst>
          </p:cNvPr>
          <p:cNvSpPr>
            <a:spLocks noGrp="1"/>
          </p:cNvSpPr>
          <p:nvPr/>
        </p:nvSpPr>
        <p:spPr>
          <a:xfrm>
            <a:off x="17567821" y="9666684"/>
            <a:ext cx="9525" cy="251966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20" name="Panel SPAN" descr="s24">
            <a:extLst>
              <a:ext uri="{FF2B5EF4-FFF2-40B4-BE49-F238E27FC236}">
                <ns2:creationId id="{AA527463-1BB5-42A9-A746-B9AEF0ADD818}"/>
              </a:ext>
            </a:extLst>
          </p:cNvPr>
          <p:cNvSpPr>
            <a:spLocks noGrp="1"/>
          </p:cNvSpPr>
          <p:nvPr/>
        </p:nvSpPr>
        <p:spPr>
          <a:xfrm>
            <a:off x="18239036" y="9485709"/>
            <a:ext cx="1825526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grpSp>
        <p:nvGrpSpPr>
          <p:cNvPr id="257" name="R1 · OCR"/>
          <p:cNvGrpSpPr/>
          <p:nvPr/>
        </p:nvGrpSpPr>
        <p:grpSpPr>
          <a:xfrm>
            <a:off x="647998" y="10026551"/>
            <a:ext cx="3366790" cy="3906292"/>
            <a:chOff x="647998" y="10026551"/>
            <a:chExt cx="3366790" cy="3906292"/>
          </a:xfrm>
        </p:grpSpPr>
        <p:sp>
          <p:nvSpPr>
            <p:cNvPr id="21" name="Panel pipeline-card doc-stage" descr="s25">
              <a:extLst>
                <a:ext uri="{FF2B5EF4-FFF2-40B4-BE49-F238E27FC236}">
                  <ns2:creationId id="{B7251085-8BF4-4994-B360-B88C40B60A01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EEF7FD"/>
            </a:solidFill>
            <a:ln w="9525">
              <a:solidFill>
                <a:srgbClr val="3186BD"/>
              </a:solidFill>
            </a:ln>
          </p:spPr>
        </p:sp>
        <p:sp>
          <p:nvSpPr>
            <p:cNvPr id="22" name="Panel technology" descr="s26">
              <a:extLst>
                <a:ext uri="{FF2B5EF4-FFF2-40B4-BE49-F238E27FC236}">
                  <ns2:creationId id="{CA084A37-0269-4943-9FA7-51C23155B54F}"/>
                </a:ext>
              </a:extLst>
            </p:cNvPr>
            <p:cNvSpPr>
              <a:spLocks noGrp="1"/>
            </p:cNvSpPr>
            <p:nvPr/>
          </p:nvSpPr>
          <p:spPr>
            <a:xfrm>
              <a:off x="657523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DCECF7"/>
            </a:solidFill>
            <a:ln w="0">
              <a:noFill/>
            </a:ln>
          </p:spPr>
        </p:sp>
        <p:sp>
          <p:nvSpPr>
            <p:cNvPr id="40" name="Pipeline arrow" descr="s0">
              <a:extLst>
                <a:ext uri="{FF2B5EF4-FFF2-40B4-BE49-F238E27FC236}">
                  <ns2:creationId id="{4F99C3DC-5F41-4D8B-9462-45C4C81A860D}"/>
                </a:ext>
              </a:extLst>
            </p:cNvPr>
            <p:cNvSpPr>
              <a:spLocks noGrp="1"/>
            </p:cNvSpPr>
            <p:nvPr/>
          </p:nvSpPr>
          <p:spPr>
            <a:xfrm>
              <a:off x="3835003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3186BD"/>
            </a:solidFill>
            <a:ln w="0">
              <a:noFill/>
            </a:ln>
          </p:spPr>
        </p:sp>
        <p:sp>
          <p:nvSpPr>
            <p:cNvPr id="71" name="R1 · OCR" descr="s70">
              <a:extLst>
                <a:ext uri="{FF2B5EF4-FFF2-40B4-BE49-F238E27FC236}">
                  <ns2:creationId id="{1EC48FB1-BE48-4F28-A2DF-BCC057E92B00}"/>
                </a:ext>
              </a:extLst>
            </p:cNvPr>
            <p:cNvSpPr>
              <a:spLocks noGrp="1"/>
            </p:cNvSpPr>
            <p:nvPr/>
          </p:nvSpPr>
          <p:spPr>
            <a:xfrm>
              <a:off x="765423" y="10096351"/>
              <a:ext cx="296168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R1 · OCR</a:t>
              </a:r>
              <a:endParaRPr lang="en-GB" sz="2500"/>
            </a:p>
          </p:txBody>
        </p:sp>
        <p:sp>
          <p:nvSpPr>
            <p:cNvPr id="72" name="Recover text from scanned pages" descr="s71">
              <a:extLst>
                <a:ext uri="{FF2B5EF4-FFF2-40B4-BE49-F238E27FC236}">
                  <ns2:creationId id="{F8233152-2426-41F9-BE61-BEC9B26F3B61}"/>
                </a:ext>
              </a:extLst>
            </p:cNvPr>
            <p:cNvSpPr>
              <a:spLocks noGrp="1"/>
            </p:cNvSpPr>
            <p:nvPr/>
          </p:nvSpPr>
          <p:spPr>
            <a:xfrm>
              <a:off x="765423" y="10897642"/>
              <a:ext cx="2961680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Recover text from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scanned pages</a:t>
              </a:r>
              <a:endParaRPr lang="en-GB" sz="2400"/>
            </a:p>
          </p:txBody>
        </p:sp>
        <p:sp>
          <p:nvSpPr>
            <p:cNvPr id="73" name="PP-OCRv5" descr="s72">
              <a:extLst>
                <a:ext uri="{FF2B5EF4-FFF2-40B4-BE49-F238E27FC236}">
                  <ns2:creationId id="{F70580D4-15EE-49F5-83D0-407983E22781}"/>
                </a:ext>
              </a:extLst>
            </p:cNvPr>
            <p:cNvSpPr>
              <a:spLocks noGrp="1"/>
            </p:cNvSpPr>
            <p:nvPr/>
          </p:nvSpPr>
          <p:spPr>
            <a:xfrm>
              <a:off x="765423" y="12751147"/>
              <a:ext cx="296148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PP-OCRv5</a:t>
              </a:r>
              <a:endParaRPr lang="en-GB" sz="2400"/>
            </a:p>
          </p:txBody>
        </p:sp>
        <p:pic>
          <p:nvPicPr>
            <p:cNvPr id="246" name="icon-scan" descr="s118"/>
            <p:cNvPicPr>
              <a:picLocks noChangeAspect="1"/>
            </p:cNvPicPr>
            <p:nvPr/>
          </p:nvPicPr>
          <p:blipFill>
            <a:blip r:embed="R01d1617e01a542fc">
              <a:extLst>
                <a:ext uri="{96DAC541-7B7A-43D3-8B79-37D633B846F1}">
                  <ns4:svgBlip r:embed="R8f20a0bcb13349dd"/>
                </a:ext>
              </a:extLst>
            </a:blip>
            <a:stretch/>
          </p:blipFill>
          <p:spPr>
            <a:xfrm>
              <a:off x="1925985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58" name="R2 · Multiple&#10;text scales"/>
          <p:cNvGrpSpPr/>
          <p:nvPr/>
        </p:nvGrpSpPr>
        <p:grpSpPr>
          <a:xfrm>
            <a:off x="4031903" y="10026551"/>
            <a:ext cx="3367088" cy="3906292"/>
            <a:chOff x="4031903" y="10026551"/>
            <a:chExt cx="3367088" cy="3906292"/>
          </a:xfrm>
        </p:grpSpPr>
        <p:sp>
          <p:nvSpPr>
            <p:cNvPr id="23" name="Panel pipeline-card doc-stage" descr="s27">
              <a:extLst>
                <a:ext uri="{FF2B5EF4-FFF2-40B4-BE49-F238E27FC236}">
                  <ns2:creationId id="{46EFD313-CE05-4D32-B9FF-9DD07906490E}"/>
                </a:ext>
              </a:extLst>
            </p:cNvPr>
            <p:cNvSpPr>
              <a:spLocks noGrp="1"/>
            </p:cNvSpPr>
            <p:nvPr/>
          </p:nvSpPr>
          <p:spPr>
            <a:xfrm>
              <a:off x="4031903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EEF7FD"/>
            </a:solidFill>
            <a:ln w="9525">
              <a:solidFill>
                <a:srgbClr val="3186BD"/>
              </a:solidFill>
            </a:ln>
          </p:spPr>
        </p:sp>
        <p:sp>
          <p:nvSpPr>
            <p:cNvPr id="24" name="Panel technology" descr="s28">
              <a:extLst>
                <a:ext uri="{FF2B5EF4-FFF2-40B4-BE49-F238E27FC236}">
                  <ns2:creationId id="{BE8B1455-5B58-453A-B7BC-F642CAA55994}"/>
                </a:ext>
              </a:extLst>
            </p:cNvPr>
            <p:cNvSpPr>
              <a:spLocks noGrp="1"/>
            </p:cNvSpPr>
            <p:nvPr/>
          </p:nvSpPr>
          <p:spPr>
            <a:xfrm>
              <a:off x="4041428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DCECF7"/>
            </a:solidFill>
            <a:ln w="0">
              <a:noFill/>
            </a:ln>
          </p:spPr>
        </p:sp>
        <p:sp>
          <p:nvSpPr>
            <p:cNvPr id="41" name="Pipeline arrow" descr="s1">
              <a:extLst>
                <a:ext uri="{FF2B5EF4-FFF2-40B4-BE49-F238E27FC236}">
                  <ns2:creationId id="{F89FF25F-273D-4787-AEB6-16BC5D1E5C10}"/>
                </a:ext>
              </a:extLst>
            </p:cNvPr>
            <p:cNvSpPr>
              <a:spLocks noGrp="1"/>
            </p:cNvSpPr>
            <p:nvPr/>
          </p:nvSpPr>
          <p:spPr>
            <a:xfrm>
              <a:off x="7219206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3186BD"/>
            </a:solidFill>
            <a:ln w="0">
              <a:noFill/>
            </a:ln>
          </p:spPr>
        </p:sp>
        <p:sp>
          <p:nvSpPr>
            <p:cNvPr id="74" name="R2 · Multiple&#10;text scales" descr="s73">
              <a:extLst>
                <a:ext uri="{FF2B5EF4-FFF2-40B4-BE49-F238E27FC236}">
                  <ns2:creationId id="{D58C5A71-ECC8-4364-841A-ABC667878EC4}"/>
                </a:ext>
              </a:extLst>
            </p:cNvPr>
            <p:cNvSpPr>
              <a:spLocks noGrp="1"/>
            </p:cNvSpPr>
            <p:nvPr/>
          </p:nvSpPr>
          <p:spPr>
            <a:xfrm>
              <a:off x="4149328" y="10096351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R2 · Multiple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scales</a:t>
              </a:r>
              <a:endParaRPr lang="en-GB" sz="2500"/>
            </a:p>
          </p:txBody>
        </p:sp>
        <p:sp>
          <p:nvSpPr>
            <p:cNvPr id="75" name="Represent evidence at multiple levels" descr="s74">
              <a:extLst>
                <a:ext uri="{FF2B5EF4-FFF2-40B4-BE49-F238E27FC236}">
                  <ns2:creationId id="{85D66C19-C704-492E-87DA-4ED4FBB68ABF}"/>
                </a:ext>
              </a:extLst>
            </p:cNvPr>
            <p:cNvSpPr>
              <a:spLocks noGrp="1"/>
            </p:cNvSpPr>
            <p:nvPr/>
          </p:nvSpPr>
          <p:spPr>
            <a:xfrm>
              <a:off x="4149328" y="10897642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Represent evidence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at multiple levels</a:t>
              </a:r>
              <a:endParaRPr lang="en-GB" sz="2400"/>
            </a:p>
          </p:txBody>
        </p:sp>
        <p:sp>
          <p:nvSpPr>
            <p:cNvPr id="76" name="Pages, sections, clauses, microchunks, tables" descr="s75">
              <a:extLst>
                <a:ext uri="{FF2B5EF4-FFF2-40B4-BE49-F238E27FC236}">
                  <ns2:creationId id="{7605C8F7-080A-43F1-A4FB-C6B82D5D0AC3}"/>
                </a:ext>
              </a:extLst>
            </p:cNvPr>
            <p:cNvSpPr>
              <a:spLocks noGrp="1"/>
            </p:cNvSpPr>
            <p:nvPr/>
          </p:nvSpPr>
          <p:spPr>
            <a:xfrm>
              <a:off x="4149328" y="12751147"/>
              <a:ext cx="2961629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Pages, sections,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clauses,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microchunks, tables</a:t>
              </a:r>
              <a:endParaRPr lang="en-GB" sz="2400"/>
            </a:p>
          </p:txBody>
        </p:sp>
        <p:pic>
          <p:nvPicPr>
            <p:cNvPr id="247" name="icon-layers" descr="s119"/>
            <p:cNvPicPr>
              <a:picLocks noChangeAspect="1"/>
            </p:cNvPicPr>
            <p:nvPr/>
          </p:nvPicPr>
          <p:blipFill>
            <a:blip r:embed="R936908b661554177">
              <a:extLst>
                <a:ext uri="{96DAC541-7B7A-43D3-8B79-37D633B846F1}">
                  <ns4:svgBlip r:embed="R2feb3ae553994be3"/>
                </a:ext>
              </a:extLst>
            </a:blip>
            <a:stretch/>
          </p:blipFill>
          <p:spPr>
            <a:xfrm>
              <a:off x="5309890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59" name="R3 · Lexical&#10;retrieval"/>
          <p:cNvGrpSpPr/>
          <p:nvPr/>
        </p:nvGrpSpPr>
        <p:grpSpPr>
          <a:xfrm>
            <a:off x="7415957" y="10026551"/>
            <a:ext cx="3366790" cy="3906292"/>
            <a:chOff x="7415957" y="10026551"/>
            <a:chExt cx="3366790" cy="3906292"/>
          </a:xfrm>
        </p:grpSpPr>
        <p:sp>
          <p:nvSpPr>
            <p:cNvPr id="25" name="Panel pipeline-card retrieval-stage" descr="s29">
              <a:extLst>
                <a:ext uri="{FF2B5EF4-FFF2-40B4-BE49-F238E27FC236}">
                  <ns2:creationId id="{C6399556-6B27-44EB-B355-9E26061CBBC6}"/>
                </a:ext>
              </a:extLst>
            </p:cNvPr>
            <p:cNvSpPr>
              <a:spLocks noGrp="1"/>
            </p:cNvSpPr>
            <p:nvPr/>
          </p:nvSpPr>
          <p:spPr>
            <a:xfrm>
              <a:off x="7415957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F1F8EF"/>
            </a:solidFill>
            <a:ln w="9525">
              <a:solidFill>
                <a:srgbClr val="4B8A42"/>
              </a:solidFill>
            </a:ln>
          </p:spPr>
        </p:sp>
        <p:sp>
          <p:nvSpPr>
            <p:cNvPr id="26" name="Panel technology" descr="s30">
              <a:extLst>
                <a:ext uri="{FF2B5EF4-FFF2-40B4-BE49-F238E27FC236}">
                  <ns2:creationId id="{B55DDA87-BA74-4101-957E-2C95510EFF82}"/>
                </a:ext>
              </a:extLst>
            </p:cNvPr>
            <p:cNvSpPr>
              <a:spLocks noGrp="1"/>
            </p:cNvSpPr>
            <p:nvPr/>
          </p:nvSpPr>
          <p:spPr>
            <a:xfrm>
              <a:off x="7425482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E1EFDC"/>
            </a:solidFill>
            <a:ln w="0">
              <a:noFill/>
            </a:ln>
          </p:spPr>
        </p:sp>
        <p:sp>
          <p:nvSpPr>
            <p:cNvPr id="42" name="Pipeline arrow" descr="s2">
              <a:extLst>
                <a:ext uri="{FF2B5EF4-FFF2-40B4-BE49-F238E27FC236}">
                  <ns2:creationId id="{109E3F94-585F-4A4A-85A0-714DA89EA17E}"/>
                </a:ext>
              </a:extLst>
            </p:cNvPr>
            <p:cNvSpPr>
              <a:spLocks noGrp="1"/>
            </p:cNvSpPr>
            <p:nvPr/>
          </p:nvSpPr>
          <p:spPr>
            <a:xfrm>
              <a:off x="10602962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4B8A42"/>
            </a:solidFill>
            <a:ln w="0">
              <a:noFill/>
            </a:ln>
          </p:spPr>
        </p:sp>
        <p:sp>
          <p:nvSpPr>
            <p:cNvPr id="77" name="R3 · Lexical&#10;retrieval" descr="s76">
              <a:extLst>
                <a:ext uri="{FF2B5EF4-FFF2-40B4-BE49-F238E27FC236}">
                  <ns2:creationId id="{F5A06006-DA16-4F2E-807D-04EF1D62B369}"/>
                </a:ext>
              </a:extLst>
            </p:cNvPr>
            <p:cNvSpPr>
              <a:spLocks noGrp="1"/>
            </p:cNvSpPr>
            <p:nvPr/>
          </p:nvSpPr>
          <p:spPr>
            <a:xfrm>
              <a:off x="7533382" y="10096351"/>
              <a:ext cx="2961680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R3 · Lexical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500"/>
            </a:p>
          </p:txBody>
        </p:sp>
        <p:sp>
          <p:nvSpPr>
            <p:cNvPr id="78" name="Combine semantic and exact-term search" descr="s77">
              <a:extLst>
                <a:ext uri="{FF2B5EF4-FFF2-40B4-BE49-F238E27FC236}">
                  <ns2:creationId id="{FA7954DC-DB71-4535-88B9-251B86D89B9C}"/>
                </a:ext>
              </a:extLst>
            </p:cNvPr>
            <p:cNvSpPr>
              <a:spLocks noGrp="1"/>
            </p:cNvSpPr>
            <p:nvPr/>
          </p:nvSpPr>
          <p:spPr>
            <a:xfrm>
              <a:off x="7533382" y="10897642"/>
              <a:ext cx="29616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Combine semantic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and exact-term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search</a:t>
              </a:r>
              <a:endParaRPr lang="en-GB" sz="2400"/>
            </a:p>
          </p:txBody>
        </p:sp>
        <p:sp>
          <p:nvSpPr>
            <p:cNvPr id="79" name="BM25 + RRF&#10;with semantic retrieval" descr="s78">
              <a:extLst>
                <a:ext uri="{FF2B5EF4-FFF2-40B4-BE49-F238E27FC236}">
                  <ns2:creationId id="{E3F977BB-166A-4D9B-B5CE-A0AAF0D2B729}"/>
                </a:ext>
              </a:extLst>
            </p:cNvPr>
            <p:cNvSpPr>
              <a:spLocks noGrp="1"/>
            </p:cNvSpPr>
            <p:nvPr/>
          </p:nvSpPr>
          <p:spPr>
            <a:xfrm>
              <a:off x="7533382" y="12751147"/>
              <a:ext cx="29614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BM25 + RRF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with semantic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400"/>
            </a:p>
          </p:txBody>
        </p:sp>
        <p:pic>
          <p:nvPicPr>
            <p:cNvPr id="248" name="icon-search" descr="s120"/>
            <p:cNvPicPr>
              <a:picLocks noChangeAspect="1"/>
            </p:cNvPicPr>
            <p:nvPr/>
          </p:nvPicPr>
          <p:blipFill>
            <a:blip r:embed="Rdae1b65233a84e15">
              <a:extLst>
                <a:ext uri="{96DAC541-7B7A-43D3-8B79-37D633B846F1}">
                  <ns4:svgBlip r:embed="R3cd8c1836b81455f"/>
                </a:ext>
              </a:extLst>
            </a:blip>
            <a:stretch/>
          </p:blipFill>
          <p:spPr>
            <a:xfrm>
              <a:off x="8693944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0" name="R4 · Neural&#10;reranking"/>
          <p:cNvGrpSpPr/>
          <p:nvPr/>
        </p:nvGrpSpPr>
        <p:grpSpPr>
          <a:xfrm>
            <a:off x="10799862" y="10026551"/>
            <a:ext cx="3367088" cy="3906292"/>
            <a:chOff x="10799862" y="10026551"/>
            <a:chExt cx="3367088" cy="3906292"/>
          </a:xfrm>
        </p:grpSpPr>
        <p:sp>
          <p:nvSpPr>
            <p:cNvPr id="27" name="Panel pipeline-card retrieval-stage" descr="s31">
              <a:extLst>
                <a:ext uri="{FF2B5EF4-FFF2-40B4-BE49-F238E27FC236}">
                  <ns2:creationId id="{B40DC558-63CE-4879-A7F2-FB41677BBCF6}"/>
                </a:ext>
              </a:extLst>
            </p:cNvPr>
            <p:cNvSpPr>
              <a:spLocks noGrp="1"/>
            </p:cNvSpPr>
            <p:nvPr/>
          </p:nvSpPr>
          <p:spPr>
            <a:xfrm>
              <a:off x="10799862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F1F8EF"/>
            </a:solidFill>
            <a:ln w="9525">
              <a:solidFill>
                <a:srgbClr val="4B8A42"/>
              </a:solidFill>
            </a:ln>
          </p:spPr>
        </p:sp>
        <p:sp>
          <p:nvSpPr>
            <p:cNvPr id="28" name="Panel technology" descr="s32">
              <a:extLst>
                <a:ext uri="{FF2B5EF4-FFF2-40B4-BE49-F238E27FC236}">
                  <ns2:creationId id="{C0691AB8-1147-4E12-A389-97178F927586}"/>
                </a:ext>
              </a:extLst>
            </p:cNvPr>
            <p:cNvSpPr>
              <a:spLocks noGrp="1"/>
            </p:cNvSpPr>
            <p:nvPr/>
          </p:nvSpPr>
          <p:spPr>
            <a:xfrm>
              <a:off x="10809387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E1EFDC"/>
            </a:solidFill>
            <a:ln w="0">
              <a:noFill/>
            </a:ln>
          </p:spPr>
        </p:sp>
        <p:sp>
          <p:nvSpPr>
            <p:cNvPr id="43" name="Pipeline arrow" descr="s3">
              <a:extLst>
                <a:ext uri="{FF2B5EF4-FFF2-40B4-BE49-F238E27FC236}">
                  <ns2:creationId id="{EDDD43FB-D204-498E-B8F8-5F2838E7907F}"/>
                </a:ext>
              </a:extLst>
            </p:cNvPr>
            <p:cNvSpPr>
              <a:spLocks noGrp="1"/>
            </p:cNvSpPr>
            <p:nvPr/>
          </p:nvSpPr>
          <p:spPr>
            <a:xfrm>
              <a:off x="13987165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4B8A42"/>
            </a:solidFill>
            <a:ln w="0">
              <a:noFill/>
            </a:ln>
          </p:spPr>
        </p:sp>
        <p:sp>
          <p:nvSpPr>
            <p:cNvPr id="80" name="R4 · Neural&#10;reranking" descr="s79">
              <a:extLst>
                <a:ext uri="{FF2B5EF4-FFF2-40B4-BE49-F238E27FC236}">
                  <ns2:creationId id="{00698D04-9A5D-40A5-AE3F-DB10B297D973}"/>
                </a:ext>
              </a:extLst>
            </p:cNvPr>
            <p:cNvSpPr>
              <a:spLocks noGrp="1"/>
            </p:cNvSpPr>
            <p:nvPr/>
          </p:nvSpPr>
          <p:spPr>
            <a:xfrm>
              <a:off x="10917287" y="10096351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R4 · Neural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</a:t>
              </a:r>
              <a:endParaRPr lang="en-GB" sz="2500"/>
            </a:p>
          </p:txBody>
        </p:sp>
        <p:sp>
          <p:nvSpPr>
            <p:cNvPr id="81" name="Prioritize the most relevant evidence" descr="s80">
              <a:extLst>
                <a:ext uri="{FF2B5EF4-FFF2-40B4-BE49-F238E27FC236}">
                  <ns2:creationId id="{3ACBB18E-C646-488F-88D8-7C949B2FD84A}"/>
                </a:ext>
              </a:extLst>
            </p:cNvPr>
            <p:cNvSpPr>
              <a:spLocks noGrp="1"/>
            </p:cNvSpPr>
            <p:nvPr/>
          </p:nvSpPr>
          <p:spPr>
            <a:xfrm>
              <a:off x="10917287" y="10897642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Prioritize the most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relevant evidence</a:t>
              </a:r>
              <a:endParaRPr lang="en-GB" sz="2400"/>
            </a:p>
          </p:txBody>
        </p:sp>
        <p:sp>
          <p:nvSpPr>
            <p:cNvPr id="82" name="Qwen3-&#10;Reranker-0.6B" descr="s81">
              <a:extLst>
                <a:ext uri="{FF2B5EF4-FFF2-40B4-BE49-F238E27FC236}">
                  <ns2:creationId id="{9551793B-DC27-497B-A384-947A4DDEF5EF}"/>
                </a:ext>
              </a:extLst>
            </p:cNvPr>
            <p:cNvSpPr>
              <a:spLocks noGrp="1"/>
            </p:cNvSpPr>
            <p:nvPr/>
          </p:nvSpPr>
          <p:spPr>
            <a:xfrm>
              <a:off x="10917287" y="12751147"/>
              <a:ext cx="29616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Qwen3-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Reranker-0.6B</a:t>
              </a:r>
              <a:endParaRPr lang="en-GB" sz="2400"/>
            </a:p>
          </p:txBody>
        </p:sp>
        <p:pic>
          <p:nvPicPr>
            <p:cNvPr id="249" name="icon-rank" descr="s121"/>
            <p:cNvPicPr>
              <a:picLocks noChangeAspect="1"/>
            </p:cNvPicPr>
            <p:nvPr/>
          </p:nvPicPr>
          <p:blipFill>
            <a:blip r:embed="R883aff13c55f4727">
              <a:extLst>
                <a:ext uri="{96DAC541-7B7A-43D3-8B79-37D633B846F1}">
                  <ns4:svgBlip r:embed="Ra26109d62aec45f0"/>
                </a:ext>
              </a:extLst>
            </a:blip>
            <a:stretch/>
          </p:blipFill>
          <p:spPr>
            <a:xfrm>
              <a:off x="12077849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1" name="R5 · Answer&#10;type checks"/>
          <p:cNvGrpSpPr/>
          <p:nvPr/>
        </p:nvGrpSpPr>
        <p:grpSpPr>
          <a:xfrm>
            <a:off x="14183916" y="10026551"/>
            <a:ext cx="3366790" cy="3906292"/>
            <a:chOff x="14183916" y="10026551"/>
            <a:chExt cx="3366790" cy="3906292"/>
          </a:xfrm>
        </p:grpSpPr>
        <p:sp>
          <p:nvSpPr>
            <p:cNvPr id="29" name="Panel pipeline-card answer-stage" descr="s33">
              <a:extLst>
                <a:ext uri="{FF2B5EF4-FFF2-40B4-BE49-F238E27FC236}">
                  <ns2:creationId id="{BC042A09-3108-40D9-98D6-267FCDC31651}"/>
                </a:ext>
              </a:extLst>
            </p:cNvPr>
            <p:cNvSpPr>
              <a:spLocks noGrp="1"/>
            </p:cNvSpPr>
            <p:nvPr/>
          </p:nvSpPr>
          <p:spPr>
            <a:xfrm>
              <a:off x="14183916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FFF5ED"/>
            </a:solidFill>
            <a:ln w="9525">
              <a:solidFill>
                <a:srgbClr val="B96734"/>
              </a:solidFill>
            </a:ln>
          </p:spPr>
        </p:sp>
        <p:sp>
          <p:nvSpPr>
            <p:cNvPr id="30" name="Panel technology" descr="s34">
              <a:extLst>
                <a:ext uri="{FF2B5EF4-FFF2-40B4-BE49-F238E27FC236}">
                  <ns2:creationId id="{F895F091-ED68-4656-AF34-E34B4DEEB9A4}"/>
                </a:ext>
              </a:extLst>
            </p:cNvPr>
            <p:cNvSpPr>
              <a:spLocks noGrp="1"/>
            </p:cNvSpPr>
            <p:nvPr/>
          </p:nvSpPr>
          <p:spPr>
            <a:xfrm>
              <a:off x="14193441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FAE7D6"/>
            </a:solidFill>
            <a:ln w="0">
              <a:noFill/>
            </a:ln>
          </p:spPr>
        </p:sp>
        <p:sp>
          <p:nvSpPr>
            <p:cNvPr id="44" name="Pipeline arrow" descr="s4">
              <a:extLst>
                <a:ext uri="{FF2B5EF4-FFF2-40B4-BE49-F238E27FC236}">
                  <ns2:creationId id="{B388C362-67E0-4E50-8A36-71D336D52795}"/>
                </a:ext>
              </a:extLst>
            </p:cNvPr>
            <p:cNvSpPr>
              <a:spLocks noGrp="1"/>
            </p:cNvSpPr>
            <p:nvPr/>
          </p:nvSpPr>
          <p:spPr>
            <a:xfrm>
              <a:off x="17370921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B96734"/>
            </a:solidFill>
            <a:ln w="0">
              <a:noFill/>
            </a:ln>
          </p:spPr>
        </p:sp>
        <p:sp>
          <p:nvSpPr>
            <p:cNvPr id="83" name="R5 · Answer&#10;type checks" descr="s82">
              <a:extLst>
                <a:ext uri="{FF2B5EF4-FFF2-40B4-BE49-F238E27FC236}">
                  <ns2:creationId id="{ECFEC19F-6932-4F7F-B447-50056224850D}"/>
                </a:ext>
              </a:extLst>
            </p:cNvPr>
            <p:cNvSpPr>
              <a:spLocks noGrp="1"/>
            </p:cNvSpPr>
            <p:nvPr/>
          </p:nvSpPr>
          <p:spPr>
            <a:xfrm>
              <a:off x="14301341" y="10096351"/>
              <a:ext cx="2961680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R5 · Answer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type checks</a:t>
              </a:r>
              <a:endParaRPr lang="en-GB" sz="2500"/>
            </a:p>
          </p:txBody>
        </p:sp>
        <p:sp>
          <p:nvSpPr>
            <p:cNvPr id="84" name="Normalize and validate the answer type" descr="s83">
              <a:extLst>
                <a:ext uri="{FF2B5EF4-FFF2-40B4-BE49-F238E27FC236}">
                  <ns2:creationId id="{8EF4003D-BF37-4159-90B3-ED1DD8A4C125}"/>
                </a:ext>
              </a:extLst>
            </p:cNvPr>
            <p:cNvSpPr>
              <a:spLocks noGrp="1"/>
            </p:cNvSpPr>
            <p:nvPr/>
          </p:nvSpPr>
          <p:spPr>
            <a:xfrm>
              <a:off x="14301341" y="10897642"/>
              <a:ext cx="29616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Normalize and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validate the answer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type</a:t>
              </a:r>
              <a:endParaRPr lang="en-GB" sz="2400"/>
            </a:p>
          </p:txBody>
        </p:sp>
        <p:sp>
          <p:nvSpPr>
            <p:cNvPr id="85" name="Normalization, validation and confidence checks" descr="s84">
              <a:extLst>
                <a:ext uri="{FF2B5EF4-FFF2-40B4-BE49-F238E27FC236}">
                  <ns2:creationId id="{45B66933-E7CA-4148-8B4E-173776D91C18}"/>
                </a:ext>
              </a:extLst>
            </p:cNvPr>
            <p:cNvSpPr>
              <a:spLocks noGrp="1"/>
            </p:cNvSpPr>
            <p:nvPr/>
          </p:nvSpPr>
          <p:spPr>
            <a:xfrm>
              <a:off x="14301341" y="12751147"/>
              <a:ext cx="29614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Normalization,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validation and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confidence checks</a:t>
              </a:r>
              <a:endParaRPr lang="en-GB" sz="2400"/>
            </a:p>
          </p:txBody>
        </p:sp>
        <p:pic>
          <p:nvPicPr>
            <p:cNvPr id="250" name="icon-check" descr="s122"/>
            <p:cNvPicPr>
              <a:picLocks noChangeAspect="1"/>
            </p:cNvPicPr>
            <p:nvPr/>
          </p:nvPicPr>
          <p:blipFill>
            <a:blip r:embed="Rf3f580a15463489d">
              <a:extLst>
                <a:ext uri="{96DAC541-7B7A-43D3-8B79-37D633B846F1}">
                  <ns4:svgBlip r:embed="Re0617e814bc648aa"/>
                </a:ext>
              </a:extLst>
            </a:blip>
            <a:stretch/>
          </p:blipFill>
          <p:spPr>
            <a:xfrm>
              <a:off x="15461903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2" name="R6 · Citation&#10;selection"/>
          <p:cNvGrpSpPr/>
          <p:nvPr/>
        </p:nvGrpSpPr>
        <p:grpSpPr>
          <a:xfrm>
            <a:off x="17567821" y="10026551"/>
            <a:ext cx="3168104" cy="3906292"/>
            <a:chOff x="17567821" y="10026551"/>
            <a:chExt cx="3168104" cy="3906292"/>
          </a:xfrm>
        </p:grpSpPr>
        <p:sp>
          <p:nvSpPr>
            <p:cNvPr id="31" name="Panel pipeline-card citation-stage" descr="s35">
              <a:extLst>
                <a:ext uri="{FF2B5EF4-FFF2-40B4-BE49-F238E27FC236}">
                  <ns2:creationId id="{4DD9C6E5-AA54-48A4-8442-B57AA537A2CE}"/>
                </a:ext>
              </a:extLst>
            </p:cNvPr>
            <p:cNvSpPr>
              <a:spLocks noGrp="1"/>
            </p:cNvSpPr>
            <p:nvPr/>
          </p:nvSpPr>
          <p:spPr>
            <a:xfrm>
              <a:off x="17567821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F6F1FC"/>
            </a:solidFill>
            <a:ln w="9525">
              <a:solidFill>
                <a:srgbClr val="7655B5"/>
              </a:solidFill>
            </a:ln>
          </p:spPr>
        </p:sp>
        <p:sp>
          <p:nvSpPr>
            <p:cNvPr id="32" name="Panel technology" descr="s36">
              <a:extLst>
                <a:ext uri="{FF2B5EF4-FFF2-40B4-BE49-F238E27FC236}">
                  <ns2:creationId id="{BD0D8CDA-56BA-42C8-A5A4-0F58F35C38BC}"/>
                </a:ext>
              </a:extLst>
            </p:cNvPr>
            <p:cNvSpPr>
              <a:spLocks noGrp="1"/>
            </p:cNvSpPr>
            <p:nvPr/>
          </p:nvSpPr>
          <p:spPr>
            <a:xfrm>
              <a:off x="17577346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E8DDF5"/>
            </a:solidFill>
            <a:ln w="0">
              <a:noFill/>
            </a:ln>
          </p:spPr>
        </p:sp>
        <p:sp>
          <p:nvSpPr>
            <p:cNvPr id="86" name="R6 · Citation&#10;selection" descr="s85">
              <a:extLst>
                <a:ext uri="{FF2B5EF4-FFF2-40B4-BE49-F238E27FC236}">
                  <ns2:creationId id="{258B1669-9528-4088-ACC9-BE63ACBBC112}"/>
                </a:ext>
              </a:extLst>
            </p:cNvPr>
            <p:cNvSpPr>
              <a:spLocks noGrp="1"/>
            </p:cNvSpPr>
            <p:nvPr/>
          </p:nvSpPr>
          <p:spPr>
            <a:xfrm>
              <a:off x="17685246" y="10096351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R6 · Citation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selection</a:t>
              </a:r>
              <a:endParaRPr lang="en-GB" sz="2500"/>
            </a:p>
          </p:txBody>
        </p:sp>
        <p:sp>
          <p:nvSpPr>
            <p:cNvPr id="87" name="Select pages from supporting chunks" descr="s86">
              <a:extLst>
                <a:ext uri="{FF2B5EF4-FFF2-40B4-BE49-F238E27FC236}">
                  <ns2:creationId id="{8FF05345-DCC2-47D5-AC35-548069F73A3D}"/>
                </a:ext>
              </a:extLst>
            </p:cNvPr>
            <p:cNvSpPr>
              <a:spLocks noGrp="1"/>
            </p:cNvSpPr>
            <p:nvPr/>
          </p:nvSpPr>
          <p:spPr>
            <a:xfrm>
              <a:off x="17685246" y="10897642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 pages from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supporting chunks</a:t>
              </a:r>
              <a:endParaRPr lang="en-GB" sz="2400"/>
            </a:p>
          </p:txBody>
        </p:sp>
        <p:sp>
          <p:nvSpPr>
            <p:cNvPr id="88" name="Supporting-chunk references + page validation" descr="s87">
              <a:extLst>
                <a:ext uri="{FF2B5EF4-FFF2-40B4-BE49-F238E27FC236}">
                  <ns2:creationId id="{562B6F31-EB9D-4A39-A8F7-412C0F8C4AB7}"/>
                </a:ext>
              </a:extLst>
            </p:cNvPr>
            <p:cNvSpPr>
              <a:spLocks noGrp="1"/>
            </p:cNvSpPr>
            <p:nvPr/>
          </p:nvSpPr>
          <p:spPr>
            <a:xfrm>
              <a:off x="17685246" y="12751147"/>
              <a:ext cx="2961629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Supporting-chunk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references + page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validation</a:t>
              </a:r>
              <a:endParaRPr lang="en-GB" sz="2400"/>
            </a:p>
          </p:txBody>
        </p:sp>
        <p:pic>
          <p:nvPicPr>
            <p:cNvPr id="251" name="icon-link" descr="s123"/>
            <p:cNvPicPr>
              <a:picLocks noChangeAspect="1"/>
            </p:cNvPicPr>
            <p:nvPr/>
          </p:nvPicPr>
          <p:blipFill>
            <a:blip r:embed="R3750e2fe30324d2d">
              <a:extLst>
                <a:ext uri="{96DAC541-7B7A-43D3-8B79-37D633B846F1}">
                  <ns4:svgBlip r:embed="Ra772c17206354ff2"/>
                </a:ext>
              </a:extLst>
            </a:blip>
            <a:stretch/>
          </p:blipFill>
          <p:spPr>
            <a:xfrm>
              <a:off x="18845808" y="12015490"/>
              <a:ext cx="611981" cy="611981"/>
            </a:xfrm>
            <a:prstGeom prst="rect">
              <a:avLst/>
            </a:prstGeom>
          </p:spPr>
        </p:pic>
      </p:grpSp>
      <p:sp>
        <p:nvSpPr>
          <p:cNvPr id="33" name="Panel cumulative-note" descr="s37">
            <a:extLst>
              <a:ext uri="{FF2B5EF4-FFF2-40B4-BE49-F238E27FC236}">
                <ns2:creationId id="{5F2F82E1-ABF7-44EC-A759-CE2F1746D182}"/>
              </a:ext>
            </a:extLst>
          </p:cNvPr>
          <p:cNvSpPr>
            <a:spLocks noGrp="1"/>
          </p:cNvSpPr>
          <p:nvPr/>
        </p:nvSpPr>
        <p:spPr>
          <a:xfrm>
            <a:off x="647998" y="14004727"/>
            <a:ext cx="20087927" cy="503337"/>
          </a:xfrm>
          <a:prstGeom prst="roundRect">
            <a:avLst>
              <a:gd name="adj" fmla="val 14305"/>
            </a:avLst>
          </a:prstGeom>
          <a:solidFill>
            <a:srgbClr val="EDF1F5"/>
          </a:solidFill>
          <a:ln w="0">
            <a:noFill/>
          </a:ln>
        </p:spPr>
      </p:sp>
      <p:sp>
        <p:nvSpPr>
          <p:cNvPr id="34" name="Rule answer-generation" descr="s38">
            <a:extLst>
              <a:ext uri="{FF2B5EF4-FFF2-40B4-BE49-F238E27FC236}">
                <ns2:creationId id="{8049084F-F1A5-478D-A793-E9D83777780B}"/>
              </a:ext>
            </a:extLst>
          </p:cNvPr>
          <p:cNvSpPr>
            <a:spLocks noGrp="1"/>
          </p:cNvSpPr>
          <p:nvPr/>
        </p:nvSpPr>
        <p:spPr>
          <a:xfrm>
            <a:off x="647998" y="14615964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35" name="Rule section-title" descr="s39">
            <a:extLst>
              <a:ext uri="{FF2B5EF4-FFF2-40B4-BE49-F238E27FC236}">
                <ns2:creationId id="{41D66BC3-05A0-4879-8CCF-794CB7169724}"/>
              </a:ext>
            </a:extLst>
          </p:cNvPr>
          <p:cNvSpPr>
            <a:spLocks noGrp="1"/>
          </p:cNvSpPr>
          <p:nvPr/>
        </p:nvSpPr>
        <p:spPr>
          <a:xfrm>
            <a:off x="647998" y="17258854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36" name="Rule " descr="s40">
            <a:extLst>
              <a:ext uri="{FF2B5EF4-FFF2-40B4-BE49-F238E27FC236}">
                <ns2:creationId id="{83FE2348-F8F7-4A43-B21E-251F58F6E5DD}"/>
              </a:ext>
            </a:extLst>
          </p:cNvPr>
          <p:cNvSpPr>
            <a:spLocks noGrp="1"/>
          </p:cNvSpPr>
          <p:nvPr/>
        </p:nvSpPr>
        <p:spPr>
          <a:xfrm>
            <a:off x="10835878" y="21842164"/>
            <a:ext cx="9525" cy="4453086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37" name="Rule limitations" descr="s41">
            <a:extLst>
              <a:ext uri="{FF2B5EF4-FFF2-40B4-BE49-F238E27FC236}">
                <ns2:creationId id="{8E180FB0-3721-422A-BCBC-5AD68A642DEF}"/>
              </a:ext>
            </a:extLst>
          </p:cNvPr>
          <p:cNvSpPr>
            <a:spLocks noGrp="1"/>
          </p:cNvSpPr>
          <p:nvPr/>
        </p:nvSpPr>
        <p:spPr>
          <a:xfrm>
            <a:off x="11061353" y="24742229"/>
            <a:ext cx="9674572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grpSp>
        <p:nvGrpSpPr>
          <p:cNvPr id="263" name="Conclusion"/>
          <p:cNvGrpSpPr/>
          <p:nvPr/>
        </p:nvGrpSpPr>
        <p:grpSpPr>
          <a:xfrm>
            <a:off x="647998" y="26439168"/>
            <a:ext cx="20087927" cy="1821507"/>
            <a:chOff x="647998" y="26439168"/>
            <a:chExt cx="20087927" cy="1821507"/>
          </a:xfrm>
        </p:grpSpPr>
        <p:sp>
          <p:nvSpPr>
            <p:cNvPr id="38" name="Panel conclusion" descr="s42">
              <a:extLst>
                <a:ext uri="{FF2B5EF4-FFF2-40B4-BE49-F238E27FC236}">
                  <ns2:creationId id="{BB8A1C05-9726-4FD3-92E5-C510AAF74B64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26439168"/>
              <a:ext cx="20087927" cy="1821507"/>
            </a:xfrm>
            <a:prstGeom prst="rect">
              <a:avLst/>
            </a:prstGeom>
            <a:solidFill>
              <a:srgbClr val="07568A"/>
            </a:solidFill>
            <a:ln w="0">
              <a:noFill/>
            </a:ln>
          </p:spPr>
        </p:sp>
        <p:sp>
          <p:nvSpPr>
            <p:cNvPr id="111" name="Conclusion" descr="s110">
              <a:extLst>
                <a:ext uri="{FF2B5EF4-FFF2-40B4-BE49-F238E27FC236}">
                  <ns2:creationId id="{82F6DD32-2C6E-432A-B507-7E83C9245330}"/>
                </a:ext>
              </a:extLst>
            </p:cNvPr>
            <p:cNvSpPr>
              <a:spLocks noGrp="1"/>
            </p:cNvSpPr>
            <p:nvPr/>
          </p:nvSpPr>
          <p:spPr>
            <a:xfrm>
              <a:off x="827931" y="26544984"/>
              <a:ext cx="19756636" cy="4476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00" b="1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Conclusion</a:t>
              </a:r>
              <a:endParaRPr lang="en-GB" sz="2600"/>
            </a:p>
          </p:txBody>
        </p:sp>
        <p:sp>
          <p:nvSpPr>
            <p:cNvPr id="112" name="Legal RAG should be designed as a multi-stage pipeline: OCR improves robustness to unreadable PDFs, " descr="s111">
              <a:extLst>
                <a:ext uri="{FF2B5EF4-FFF2-40B4-BE49-F238E27FC236}">
                  <ns2:creationId id="{BCD4DABD-DB7C-4A25-92DC-7E498D9DC799}"/>
                </a:ext>
              </a:extLst>
            </p:cNvPr>
            <p:cNvSpPr>
              <a:spLocks noGrp="1"/>
            </p:cNvSpPr>
            <p:nvPr/>
          </p:nvSpPr>
          <p:spPr>
            <a:xfrm>
              <a:off x="827931" y="27009477"/>
              <a:ext cx="19756636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Legal RAG should be designed as a multi-stage pipeline: OCR improves robustness to unreadable PDFs, hybrid retrieval and reranking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improve answer quality, and post-answer citation selection improves citation precision. However, citation selection introduces a precision–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recall trade-off, so answer quality and citation quality should be optimized and evaluated separately.</a:t>
              </a:r>
              <a:endParaRPr lang="en-GB" sz="2400"/>
            </a:p>
          </p:txBody>
        </p:sp>
      </p:grpSp>
      <p:sp>
        <p:nvSpPr>
          <p:cNvPr id="39" name="Rule " descr="s43">
            <a:extLst>
              <a:ext uri="{FF2B5EF4-FFF2-40B4-BE49-F238E27FC236}">
                <ns2:creationId id="{D62303CF-1488-44CA-ADC0-CDC26F38997D}"/>
              </a:ext>
            </a:extLst>
          </p:cNvPr>
          <p:cNvSpPr>
            <a:spLocks noGrp="1"/>
          </p:cNvSpPr>
          <p:nvPr/>
        </p:nvSpPr>
        <p:spPr>
          <a:xfrm>
            <a:off x="647998" y="28368575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45" name="Building Legal RAG:&#10;what each component contributes" descr="s44">
            <a:extLst>
              <a:ext uri="{FF2B5EF4-FFF2-40B4-BE49-F238E27FC236}">
                <ns2:creationId id="{F1719E6C-BBFA-4856-B299-D9F5EC02D18D}"/>
              </a:ext>
            </a:extLst>
          </p:cNvPr>
          <p:cNvSpPr>
            <a:spLocks noGrp="1"/>
          </p:cNvSpPr>
          <p:nvPr/>
        </p:nvSpPr>
        <p:spPr>
          <a:xfrm>
            <a:off x="647998" y="273844"/>
            <a:ext cx="9628733" cy="1430387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488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00" b="1" i="0" spc="-164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4700"/>
          </a:p>
          <a:p>
            <a:pPr algn="l" marL="0" marR="0" indent="0" fontAlgn="base">
              <a:lnSpc>
                <a:spcPts val="488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00" b="1" i="0" spc="-164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4700"/>
          </a:p>
        </p:txBody>
      </p:sp>
      <p:sp>
        <p:nvSpPr>
          <p:cNvPr id="46" name="01" descr="s45">
            <a:extLst>
              <a:ext uri="{FF2B5EF4-FFF2-40B4-BE49-F238E27FC236}">
                <ns2:creationId id="{A373BC35-12CB-40C3-BEB2-F7E8E432DF03}"/>
              </a:ext>
            </a:extLst>
          </p:cNvPr>
          <p:cNvSpPr>
            <a:spLocks noGrp="1"/>
          </p:cNvSpPr>
          <p:nvPr/>
        </p:nvSpPr>
        <p:spPr>
          <a:xfrm>
            <a:off x="647998" y="1863477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47" name="CONTEXT AND HYPOTHESIS" descr="s46">
            <a:extLst>
              <a:ext uri="{FF2B5EF4-FFF2-40B4-BE49-F238E27FC236}">
                <ns2:creationId id="{51959C32-0B16-4F3D-8930-0E4B475227A3}"/>
              </a:ext>
            </a:extLst>
          </p:cNvPr>
          <p:cNvSpPr>
            <a:spLocks noGrp="1"/>
          </p:cNvSpPr>
          <p:nvPr/>
        </p:nvSpPr>
        <p:spPr>
          <a:xfrm>
            <a:off x="1169640" y="1826121"/>
            <a:ext cx="561573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  <a:endParaRPr lang="en-GB" sz="3100"/>
          </a:p>
        </p:txBody>
      </p:sp>
      <p:sp>
        <p:nvSpPr>
          <p:cNvPr id="48" name="Retrieval-augmented generation (RAG) grounds language-model answers in external documents [1]. Legal" descr="s47">
            <a:extLst>
              <a:ext uri="{FF2B5EF4-FFF2-40B4-BE49-F238E27FC236}">
                <ns2:creationId id="{AF853A66-D850-4DB4-99D8-C7A36E6A42E0}"/>
              </a:ext>
            </a:extLst>
          </p:cNvPr>
          <p:cNvSpPr>
            <a:spLocks noGrp="1"/>
          </p:cNvSpPr>
          <p:nvPr/>
        </p:nvSpPr>
        <p:spPr>
          <a:xfrm>
            <a:off x="647998" y="2408039"/>
            <a:ext cx="20116502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  <a:endParaRPr lang="en-GB" sz="2400"/>
          </a:p>
        </p:txBody>
      </p:sp>
      <p:sp>
        <p:nvSpPr>
          <p:cNvPr id="49" name="How can a legal RAG pipeline improve answer quality&#10;while keeping source-page citations both precise" descr="s48">
            <a:extLst>
              <a:ext uri="{FF2B5EF4-FFF2-40B4-BE49-F238E27FC236}">
                <ns2:creationId id="{2CC49430-FDB3-4875-A212-38A1760A31C8}"/>
              </a:ext>
            </a:extLst>
          </p:cNvPr>
          <p:cNvSpPr>
            <a:spLocks noGrp="1"/>
          </p:cNvSpPr>
          <p:nvPr/>
        </p:nvSpPr>
        <p:spPr>
          <a:xfrm>
            <a:off x="647998" y="3585121"/>
            <a:ext cx="20116502" cy="90532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i="0" spc="0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  <a:endParaRPr lang="en-GB" sz="2800"/>
          </a:p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i="0" spc="0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  <a:endParaRPr lang="en-GB" sz="2800"/>
          </a:p>
        </p:txBody>
      </p:sp>
      <p:sp>
        <p:nvSpPr>
          <p:cNvPr id="56" name="02" descr="s55">
            <a:extLst>
              <a:ext uri="{FF2B5EF4-FFF2-40B4-BE49-F238E27FC236}">
                <ns2:creationId id="{1DE75036-14C8-42AE-BB16-AF8687EEE40E}"/>
              </a:ext>
            </a:extLst>
          </p:cNvPr>
          <p:cNvSpPr>
            <a:spLocks noGrp="1"/>
          </p:cNvSpPr>
          <p:nvPr/>
        </p:nvSpPr>
        <p:spPr>
          <a:xfrm>
            <a:off x="647998" y="6656487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57" name="METHODOLOGY" descr="s56">
            <a:extLst>
              <a:ext uri="{FF2B5EF4-FFF2-40B4-BE49-F238E27FC236}">
                <ns2:creationId id="{D308236E-F5AC-4A6E-B912-5A1512D297C2}"/>
              </a:ext>
            </a:extLst>
          </p:cNvPr>
          <p:cNvSpPr>
            <a:spLocks noGrp="1"/>
          </p:cNvSpPr>
          <p:nvPr/>
        </p:nvSpPr>
        <p:spPr>
          <a:xfrm>
            <a:off x="1169640" y="6619131"/>
            <a:ext cx="324445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58" name="Data: 30 DIFC legal PDFs (590 pages), 100 questions: 70 structured-answer and 30 free-text. Referenc" descr="s57">
            <a:extLst>
              <a:ext uri="{FF2B5EF4-FFF2-40B4-BE49-F238E27FC236}">
                <ns2:creationId id="{16221B99-E068-42CF-9063-D9077B51740D}"/>
              </a:ext>
            </a:extLst>
          </p:cNvPr>
          <p:cNvSpPr>
            <a:spLocks noGrp="1"/>
          </p:cNvSpPr>
          <p:nvPr/>
        </p:nvSpPr>
        <p:spPr>
          <a:xfrm>
            <a:off x="647998" y="7201049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  <a:endParaRPr lang="en-GB" sz="2400"/>
          </a:p>
        </p:txBody>
      </p:sp>
      <p:sp>
        <p:nvSpPr>
          <p:cNvPr id="67" name="DOCUMENT PROCESSING" descr="s66">
            <a:extLst>
              <a:ext uri="{FF2B5EF4-FFF2-40B4-BE49-F238E27FC236}">
                <ns2:creationId id="{85ABD932-F3B7-4678-AEE0-C6A7F4EF9DF4}"/>
              </a:ext>
            </a:extLst>
          </p:cNvPr>
          <p:cNvSpPr>
            <a:spLocks noGrp="1"/>
          </p:cNvSpPr>
          <p:nvPr/>
        </p:nvSpPr>
        <p:spPr>
          <a:xfrm>
            <a:off x="2038499" y="9485709"/>
            <a:ext cx="37995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3186bd"/>
                </a:solidFill>
                <a:latin typeface="Noto Sans"/>
                <a:ea typeface="Noto Sans"/>
                <a:cs typeface="Noto Sans"/>
              </a:rPr>
              <a:t>DOCUMENT PROCESSING</a:t>
            </a:r>
            <a:endParaRPr lang="en-GB" sz="2400"/>
          </a:p>
        </p:txBody>
      </p:sp>
      <p:sp>
        <p:nvSpPr>
          <p:cNvPr id="68" name="RETRIEVAL" descr="s67">
            <a:extLst>
              <a:ext uri="{FF2B5EF4-FFF2-40B4-BE49-F238E27FC236}">
                <ns2:creationId id="{74E317CD-E38F-487C-B03E-64CC4ADEE875}"/>
              </a:ext>
            </a:extLst>
          </p:cNvPr>
          <p:cNvSpPr>
            <a:spLocks noGrp="1"/>
          </p:cNvSpPr>
          <p:nvPr/>
        </p:nvSpPr>
        <p:spPr>
          <a:xfrm>
            <a:off x="9890373" y="9485709"/>
            <a:ext cx="163160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4b8a42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400"/>
          </a:p>
        </p:txBody>
      </p:sp>
      <p:sp>
        <p:nvSpPr>
          <p:cNvPr id="69" name="ANSWERING" descr="s68">
            <a:extLst>
              <a:ext uri="{FF2B5EF4-FFF2-40B4-BE49-F238E27FC236}">
                <ns2:creationId id="{634ABCF0-9232-4EC6-B58F-4CA6958D5A7A}"/>
              </a:ext>
            </a:extLst>
          </p:cNvPr>
          <p:cNvSpPr>
            <a:spLocks noGrp="1"/>
          </p:cNvSpPr>
          <p:nvPr/>
        </p:nvSpPr>
        <p:spPr>
          <a:xfrm>
            <a:off x="14828341" y="9485709"/>
            <a:ext cx="1907679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b96734"/>
                </a:solidFill>
                <a:latin typeface="Noto Sans"/>
                <a:ea typeface="Noto Sans"/>
                <a:cs typeface="Noto Sans"/>
              </a:rPr>
              <a:t>ANSWERING</a:t>
            </a:r>
            <a:endParaRPr lang="en-GB" sz="2400"/>
          </a:p>
        </p:txBody>
      </p:sp>
      <p:sp>
        <p:nvSpPr>
          <p:cNvPr id="70" name="CITATIONS" descr="s69">
            <a:extLst>
              <a:ext uri="{FF2B5EF4-FFF2-40B4-BE49-F238E27FC236}">
                <ns2:creationId id="{36260BBF-5303-4453-BEEB-C2A1E32C47D8}"/>
              </a:ext>
            </a:extLst>
          </p:cNvPr>
          <p:cNvSpPr>
            <a:spLocks noGrp="1"/>
          </p:cNvSpPr>
          <p:nvPr/>
        </p:nvSpPr>
        <p:spPr>
          <a:xfrm>
            <a:off x="18346936" y="9485709"/>
            <a:ext cx="16383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7655b5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400"/>
          </a:p>
        </p:txBody>
      </p:sp>
      <p:sp>
        <p:nvSpPr>
          <p:cNvPr id="89" name="Each variant (R1–R6) includes all previous additions." descr="s88">
            <a:extLst>
              <a:ext uri="{FF2B5EF4-FFF2-40B4-BE49-F238E27FC236}">
                <ns2:creationId id="{D2719CA7-BABD-437C-91B1-40B6E05F45A7}"/>
              </a:ext>
            </a:extLst>
          </p:cNvPr>
          <p:cNvSpPr>
            <a:spLocks noGrp="1"/>
          </p:cNvSpPr>
          <p:nvPr/>
        </p:nvSpPr>
        <p:spPr>
          <a:xfrm>
            <a:off x="6776293" y="14048036"/>
            <a:ext cx="19900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variant (R1–R6) includes all previous additions.</a:t>
            </a:r>
            <a:endParaRPr lang="en-GB" sz="2400"/>
          </a:p>
        </p:txBody>
      </p:sp>
      <p:sp>
        <p:nvSpPr>
          <p:cNvPr id="90" name="Answer generation: A fixed GPT-5.4-mini configuration is used across variants, so changes in perform" descr="s89">
            <a:extLst>
              <a:ext uri="{FF2B5EF4-FFF2-40B4-BE49-F238E27FC236}">
                <ns2:creationId id="{FD30A321-C947-43F2-976D-F4194179A181}"/>
              </a:ext>
            </a:extLst>
          </p:cNvPr>
          <p:cNvSpPr>
            <a:spLocks noGrp="1"/>
          </p:cNvSpPr>
          <p:nvPr/>
        </p:nvSpPr>
        <p:spPr>
          <a:xfrm>
            <a:off x="647998" y="14668798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Answer generation:</a:t>
            </a: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A fixed GPT-5.4-mini configuration is used across variants, so changes in performance reflect modifications to the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surrounding pipeline rather than a change of the generating LLM.</a:t>
            </a:r>
            <a:endParaRPr lang="en-GB" sz="2400"/>
          </a:p>
        </p:txBody>
      </p:sp>
      <p:sp>
        <p:nvSpPr>
          <p:cNvPr id="91" name="Answer quality" descr="s90">
            <a:extLst>
              <a:ext uri="{FF2B5EF4-FFF2-40B4-BE49-F238E27FC236}">
                <ns2:creationId id="{8FFC7C07-CD38-4B7B-90FB-596362F21633}"/>
              </a:ext>
            </a:extLst>
          </p:cNvPr>
          <p:cNvSpPr>
            <a:spLocks noGrp="1"/>
          </p:cNvSpPr>
          <p:nvPr/>
        </p:nvSpPr>
        <p:spPr>
          <a:xfrm>
            <a:off x="647998" y="15558195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quality</a:t>
            </a:r>
            <a:endParaRPr lang="en-GB" sz="2500"/>
          </a:p>
        </p:txBody>
      </p:sp>
      <p:sp>
        <p:nvSpPr>
          <p:cNvPr id="92" name="Is the generated answer correct?" descr="s91">
            <a:extLst>
              <a:ext uri="{FF2B5EF4-FFF2-40B4-BE49-F238E27FC236}">
                <ns2:creationId id="{0DD1EA8B-34AD-4D16-947F-80B732283F9A}"/>
              </a:ext>
            </a:extLst>
          </p:cNvPr>
          <p:cNvSpPr>
            <a:spLocks noGrp="1"/>
          </p:cNvSpPr>
          <p:nvPr/>
        </p:nvSpPr>
        <p:spPr>
          <a:xfrm>
            <a:off x="647998" y="1598979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Is the generated answer correct?</a:t>
            </a:r>
            <a:endParaRPr lang="en-GB" sz="2400"/>
          </a:p>
        </p:txBody>
      </p:sp>
      <p:sp>
        <p:nvSpPr>
          <p:cNvPr id="93" name="Q = 0.7 × structured score&#10;+ 0.3 × free-text score" descr="s92">
            <a:extLst>
              <a:ext uri="{FF2B5EF4-FFF2-40B4-BE49-F238E27FC236}">
                <ns2:creationId id="{5DB7AC26-0127-44C6-A8E3-FECD77FB22BA}"/>
              </a:ext>
            </a:extLst>
          </p:cNvPr>
          <p:cNvSpPr>
            <a:spLocks noGrp="1"/>
          </p:cNvSpPr>
          <p:nvPr/>
        </p:nvSpPr>
        <p:spPr>
          <a:xfrm>
            <a:off x="647998" y="16403241"/>
            <a:ext cx="6532513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structured score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+ 0.3 × free-text score</a:t>
            </a:r>
            <a:endParaRPr lang="en-GB" sz="2400"/>
          </a:p>
        </p:txBody>
      </p:sp>
      <p:sp>
        <p:nvSpPr>
          <p:cNvPr id="94" name="Citation precision" descr="s93">
            <a:extLst>
              <a:ext uri="{FF2B5EF4-FFF2-40B4-BE49-F238E27FC236}">
                <ns2:creationId id="{467F153F-4530-473A-BD94-3E04961E50B6}"/>
              </a:ext>
            </a:extLst>
          </p:cNvPr>
          <p:cNvSpPr>
            <a:spLocks noGrp="1"/>
          </p:cNvSpPr>
          <p:nvPr/>
        </p:nvSpPr>
        <p:spPr>
          <a:xfrm>
            <a:off x="7439918" y="15558195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precision</a:t>
            </a:r>
            <a:endParaRPr lang="en-GB" sz="2500"/>
          </a:p>
        </p:txBody>
      </p:sp>
      <p:sp>
        <p:nvSpPr>
          <p:cNvPr id="95" name="Are the cited pages actually relevant?" descr="s94">
            <a:extLst>
              <a:ext uri="{FF2B5EF4-FFF2-40B4-BE49-F238E27FC236}">
                <ns2:creationId id="{9ECE00F5-F282-4DBF-8C9B-FC0671A55116}"/>
              </a:ext>
            </a:extLst>
          </p:cNvPr>
          <p:cNvSpPr>
            <a:spLocks noGrp="1"/>
          </p:cNvSpPr>
          <p:nvPr/>
        </p:nvSpPr>
        <p:spPr>
          <a:xfrm>
            <a:off x="7439918" y="1598979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Are the cited pages actually relevant?</a:t>
            </a:r>
            <a:endParaRPr lang="en-GB" sz="2400"/>
          </a:p>
        </p:txBody>
      </p:sp>
      <p:sp>
        <p:nvSpPr>
          <p:cNvPr id="96" name="Share of cited pages that support the answer." descr="s95">
            <a:extLst>
              <a:ext uri="{FF2B5EF4-FFF2-40B4-BE49-F238E27FC236}">
                <ns2:creationId id="{077EBC3D-8054-4107-A1A7-0325DBC62BBE}"/>
              </a:ext>
            </a:extLst>
          </p:cNvPr>
          <p:cNvSpPr>
            <a:spLocks noGrp="1"/>
          </p:cNvSpPr>
          <p:nvPr/>
        </p:nvSpPr>
        <p:spPr>
          <a:xfrm>
            <a:off x="7439918" y="16403241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cited pages that support the answer.</a:t>
            </a:r>
            <a:endParaRPr lang="en-GB" sz="2400"/>
          </a:p>
        </p:txBody>
      </p:sp>
      <p:sp>
        <p:nvSpPr>
          <p:cNvPr id="97" name="Citation recall" descr="s96">
            <a:extLst>
              <a:ext uri="{FF2B5EF4-FFF2-40B4-BE49-F238E27FC236}">
                <ns2:creationId id="{E3E36B9F-52EA-4E53-8000-2A4F1DAC1AC4}"/>
              </a:ext>
            </a:extLst>
          </p:cNvPr>
          <p:cNvSpPr>
            <a:spLocks noGrp="1"/>
          </p:cNvSpPr>
          <p:nvPr/>
        </p:nvSpPr>
        <p:spPr>
          <a:xfrm>
            <a:off x="14231838" y="15558195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recall</a:t>
            </a:r>
            <a:endParaRPr lang="en-GB" sz="2500"/>
          </a:p>
        </p:txBody>
      </p:sp>
      <p:sp>
        <p:nvSpPr>
          <p:cNvPr id="98" name="Did the system cite all required evidence?" descr="s97">
            <a:extLst>
              <a:ext uri="{FF2B5EF4-FFF2-40B4-BE49-F238E27FC236}">
                <ns2:creationId id="{24C00AF9-1777-497A-8926-DDDDD4D54C23}"/>
              </a:ext>
            </a:extLst>
          </p:cNvPr>
          <p:cNvSpPr>
            <a:spLocks noGrp="1"/>
          </p:cNvSpPr>
          <p:nvPr/>
        </p:nvSpPr>
        <p:spPr>
          <a:xfrm>
            <a:off x="14231838" y="1598979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Did the system cite all required evidence?</a:t>
            </a:r>
            <a:endParaRPr lang="en-GB" sz="2400"/>
          </a:p>
        </p:txBody>
      </p:sp>
      <p:sp>
        <p:nvSpPr>
          <p:cNvPr id="99" name="Share of annotated supporting pages that were cited." descr="s98">
            <a:extLst>
              <a:ext uri="{FF2B5EF4-FFF2-40B4-BE49-F238E27FC236}">
                <ns2:creationId id="{4B39AFF4-2865-44BB-A9CE-B3765EA9AC12}"/>
              </a:ext>
            </a:extLst>
          </p:cNvPr>
          <p:cNvSpPr>
            <a:spLocks noGrp="1"/>
          </p:cNvSpPr>
          <p:nvPr/>
        </p:nvSpPr>
        <p:spPr>
          <a:xfrm>
            <a:off x="14231838" y="16403241"/>
            <a:ext cx="6532513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annotated supporting pages that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were cited.</a:t>
            </a:r>
            <a:endParaRPr lang="en-GB" sz="2400"/>
          </a:p>
        </p:txBody>
      </p:sp>
      <p:sp>
        <p:nvSpPr>
          <p:cNvPr id="100" name="03" descr="s99">
            <a:extLst>
              <a:ext uri="{FF2B5EF4-FFF2-40B4-BE49-F238E27FC236}">
                <ns2:creationId id="{7FA3B08A-14BC-4ADB-8A13-EB6E8D11D7D9}"/>
              </a:ext>
            </a:extLst>
          </p:cNvPr>
          <p:cNvSpPr>
            <a:spLocks noGrp="1"/>
          </p:cNvSpPr>
          <p:nvPr/>
        </p:nvSpPr>
        <p:spPr>
          <a:xfrm>
            <a:off x="647998" y="17394585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101" name="RESULTS" descr="s100">
            <a:extLst>
              <a:ext uri="{FF2B5EF4-FFF2-40B4-BE49-F238E27FC236}">
                <ns2:creationId id="{7C2382E8-8AD8-4F9C-9141-8D952210E29C}"/>
              </a:ext>
            </a:extLst>
          </p:cNvPr>
          <p:cNvSpPr>
            <a:spLocks noGrp="1"/>
          </p:cNvSpPr>
          <p:nvPr/>
        </p:nvSpPr>
        <p:spPr>
          <a:xfrm>
            <a:off x="1169640" y="17357229"/>
            <a:ext cx="17607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102" name="R0 to R6 on the mixed corpus" descr="s101">
            <a:extLst>
              <a:ext uri="{FF2B5EF4-FFF2-40B4-BE49-F238E27FC236}">
                <ns2:creationId id="{6EC9664F-FCF1-4F15-AFF3-35C291A5E711}"/>
              </a:ext>
            </a:extLst>
          </p:cNvPr>
          <p:cNvSpPr>
            <a:spLocks noGrp="1"/>
          </p:cNvSpPr>
          <p:nvPr/>
        </p:nvSpPr>
        <p:spPr>
          <a:xfrm>
            <a:off x="16538377" y="17419141"/>
            <a:ext cx="42261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  <a:endParaRPr lang="en-GB" sz="2400"/>
          </a:p>
        </p:txBody>
      </p:sp>
      <p:sp>
        <p:nvSpPr>
          <p:cNvPr id="103" name="OCR recovers performance on scanned documents" descr="s102">
            <a:extLst>
              <a:ext uri="{FF2B5EF4-FFF2-40B4-BE49-F238E27FC236}">
                <ns2:creationId id="{D61CF0D4-09B5-4C96-9D8C-AA49E3963C6C}"/>
              </a:ext>
            </a:extLst>
          </p:cNvPr>
          <p:cNvSpPr>
            <a:spLocks noGrp="1"/>
          </p:cNvSpPr>
          <p:nvPr/>
        </p:nvSpPr>
        <p:spPr>
          <a:xfrm>
            <a:off x="647998" y="21804064"/>
            <a:ext cx="9928473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scanned documents</a:t>
            </a:r>
            <a:endParaRPr lang="en-GB" sz="2600"/>
          </a:p>
        </p:txBody>
      </p:sp>
      <p:sp>
        <p:nvSpPr>
          <p:cNvPr id="104" name="Converting 10 documents into synthetic scans reduces answer quality from 65.4% to 46.2%. OCR restore" descr="s103">
            <a:extLst>
              <a:ext uri="{FF2B5EF4-FFF2-40B4-BE49-F238E27FC236}">
                <ns2:creationId id="{257F015A-63BC-40A3-81E9-482A029E4049}"/>
              </a:ext>
            </a:extLst>
          </p:cNvPr>
          <p:cNvSpPr>
            <a:spLocks noGrp="1"/>
          </p:cNvSpPr>
          <p:nvPr/>
        </p:nvSpPr>
        <p:spPr>
          <a:xfrm>
            <a:off x="647998" y="25187970"/>
            <a:ext cx="9928473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Converting 10 documents into synthetic scans reduces answer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quality from 65.4% to 46.2%. OCR restores most of this loss, reaching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63.2%.</a:t>
            </a:r>
            <a:endParaRPr lang="en-GB" sz="2400"/>
          </a:p>
        </p:txBody>
      </p:sp>
      <p:sp>
        <p:nvSpPr>
          <p:cNvPr id="105" name="Hypothesis evaluation" descr="s104">
            <a:extLst>
              <a:ext uri="{FF2B5EF4-FFF2-40B4-BE49-F238E27FC236}">
                <ns2:creationId id="{5C338997-9639-47F0-B6C6-80F2FB394A99}"/>
              </a:ext>
            </a:extLst>
          </p:cNvPr>
          <p:cNvSpPr>
            <a:spLocks noGrp="1"/>
          </p:cNvSpPr>
          <p:nvPr/>
        </p:nvSpPr>
        <p:spPr>
          <a:xfrm>
            <a:off x="11061353" y="21804064"/>
            <a:ext cx="9703147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  <a:endParaRPr lang="en-GB" sz="2600"/>
          </a:p>
        </p:txBody>
      </p:sp>
      <p:sp>
        <p:nvSpPr>
          <p:cNvPr id="106" name="H1 · Partially supported. Multiple scales alone reduce Q; lexical retrieval and reranking improve Q " descr="s105">
            <a:extLst>
              <a:ext uri="{FF2B5EF4-FFF2-40B4-BE49-F238E27FC236}">
                <ns2:creationId id="{F39A6DAE-2FB6-4031-AB84-819724340A76}"/>
              </a:ext>
            </a:extLst>
          </p:cNvPr>
          <p:cNvSpPr>
            <a:spLocks noGrp="1"/>
          </p:cNvSpPr>
          <p:nvPr/>
        </p:nvSpPr>
        <p:spPr>
          <a:xfrm>
            <a:off x="11061353" y="22268557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  <a:endParaRPr lang="en-GB" sz="2400"/>
          </a:p>
        </p:txBody>
      </p:sp>
      <p:sp>
        <p:nvSpPr>
          <p:cNvPr id="107" name="H2 · Supported. OCR restores most of the loss caused by removing the text layer." descr="s106">
            <a:extLst>
              <a:ext uri="{FF2B5EF4-FFF2-40B4-BE49-F238E27FC236}">
                <ns2:creationId id="{4CEF9053-B898-43BE-BC47-F807042143D0}"/>
              </a:ext>
            </a:extLst>
          </p:cNvPr>
          <p:cNvSpPr>
            <a:spLocks noGrp="1"/>
          </p:cNvSpPr>
          <p:nvPr/>
        </p:nvSpPr>
        <p:spPr>
          <a:xfrm>
            <a:off x="11061353" y="23077587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OCR restores most of the loss caused by removing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text layer.</a:t>
            </a:r>
            <a:endParaRPr lang="en-GB" sz="2400"/>
          </a:p>
        </p:txBody>
      </p:sp>
      <p:sp>
        <p:nvSpPr>
          <p:cNvPr id="108" name="H3 · Supported with a trade-off. Precision rises from 27.1% to 61.8%; recall falls from 78.9% to 74." descr="s107">
            <a:extLst>
              <a:ext uri="{FF2B5EF4-FFF2-40B4-BE49-F238E27FC236}">
                <ns2:creationId id="{11DE289E-339D-4A3C-8FBC-56798B365380}"/>
              </a:ext>
            </a:extLst>
          </p:cNvPr>
          <p:cNvSpPr>
            <a:spLocks noGrp="1"/>
          </p:cNvSpPr>
          <p:nvPr/>
        </p:nvSpPr>
        <p:spPr>
          <a:xfrm>
            <a:off x="11061353" y="23886616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Precision rises from 27.1% to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61.8%; recall falls from 78.9% to 74.7% (−4.2 pp).</a:t>
            </a:r>
            <a:endParaRPr lang="en-GB" sz="2400"/>
          </a:p>
        </p:txBody>
      </p:sp>
      <p:sp>
        <p:nvSpPr>
          <p:cNvPr id="109" name="Limitations" descr="s108">
            <a:extLst>
              <a:ext uri="{FF2B5EF4-FFF2-40B4-BE49-F238E27FC236}">
                <ns2:creationId id="{4185B6B0-CF3E-41D7-8F39-C80F04D6B36A}"/>
              </a:ext>
            </a:extLst>
          </p:cNvPr>
          <p:cNvSpPr>
            <a:spLocks noGrp="1"/>
          </p:cNvSpPr>
          <p:nvPr/>
        </p:nvSpPr>
        <p:spPr>
          <a:xfrm>
            <a:off x="11061353" y="24785538"/>
            <a:ext cx="970314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Limitations</a:t>
            </a:r>
            <a:endParaRPr lang="en-GB" sz="2500"/>
          </a:p>
        </p:txBody>
      </p:sp>
      <p:sp>
        <p:nvSpPr>
          <p:cNvPr id="110" name="one DIFC corpus and 100 questions; one run per condition with no significance testing; LLM-based eva" descr="s109">
            <a:extLst>
              <a:ext uri="{FF2B5EF4-FFF2-40B4-BE49-F238E27FC236}">
                <ns2:creationId id="{2C6D78F5-EE6D-4A4E-BCE6-436FF6104147}"/>
              </a:ext>
            </a:extLst>
          </p:cNvPr>
          <p:cNvSpPr>
            <a:spLocks noGrp="1"/>
          </p:cNvSpPr>
          <p:nvPr/>
        </p:nvSpPr>
        <p:spPr>
          <a:xfrm>
            <a:off x="11061353" y="25217140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one DIFC corpus and 100 questions; one run per condition with no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significance testing; LLM-based evaluation of free-text answers.</a:t>
            </a:r>
            <a:endParaRPr lang="en-GB" sz="2400"/>
          </a:p>
        </p:txBody>
      </p:sp>
      <p:sp>
        <p:nvSpPr>
          <p:cNvPr id="113" name="References: [1] Lewis et al. RAG (2020). [2] Pipitone &amp; Alami. LegalBench-RAG (2024). [3] Gao et al." descr="s112">
            <a:extLst>
              <a:ext uri="{FF2B5EF4-FFF2-40B4-BE49-F238E27FC236}">
                <ns2:creationId id="{A923E3CE-FA08-486B-BE28-8B9C9241AF01}"/>
              </a:ext>
            </a:extLst>
          </p:cNvPr>
          <p:cNvSpPr>
            <a:spLocks noGrp="1"/>
          </p:cNvSpPr>
          <p:nvPr/>
        </p:nvSpPr>
        <p:spPr>
          <a:xfrm>
            <a:off x="647998" y="2842140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0"/>
              </a:rPr>
              <a:t>[1] Lewis et al. RAG (2020).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1"/>
              </a:rPr>
              <a:t>[2] Pipitone &amp; Alami. LegalBench-RAG (2024).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2"/>
              </a:rPr>
              <a:t>[3] Gao et al. ALCE (2023).</a:t>
            </a:r>
            <a:endParaRPr lang="en-GB" sz="2400"/>
          </a:p>
        </p:txBody>
      </p:sp>
      <p:sp>
        <p:nvSpPr>
          <p:cNvPr id="114" name="Code, protocol &amp; results: github.com/SteinVR/Trends-in-NLP-Poster" descr="s113">
            <a:extLst>
              <a:ext uri="{FF2B5EF4-FFF2-40B4-BE49-F238E27FC236}">
                <ns2:creationId id="{8A273C66-F5C3-485E-8928-5E8D992287C8}"/>
              </a:ext>
            </a:extLst>
          </p:cNvPr>
          <p:cNvSpPr>
            <a:spLocks noGrp="1"/>
          </p:cNvSpPr>
          <p:nvPr/>
        </p:nvSpPr>
        <p:spPr>
          <a:xfrm>
            <a:off x="647998" y="28816846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3"/>
              </a:rPr>
              <a:t>github.com/SteinVR/Trends-in-NLP-Poster</a:t>
            </a:r>
            <a:endParaRPr lang="en-GB" sz="2400"/>
          </a:p>
        </p:txBody>
      </p:sp>
      <p:pic>
        <p:nvPicPr>
          <p:cNvPr id="252" name="Universität Trier" descr="s124"/>
          <p:cNvPicPr>
            <a:picLocks noChangeAspect="1"/>
          </p:cNvPicPr>
          <p:nvPr/>
        </p:nvPicPr>
        <p:blipFill>
          <a:blip r:embed="Rb9308b2edf2e48c8">
            <a:extLst>
              <a:ext uri="{96DAC541-7B7A-43D3-8B79-37D633B846F1}">
                <ns4:svgBlip r:embed="R6b0f474608eb4b7c"/>
              </a:ext>
            </a:extLst>
          </a:blip>
          <a:stretch/>
        </p:blipFill>
        <p:spPr>
          <a:xfrm>
            <a:off x="18072050" y="654100"/>
            <a:ext cx="2663875" cy="671364"/>
          </a:xfrm>
          <a:prstGeom prst="rect">
            <a:avLst/>
          </a:prstGeom>
        </p:spPr>
      </p:pic>
      <p:pic>
        <p:nvPicPr>
          <p:cNvPr id="253" name="Q for R0 to R6: 46.2, 63.2, 49.8, 74.6, 84.4, 84.4, 84.4%. Precision: 7.6, 11.2, 14.7, 22.2, 27.1, 27.1, 61.8%. Recall: 38.5, 61.6, 52.9, 72.7, 78.9, 78.9, 74.7%." descr="s125"/>
          <p:cNvPicPr>
            <a:picLocks noChangeAspect="1"/>
          </p:cNvPicPr>
          <p:nvPr/>
        </p:nvPicPr>
        <p:blipFill>
          <a:blip r:embed="R53241da1425c42d4">
            <a:extLst>
              <a:ext uri="{96DAC541-7B7A-43D3-8B79-37D633B846F1}">
                <ns4:svgBlip r:embed="Re39c005886774c50"/>
              </a:ext>
            </a:extLst>
          </a:blip>
          <a:stretch/>
        </p:blipFill>
        <p:spPr>
          <a:xfrm>
            <a:off x="647998" y="17967722"/>
            <a:ext cx="20087927" cy="3730526"/>
          </a:xfrm>
          <a:prstGeom prst="rect">
            <a:avLst/>
          </a:prstGeom>
        </p:spPr>
      </p:pic>
      <p:pic>
        <p:nvPicPr>
          <p:cNvPr id="254" name="Answer quality: original corpus R0 65.4%; mixed corpus R0 46.2%; mixed corpus with OCR R1 63.2%." descr="s126"/>
          <p:cNvPicPr>
            <a:picLocks noChangeAspect="1"/>
          </p:cNvPicPr>
          <p:nvPr/>
        </p:nvPicPr>
        <p:blipFill>
          <a:blip r:embed="Ra6534260277f419f">
            <a:extLst>
              <a:ext uri="{96DAC541-7B7A-43D3-8B79-37D633B846F1}">
                <ns4:svgBlip r:embed="R8d8c1640d47e41a0"/>
              </a:ext>
            </a:extLst>
          </a:blip>
          <a:stretch/>
        </p:blipFill>
        <p:spPr>
          <a:xfrm>
            <a:off x="647998" y="22333148"/>
            <a:ext cx="9899898" cy="2811512"/>
          </a:xfrm>
          <a:prstGeom prst="rect">
            <a:avLst/>
          </a:prstGeom>
        </p:spPr>
      </p:pic>
    </p:spTree>
    <p:extLst>
      <p:ext uri="{BB962C8B-B14F-4D97-AF65-F5344CB8AC3E}">
        <ns5:creationId val="882420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173248"/>
      </a:hlink>
      <a:folHlink>
        <a:srgbClr val="1732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2026-09-23T14:50:01.6000000Z</dcterms:created>
  <dcterms:modified xsi:type="dcterms:W3CDTF">2026-09-23T14:50:01.6000000Z</dcterms:modified>
</coreProperties>
</file>