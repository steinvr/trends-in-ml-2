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1b29ae9c0c4717" /><Relationship Type="http://schemas.openxmlformats.org/officeDocument/2006/relationships/extended-properties" Target="/docProps/app.xml" Id="R655034932b8044af" /><Relationship Type="http://schemas.openxmlformats.org/officeDocument/2006/relationships/officeDocument" Target="/ppt/presentation.xml" Id="R8890364fcddc42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9b3c8c35d649e2"/>
  </p:sldMasterIdLst>
  <p:notesMasterIdLst>
    <p:notesMasterId xmlns:r="http://schemas.openxmlformats.org/officeDocument/2006/relationships" r:id="R0f89b36ff8f24989"/>
  </p:notesMasterIdLst>
  <p:sldIdLst>
    <p:sldId xmlns:r="http://schemas.openxmlformats.org/officeDocument/2006/relationships" id="256" r:id="R21e64c3708b54d1c"/>
  </p:sldIdLst>
  <p:sldSz cx="2138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cb88f5ffcc4132" /><Relationship Type="http://schemas.openxmlformats.org/officeDocument/2006/relationships/slideMaster" Target="/ppt/slideMasters/slideMaster1.xml" Id="Ra29b3c8c35d649e2" /><Relationship Type="http://schemas.openxmlformats.org/officeDocument/2006/relationships/notesMaster" Target="/ppt/notesMasters/notesMaster1.xml" Id="R0f89b36ff8f24989" /><Relationship Type="http://schemas.openxmlformats.org/officeDocument/2006/relationships/presProps" Target="/ppt/presProps.xml" Id="R998d15f39b824779" /><Relationship Type="http://schemas.openxmlformats.org/officeDocument/2006/relationships/tableStyles" Target="/ppt/tableStyles.xml" Id="Rae2fdcee9d9143f7" /><Relationship Type="http://schemas.openxmlformats.org/officeDocument/2006/relationships/slide" Target="/ppt/slides/slide1.xml" Id="R21e64c3708b54d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e1c3080f644a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98708196ea4696" /><Relationship Type="http://schemas.openxmlformats.org/officeDocument/2006/relationships/notesMaster" Target="/ppt/notesMasters/notesMaster1.xml" Id="Rcb7173a9c5e541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Code, experimental protocol and measurements: https://github.com/SteinVR/Trends-in-NLP-Poster/tree/main/output/poster-narrative-3/results</a:t>
            </a:r>
          </a:p>
          <a:p xmlns:a="http://schemas.openxmlformats.org/drawingml/2006/main">
            <a:r>
              <a:t>References: https://arxiv.org/abs/2005.11401 ; https://arxiv.org/abs/2408.10343 ; https://doi.org/10.18653/v1/2023.emnlp-main.398</a:t>
            </a:r>
          </a:p>
          <a:p xmlns:a="http://schemas.openxmlformats.org/drawingml/2006/main">
            <a:r>
              <a:t>University logo: https://www.uni-trier.de/typo3conf/ext/zimktheme_unitrier/Resources/Public/Logos/Logo_Universitaet.svg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a76728e4f94f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090953d8fa437e" /><Relationship Type="http://schemas.openxmlformats.org/officeDocument/2006/relationships/slideLayout" Target="/ppt/slideLayouts/slideLayout1.xml" Id="R54f913a1e37a4e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f913a1e37a4e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98e7d5817374c44" /><ns0:Relationship Type="http://schemas.openxmlformats.org/officeDocument/2006/relationships/image" Target="/ppt/media/image.png" Id="Rbb11d97d58564192" /><ns0:Relationship Type="http://schemas.openxmlformats.org/officeDocument/2006/relationships/image" Target="/ppt/media/image.svg" Id="R5a7d9b9b50c84b68" /><ns0:Relationship Type="http://schemas.openxmlformats.org/officeDocument/2006/relationships/image" Target="/ppt/media/image2.png" Id="R6aa74a7eb61a447a" /><ns0:Relationship Type="http://schemas.openxmlformats.org/officeDocument/2006/relationships/image" Target="/ppt/media/image2.svg" Id="Raaee3c1c8ba44f11" /><ns0:Relationship Type="http://schemas.openxmlformats.org/officeDocument/2006/relationships/image" Target="/ppt/media/image3.png" Id="Rce479cdfb61744a1" /><ns0:Relationship Type="http://schemas.openxmlformats.org/officeDocument/2006/relationships/image" Target="/ppt/media/image3.svg" Id="R9f094f80e4a84b8e" /><ns0:Relationship Type="http://schemas.openxmlformats.org/officeDocument/2006/relationships/image" Target="/ppt/media/image4.png" Id="Raf559dfcb8014dd7" /><ns0:Relationship Type="http://schemas.openxmlformats.org/officeDocument/2006/relationships/image" Target="/ppt/media/image4.svg" Id="R275ae1238f774716" /><ns0:Relationship Type="http://schemas.openxmlformats.org/officeDocument/2006/relationships/image" Target="/ppt/media/image5.png" Id="R39111eda4bef480b" /><ns0:Relationship Type="http://schemas.openxmlformats.org/officeDocument/2006/relationships/image" Target="/ppt/media/image5.svg" Id="R93f102f460974d52" /><ns0:Relationship Type="http://schemas.openxmlformats.org/officeDocument/2006/relationships/image" Target="/ppt/media/image6.png" Id="R1e15ddca2a0048c1" /><ns0:Relationship Type="http://schemas.openxmlformats.org/officeDocument/2006/relationships/image" Target="/ppt/media/image6.svg" Id="Rbfaa36ac4ff44177" /><ns0:Relationship Type="http://schemas.openxmlformats.org/officeDocument/2006/relationships/image" Target="/ppt/media/image7.png" Id="Ra019d1299fc241b1" /><ns0:Relationship Type="http://schemas.openxmlformats.org/officeDocument/2006/relationships/image" Target="/ppt/media/image7.svg" Id="R4666c0bf051549a4" /><ns0:Relationship Type="http://schemas.openxmlformats.org/officeDocument/2006/relationships/image" Target="/ppt/media/image8.png" Id="Rb5b3450f2acf4b1e" /><ns0:Relationship Type="http://schemas.openxmlformats.org/officeDocument/2006/relationships/image" Target="/ppt/media/image8.svg" Id="R4ead615c442440c6" /><ns0:Relationship Type="http://schemas.openxmlformats.org/officeDocument/2006/relationships/image" Target="/ppt/media/image9.png" Id="Re80162a23f224867" /><ns0:Relationship Type="http://schemas.openxmlformats.org/officeDocument/2006/relationships/image" Target="/ppt/media/image9.svg" Id="R9e9b455e37a94b19" /><ns0:Relationship Type="http://schemas.openxmlformats.org/officeDocument/2006/relationships/image" Target="/ppt/media/image10.png" Id="R282fbf5980b84c98" /><ns0:Relationship Type="http://schemas.openxmlformats.org/officeDocument/2006/relationships/image" Target="/ppt/media/image10.svg" Id="R3b1a64473ef7483b" /><ns0:Relationship Type="http://schemas.openxmlformats.org/officeDocument/2006/relationships/image" Target="/ppt/media/image11.png" Id="R3fe4b41149564f9f" /><ns0:Relationship Type="http://schemas.openxmlformats.org/officeDocument/2006/relationships/image" Target="/ppt/media/image11.svg" Id="Rf1236a4fb94f4261" /><ns0:Relationship Type="http://schemas.openxmlformats.org/officeDocument/2006/relationships/image" Target="/ppt/media/image12.png" Id="R9d072343382b4c68" /><ns0:Relationship Type="http://schemas.openxmlformats.org/officeDocument/2006/relationships/image" Target="/ppt/media/image12.svg" Id="R77e10fc2e5dc4027" /><ns0:Relationship Type="http://schemas.openxmlformats.org/officeDocument/2006/relationships/image" Target="/ppt/media/image13.png" Id="Reaa21ec092334e99" /><ns0:Relationship Type="http://schemas.openxmlformats.org/officeDocument/2006/relationships/image" Target="/ppt/media/image13.svg" Id="Ra8cd6ae82be8487d" /><ns0:Relationship Type="http://schemas.openxmlformats.org/officeDocument/2006/relationships/notesSlide" Target="/ppt/notesSlides/notesSlide1.xml" Id="R67bea0288ad94dcb" /><ns0:Relationship Id="rId1000" Type="http://schemas.openxmlformats.org/officeDocument/2006/relationships/hyperlink" Target="https://arxiv.org/abs/2005.11401" TargetMode="External" /><ns0:Relationship Id="rId1001" Type="http://schemas.openxmlformats.org/officeDocument/2006/relationships/hyperlink" Target="https://arxiv.org/abs/2408.10343" TargetMode="External" /><ns0:Relationship Id="rId1002" Type="http://schemas.openxmlformats.org/officeDocument/2006/relationships/hyperlink" Target="https://doi.org/10.18653/v1/2023.emnlp-main.398" TargetMode="External" /><ns0:Relationship Id="rId1003" Type="http://schemas.openxmlformats.org/officeDocument/2006/relationships/hyperlink" Target="https://github.com/SteinVR/Trends-in-NLP-Poster" TargetMode="External" /></ns0: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drawing/2016/SVG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8" name="Rule section-title" descr="s5">
            <a:extLst>
              <a:ext uri="{FF2B5EF4-FFF2-40B4-BE49-F238E27FC236}">
                <ns2:creationId id="{C98D4CA5-6F9C-48AB-856B-143115D75913}"/>
              </a:ext>
            </a:extLst>
          </p:cNvPr>
          <p:cNvSpPr>
            <a:spLocks noGrp="1"/>
          </p:cNvSpPr>
          <p:nvPr/>
        </p:nvSpPr>
        <p:spPr>
          <a:xfrm>
            <a:off x="647998" y="1727746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grpSp>
        <p:nvGrpSpPr>
          <p:cNvPr id="255" name="H1 · Retrieval"/>
          <p:cNvGrpSpPr/>
          <p:nvPr/>
        </p:nvGrpSpPr>
        <p:grpSpPr>
          <a:xfrm>
            <a:off x="647998" y="4606230"/>
            <a:ext cx="20087927" cy="1806625"/>
            <a:chOff x="647998" y="4606230"/>
            <a:chExt cx="20087927" cy="1806625"/>
          </a:xfrm>
        </p:grpSpPr>
        <p:sp>
          <p:nvSpPr>
            <p:cNvPr id="2" name="Panel grid three hypotheses" descr="s6">
              <a:extLst>
                <a:ext uri="{FF2B5EF4-FFF2-40B4-BE49-F238E27FC236}">
                  <ns2:creationId id="{B805F7FA-65BC-4738-91DA-0EF01CB1FB24}"/>
                </a:ext>
              </a:extLst>
            </p:cNvPr>
            <p:cNvSpPr>
              <a:spLocks noGrp="1"/>
            </p:cNvSpPr>
            <p:nvPr/>
          </p:nvSpPr>
          <p:spPr>
            <a:xfrm>
              <a:off x="647998" y="4606230"/>
              <a:ext cx="20087927" cy="1806625"/>
            </a:xfrm>
            <a:prstGeom prst="rect">
              <a:avLst/>
            </a:prstGeom>
            <a:solidFill>
              <a:srgbClr val="EFF6FA"/>
            </a:solidFill>
            <a:ln w="0">
              <a:noFill/>
            </a:ln>
          </p:spPr>
        </p:sp>
        <p:sp>
          <p:nvSpPr>
            <p:cNvPr id="50" name="H1 · Retrieval" descr="s49">
              <a:extLst>
                <a:ext uri="{FF2B5EF4-FFF2-40B4-BE49-F238E27FC236}">
                  <ns2:creationId id="{5CB865A2-9218-49E2-A227-598E7EE69DD7}"/>
                </a:ext>
              </a:extLst>
            </p:cNvPr>
            <p:cNvSpPr>
              <a:spLocks noGrp="1"/>
            </p:cNvSpPr>
            <p:nvPr/>
          </p:nvSpPr>
          <p:spPr>
            <a:xfrm>
              <a:off x="827860" y="4752865"/>
              <a:ext cx="6412557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07568a"/>
                  </a:solidFill>
                  <a:latin typeface="Noto Sans"/>
                  <a:ea typeface="Noto Sans"/>
                  <a:cs typeface="Noto Sans"/>
                </a:rPr>
                <a:t>H1 · Retrieval</a:t>
              </a:r>
              <a:endParaRPr lang="en-GB" sz="2500"/>
            </a:p>
          </p:txBody>
        </p:sp>
        <p:sp>
          <p:nvSpPr>
            <p:cNvPr id="51" name="Multiple text scales, hybrid search and reranking will improve answers and evidence retrieval over R" descr="s50">
              <a:extLst>
                <a:ext uri="{FF2B5EF4-FFF2-40B4-BE49-F238E27FC236}">
                  <ns2:creationId id="{FFF0CF4B-0030-4315-994A-3652ECE5412E}"/>
                </a:ext>
              </a:extLst>
            </p:cNvPr>
            <p:cNvSpPr>
              <a:spLocks noGrp="1"/>
            </p:cNvSpPr>
            <p:nvPr/>
          </p:nvSpPr>
          <p:spPr>
            <a:xfrm>
              <a:off x="827860" y="5187578"/>
              <a:ext cx="6412557" cy="11287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3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Multiple text scales, hybrid search and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reranking will improve answers and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evidence retrieval over R0.</a:t>
              </a:r>
              <a:endParaRPr lang="en-GB" sz="2400"/>
            </a:p>
          </p:txBody>
        </p:sp>
        <p:sp>
          <p:nvSpPr>
            <p:cNvPr id="52" name="H2 · Scan robustness" descr="s51">
              <a:extLst>
                <a:ext uri="{FF2B5EF4-FFF2-40B4-BE49-F238E27FC236}">
                  <ns2:creationId id="{A8B3FB1F-CF30-4458-A986-00509947E893}"/>
                </a:ext>
              </a:extLst>
            </p:cNvPr>
            <p:cNvSpPr>
              <a:spLocks noGrp="1"/>
            </p:cNvSpPr>
            <p:nvPr/>
          </p:nvSpPr>
          <p:spPr>
            <a:xfrm>
              <a:off x="7499908" y="4752865"/>
              <a:ext cx="6412557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07568a"/>
                  </a:solidFill>
                  <a:latin typeface="Noto Sans"/>
                  <a:ea typeface="Noto Sans"/>
                  <a:cs typeface="Noto Sans"/>
                </a:rPr>
                <a:t>H2 · Scan robustness</a:t>
              </a:r>
              <a:endParaRPr lang="en-GB" sz="2500"/>
            </a:p>
          </p:txBody>
        </p:sp>
        <p:sp>
          <p:nvSpPr>
            <p:cNvPr id="53" name="Recovering text from scanned documents will reduce the performance loss caused by the missing text l" descr="s52">
              <a:extLst>
                <a:ext uri="{FF2B5EF4-FFF2-40B4-BE49-F238E27FC236}">
                  <ns2:creationId id="{960DC7E0-BBCF-4D2B-8B1F-8E27F1B3B3D3}"/>
                </a:ext>
              </a:extLst>
            </p:cNvPr>
            <p:cNvSpPr>
              <a:spLocks noGrp="1"/>
            </p:cNvSpPr>
            <p:nvPr/>
          </p:nvSpPr>
          <p:spPr>
            <a:xfrm>
              <a:off x="7499908" y="5187578"/>
              <a:ext cx="6412557" cy="11287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3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Recovering text from scanned documents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will reduce the performance loss caused by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the missing text layer.</a:t>
              </a:r>
              <a:endParaRPr lang="en-GB" sz="2400"/>
            </a:p>
          </p:txBody>
        </p:sp>
        <p:sp>
          <p:nvSpPr>
            <p:cNvPr id="54" name="H3 · Citation selection" descr="s53">
              <a:extLst>
                <a:ext uri="{FF2B5EF4-FFF2-40B4-BE49-F238E27FC236}">
                  <ns2:creationId id="{51103AAD-7438-4290-AC4F-8F64AF4753DA}"/>
                </a:ext>
              </a:extLst>
            </p:cNvPr>
            <p:cNvSpPr>
              <a:spLocks noGrp="1"/>
            </p:cNvSpPr>
            <p:nvPr/>
          </p:nvSpPr>
          <p:spPr>
            <a:xfrm>
              <a:off x="14171957" y="4752865"/>
              <a:ext cx="6412557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07568a"/>
                  </a:solidFill>
                  <a:latin typeface="Noto Sans"/>
                  <a:ea typeface="Noto Sans"/>
                  <a:cs typeface="Noto Sans"/>
                </a:rPr>
                <a:t>H3 · Citation selection</a:t>
              </a:r>
              <a:endParaRPr lang="en-GB" sz="2500"/>
            </a:p>
          </p:txBody>
        </p:sp>
        <p:sp>
          <p:nvSpPr>
            <p:cNvPr id="55" name="Selecting pages after answer generation will improve citation precision while retaining most of the " descr="s54">
              <a:extLst>
                <a:ext uri="{FF2B5EF4-FFF2-40B4-BE49-F238E27FC236}">
                  <ns2:creationId id="{12E2F399-3E29-436A-8EC4-03D66430857C}"/>
                </a:ext>
              </a:extLst>
            </p:cNvPr>
            <p:cNvSpPr>
              <a:spLocks noGrp="1"/>
            </p:cNvSpPr>
            <p:nvPr/>
          </p:nvSpPr>
          <p:spPr>
            <a:xfrm>
              <a:off x="14171957" y="5187578"/>
              <a:ext cx="6412557" cy="11287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3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Selecting pages after answer generation will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improve citation precision while retaining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most of the relevant evidence.</a:t>
              </a:r>
              <a:endParaRPr lang="en-GB" sz="2400"/>
            </a:p>
          </p:txBody>
        </p:sp>
      </p:grpSp>
      <p:sp>
        <p:nvSpPr>
          <p:cNvPr id="3" name="Rule section-title" descr="s7">
            <a:extLst>
              <a:ext uri="{FF2B5EF4-FFF2-40B4-BE49-F238E27FC236}">
                <ns2:creationId id="{51FAE926-CCE0-4664-9895-DFFB59D637F6}"/>
              </a:ext>
            </a:extLst>
          </p:cNvPr>
          <p:cNvSpPr>
            <a:spLocks noGrp="1"/>
          </p:cNvSpPr>
          <p:nvPr/>
        </p:nvSpPr>
        <p:spPr>
          <a:xfrm>
            <a:off x="647998" y="6520755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grpSp>
        <p:nvGrpSpPr>
          <p:cNvPr id="256" name="R0 · Baseline"/>
          <p:cNvGrpSpPr/>
          <p:nvPr/>
        </p:nvGrpSpPr>
        <p:grpSpPr>
          <a:xfrm>
            <a:off x="647998" y="8056662"/>
            <a:ext cx="20087927" cy="1322189"/>
            <a:chOff x="647998" y="8056662"/>
            <a:chExt cx="20087927" cy="1322189"/>
          </a:xfrm>
        </p:grpSpPr>
        <p:sp>
          <p:nvSpPr>
            <p:cNvPr id="4" name="Panel baseline-flow" descr="s8">
              <a:extLst>
                <a:ext uri="{FF2B5EF4-FFF2-40B4-BE49-F238E27FC236}">
                  <ns2:creationId id="{9CF6C73F-CD42-4D58-B72C-3C0C3D82A99F}"/>
                </a:ext>
              </a:extLst>
            </p:cNvPr>
            <p:cNvSpPr>
              <a:spLocks noGrp="1"/>
            </p:cNvSpPr>
            <p:nvPr/>
          </p:nvSpPr>
          <p:spPr>
            <a:xfrm>
              <a:off x="647998" y="8056662"/>
              <a:ext cx="20087927" cy="1322189"/>
            </a:xfrm>
            <a:prstGeom prst="roundRect">
              <a:avLst>
                <a:gd name="adj" fmla="val 8168"/>
              </a:avLst>
            </a:prstGeom>
            <a:solidFill>
              <a:srgbClr val="F0F5F8"/>
            </a:solidFill>
            <a:ln w="9525">
              <a:solidFill>
                <a:srgbClr val="C8D8E5"/>
              </a:solidFill>
            </a:ln>
          </p:spPr>
        </p:sp>
        <p:sp>
          <p:nvSpPr>
            <p:cNvPr id="59" name="R0 · Baseline" descr="s58">
              <a:extLst>
                <a:ext uri="{FF2B5EF4-FFF2-40B4-BE49-F238E27FC236}">
                  <ns2:creationId id="{9F92AB29-AE29-4C2E-BF20-DB6CCCF82056}"/>
                </a:ext>
              </a:extLst>
            </p:cNvPr>
            <p:cNvSpPr>
              <a:spLocks noGrp="1"/>
            </p:cNvSpPr>
            <p:nvPr/>
          </p:nvSpPr>
          <p:spPr>
            <a:xfrm>
              <a:off x="801521" y="8534202"/>
              <a:ext cx="2225725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07568a"/>
                  </a:solidFill>
                  <a:latin typeface="Noto Sans"/>
                  <a:ea typeface="Noto Sans"/>
                  <a:cs typeface="Noto Sans"/>
                </a:rPr>
                <a:t>R0 · Baseline</a:t>
              </a:r>
              <a:endParaRPr lang="en-GB" sz="2500"/>
            </a:p>
          </p:txBody>
        </p:sp>
        <p:sp>
          <p:nvSpPr>
            <p:cNvPr id="60" name="PDF text&#10;300-token passages" descr="s59">
              <a:extLst>
                <a:ext uri="{FF2B5EF4-FFF2-40B4-BE49-F238E27FC236}">
                  <ns2:creationId id="{9D649290-A645-4056-B7BB-A15998A01EFE}"/>
                </a:ext>
              </a:extLst>
            </p:cNvPr>
            <p:cNvSpPr>
              <a:spLocks noGrp="1"/>
            </p:cNvSpPr>
            <p:nvPr/>
          </p:nvSpPr>
          <p:spPr>
            <a:xfrm>
              <a:off x="3898733" y="8168385"/>
              <a:ext cx="2741116" cy="114642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PDF text</a:t>
              </a:r>
              <a:endParaRPr lang="en-GB" sz="2400"/>
            </a:p>
            <a:p>
              <a:pPr algn="l" marL="0" marR="0" indent="0" fontAlgn="base">
                <a:lnSpc>
                  <a:spcPts val="30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300-token</a:t>
              </a:r>
              <a:endParaRPr lang="en-GB" sz="2400"/>
            </a:p>
            <a:p>
              <a:pPr algn="l" marL="0" marR="0" indent="0" fontAlgn="base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passages</a:t>
              </a:r>
              <a:endParaRPr lang="en-GB" sz="2400"/>
            </a:p>
          </p:txBody>
        </p:sp>
        <p:sp>
          <p:nvSpPr>
            <p:cNvPr id="61" name="→" descr="s60">
              <a:extLst>
                <a:ext uri="{FF2B5EF4-FFF2-40B4-BE49-F238E27FC236}">
                  <ns2:creationId id="{193F3FFC-F263-4551-8953-0A75BE667C28}"/>
                </a:ext>
              </a:extLst>
            </p:cNvPr>
            <p:cNvSpPr>
              <a:spLocks noGrp="1"/>
            </p:cNvSpPr>
            <p:nvPr/>
          </p:nvSpPr>
          <p:spPr>
            <a:xfrm>
              <a:off x="6459200" y="8488418"/>
              <a:ext cx="396776" cy="4953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900" b="0" i="0" spc="0" kern="0" dirty="0" u="none">
                  <a:solidFill>
                    <a:srgbClr val="437caa"/>
                  </a:solidFill>
                  <a:latin typeface="Noto Sans"/>
                  <a:ea typeface="Noto Sans"/>
                  <a:cs typeface="Noto Sans"/>
                </a:rPr>
                <a:t>→</a:t>
              </a:r>
              <a:endParaRPr lang="en-GB" sz="2900"/>
            </a:p>
          </p:txBody>
        </p:sp>
        <p:sp>
          <p:nvSpPr>
            <p:cNvPr id="62" name="Semantic retrieval&#10;Qwen3-Embedding-0.6B" descr="s61">
              <a:extLst>
                <a:ext uri="{FF2B5EF4-FFF2-40B4-BE49-F238E27FC236}">
                  <ns2:creationId id="{38E3CC35-03B8-4418-91CB-D5BCF0D00F40}"/>
                </a:ext>
              </a:extLst>
            </p:cNvPr>
            <p:cNvSpPr>
              <a:spLocks noGrp="1"/>
            </p:cNvSpPr>
            <p:nvPr/>
          </p:nvSpPr>
          <p:spPr>
            <a:xfrm>
              <a:off x="7510841" y="8349207"/>
              <a:ext cx="3508921" cy="79593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Semantic retrieval</a:t>
              </a:r>
              <a:endParaRPr lang="en-GB" sz="2400"/>
            </a:p>
            <a:p>
              <a:pPr algn="l" marL="0" marR="0" indent="0" fontAlgn="base">
                <a:lnSpc>
                  <a:spcPts val="30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Qwen3-Embedding-0.6B</a:t>
              </a:r>
              <a:endParaRPr lang="en-GB" sz="2400"/>
            </a:p>
          </p:txBody>
        </p:sp>
        <p:sp>
          <p:nvSpPr>
            <p:cNvPr id="63" name="→" descr="s62">
              <a:extLst>
                <a:ext uri="{FF2B5EF4-FFF2-40B4-BE49-F238E27FC236}">
                  <ns2:creationId id="{870C6FB1-975E-40E5-9004-8CEAEBAAD979}"/>
                </a:ext>
              </a:extLst>
            </p:cNvPr>
            <p:cNvSpPr>
              <a:spLocks noGrp="1"/>
            </p:cNvSpPr>
            <p:nvPr/>
          </p:nvSpPr>
          <p:spPr>
            <a:xfrm>
              <a:off x="11299308" y="8488418"/>
              <a:ext cx="396776" cy="4953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900" b="0" i="0" spc="0" kern="0" dirty="0" u="none">
                  <a:solidFill>
                    <a:srgbClr val="437caa"/>
                  </a:solidFill>
                  <a:latin typeface="Noto Sans"/>
                  <a:ea typeface="Noto Sans"/>
                  <a:cs typeface="Noto Sans"/>
                </a:rPr>
                <a:t>→</a:t>
              </a:r>
              <a:endParaRPr lang="en-GB" sz="2900"/>
            </a:p>
          </p:txBody>
        </p:sp>
        <p:sp>
          <p:nvSpPr>
            <p:cNvPr id="64" name="Generate answer&#10;GPT-5.4-mini" descr="s63">
              <a:extLst>
                <a:ext uri="{FF2B5EF4-FFF2-40B4-BE49-F238E27FC236}">
                  <ns2:creationId id="{4462C7AC-57EE-4737-AC05-2265F2C84983}"/>
                </a:ext>
              </a:extLst>
            </p:cNvPr>
            <p:cNvSpPr>
              <a:spLocks noGrp="1"/>
            </p:cNvSpPr>
            <p:nvPr/>
          </p:nvSpPr>
          <p:spPr>
            <a:xfrm>
              <a:off x="12350949" y="8349207"/>
              <a:ext cx="2630388" cy="79593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Generate answer</a:t>
              </a:r>
              <a:endParaRPr lang="en-GB" sz="2400"/>
            </a:p>
            <a:p>
              <a:pPr algn="l" marL="0" marR="0" indent="0" fontAlgn="base">
                <a:lnSpc>
                  <a:spcPts val="30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GPT-5.4-mini</a:t>
              </a:r>
              <a:endParaRPr lang="en-GB" sz="2400"/>
            </a:p>
          </p:txBody>
        </p:sp>
        <p:sp>
          <p:nvSpPr>
            <p:cNvPr id="65" name="→" descr="s64">
              <a:extLst>
                <a:ext uri="{FF2B5EF4-FFF2-40B4-BE49-F238E27FC236}">
                  <ns2:creationId id="{88270AC9-3F34-4C4C-B0F5-B777EEAC2DCC}"/>
                </a:ext>
              </a:extLst>
            </p:cNvPr>
            <p:cNvSpPr>
              <a:spLocks noGrp="1"/>
            </p:cNvSpPr>
            <p:nvPr/>
          </p:nvSpPr>
          <p:spPr>
            <a:xfrm>
              <a:off x="15493413" y="8488418"/>
              <a:ext cx="396776" cy="4953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900" b="0" i="0" spc="0" kern="0" dirty="0" u="none">
                  <a:solidFill>
                    <a:srgbClr val="437caa"/>
                  </a:solidFill>
                  <a:latin typeface="Noto Sans"/>
                  <a:ea typeface="Noto Sans"/>
                  <a:cs typeface="Noto Sans"/>
                </a:rPr>
                <a:t>→</a:t>
              </a:r>
              <a:endParaRPr lang="en-GB" sz="2900"/>
            </a:p>
          </p:txBody>
        </p:sp>
        <p:sp>
          <p:nvSpPr>
            <p:cNvPr id="66" name="Answer + retrieved pages&#10;All context pages as citations" descr="s65">
              <a:extLst>
                <a:ext uri="{FF2B5EF4-FFF2-40B4-BE49-F238E27FC236}">
                  <ns2:creationId id="{DE8B582D-9F34-4A07-872B-AC61780BFF4F}"/>
                </a:ext>
              </a:extLst>
            </p:cNvPr>
            <p:cNvSpPr>
              <a:spLocks noGrp="1"/>
            </p:cNvSpPr>
            <p:nvPr/>
          </p:nvSpPr>
          <p:spPr>
            <a:xfrm>
              <a:off x="16545274" y="8168385"/>
              <a:ext cx="4065984" cy="114642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Answer + retrieved pages</a:t>
              </a:r>
              <a:endParaRPr lang="en-GB" sz="2400"/>
            </a:p>
            <a:p>
              <a:pPr algn="l" marL="0" marR="0" indent="0" fontAlgn="base">
                <a:lnSpc>
                  <a:spcPts val="304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All context pages as</a:t>
              </a:r>
              <a:endParaRPr lang="en-GB" sz="2400"/>
            </a:p>
            <a:p>
              <a:pPr algn="l" marL="0" marR="0" indent="0" fontAlgn="base">
                <a:lnSpc>
                  <a:spcPts val="27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citations</a:t>
              </a:r>
              <a:endParaRPr lang="en-GB" sz="2400"/>
            </a:p>
          </p:txBody>
        </p:sp>
        <p:pic>
          <p:nvPicPr>
            <p:cNvPr id="242" name="icon-file" descr="s114"/>
            <p:cNvPicPr>
              <a:picLocks noChangeAspect="1"/>
            </p:cNvPicPr>
            <p:nvPr/>
          </p:nvPicPr>
          <p:blipFill>
            <a:blip r:embed="Rbb11d97d58564192">
              <a:extLst>
                <a:ext uri="{96DAC541-7B7A-43D3-8B79-37D633B846F1}">
                  <ns4:svgBlip r:embed="R5a7d9b9b50c84b68"/>
                </a:ext>
              </a:extLst>
            </a:blip>
            <a:stretch/>
          </p:blipFill>
          <p:spPr>
            <a:xfrm>
              <a:off x="3250555" y="8447782"/>
              <a:ext cx="539948" cy="539948"/>
            </a:xfrm>
            <a:prstGeom prst="rect">
              <a:avLst/>
            </a:prstGeom>
          </p:spPr>
        </p:pic>
        <p:pic>
          <p:nvPicPr>
            <p:cNvPr id="243" name="icon-search" descr="s115"/>
            <p:cNvPicPr>
              <a:picLocks noChangeAspect="1"/>
            </p:cNvPicPr>
            <p:nvPr/>
          </p:nvPicPr>
          <p:blipFill>
            <a:blip r:embed="R6aa74a7eb61a447a">
              <a:extLst>
                <a:ext uri="{96DAC541-7B7A-43D3-8B79-37D633B846F1}">
                  <ns4:svgBlip r:embed="Raaee3c1c8ba44f11"/>
                </a:ext>
              </a:extLst>
            </a:blip>
            <a:stretch/>
          </p:blipFill>
          <p:spPr>
            <a:xfrm>
              <a:off x="6862911" y="8447633"/>
              <a:ext cx="539948" cy="539948"/>
            </a:xfrm>
            <a:prstGeom prst="rect">
              <a:avLst/>
            </a:prstGeom>
          </p:spPr>
        </p:pic>
        <p:pic>
          <p:nvPicPr>
            <p:cNvPr id="244" name="icon-answer" descr="s116"/>
            <p:cNvPicPr>
              <a:picLocks noChangeAspect="1"/>
            </p:cNvPicPr>
            <p:nvPr/>
          </p:nvPicPr>
          <p:blipFill>
            <a:blip r:embed="Rce479cdfb61744a1">
              <a:extLst>
                <a:ext uri="{96DAC541-7B7A-43D3-8B79-37D633B846F1}">
                  <ns4:svgBlip r:embed="R9f094f80e4a84b8e"/>
                </a:ext>
              </a:extLst>
            </a:blip>
            <a:stretch/>
          </p:blipFill>
          <p:spPr>
            <a:xfrm>
              <a:off x="11703248" y="8447633"/>
              <a:ext cx="539948" cy="539948"/>
            </a:xfrm>
            <a:prstGeom prst="rect">
              <a:avLst/>
            </a:prstGeom>
          </p:spPr>
        </p:pic>
        <p:pic>
          <p:nvPicPr>
            <p:cNvPr id="245" name="icon-file" descr="s117"/>
            <p:cNvPicPr>
              <a:picLocks noChangeAspect="1"/>
            </p:cNvPicPr>
            <p:nvPr/>
          </p:nvPicPr>
          <p:blipFill>
            <a:blip r:embed="Raf559dfcb8014dd7">
              <a:extLst>
                <a:ext uri="{96DAC541-7B7A-43D3-8B79-37D633B846F1}">
                  <ns4:svgBlip r:embed="R275ae1238f774716"/>
                </a:ext>
              </a:extLst>
            </a:blip>
            <a:stretch/>
          </p:blipFill>
          <p:spPr>
            <a:xfrm>
              <a:off x="15897225" y="8447782"/>
              <a:ext cx="539948" cy="539948"/>
            </a:xfrm>
            <a:prstGeom prst="rect">
              <a:avLst/>
            </a:prstGeom>
          </p:spPr>
        </p:pic>
      </p:grpSp>
      <p:sp>
        <p:nvSpPr>
          <p:cNvPr id="5" name="Rule phase doc-stage" descr="s9">
            <a:extLst>
              <a:ext uri="{FF2B5EF4-FFF2-40B4-BE49-F238E27FC236}">
                <ns2:creationId id="{C6ED16FF-E4F6-43DB-BA2B-222D6FDC400D}"/>
              </a:ext>
            </a:extLst>
          </p:cNvPr>
          <p:cNvSpPr>
            <a:spLocks noGrp="1"/>
          </p:cNvSpPr>
          <p:nvPr/>
        </p:nvSpPr>
        <p:spPr>
          <a:xfrm>
            <a:off x="647998" y="9666684"/>
            <a:ext cx="6552009" cy="9525"/>
          </a:xfrm>
          <a:prstGeom prst="rect">
            <a:avLst/>
          </a:prstGeom>
          <a:solidFill>
            <a:srgbClr val="3186BD"/>
          </a:solidFill>
          <a:ln w="0">
            <a:noFill/>
          </a:ln>
        </p:spPr>
      </p:sp>
      <p:sp>
        <p:nvSpPr>
          <p:cNvPr id="6" name="Rule phase doc-stage" descr="s10">
            <a:extLst>
              <a:ext uri="{FF2B5EF4-FFF2-40B4-BE49-F238E27FC236}">
                <ns2:creationId id="{EF635B95-AADB-45FF-B8DC-9C8585EFF5EC}"/>
              </a:ext>
            </a:extLst>
          </p:cNvPr>
          <p:cNvSpPr>
            <a:spLocks noGrp="1"/>
          </p:cNvSpPr>
          <p:nvPr/>
        </p:nvSpPr>
        <p:spPr>
          <a:xfrm>
            <a:off x="7190482" y="9666684"/>
            <a:ext cx="9525" cy="251966"/>
          </a:xfrm>
          <a:prstGeom prst="rect">
            <a:avLst/>
          </a:prstGeom>
          <a:solidFill>
            <a:srgbClr val="3186BD"/>
          </a:solidFill>
          <a:ln w="0">
            <a:noFill/>
          </a:ln>
        </p:spPr>
      </p:sp>
      <p:sp>
        <p:nvSpPr>
          <p:cNvPr id="7" name="Rule phase doc-stage" descr="s11">
            <a:extLst>
              <a:ext uri="{FF2B5EF4-FFF2-40B4-BE49-F238E27FC236}">
                <ns2:creationId id="{23BDF1E4-EF0F-47A0-BBFC-BA4E0011FA01}"/>
              </a:ext>
            </a:extLst>
          </p:cNvPr>
          <p:cNvSpPr>
            <a:spLocks noGrp="1"/>
          </p:cNvSpPr>
          <p:nvPr/>
        </p:nvSpPr>
        <p:spPr>
          <a:xfrm>
            <a:off x="647998" y="9666684"/>
            <a:ext cx="9525" cy="251966"/>
          </a:xfrm>
          <a:prstGeom prst="rect">
            <a:avLst/>
          </a:prstGeom>
          <a:solidFill>
            <a:srgbClr val="3186BD"/>
          </a:solidFill>
          <a:ln w="0">
            <a:noFill/>
          </a:ln>
        </p:spPr>
      </p:sp>
      <p:sp>
        <p:nvSpPr>
          <p:cNvPr id="8" name="Panel SPAN" descr="s12">
            <a:extLst>
              <a:ext uri="{FF2B5EF4-FFF2-40B4-BE49-F238E27FC236}">
                <ns2:creationId id="{603B0A6E-BF20-4DB2-A4F3-DE49B197FDDF}"/>
              </a:ext>
            </a:extLst>
          </p:cNvPr>
          <p:cNvSpPr>
            <a:spLocks noGrp="1"/>
          </p:cNvSpPr>
          <p:nvPr/>
        </p:nvSpPr>
        <p:spPr>
          <a:xfrm>
            <a:off x="1930598" y="9485709"/>
            <a:ext cx="3986808" cy="4095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9" name="Rule phase retrieval-stage" descr="s13">
            <a:extLst>
              <a:ext uri="{FF2B5EF4-FFF2-40B4-BE49-F238E27FC236}">
                <ns2:creationId id="{8002BAE2-9328-4CE5-9830-8470F0BEF36C}"/>
              </a:ext>
            </a:extLst>
          </p:cNvPr>
          <p:cNvSpPr>
            <a:spLocks noGrp="1"/>
          </p:cNvSpPr>
          <p:nvPr/>
        </p:nvSpPr>
        <p:spPr>
          <a:xfrm>
            <a:off x="7415957" y="9666684"/>
            <a:ext cx="6552009" cy="9525"/>
          </a:xfrm>
          <a:prstGeom prst="rect">
            <a:avLst/>
          </a:prstGeom>
          <a:solidFill>
            <a:srgbClr val="4B8A42"/>
          </a:solidFill>
          <a:ln w="0">
            <a:noFill/>
          </a:ln>
        </p:spPr>
      </p:sp>
      <p:sp>
        <p:nvSpPr>
          <p:cNvPr id="10" name="Rule phase retrieval-stage" descr="s14">
            <a:extLst>
              <a:ext uri="{FF2B5EF4-FFF2-40B4-BE49-F238E27FC236}">
                <ns2:creationId id="{7C175AB8-8B47-44D6-897C-2C93D33AD39E}"/>
              </a:ext>
            </a:extLst>
          </p:cNvPr>
          <p:cNvSpPr>
            <a:spLocks noGrp="1"/>
          </p:cNvSpPr>
          <p:nvPr/>
        </p:nvSpPr>
        <p:spPr>
          <a:xfrm>
            <a:off x="13958441" y="9666684"/>
            <a:ext cx="9525" cy="251966"/>
          </a:xfrm>
          <a:prstGeom prst="rect">
            <a:avLst/>
          </a:prstGeom>
          <a:solidFill>
            <a:srgbClr val="4B8A42"/>
          </a:solidFill>
          <a:ln w="0">
            <a:noFill/>
          </a:ln>
        </p:spPr>
      </p:sp>
      <p:sp>
        <p:nvSpPr>
          <p:cNvPr id="11" name="Rule phase retrieval-stage" descr="s15">
            <a:extLst>
              <a:ext uri="{FF2B5EF4-FFF2-40B4-BE49-F238E27FC236}">
                <ns2:creationId id="{10CD7189-792A-4B93-BBA9-626DE4D47FD7}"/>
              </a:ext>
            </a:extLst>
          </p:cNvPr>
          <p:cNvSpPr>
            <a:spLocks noGrp="1"/>
          </p:cNvSpPr>
          <p:nvPr/>
        </p:nvSpPr>
        <p:spPr>
          <a:xfrm>
            <a:off x="7415957" y="9666684"/>
            <a:ext cx="9525" cy="251966"/>
          </a:xfrm>
          <a:prstGeom prst="rect">
            <a:avLst/>
          </a:prstGeom>
          <a:solidFill>
            <a:srgbClr val="4B8A42"/>
          </a:solidFill>
          <a:ln w="0">
            <a:noFill/>
          </a:ln>
        </p:spPr>
      </p:sp>
      <p:sp>
        <p:nvSpPr>
          <p:cNvPr id="12" name="Panel SPAN" descr="s16">
            <a:extLst>
              <a:ext uri="{FF2B5EF4-FFF2-40B4-BE49-F238E27FC236}">
                <ns2:creationId id="{B0606E11-15CA-4ED6-A159-42D469232ADB}"/>
              </a:ext>
            </a:extLst>
          </p:cNvPr>
          <p:cNvSpPr>
            <a:spLocks noGrp="1"/>
          </p:cNvSpPr>
          <p:nvPr/>
        </p:nvSpPr>
        <p:spPr>
          <a:xfrm>
            <a:off x="9782473" y="9485709"/>
            <a:ext cx="1818829" cy="4095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3" name="Rule phase single answer-stage" descr="s17">
            <a:extLst>
              <a:ext uri="{FF2B5EF4-FFF2-40B4-BE49-F238E27FC236}">
                <ns2:creationId id="{06787AD1-165E-44CA-89E0-2E1CE159EBC3}"/>
              </a:ext>
            </a:extLst>
          </p:cNvPr>
          <p:cNvSpPr>
            <a:spLocks noGrp="1"/>
          </p:cNvSpPr>
          <p:nvPr/>
        </p:nvSpPr>
        <p:spPr>
          <a:xfrm>
            <a:off x="14183916" y="9666684"/>
            <a:ext cx="3167955" cy="9525"/>
          </a:xfrm>
          <a:prstGeom prst="rect">
            <a:avLst/>
          </a:prstGeom>
          <a:solidFill>
            <a:srgbClr val="B96734"/>
          </a:solidFill>
          <a:ln w="0">
            <a:noFill/>
          </a:ln>
        </p:spPr>
      </p:sp>
      <p:sp>
        <p:nvSpPr>
          <p:cNvPr id="14" name="Rule phase single answer-stage" descr="s18">
            <a:extLst>
              <a:ext uri="{FF2B5EF4-FFF2-40B4-BE49-F238E27FC236}">
                <ns2:creationId id="{902506AA-382E-4C3B-9C58-BB1F471CFD94}"/>
              </a:ext>
            </a:extLst>
          </p:cNvPr>
          <p:cNvSpPr>
            <a:spLocks noGrp="1"/>
          </p:cNvSpPr>
          <p:nvPr/>
        </p:nvSpPr>
        <p:spPr>
          <a:xfrm>
            <a:off x="17342346" y="9666684"/>
            <a:ext cx="9525" cy="251966"/>
          </a:xfrm>
          <a:prstGeom prst="rect">
            <a:avLst/>
          </a:prstGeom>
          <a:solidFill>
            <a:srgbClr val="B96734"/>
          </a:solidFill>
          <a:ln w="0">
            <a:noFill/>
          </a:ln>
        </p:spPr>
      </p:sp>
      <p:sp>
        <p:nvSpPr>
          <p:cNvPr id="15" name="Rule phase single answer-stage" descr="s19">
            <a:extLst>
              <a:ext uri="{FF2B5EF4-FFF2-40B4-BE49-F238E27FC236}">
                <ns2:creationId id="{B51BDA1B-4941-4F95-B360-DF097F4C49EC}"/>
              </a:ext>
            </a:extLst>
          </p:cNvPr>
          <p:cNvSpPr>
            <a:spLocks noGrp="1"/>
          </p:cNvSpPr>
          <p:nvPr/>
        </p:nvSpPr>
        <p:spPr>
          <a:xfrm>
            <a:off x="14183916" y="9666684"/>
            <a:ext cx="9525" cy="251966"/>
          </a:xfrm>
          <a:prstGeom prst="rect">
            <a:avLst/>
          </a:prstGeom>
          <a:solidFill>
            <a:srgbClr val="B96734"/>
          </a:solidFill>
          <a:ln w="0">
            <a:noFill/>
          </a:ln>
        </p:spPr>
      </p:sp>
      <p:sp>
        <p:nvSpPr>
          <p:cNvPr id="16" name="Panel SPAN" descr="s20">
            <a:extLst>
              <a:ext uri="{FF2B5EF4-FFF2-40B4-BE49-F238E27FC236}">
                <ns2:creationId id="{1A272C44-8025-428A-8BC6-13F2946826CD}"/>
              </a:ext>
            </a:extLst>
          </p:cNvPr>
          <p:cNvSpPr>
            <a:spLocks noGrp="1"/>
          </p:cNvSpPr>
          <p:nvPr/>
        </p:nvSpPr>
        <p:spPr>
          <a:xfrm>
            <a:off x="14720441" y="9485709"/>
            <a:ext cx="2094905" cy="4095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17" name="Rule phase single citation-stage" descr="s21">
            <a:extLst>
              <a:ext uri="{FF2B5EF4-FFF2-40B4-BE49-F238E27FC236}">
                <ns2:creationId id="{DD7B4EC9-B9EA-485E-A742-AA82A47F89C1}"/>
              </a:ext>
            </a:extLst>
          </p:cNvPr>
          <p:cNvSpPr>
            <a:spLocks noGrp="1"/>
          </p:cNvSpPr>
          <p:nvPr/>
        </p:nvSpPr>
        <p:spPr>
          <a:xfrm>
            <a:off x="17567821" y="9666684"/>
            <a:ext cx="3168104" cy="9525"/>
          </a:xfrm>
          <a:prstGeom prst="rect">
            <a:avLst/>
          </a:prstGeom>
          <a:solidFill>
            <a:srgbClr val="7655B5"/>
          </a:solidFill>
          <a:ln w="0">
            <a:noFill/>
          </a:ln>
        </p:spPr>
      </p:sp>
      <p:sp>
        <p:nvSpPr>
          <p:cNvPr id="18" name="Rule phase single citation-stage" descr="s22">
            <a:extLst>
              <a:ext uri="{FF2B5EF4-FFF2-40B4-BE49-F238E27FC236}">
                <ns2:creationId id="{09896525-F7DD-490F-8217-5426E603652B}"/>
              </a:ext>
            </a:extLst>
          </p:cNvPr>
          <p:cNvSpPr>
            <a:spLocks noGrp="1"/>
          </p:cNvSpPr>
          <p:nvPr/>
        </p:nvSpPr>
        <p:spPr>
          <a:xfrm>
            <a:off x="20726400" y="9666684"/>
            <a:ext cx="9525" cy="251966"/>
          </a:xfrm>
          <a:prstGeom prst="rect">
            <a:avLst/>
          </a:prstGeom>
          <a:solidFill>
            <a:srgbClr val="7655B5"/>
          </a:solidFill>
          <a:ln w="0">
            <a:noFill/>
          </a:ln>
        </p:spPr>
      </p:sp>
      <p:sp>
        <p:nvSpPr>
          <p:cNvPr id="19" name="Rule phase single citation-stage" descr="s23">
            <a:extLst>
              <a:ext uri="{FF2B5EF4-FFF2-40B4-BE49-F238E27FC236}">
                <ns2:creationId id="{7E69776A-18E0-4170-AB7F-7044F170C974}"/>
              </a:ext>
            </a:extLst>
          </p:cNvPr>
          <p:cNvSpPr>
            <a:spLocks noGrp="1"/>
          </p:cNvSpPr>
          <p:nvPr/>
        </p:nvSpPr>
        <p:spPr>
          <a:xfrm>
            <a:off x="17567821" y="9666684"/>
            <a:ext cx="9525" cy="251966"/>
          </a:xfrm>
          <a:prstGeom prst="rect">
            <a:avLst/>
          </a:prstGeom>
          <a:solidFill>
            <a:srgbClr val="7655B5"/>
          </a:solidFill>
          <a:ln w="0">
            <a:noFill/>
          </a:ln>
        </p:spPr>
      </p:sp>
      <p:sp>
        <p:nvSpPr>
          <p:cNvPr id="20" name="Panel SPAN" descr="s24">
            <a:extLst>
              <a:ext uri="{FF2B5EF4-FFF2-40B4-BE49-F238E27FC236}">
                <ns2:creationId id="{0DC3B05F-6097-4292-8A3C-36457CB0C341}"/>
              </a:ext>
            </a:extLst>
          </p:cNvPr>
          <p:cNvSpPr>
            <a:spLocks noGrp="1"/>
          </p:cNvSpPr>
          <p:nvPr/>
        </p:nvSpPr>
        <p:spPr>
          <a:xfrm>
            <a:off x="18239036" y="9485709"/>
            <a:ext cx="1825526" cy="40957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grpSp>
        <p:nvGrpSpPr>
          <p:cNvPr id="257" name="R1 · OCR"/>
          <p:cNvGrpSpPr/>
          <p:nvPr/>
        </p:nvGrpSpPr>
        <p:grpSpPr>
          <a:xfrm>
            <a:off x="647998" y="10026551"/>
            <a:ext cx="3366790" cy="3906292"/>
            <a:chOff x="647998" y="10026551"/>
            <a:chExt cx="3366790" cy="3906292"/>
          </a:xfrm>
        </p:grpSpPr>
        <p:sp>
          <p:nvSpPr>
            <p:cNvPr id="21" name="Panel pipeline-card doc-stage" descr="s25">
              <a:extLst>
                <a:ext uri="{FF2B5EF4-FFF2-40B4-BE49-F238E27FC236}">
                  <ns2:creationId id="{92D47625-9980-4764-8673-80634991D4AB}"/>
                </a:ext>
              </a:extLst>
            </p:cNvPr>
            <p:cNvSpPr>
              <a:spLocks noGrp="1"/>
            </p:cNvSpPr>
            <p:nvPr/>
          </p:nvSpPr>
          <p:spPr>
            <a:xfrm>
              <a:off x="647998" y="10026551"/>
              <a:ext cx="3167955" cy="3906292"/>
            </a:xfrm>
            <a:prstGeom prst="roundRect">
              <a:avLst>
                <a:gd name="adj" fmla="val 3409"/>
              </a:avLst>
            </a:prstGeom>
            <a:solidFill>
              <a:srgbClr val="EEF7FD"/>
            </a:solidFill>
            <a:ln w="9525">
              <a:solidFill>
                <a:srgbClr val="3186BD"/>
              </a:solidFill>
            </a:ln>
          </p:spPr>
        </p:sp>
        <p:sp>
          <p:nvSpPr>
            <p:cNvPr id="22" name="Panel technology" descr="s26">
              <a:extLst>
                <a:ext uri="{FF2B5EF4-FFF2-40B4-BE49-F238E27FC236}">
                  <ns2:creationId id="{795E4ABB-CDD8-41F2-A8F7-FBBAFB0B0C9C}"/>
                </a:ext>
              </a:extLst>
            </p:cNvPr>
            <p:cNvSpPr>
              <a:spLocks noGrp="1"/>
            </p:cNvSpPr>
            <p:nvPr/>
          </p:nvSpPr>
          <p:spPr>
            <a:xfrm>
              <a:off x="657523" y="12699355"/>
              <a:ext cx="3148905" cy="1223963"/>
            </a:xfrm>
            <a:prstGeom prst="roundRect">
              <a:avLst>
                <a:gd name="adj" fmla="val 7647"/>
              </a:avLst>
            </a:prstGeom>
            <a:solidFill>
              <a:srgbClr val="DCECF7"/>
            </a:solidFill>
            <a:ln w="0">
              <a:noFill/>
            </a:ln>
          </p:spPr>
        </p:sp>
        <p:sp>
          <p:nvSpPr>
            <p:cNvPr id="40" name="Pipeline arrow" descr="s0">
              <a:extLst>
                <a:ext uri="{FF2B5EF4-FFF2-40B4-BE49-F238E27FC236}">
                  <ns2:creationId id="{CAF2D0BE-9482-4C68-9E4F-D1788E9A8584}"/>
                </a:ext>
              </a:extLst>
            </p:cNvPr>
            <p:cNvSpPr>
              <a:spLocks noGrp="1"/>
            </p:cNvSpPr>
            <p:nvPr/>
          </p:nvSpPr>
          <p:spPr>
            <a:xfrm>
              <a:off x="3835003" y="11707416"/>
              <a:ext cx="179784" cy="251817"/>
            </a:xfrm>
            <a:custGeom>
              <a:pathLst>
                <a:path w="179784" h="251817">
                  <a:moveTo>
                    <a:pt x="0" y="75545"/>
                  </a:moveTo>
                  <a:lnTo>
                    <a:pt x="93488" y="75545"/>
                  </a:lnTo>
                  <a:lnTo>
                    <a:pt x="93488" y="0"/>
                  </a:lnTo>
                  <a:lnTo>
                    <a:pt x="179784" y="125909"/>
                  </a:lnTo>
                  <a:lnTo>
                    <a:pt x="93488" y="251817"/>
                  </a:lnTo>
                  <a:lnTo>
                    <a:pt x="93488" y="176272"/>
                  </a:lnTo>
                  <a:lnTo>
                    <a:pt x="0" y="176272"/>
                  </a:lnTo>
                  <a:close/>
                </a:path>
              </a:pathLst>
            </a:custGeom>
            <a:solidFill>
              <a:srgbClr val="3186BD"/>
            </a:solidFill>
            <a:ln w="0">
              <a:noFill/>
            </a:ln>
          </p:spPr>
        </p:sp>
        <p:sp>
          <p:nvSpPr>
            <p:cNvPr id="71" name="R1 · OCR" descr="s70">
              <a:extLst>
                <a:ext uri="{FF2B5EF4-FFF2-40B4-BE49-F238E27FC236}">
                  <ns2:creationId id="{EA4BE2FC-11E0-48BF-B86B-E69D3D3A44D1}"/>
                </a:ext>
              </a:extLst>
            </p:cNvPr>
            <p:cNvSpPr>
              <a:spLocks noGrp="1"/>
            </p:cNvSpPr>
            <p:nvPr/>
          </p:nvSpPr>
          <p:spPr>
            <a:xfrm>
              <a:off x="765481" y="10147227"/>
              <a:ext cx="2961680" cy="4381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R1 · OCR</a:t>
              </a:r>
              <a:endParaRPr lang="en-GB" sz="2500"/>
            </a:p>
          </p:txBody>
        </p:sp>
        <p:sp>
          <p:nvSpPr>
            <p:cNvPr id="72" name="Recover text from scanned pages" descr="s71">
              <a:extLst>
                <a:ext uri="{FF2B5EF4-FFF2-40B4-BE49-F238E27FC236}">
                  <ns2:creationId id="{45282E61-E0AD-49BC-A4FD-73B03F4460AD}"/>
                </a:ext>
              </a:extLst>
            </p:cNvPr>
            <p:cNvSpPr>
              <a:spLocks noGrp="1"/>
            </p:cNvSpPr>
            <p:nvPr/>
          </p:nvSpPr>
          <p:spPr>
            <a:xfrm>
              <a:off x="765481" y="10933976"/>
              <a:ext cx="2961680" cy="7569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Recover text from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scanned pages</a:t>
              </a:r>
              <a:endParaRPr lang="en-GB" sz="2400"/>
            </a:p>
          </p:txBody>
        </p:sp>
        <p:sp>
          <p:nvSpPr>
            <p:cNvPr id="73" name="PP-OCRv5" descr="s72">
              <a:extLst>
                <a:ext uri="{FF2B5EF4-FFF2-40B4-BE49-F238E27FC236}">
                  <ns2:creationId id="{E1C7CF2A-7600-423C-B296-17BDA8754034}"/>
                </a:ext>
              </a:extLst>
            </p:cNvPr>
            <p:cNvSpPr>
              <a:spLocks noGrp="1"/>
            </p:cNvSpPr>
            <p:nvPr/>
          </p:nvSpPr>
          <p:spPr>
            <a:xfrm>
              <a:off x="765849" y="12791571"/>
              <a:ext cx="2961480" cy="4095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PP-OCRv5</a:t>
              </a:r>
              <a:endParaRPr lang="en-GB" sz="2400"/>
            </a:p>
          </p:txBody>
        </p:sp>
        <p:pic>
          <p:nvPicPr>
            <p:cNvPr id="246" name="icon-scan" descr="s118"/>
            <p:cNvPicPr>
              <a:picLocks noChangeAspect="1"/>
            </p:cNvPicPr>
            <p:nvPr/>
          </p:nvPicPr>
          <p:blipFill>
            <a:blip r:embed="R39111eda4bef480b">
              <a:extLst>
                <a:ext uri="{96DAC541-7B7A-43D3-8B79-37D633B846F1}">
                  <ns4:svgBlip r:embed="R93f102f460974d52"/>
                </a:ext>
              </a:extLst>
            </a:blip>
            <a:stretch/>
          </p:blipFill>
          <p:spPr>
            <a:xfrm>
              <a:off x="1925985" y="12015490"/>
              <a:ext cx="611981" cy="611981"/>
            </a:xfrm>
            <a:prstGeom prst="rect">
              <a:avLst/>
            </a:prstGeom>
          </p:spPr>
        </p:pic>
      </p:grpSp>
      <p:grpSp>
        <p:nvGrpSpPr>
          <p:cNvPr id="258" name="R2 · Multiple&#10;text scales"/>
          <p:cNvGrpSpPr/>
          <p:nvPr/>
        </p:nvGrpSpPr>
        <p:grpSpPr>
          <a:xfrm>
            <a:off x="4031903" y="10026551"/>
            <a:ext cx="3367088" cy="3906292"/>
            <a:chOff x="4031903" y="10026551"/>
            <a:chExt cx="3367088" cy="3906292"/>
          </a:xfrm>
        </p:grpSpPr>
        <p:sp>
          <p:nvSpPr>
            <p:cNvPr id="23" name="Panel pipeline-card doc-stage" descr="s27">
              <a:extLst>
                <a:ext uri="{FF2B5EF4-FFF2-40B4-BE49-F238E27FC236}">
                  <ns2:creationId id="{98A73375-45FB-4602-9C49-38A933A4F78A}"/>
                </a:ext>
              </a:extLst>
            </p:cNvPr>
            <p:cNvSpPr>
              <a:spLocks noGrp="1"/>
            </p:cNvSpPr>
            <p:nvPr/>
          </p:nvSpPr>
          <p:spPr>
            <a:xfrm>
              <a:off x="4031903" y="10026551"/>
              <a:ext cx="3168104" cy="3906292"/>
            </a:xfrm>
            <a:prstGeom prst="roundRect">
              <a:avLst>
                <a:gd name="adj" fmla="val 3409"/>
              </a:avLst>
            </a:prstGeom>
            <a:solidFill>
              <a:srgbClr val="EEF7FD"/>
            </a:solidFill>
            <a:ln w="9525">
              <a:solidFill>
                <a:srgbClr val="3186BD"/>
              </a:solidFill>
            </a:ln>
          </p:spPr>
        </p:sp>
        <p:sp>
          <p:nvSpPr>
            <p:cNvPr id="24" name="Panel technology" descr="s28">
              <a:extLst>
                <a:ext uri="{FF2B5EF4-FFF2-40B4-BE49-F238E27FC236}">
                  <ns2:creationId id="{345660D1-6401-4970-8170-9F1F76FDCC8E}"/>
                </a:ext>
              </a:extLst>
            </p:cNvPr>
            <p:cNvSpPr>
              <a:spLocks noGrp="1"/>
            </p:cNvSpPr>
            <p:nvPr/>
          </p:nvSpPr>
          <p:spPr>
            <a:xfrm>
              <a:off x="4041428" y="12699355"/>
              <a:ext cx="3149054" cy="1223963"/>
            </a:xfrm>
            <a:prstGeom prst="roundRect">
              <a:avLst>
                <a:gd name="adj" fmla="val 7647"/>
              </a:avLst>
            </a:prstGeom>
            <a:solidFill>
              <a:srgbClr val="DCECF7"/>
            </a:solidFill>
            <a:ln w="0">
              <a:noFill/>
            </a:ln>
          </p:spPr>
        </p:sp>
        <p:sp>
          <p:nvSpPr>
            <p:cNvPr id="41" name="Pipeline arrow" descr="s1">
              <a:extLst>
                <a:ext uri="{FF2B5EF4-FFF2-40B4-BE49-F238E27FC236}">
                  <ns2:creationId id="{B7611814-06D8-4246-85EB-72429E45DAA4}"/>
                </a:ext>
              </a:extLst>
            </p:cNvPr>
            <p:cNvSpPr>
              <a:spLocks noGrp="1"/>
            </p:cNvSpPr>
            <p:nvPr/>
          </p:nvSpPr>
          <p:spPr>
            <a:xfrm>
              <a:off x="7219206" y="11707416"/>
              <a:ext cx="179784" cy="251817"/>
            </a:xfrm>
            <a:custGeom>
              <a:pathLst>
                <a:path w="179784" h="251817">
                  <a:moveTo>
                    <a:pt x="0" y="75545"/>
                  </a:moveTo>
                  <a:lnTo>
                    <a:pt x="93488" y="75545"/>
                  </a:lnTo>
                  <a:lnTo>
                    <a:pt x="93488" y="0"/>
                  </a:lnTo>
                  <a:lnTo>
                    <a:pt x="179784" y="125909"/>
                  </a:lnTo>
                  <a:lnTo>
                    <a:pt x="93488" y="251817"/>
                  </a:lnTo>
                  <a:lnTo>
                    <a:pt x="93488" y="176272"/>
                  </a:lnTo>
                  <a:lnTo>
                    <a:pt x="0" y="176272"/>
                  </a:lnTo>
                  <a:close/>
                </a:path>
              </a:pathLst>
            </a:custGeom>
            <a:solidFill>
              <a:srgbClr val="3186BD"/>
            </a:solidFill>
            <a:ln w="0">
              <a:noFill/>
            </a:ln>
          </p:spPr>
        </p:sp>
        <p:sp>
          <p:nvSpPr>
            <p:cNvPr id="74" name="R2 · Multiple&#10;text scales" descr="s73">
              <a:extLst>
                <a:ext uri="{FF2B5EF4-FFF2-40B4-BE49-F238E27FC236}">
                  <ns2:creationId id="{8EAC6A44-994F-4AF7-B305-27C4433C71A2}"/>
                </a:ext>
              </a:extLst>
            </p:cNvPr>
            <p:cNvSpPr>
              <a:spLocks noGrp="1"/>
            </p:cNvSpPr>
            <p:nvPr/>
          </p:nvSpPr>
          <p:spPr>
            <a:xfrm>
              <a:off x="4149299" y="10147596"/>
              <a:ext cx="2961829" cy="79355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R2 · Multiple</a:t>
              </a:r>
              <a:endParaRPr lang="en-GB" sz="2500"/>
            </a:p>
            <a:p>
              <a:pPr algn="l" marL="0" marR="0" indent="0" fontAlgn="base">
                <a:lnSpc>
                  <a:spcPts val="279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text scales</a:t>
              </a:r>
              <a:endParaRPr lang="en-GB" sz="2500"/>
            </a:p>
          </p:txBody>
        </p:sp>
        <p:sp>
          <p:nvSpPr>
            <p:cNvPr id="75" name="Represent evidence at multiple levels" descr="s74">
              <a:extLst>
                <a:ext uri="{FF2B5EF4-FFF2-40B4-BE49-F238E27FC236}">
                  <ns2:creationId id="{764E7A44-35E1-4148-983D-7DFE612A5ED9}"/>
                </a:ext>
              </a:extLst>
            </p:cNvPr>
            <p:cNvSpPr>
              <a:spLocks noGrp="1"/>
            </p:cNvSpPr>
            <p:nvPr/>
          </p:nvSpPr>
          <p:spPr>
            <a:xfrm>
              <a:off x="4149299" y="10933976"/>
              <a:ext cx="2961829" cy="7569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Represent evidence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at multiple levels</a:t>
              </a:r>
              <a:endParaRPr lang="en-GB" sz="2400"/>
            </a:p>
          </p:txBody>
        </p:sp>
        <p:sp>
          <p:nvSpPr>
            <p:cNvPr id="76" name="Pages, sections, clauses, microchunks, tables" descr="s75">
              <a:extLst>
                <a:ext uri="{FF2B5EF4-FFF2-40B4-BE49-F238E27FC236}">
                  <ns2:creationId id="{44348144-6EAA-4302-94F4-C95A03D81456}"/>
                </a:ext>
              </a:extLst>
            </p:cNvPr>
            <p:cNvSpPr>
              <a:spLocks noGrp="1"/>
            </p:cNvSpPr>
            <p:nvPr/>
          </p:nvSpPr>
          <p:spPr>
            <a:xfrm>
              <a:off x="4149299" y="12791571"/>
              <a:ext cx="2961629" cy="11043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Pages, sections,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clauses,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microchunks, tables</a:t>
              </a:r>
              <a:endParaRPr lang="en-GB" sz="2400"/>
            </a:p>
          </p:txBody>
        </p:sp>
        <p:pic>
          <p:nvPicPr>
            <p:cNvPr id="247" name="icon-layers" descr="s119"/>
            <p:cNvPicPr>
              <a:picLocks noChangeAspect="1"/>
            </p:cNvPicPr>
            <p:nvPr/>
          </p:nvPicPr>
          <p:blipFill>
            <a:blip r:embed="R1e15ddca2a0048c1">
              <a:extLst>
                <a:ext uri="{96DAC541-7B7A-43D3-8B79-37D633B846F1}">
                  <ns4:svgBlip r:embed="Rbfaa36ac4ff44177"/>
                </a:ext>
              </a:extLst>
            </a:blip>
            <a:stretch/>
          </p:blipFill>
          <p:spPr>
            <a:xfrm>
              <a:off x="5309890" y="12015490"/>
              <a:ext cx="611981" cy="611981"/>
            </a:xfrm>
            <a:prstGeom prst="rect">
              <a:avLst/>
            </a:prstGeom>
          </p:spPr>
        </p:pic>
      </p:grpSp>
      <p:grpSp>
        <p:nvGrpSpPr>
          <p:cNvPr id="259" name="R3 · Lexical&#10;retrieval"/>
          <p:cNvGrpSpPr/>
          <p:nvPr/>
        </p:nvGrpSpPr>
        <p:grpSpPr>
          <a:xfrm>
            <a:off x="7415957" y="10026551"/>
            <a:ext cx="3366790" cy="3906292"/>
            <a:chOff x="7415957" y="10026551"/>
            <a:chExt cx="3366790" cy="3906292"/>
          </a:xfrm>
        </p:grpSpPr>
        <p:sp>
          <p:nvSpPr>
            <p:cNvPr id="25" name="Panel pipeline-card retrieval-stage" descr="s29">
              <a:extLst>
                <a:ext uri="{FF2B5EF4-FFF2-40B4-BE49-F238E27FC236}">
                  <ns2:creationId id="{5C6CEE39-C48B-456D-9B11-4E9F96B73E74}"/>
                </a:ext>
              </a:extLst>
            </p:cNvPr>
            <p:cNvSpPr>
              <a:spLocks noGrp="1"/>
            </p:cNvSpPr>
            <p:nvPr/>
          </p:nvSpPr>
          <p:spPr>
            <a:xfrm>
              <a:off x="7415957" y="10026551"/>
              <a:ext cx="3167955" cy="3906292"/>
            </a:xfrm>
            <a:prstGeom prst="roundRect">
              <a:avLst>
                <a:gd name="adj" fmla="val 3409"/>
              </a:avLst>
            </a:prstGeom>
            <a:solidFill>
              <a:srgbClr val="F1F8EF"/>
            </a:solidFill>
            <a:ln w="9525">
              <a:solidFill>
                <a:srgbClr val="4B8A42"/>
              </a:solidFill>
            </a:ln>
          </p:spPr>
        </p:sp>
        <p:sp>
          <p:nvSpPr>
            <p:cNvPr id="26" name="Panel technology" descr="s30">
              <a:extLst>
                <a:ext uri="{FF2B5EF4-FFF2-40B4-BE49-F238E27FC236}">
                  <ns2:creationId id="{F4E509E0-38AF-4AF6-BD2A-6120A1A7DE84}"/>
                </a:ext>
              </a:extLst>
            </p:cNvPr>
            <p:cNvSpPr>
              <a:spLocks noGrp="1"/>
            </p:cNvSpPr>
            <p:nvPr/>
          </p:nvSpPr>
          <p:spPr>
            <a:xfrm>
              <a:off x="7425482" y="12699355"/>
              <a:ext cx="3148905" cy="1223963"/>
            </a:xfrm>
            <a:prstGeom prst="roundRect">
              <a:avLst>
                <a:gd name="adj" fmla="val 7647"/>
              </a:avLst>
            </a:prstGeom>
            <a:solidFill>
              <a:srgbClr val="E1EFDC"/>
            </a:solidFill>
            <a:ln w="0">
              <a:noFill/>
            </a:ln>
          </p:spPr>
        </p:sp>
        <p:sp>
          <p:nvSpPr>
            <p:cNvPr id="42" name="Pipeline arrow" descr="s2">
              <a:extLst>
                <a:ext uri="{FF2B5EF4-FFF2-40B4-BE49-F238E27FC236}">
                  <ns2:creationId id="{44DDE2A0-0B4A-485C-92E4-D41966BA1A94}"/>
                </a:ext>
              </a:extLst>
            </p:cNvPr>
            <p:cNvSpPr>
              <a:spLocks noGrp="1"/>
            </p:cNvSpPr>
            <p:nvPr/>
          </p:nvSpPr>
          <p:spPr>
            <a:xfrm>
              <a:off x="10602962" y="11707416"/>
              <a:ext cx="179784" cy="251817"/>
            </a:xfrm>
            <a:custGeom>
              <a:pathLst>
                <a:path w="179784" h="251817">
                  <a:moveTo>
                    <a:pt x="0" y="75545"/>
                  </a:moveTo>
                  <a:lnTo>
                    <a:pt x="93488" y="75545"/>
                  </a:lnTo>
                  <a:lnTo>
                    <a:pt x="93488" y="0"/>
                  </a:lnTo>
                  <a:lnTo>
                    <a:pt x="179784" y="125909"/>
                  </a:lnTo>
                  <a:lnTo>
                    <a:pt x="93488" y="251817"/>
                  </a:lnTo>
                  <a:lnTo>
                    <a:pt x="93488" y="176272"/>
                  </a:lnTo>
                  <a:lnTo>
                    <a:pt x="0" y="176272"/>
                  </a:lnTo>
                  <a:close/>
                </a:path>
              </a:pathLst>
            </a:custGeom>
            <a:solidFill>
              <a:srgbClr val="4B8A42"/>
            </a:solidFill>
            <a:ln w="0">
              <a:noFill/>
            </a:ln>
          </p:spPr>
        </p:sp>
        <p:sp>
          <p:nvSpPr>
            <p:cNvPr id="77" name="R3 · Lexical&#10;retrieval" descr="s76">
              <a:extLst>
                <a:ext uri="{FF2B5EF4-FFF2-40B4-BE49-F238E27FC236}">
                  <ns2:creationId id="{651DFDC2-CE06-4E73-BDC5-17A0BED20AD3}"/>
                </a:ext>
              </a:extLst>
            </p:cNvPr>
            <p:cNvSpPr>
              <a:spLocks noGrp="1"/>
            </p:cNvSpPr>
            <p:nvPr/>
          </p:nvSpPr>
          <p:spPr>
            <a:xfrm>
              <a:off x="7533404" y="10147596"/>
              <a:ext cx="2961680" cy="79355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R3 · Lexical</a:t>
              </a:r>
              <a:endParaRPr lang="en-GB" sz="2500"/>
            </a:p>
            <a:p>
              <a:pPr algn="l" marL="0" marR="0" indent="0" fontAlgn="base">
                <a:lnSpc>
                  <a:spcPts val="279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retrieval</a:t>
              </a:r>
              <a:endParaRPr lang="en-GB" sz="2500"/>
            </a:p>
          </p:txBody>
        </p:sp>
        <p:sp>
          <p:nvSpPr>
            <p:cNvPr id="78" name="Combine semantic and exact-term search" descr="s77">
              <a:extLst>
                <a:ext uri="{FF2B5EF4-FFF2-40B4-BE49-F238E27FC236}">
                  <ns2:creationId id="{90953EA5-81CC-4080-AC51-3BB5C974978D}"/>
                </a:ext>
              </a:extLst>
            </p:cNvPr>
            <p:cNvSpPr>
              <a:spLocks noGrp="1"/>
            </p:cNvSpPr>
            <p:nvPr/>
          </p:nvSpPr>
          <p:spPr>
            <a:xfrm>
              <a:off x="7533404" y="10934333"/>
              <a:ext cx="2961680" cy="11043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Combine semantic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and exact-term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search</a:t>
              </a:r>
              <a:endParaRPr lang="en-GB" sz="2400"/>
            </a:p>
          </p:txBody>
        </p:sp>
        <p:sp>
          <p:nvSpPr>
            <p:cNvPr id="79" name="BM25 + RRF&#10;with semantic retrieval" descr="s78">
              <a:extLst>
                <a:ext uri="{FF2B5EF4-FFF2-40B4-BE49-F238E27FC236}">
                  <ns2:creationId id="{982234BE-B45E-4575-A8A9-A61AAA19ECBA}"/>
                </a:ext>
              </a:extLst>
            </p:cNvPr>
            <p:cNvSpPr>
              <a:spLocks noGrp="1"/>
            </p:cNvSpPr>
            <p:nvPr/>
          </p:nvSpPr>
          <p:spPr>
            <a:xfrm>
              <a:off x="7533759" y="12791571"/>
              <a:ext cx="2961480" cy="11043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BM25 + RRF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with semantic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retrieval</a:t>
              </a:r>
              <a:endParaRPr lang="en-GB" sz="2400"/>
            </a:p>
          </p:txBody>
        </p:sp>
        <p:pic>
          <p:nvPicPr>
            <p:cNvPr id="248" name="icon-search" descr="s120"/>
            <p:cNvPicPr>
              <a:picLocks noChangeAspect="1"/>
            </p:cNvPicPr>
            <p:nvPr/>
          </p:nvPicPr>
          <p:blipFill>
            <a:blip r:embed="Ra019d1299fc241b1">
              <a:extLst>
                <a:ext uri="{96DAC541-7B7A-43D3-8B79-37D633B846F1}">
                  <ns4:svgBlip r:embed="R4666c0bf051549a4"/>
                </a:ext>
              </a:extLst>
            </a:blip>
            <a:stretch/>
          </p:blipFill>
          <p:spPr>
            <a:xfrm>
              <a:off x="8693944" y="12015490"/>
              <a:ext cx="611981" cy="611981"/>
            </a:xfrm>
            <a:prstGeom prst="rect">
              <a:avLst/>
            </a:prstGeom>
          </p:spPr>
        </p:pic>
      </p:grpSp>
      <p:grpSp>
        <p:nvGrpSpPr>
          <p:cNvPr id="260" name="R4 · Neural&#10;reranking"/>
          <p:cNvGrpSpPr/>
          <p:nvPr/>
        </p:nvGrpSpPr>
        <p:grpSpPr>
          <a:xfrm>
            <a:off x="10799862" y="10026551"/>
            <a:ext cx="3367088" cy="3906292"/>
            <a:chOff x="10799862" y="10026551"/>
            <a:chExt cx="3367088" cy="3906292"/>
          </a:xfrm>
        </p:grpSpPr>
        <p:sp>
          <p:nvSpPr>
            <p:cNvPr id="27" name="Panel pipeline-card retrieval-stage" descr="s31">
              <a:extLst>
                <a:ext uri="{FF2B5EF4-FFF2-40B4-BE49-F238E27FC236}">
                  <ns2:creationId id="{9ECB668F-39B2-494D-ABE7-BD3C890B877B}"/>
                </a:ext>
              </a:extLst>
            </p:cNvPr>
            <p:cNvSpPr>
              <a:spLocks noGrp="1"/>
            </p:cNvSpPr>
            <p:nvPr/>
          </p:nvSpPr>
          <p:spPr>
            <a:xfrm>
              <a:off x="10799862" y="10026551"/>
              <a:ext cx="3168104" cy="3906292"/>
            </a:xfrm>
            <a:prstGeom prst="roundRect">
              <a:avLst>
                <a:gd name="adj" fmla="val 3409"/>
              </a:avLst>
            </a:prstGeom>
            <a:solidFill>
              <a:srgbClr val="F1F8EF"/>
            </a:solidFill>
            <a:ln w="9525">
              <a:solidFill>
                <a:srgbClr val="4B8A42"/>
              </a:solidFill>
            </a:ln>
          </p:spPr>
        </p:sp>
        <p:sp>
          <p:nvSpPr>
            <p:cNvPr id="28" name="Panel technology" descr="s32">
              <a:extLst>
                <a:ext uri="{FF2B5EF4-FFF2-40B4-BE49-F238E27FC236}">
                  <ns2:creationId id="{3229D76F-00F6-41D7-9F59-107AE76BDE2A}"/>
                </a:ext>
              </a:extLst>
            </p:cNvPr>
            <p:cNvSpPr>
              <a:spLocks noGrp="1"/>
            </p:cNvSpPr>
            <p:nvPr/>
          </p:nvSpPr>
          <p:spPr>
            <a:xfrm>
              <a:off x="10809387" y="12699355"/>
              <a:ext cx="3149054" cy="1223963"/>
            </a:xfrm>
            <a:prstGeom prst="roundRect">
              <a:avLst>
                <a:gd name="adj" fmla="val 7647"/>
              </a:avLst>
            </a:prstGeom>
            <a:solidFill>
              <a:srgbClr val="E1EFDC"/>
            </a:solidFill>
            <a:ln w="0">
              <a:noFill/>
            </a:ln>
          </p:spPr>
        </p:sp>
        <p:sp>
          <p:nvSpPr>
            <p:cNvPr id="43" name="Pipeline arrow" descr="s3">
              <a:extLst>
                <a:ext uri="{FF2B5EF4-FFF2-40B4-BE49-F238E27FC236}">
                  <ns2:creationId id="{B3BB62B7-F8F1-4380-9FF6-683F58A23C8A}"/>
                </a:ext>
              </a:extLst>
            </p:cNvPr>
            <p:cNvSpPr>
              <a:spLocks noGrp="1"/>
            </p:cNvSpPr>
            <p:nvPr/>
          </p:nvSpPr>
          <p:spPr>
            <a:xfrm>
              <a:off x="13987165" y="11707416"/>
              <a:ext cx="179784" cy="251817"/>
            </a:xfrm>
            <a:custGeom>
              <a:pathLst>
                <a:path w="179784" h="251817">
                  <a:moveTo>
                    <a:pt x="0" y="75545"/>
                  </a:moveTo>
                  <a:lnTo>
                    <a:pt x="93488" y="75545"/>
                  </a:lnTo>
                  <a:lnTo>
                    <a:pt x="93488" y="0"/>
                  </a:lnTo>
                  <a:lnTo>
                    <a:pt x="179784" y="125909"/>
                  </a:lnTo>
                  <a:lnTo>
                    <a:pt x="93488" y="251817"/>
                  </a:lnTo>
                  <a:lnTo>
                    <a:pt x="93488" y="176272"/>
                  </a:lnTo>
                  <a:lnTo>
                    <a:pt x="0" y="176272"/>
                  </a:lnTo>
                  <a:close/>
                </a:path>
              </a:pathLst>
            </a:custGeom>
            <a:solidFill>
              <a:srgbClr val="4B8A42"/>
            </a:solidFill>
            <a:ln w="0">
              <a:noFill/>
            </a:ln>
          </p:spPr>
        </p:sp>
        <p:sp>
          <p:nvSpPr>
            <p:cNvPr id="80" name="R4 · Neural&#10;reranking" descr="s79">
              <a:extLst>
                <a:ext uri="{FF2B5EF4-FFF2-40B4-BE49-F238E27FC236}">
                  <ns2:creationId id="{3F4F2DD6-A27B-4C94-907C-63CB8B4F0B83}"/>
                </a:ext>
              </a:extLst>
            </p:cNvPr>
            <p:cNvSpPr>
              <a:spLocks noGrp="1"/>
            </p:cNvSpPr>
            <p:nvPr/>
          </p:nvSpPr>
          <p:spPr>
            <a:xfrm>
              <a:off x="10917209" y="10147596"/>
              <a:ext cx="2961829" cy="79355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R4 · Neural</a:t>
              </a:r>
              <a:endParaRPr lang="en-GB" sz="2500"/>
            </a:p>
            <a:p>
              <a:pPr algn="l" marL="0" marR="0" indent="0" fontAlgn="base">
                <a:lnSpc>
                  <a:spcPts val="279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reranking</a:t>
              </a:r>
              <a:endParaRPr lang="en-GB" sz="2500"/>
            </a:p>
          </p:txBody>
        </p:sp>
        <p:sp>
          <p:nvSpPr>
            <p:cNvPr id="81" name="Prioritize the most relevant evidence" descr="s80">
              <a:extLst>
                <a:ext uri="{FF2B5EF4-FFF2-40B4-BE49-F238E27FC236}">
                  <ns2:creationId id="{83CBB4CB-87CE-4D84-8799-6CDF64D24AF8}"/>
                </a:ext>
              </a:extLst>
            </p:cNvPr>
            <p:cNvSpPr>
              <a:spLocks noGrp="1"/>
            </p:cNvSpPr>
            <p:nvPr/>
          </p:nvSpPr>
          <p:spPr>
            <a:xfrm>
              <a:off x="10917209" y="10933976"/>
              <a:ext cx="2961829" cy="7569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Prioritize the most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relevant evidence</a:t>
              </a:r>
              <a:endParaRPr lang="en-GB" sz="2400"/>
            </a:p>
          </p:txBody>
        </p:sp>
        <p:sp>
          <p:nvSpPr>
            <p:cNvPr id="82" name="Qwen3-&#10;Reranker-0.6B" descr="s81">
              <a:extLst>
                <a:ext uri="{FF2B5EF4-FFF2-40B4-BE49-F238E27FC236}">
                  <ns2:creationId id="{53801BE6-2C68-49C0-A13C-5A2E5DF8ED50}"/>
                </a:ext>
              </a:extLst>
            </p:cNvPr>
            <p:cNvSpPr>
              <a:spLocks noGrp="1"/>
            </p:cNvSpPr>
            <p:nvPr/>
          </p:nvSpPr>
          <p:spPr>
            <a:xfrm>
              <a:off x="10917209" y="12791216"/>
              <a:ext cx="2961629" cy="7569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Qwen3-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Reranker-0.6B</a:t>
              </a:r>
              <a:endParaRPr lang="en-GB" sz="2400"/>
            </a:p>
          </p:txBody>
        </p:sp>
        <p:pic>
          <p:nvPicPr>
            <p:cNvPr id="249" name="icon-rank" descr="s121"/>
            <p:cNvPicPr>
              <a:picLocks noChangeAspect="1"/>
            </p:cNvPicPr>
            <p:nvPr/>
          </p:nvPicPr>
          <p:blipFill>
            <a:blip r:embed="Rb5b3450f2acf4b1e">
              <a:extLst>
                <a:ext uri="{96DAC541-7B7A-43D3-8B79-37D633B846F1}">
                  <ns4:svgBlip r:embed="R4ead615c442440c6"/>
                </a:ext>
              </a:extLst>
            </a:blip>
            <a:stretch/>
          </p:blipFill>
          <p:spPr>
            <a:xfrm>
              <a:off x="12077849" y="12015490"/>
              <a:ext cx="611981" cy="611981"/>
            </a:xfrm>
            <a:prstGeom prst="rect">
              <a:avLst/>
            </a:prstGeom>
          </p:spPr>
        </p:pic>
      </p:grpSp>
      <p:grpSp>
        <p:nvGrpSpPr>
          <p:cNvPr id="261" name="R5 · Answer&#10;type checks"/>
          <p:cNvGrpSpPr/>
          <p:nvPr/>
        </p:nvGrpSpPr>
        <p:grpSpPr>
          <a:xfrm>
            <a:off x="14183916" y="10026551"/>
            <a:ext cx="3366790" cy="3906292"/>
            <a:chOff x="14183916" y="10026551"/>
            <a:chExt cx="3366790" cy="3906292"/>
          </a:xfrm>
        </p:grpSpPr>
        <p:sp>
          <p:nvSpPr>
            <p:cNvPr id="29" name="Panel pipeline-card answer-stage" descr="s33">
              <a:extLst>
                <a:ext uri="{FF2B5EF4-FFF2-40B4-BE49-F238E27FC236}">
                  <ns2:creationId id="{BF69FED9-921D-4A27-AE4C-6AEC98186677}"/>
                </a:ext>
              </a:extLst>
            </p:cNvPr>
            <p:cNvSpPr>
              <a:spLocks noGrp="1"/>
            </p:cNvSpPr>
            <p:nvPr/>
          </p:nvSpPr>
          <p:spPr>
            <a:xfrm>
              <a:off x="14183916" y="10026551"/>
              <a:ext cx="3167955" cy="3906292"/>
            </a:xfrm>
            <a:prstGeom prst="roundRect">
              <a:avLst>
                <a:gd name="adj" fmla="val 3409"/>
              </a:avLst>
            </a:prstGeom>
            <a:solidFill>
              <a:srgbClr val="FFF5ED"/>
            </a:solidFill>
            <a:ln w="9525">
              <a:solidFill>
                <a:srgbClr val="B96734"/>
              </a:solidFill>
            </a:ln>
          </p:spPr>
        </p:sp>
        <p:sp>
          <p:nvSpPr>
            <p:cNvPr id="30" name="Panel technology" descr="s34">
              <a:extLst>
                <a:ext uri="{FF2B5EF4-FFF2-40B4-BE49-F238E27FC236}">
                  <ns2:creationId id="{8AD7659D-361E-438A-ABFA-D29F8B586C17}"/>
                </a:ext>
              </a:extLst>
            </p:cNvPr>
            <p:cNvSpPr>
              <a:spLocks noGrp="1"/>
            </p:cNvSpPr>
            <p:nvPr/>
          </p:nvSpPr>
          <p:spPr>
            <a:xfrm>
              <a:off x="14193441" y="12699355"/>
              <a:ext cx="3148905" cy="1223963"/>
            </a:xfrm>
            <a:prstGeom prst="roundRect">
              <a:avLst>
                <a:gd name="adj" fmla="val 7647"/>
              </a:avLst>
            </a:prstGeom>
            <a:solidFill>
              <a:srgbClr val="FAE7D6"/>
            </a:solidFill>
            <a:ln w="0">
              <a:noFill/>
            </a:ln>
          </p:spPr>
        </p:sp>
        <p:sp>
          <p:nvSpPr>
            <p:cNvPr id="44" name="Pipeline arrow" descr="s4">
              <a:extLst>
                <a:ext uri="{FF2B5EF4-FFF2-40B4-BE49-F238E27FC236}">
                  <ns2:creationId id="{E3D78D77-EF72-4A17-A8E5-A35AB5DC40A1}"/>
                </a:ext>
              </a:extLst>
            </p:cNvPr>
            <p:cNvSpPr>
              <a:spLocks noGrp="1"/>
            </p:cNvSpPr>
            <p:nvPr/>
          </p:nvSpPr>
          <p:spPr>
            <a:xfrm>
              <a:off x="17370921" y="11707416"/>
              <a:ext cx="179784" cy="251817"/>
            </a:xfrm>
            <a:custGeom>
              <a:pathLst>
                <a:path w="179784" h="251817">
                  <a:moveTo>
                    <a:pt x="0" y="75545"/>
                  </a:moveTo>
                  <a:lnTo>
                    <a:pt x="93488" y="75545"/>
                  </a:lnTo>
                  <a:lnTo>
                    <a:pt x="93488" y="0"/>
                  </a:lnTo>
                  <a:lnTo>
                    <a:pt x="179784" y="125909"/>
                  </a:lnTo>
                  <a:lnTo>
                    <a:pt x="93488" y="251817"/>
                  </a:lnTo>
                  <a:lnTo>
                    <a:pt x="93488" y="176272"/>
                  </a:lnTo>
                  <a:lnTo>
                    <a:pt x="0" y="176272"/>
                  </a:lnTo>
                  <a:close/>
                </a:path>
              </a:pathLst>
            </a:custGeom>
            <a:solidFill>
              <a:srgbClr val="B96734"/>
            </a:solidFill>
            <a:ln w="0">
              <a:noFill/>
            </a:ln>
          </p:spPr>
        </p:sp>
        <p:sp>
          <p:nvSpPr>
            <p:cNvPr id="83" name="R5 · Answer&#10;type checks" descr="s82">
              <a:extLst>
                <a:ext uri="{FF2B5EF4-FFF2-40B4-BE49-F238E27FC236}">
                  <ns2:creationId id="{5DCC3D30-7803-4E5E-8A62-EABE3E7F2243}"/>
                </a:ext>
              </a:extLst>
            </p:cNvPr>
            <p:cNvSpPr>
              <a:spLocks noGrp="1"/>
            </p:cNvSpPr>
            <p:nvPr/>
          </p:nvSpPr>
          <p:spPr>
            <a:xfrm>
              <a:off x="14301327" y="10147596"/>
              <a:ext cx="2961680" cy="79355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R5 · Answer</a:t>
              </a:r>
              <a:endParaRPr lang="en-GB" sz="2500"/>
            </a:p>
            <a:p>
              <a:pPr algn="l" marL="0" marR="0" indent="0" fontAlgn="base">
                <a:lnSpc>
                  <a:spcPts val="279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type checks</a:t>
              </a:r>
              <a:endParaRPr lang="en-GB" sz="2500"/>
            </a:p>
          </p:txBody>
        </p:sp>
        <p:sp>
          <p:nvSpPr>
            <p:cNvPr id="84" name="Normalize and validate the answer type" descr="s83">
              <a:extLst>
                <a:ext uri="{FF2B5EF4-FFF2-40B4-BE49-F238E27FC236}">
                  <ns2:creationId id="{953A2B6E-FAB1-4A34-8811-F24D4C35EE01}"/>
                </a:ext>
              </a:extLst>
            </p:cNvPr>
            <p:cNvSpPr>
              <a:spLocks noGrp="1"/>
            </p:cNvSpPr>
            <p:nvPr/>
          </p:nvSpPr>
          <p:spPr>
            <a:xfrm>
              <a:off x="14301327" y="10934333"/>
              <a:ext cx="2961680" cy="11043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Normalize and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validate the answer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type</a:t>
              </a:r>
              <a:endParaRPr lang="en-GB" sz="2400"/>
            </a:p>
          </p:txBody>
        </p:sp>
        <p:sp>
          <p:nvSpPr>
            <p:cNvPr id="85" name="Normalization, validation and confidence checks" descr="s84">
              <a:extLst>
                <a:ext uri="{FF2B5EF4-FFF2-40B4-BE49-F238E27FC236}">
                  <ns2:creationId id="{0ED724F1-74EE-4BBA-A40E-32856FFE6874}"/>
                </a:ext>
              </a:extLst>
            </p:cNvPr>
            <p:cNvSpPr>
              <a:spLocks noGrp="1"/>
            </p:cNvSpPr>
            <p:nvPr/>
          </p:nvSpPr>
          <p:spPr>
            <a:xfrm>
              <a:off x="14301682" y="12791571"/>
              <a:ext cx="2961480" cy="11043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Normalization,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validation and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confidence checks</a:t>
              </a:r>
              <a:endParaRPr lang="en-GB" sz="2400"/>
            </a:p>
          </p:txBody>
        </p:sp>
        <p:pic>
          <p:nvPicPr>
            <p:cNvPr id="250" name="icon-check" descr="s122"/>
            <p:cNvPicPr>
              <a:picLocks noChangeAspect="1"/>
            </p:cNvPicPr>
            <p:nvPr/>
          </p:nvPicPr>
          <p:blipFill>
            <a:blip r:embed="Re80162a23f224867">
              <a:extLst>
                <a:ext uri="{96DAC541-7B7A-43D3-8B79-37D633B846F1}">
                  <ns4:svgBlip r:embed="R9e9b455e37a94b19"/>
                </a:ext>
              </a:extLst>
            </a:blip>
            <a:stretch/>
          </p:blipFill>
          <p:spPr>
            <a:xfrm>
              <a:off x="15461903" y="12015490"/>
              <a:ext cx="611981" cy="611981"/>
            </a:xfrm>
            <a:prstGeom prst="rect">
              <a:avLst/>
            </a:prstGeom>
          </p:spPr>
        </p:pic>
      </p:grpSp>
      <p:grpSp>
        <p:nvGrpSpPr>
          <p:cNvPr id="262" name="R6 · Citation&#10;selection"/>
          <p:cNvGrpSpPr/>
          <p:nvPr/>
        </p:nvGrpSpPr>
        <p:grpSpPr>
          <a:xfrm>
            <a:off x="17567821" y="10026551"/>
            <a:ext cx="3168104" cy="3906292"/>
            <a:chOff x="17567821" y="10026551"/>
            <a:chExt cx="3168104" cy="3906292"/>
          </a:xfrm>
        </p:grpSpPr>
        <p:sp>
          <p:nvSpPr>
            <p:cNvPr id="31" name="Panel pipeline-card citation-stage" descr="s35">
              <a:extLst>
                <a:ext uri="{FF2B5EF4-FFF2-40B4-BE49-F238E27FC236}">
                  <ns2:creationId id="{27285D9C-FBE1-46C3-985A-11AFC1806F19}"/>
                </a:ext>
              </a:extLst>
            </p:cNvPr>
            <p:cNvSpPr>
              <a:spLocks noGrp="1"/>
            </p:cNvSpPr>
            <p:nvPr/>
          </p:nvSpPr>
          <p:spPr>
            <a:xfrm>
              <a:off x="17567821" y="10026551"/>
              <a:ext cx="3168104" cy="3906292"/>
            </a:xfrm>
            <a:prstGeom prst="roundRect">
              <a:avLst>
                <a:gd name="adj" fmla="val 3409"/>
              </a:avLst>
            </a:prstGeom>
            <a:solidFill>
              <a:srgbClr val="F6F1FC"/>
            </a:solidFill>
            <a:ln w="9525">
              <a:solidFill>
                <a:srgbClr val="7655B5"/>
              </a:solidFill>
            </a:ln>
          </p:spPr>
        </p:sp>
        <p:sp>
          <p:nvSpPr>
            <p:cNvPr id="32" name="Panel technology" descr="s36">
              <a:extLst>
                <a:ext uri="{FF2B5EF4-FFF2-40B4-BE49-F238E27FC236}">
                  <ns2:creationId id="{E102AB87-8287-40DB-AC9E-7C33BA322A4A}"/>
                </a:ext>
              </a:extLst>
            </p:cNvPr>
            <p:cNvSpPr>
              <a:spLocks noGrp="1"/>
            </p:cNvSpPr>
            <p:nvPr/>
          </p:nvSpPr>
          <p:spPr>
            <a:xfrm>
              <a:off x="17577346" y="12699355"/>
              <a:ext cx="3149054" cy="1223963"/>
            </a:xfrm>
            <a:prstGeom prst="roundRect">
              <a:avLst>
                <a:gd name="adj" fmla="val 7647"/>
              </a:avLst>
            </a:prstGeom>
            <a:solidFill>
              <a:srgbClr val="E8DDF5"/>
            </a:solidFill>
            <a:ln w="0">
              <a:noFill/>
            </a:ln>
          </p:spPr>
        </p:sp>
        <p:sp>
          <p:nvSpPr>
            <p:cNvPr id="86" name="R6 · Citation&#10;selection" descr="s85">
              <a:extLst>
                <a:ext uri="{FF2B5EF4-FFF2-40B4-BE49-F238E27FC236}">
                  <ns2:creationId id="{EC16BAF8-11E4-4CD4-81F4-11C9B70CA11A}"/>
                </a:ext>
              </a:extLst>
            </p:cNvPr>
            <p:cNvSpPr>
              <a:spLocks noGrp="1"/>
            </p:cNvSpPr>
            <p:nvPr/>
          </p:nvSpPr>
          <p:spPr>
            <a:xfrm>
              <a:off x="17685133" y="10147596"/>
              <a:ext cx="2961829" cy="793552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R6 · Citation</a:t>
              </a:r>
              <a:endParaRPr lang="en-GB" sz="2500"/>
            </a:p>
            <a:p>
              <a:pPr algn="l" marL="0" marR="0" indent="0" fontAlgn="base">
                <a:lnSpc>
                  <a:spcPts val="279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500" b="1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selection</a:t>
              </a:r>
              <a:endParaRPr lang="en-GB" sz="2500"/>
            </a:p>
          </p:txBody>
        </p:sp>
        <p:sp>
          <p:nvSpPr>
            <p:cNvPr id="87" name="Select pages from supporting chunks" descr="s86">
              <a:extLst>
                <a:ext uri="{FF2B5EF4-FFF2-40B4-BE49-F238E27FC236}">
                  <ns2:creationId id="{F53ACD6B-16F0-41D4-9D28-844C47976617}"/>
                </a:ext>
              </a:extLst>
            </p:cNvPr>
            <p:cNvSpPr>
              <a:spLocks noGrp="1"/>
            </p:cNvSpPr>
            <p:nvPr/>
          </p:nvSpPr>
          <p:spPr>
            <a:xfrm>
              <a:off x="17685133" y="10933976"/>
              <a:ext cx="2961829" cy="7569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Select pages from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supporting chunks</a:t>
              </a:r>
              <a:endParaRPr lang="en-GB" sz="2400"/>
            </a:p>
          </p:txBody>
        </p:sp>
        <p:sp>
          <p:nvSpPr>
            <p:cNvPr id="88" name="Supporting-chunk references + page validation" descr="s87">
              <a:extLst>
                <a:ext uri="{FF2B5EF4-FFF2-40B4-BE49-F238E27FC236}">
                  <ns2:creationId id="{D697114E-C69D-48ED-B984-93AB628DA990}"/>
                </a:ext>
              </a:extLst>
            </p:cNvPr>
            <p:cNvSpPr>
              <a:spLocks noGrp="1"/>
            </p:cNvSpPr>
            <p:nvPr/>
          </p:nvSpPr>
          <p:spPr>
            <a:xfrm>
              <a:off x="17685133" y="12791571"/>
              <a:ext cx="2961629" cy="110430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7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Supporting-chunk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references + page</a:t>
              </a:r>
              <a:endParaRPr lang="en-GB" sz="2400"/>
            </a:p>
            <a:p>
              <a:pPr algn="l" marL="0" marR="0" indent="0" fontAlgn="base">
                <a:lnSpc>
                  <a:spcPts val="273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173248"/>
                  </a:solidFill>
                  <a:latin typeface="Noto Sans"/>
                  <a:ea typeface="Noto Sans"/>
                  <a:cs typeface="Noto Sans"/>
                </a:rPr>
                <a:t>validation</a:t>
              </a:r>
              <a:endParaRPr lang="en-GB" sz="2400"/>
            </a:p>
          </p:txBody>
        </p:sp>
        <p:pic>
          <p:nvPicPr>
            <p:cNvPr id="251" name="icon-link" descr="s123"/>
            <p:cNvPicPr>
              <a:picLocks noChangeAspect="1"/>
            </p:cNvPicPr>
            <p:nvPr/>
          </p:nvPicPr>
          <p:blipFill>
            <a:blip r:embed="R282fbf5980b84c98">
              <a:extLst>
                <a:ext uri="{96DAC541-7B7A-43D3-8B79-37D633B846F1}">
                  <ns4:svgBlip r:embed="R3b1a64473ef7483b"/>
                </a:ext>
              </a:extLst>
            </a:blip>
            <a:stretch/>
          </p:blipFill>
          <p:spPr>
            <a:xfrm>
              <a:off x="18845808" y="12015490"/>
              <a:ext cx="611981" cy="611981"/>
            </a:xfrm>
            <a:prstGeom prst="rect">
              <a:avLst/>
            </a:prstGeom>
          </p:spPr>
        </p:pic>
      </p:grpSp>
      <p:sp>
        <p:nvSpPr>
          <p:cNvPr id="33" name="Panel cumulative-note" descr="s37">
            <a:extLst>
              <a:ext uri="{FF2B5EF4-FFF2-40B4-BE49-F238E27FC236}">
                <ns2:creationId id="{9D90C824-29A1-4A0F-AEFD-8E965B5C5468}"/>
              </a:ext>
            </a:extLst>
          </p:cNvPr>
          <p:cNvSpPr>
            <a:spLocks noGrp="1"/>
          </p:cNvSpPr>
          <p:nvPr/>
        </p:nvSpPr>
        <p:spPr>
          <a:xfrm>
            <a:off x="647998" y="14004727"/>
            <a:ext cx="20087927" cy="503337"/>
          </a:xfrm>
          <a:prstGeom prst="roundRect">
            <a:avLst>
              <a:gd name="adj" fmla="val 14305"/>
            </a:avLst>
          </a:prstGeom>
          <a:solidFill>
            <a:srgbClr val="EDF1F5"/>
          </a:solidFill>
          <a:ln w="0">
            <a:noFill/>
          </a:ln>
        </p:spPr>
      </p:sp>
      <p:sp>
        <p:nvSpPr>
          <p:cNvPr id="34" name="Rule answer-generation" descr="s38">
            <a:extLst>
              <a:ext uri="{FF2B5EF4-FFF2-40B4-BE49-F238E27FC236}">
                <ns2:creationId id="{F5A8DEF3-F643-4F54-9338-91FE2C8F35FF}"/>
              </a:ext>
            </a:extLst>
          </p:cNvPr>
          <p:cNvSpPr>
            <a:spLocks noGrp="1"/>
          </p:cNvSpPr>
          <p:nvPr/>
        </p:nvSpPr>
        <p:spPr>
          <a:xfrm>
            <a:off x="647998" y="14615964"/>
            <a:ext cx="20087927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35" name="Rule section-title" descr="s39">
            <a:extLst>
              <a:ext uri="{FF2B5EF4-FFF2-40B4-BE49-F238E27FC236}">
                <ns2:creationId id="{03B4DC0B-08E6-4908-AFEA-5A0BCE42992D}"/>
              </a:ext>
            </a:extLst>
          </p:cNvPr>
          <p:cNvSpPr>
            <a:spLocks noGrp="1"/>
          </p:cNvSpPr>
          <p:nvPr/>
        </p:nvSpPr>
        <p:spPr>
          <a:xfrm>
            <a:off x="647998" y="17258854"/>
            <a:ext cx="20087927" cy="28575"/>
          </a:xfrm>
          <a:prstGeom prst="rect">
            <a:avLst/>
          </a:prstGeom>
          <a:solidFill>
            <a:srgbClr val="0069AA"/>
          </a:solidFill>
          <a:ln w="0">
            <a:noFill/>
          </a:ln>
        </p:spPr>
      </p:sp>
      <p:sp>
        <p:nvSpPr>
          <p:cNvPr id="36" name="Rule " descr="s40">
            <a:extLst>
              <a:ext uri="{FF2B5EF4-FFF2-40B4-BE49-F238E27FC236}">
                <ns2:creationId id="{C98B45A3-0CEE-466D-A4DA-268978A2603C}"/>
              </a:ext>
            </a:extLst>
          </p:cNvPr>
          <p:cNvSpPr>
            <a:spLocks noGrp="1"/>
          </p:cNvSpPr>
          <p:nvPr/>
        </p:nvSpPr>
        <p:spPr>
          <a:xfrm>
            <a:off x="10835878" y="21842164"/>
            <a:ext cx="9525" cy="4453086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37" name="Rule limitations" descr="s41">
            <a:extLst>
              <a:ext uri="{FF2B5EF4-FFF2-40B4-BE49-F238E27FC236}">
                <ns2:creationId id="{065E6EA7-2CE0-4E19-BD32-BFFFFB4C76AA}"/>
              </a:ext>
            </a:extLst>
          </p:cNvPr>
          <p:cNvSpPr>
            <a:spLocks noGrp="1"/>
          </p:cNvSpPr>
          <p:nvPr/>
        </p:nvSpPr>
        <p:spPr>
          <a:xfrm>
            <a:off x="11061353" y="24742229"/>
            <a:ext cx="9674572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grpSp>
        <p:nvGrpSpPr>
          <p:cNvPr id="263" name="Conclusion"/>
          <p:cNvGrpSpPr/>
          <p:nvPr/>
        </p:nvGrpSpPr>
        <p:grpSpPr>
          <a:xfrm>
            <a:off x="647998" y="26439168"/>
            <a:ext cx="20087927" cy="1821507"/>
            <a:chOff x="647998" y="26439168"/>
            <a:chExt cx="20087927" cy="1821507"/>
          </a:xfrm>
        </p:grpSpPr>
        <p:sp>
          <p:nvSpPr>
            <p:cNvPr id="38" name="Panel conclusion" descr="s42">
              <a:extLst>
                <a:ext uri="{FF2B5EF4-FFF2-40B4-BE49-F238E27FC236}">
                  <ns2:creationId id="{4B05D7B5-2FFC-4520-B3C1-C0BC73020164}"/>
                </a:ext>
              </a:extLst>
            </p:cNvPr>
            <p:cNvSpPr>
              <a:spLocks noGrp="1"/>
            </p:cNvSpPr>
            <p:nvPr/>
          </p:nvSpPr>
          <p:spPr>
            <a:xfrm>
              <a:off x="647998" y="26439168"/>
              <a:ext cx="20087927" cy="1821507"/>
            </a:xfrm>
            <a:prstGeom prst="rect">
              <a:avLst/>
            </a:prstGeom>
            <a:solidFill>
              <a:srgbClr val="07568A"/>
            </a:solidFill>
            <a:ln w="0">
              <a:noFill/>
            </a:ln>
          </p:spPr>
        </p:sp>
        <p:sp>
          <p:nvSpPr>
            <p:cNvPr id="111" name="Conclusion" descr="s110">
              <a:extLst>
                <a:ext uri="{FF2B5EF4-FFF2-40B4-BE49-F238E27FC236}">
                  <ns2:creationId id="{1632A4F0-AC9E-4700-9860-3D20250DB6BA}"/>
                </a:ext>
              </a:extLst>
            </p:cNvPr>
            <p:cNvSpPr>
              <a:spLocks noGrp="1"/>
            </p:cNvSpPr>
            <p:nvPr/>
          </p:nvSpPr>
          <p:spPr>
            <a:xfrm>
              <a:off x="828216" y="26581825"/>
              <a:ext cx="19756636" cy="4476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30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600" b="1" i="0" spc="0" kern="0" dirty="0" u="none">
                  <a:solidFill>
                    <a:srgbClr val="ffffff"/>
                  </a:solidFill>
                  <a:latin typeface="Noto Sans"/>
                  <a:ea typeface="Noto Sans"/>
                  <a:cs typeface="Noto Sans"/>
                </a:rPr>
                <a:t>Conclusion</a:t>
              </a:r>
              <a:endParaRPr lang="en-GB" sz="2600"/>
            </a:p>
          </p:txBody>
        </p:sp>
        <p:sp>
          <p:nvSpPr>
            <p:cNvPr id="112" name="Legal RAG should be designed as a multi-stage pipeline: OCR improves robustness to unreadable PDFs, " descr="s111">
              <a:extLst>
                <a:ext uri="{FF2B5EF4-FFF2-40B4-BE49-F238E27FC236}">
                  <ns2:creationId id="{15F736A5-D3E3-4FBB-A506-3AD79C4CB85E}"/>
                </a:ext>
              </a:extLst>
            </p:cNvPr>
            <p:cNvSpPr>
              <a:spLocks noGrp="1"/>
            </p:cNvSpPr>
            <p:nvPr/>
          </p:nvSpPr>
          <p:spPr>
            <a:xfrm>
              <a:off x="828216" y="27038064"/>
              <a:ext cx="19756636" cy="1128713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rIns="0" tIns="0" bIns="0" anchor="t" anchorCtr="0">
              <a:noAutofit/>
            </a:bodyPr>
            <a:lstStyle/>
            <a:p>
              <a:pPr algn="l" marL="0" marR="0" indent="0" fontAlgn="base">
                <a:lnSpc>
                  <a:spcPts val="283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ffffff"/>
                  </a:solidFill>
                  <a:latin typeface="Noto Sans"/>
                  <a:ea typeface="Noto Sans"/>
                  <a:cs typeface="Noto Sans"/>
                </a:rPr>
                <a:t>Legal RAG should be designed as a multi-stage pipeline: OCR improves robustness to unreadable PDFs, hybrid retrieval and reranking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ffffff"/>
                  </a:solidFill>
                  <a:latin typeface="Noto Sans"/>
                  <a:ea typeface="Noto Sans"/>
                  <a:cs typeface="Noto Sans"/>
                </a:rPr>
                <a:t>improve answer quality, and post-answer citation selection improves citation precision. However, citation selection introduces a precision–</a:t>
              </a:r>
              <a:endParaRPr lang="en-GB" sz="2400"/>
            </a:p>
            <a:p>
              <a:pPr algn="l" marL="0" marR="0" indent="0" fontAlgn="base">
                <a:lnSpc>
                  <a:spcPts val="283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GB" sz="2400" b="0" i="0" spc="0" kern="0" dirty="0" u="none">
                  <a:solidFill>
                    <a:srgbClr val="ffffff"/>
                  </a:solidFill>
                  <a:latin typeface="Noto Sans"/>
                  <a:ea typeface="Noto Sans"/>
                  <a:cs typeface="Noto Sans"/>
                </a:rPr>
                <a:t>recall trade-off, so answer quality and citation quality should be optimized and evaluated separately.</a:t>
              </a:r>
              <a:endParaRPr lang="en-GB" sz="2400"/>
            </a:p>
          </p:txBody>
        </p:sp>
      </p:grpSp>
      <p:sp>
        <p:nvSpPr>
          <p:cNvPr id="39" name="Rule " descr="s43">
            <a:extLst>
              <a:ext uri="{FF2B5EF4-FFF2-40B4-BE49-F238E27FC236}">
                <ns2:creationId id="{2934D7FC-EB24-4BC9-94FE-1C947423E33C}"/>
              </a:ext>
            </a:extLst>
          </p:cNvPr>
          <p:cNvSpPr>
            <a:spLocks noGrp="1"/>
          </p:cNvSpPr>
          <p:nvPr/>
        </p:nvSpPr>
        <p:spPr>
          <a:xfrm>
            <a:off x="647998" y="28368575"/>
            <a:ext cx="20087927" cy="9525"/>
          </a:xfrm>
          <a:prstGeom prst="rect">
            <a:avLst/>
          </a:prstGeom>
          <a:solidFill>
            <a:srgbClr val="CFDEE8"/>
          </a:solidFill>
          <a:ln w="0">
            <a:noFill/>
          </a:ln>
        </p:spPr>
      </p:sp>
      <p:sp>
        <p:nvSpPr>
          <p:cNvPr id="45" name="Building Legal RAG:&#10;what each component contributes" descr="s44">
            <a:extLst>
              <a:ext uri="{FF2B5EF4-FFF2-40B4-BE49-F238E27FC236}">
                <ns2:creationId id="{ABA7A64B-BB63-4571-9693-5CDB5D88800C}"/>
              </a:ext>
            </a:extLst>
          </p:cNvPr>
          <p:cNvSpPr>
            <a:spLocks noGrp="1"/>
          </p:cNvSpPr>
          <p:nvPr/>
        </p:nvSpPr>
        <p:spPr>
          <a:xfrm>
            <a:off x="648359" y="413163"/>
            <a:ext cx="9628733" cy="1430387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488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00" b="1" i="0" spc="-164" kern="0" dirty="0" u="none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Building Legal RAG:</a:t>
            </a:r>
            <a:endParaRPr lang="en-GB" sz="4700"/>
          </a:p>
          <a:p>
            <a:pPr algn="l" marL="0" marR="0" indent="0" fontAlgn="base">
              <a:lnSpc>
                <a:spcPts val="488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4700" b="1" i="0" spc="-164" kern="0" dirty="0" u="none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what each component contributes</a:t>
            </a:r>
            <a:endParaRPr lang="en-GB" sz="4700"/>
          </a:p>
        </p:txBody>
      </p:sp>
      <p:sp>
        <p:nvSpPr>
          <p:cNvPr id="46" name="01" descr="s45">
            <a:extLst>
              <a:ext uri="{FF2B5EF4-FFF2-40B4-BE49-F238E27FC236}">
                <ns2:creationId id="{ED2E1588-2705-4812-8F0F-7E313AFD7B7A}"/>
              </a:ext>
            </a:extLst>
          </p:cNvPr>
          <p:cNvSpPr>
            <a:spLocks noGrp="1"/>
          </p:cNvSpPr>
          <p:nvPr/>
        </p:nvSpPr>
        <p:spPr>
          <a:xfrm>
            <a:off x="647991" y="1896166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i="0" spc="0" kern="0" dirty="0" u="none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01</a:t>
            </a:r>
            <a:endParaRPr lang="en-GB" sz="2600"/>
          </a:p>
        </p:txBody>
      </p:sp>
      <p:sp>
        <p:nvSpPr>
          <p:cNvPr id="47" name="CONTEXT AND HYPOTHESIS" descr="s46">
            <a:extLst>
              <a:ext uri="{FF2B5EF4-FFF2-40B4-BE49-F238E27FC236}">
                <ns2:creationId id="{FAA99B15-B5C5-4B29-8FFF-9BB9E52F99CC}"/>
              </a:ext>
            </a:extLst>
          </p:cNvPr>
          <p:cNvSpPr>
            <a:spLocks noGrp="1"/>
          </p:cNvSpPr>
          <p:nvPr/>
        </p:nvSpPr>
        <p:spPr>
          <a:xfrm>
            <a:off x="1169636" y="1862544"/>
            <a:ext cx="5615732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65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i="0" spc="93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CONTEXT AND HYPOTHESIS</a:t>
            </a:r>
            <a:endParaRPr lang="en-GB" sz="3100"/>
          </a:p>
        </p:txBody>
      </p:sp>
      <p:sp>
        <p:nvSpPr>
          <p:cNvPr id="48" name="Retrieval-augmented generation (RAG) grounds language-model answers in external documents [1]. Legal" descr="s47">
            <a:extLst>
              <a:ext uri="{FF2B5EF4-FFF2-40B4-BE49-F238E27FC236}">
                <ns2:creationId id="{BE7AD9C6-2012-4906-AAEF-B9C0FF62E2A8}"/>
              </a:ext>
            </a:extLst>
          </p:cNvPr>
          <p:cNvSpPr>
            <a:spLocks noGrp="1"/>
          </p:cNvSpPr>
          <p:nvPr/>
        </p:nvSpPr>
        <p:spPr>
          <a:xfrm>
            <a:off x="647991" y="2434875"/>
            <a:ext cx="20116502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Retrieval-augmented generation (RAG) grounds language-model answers in external documents [1]. Legal QA needs correct answers and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precise, complete source-page citations [2, 3]. PDFs may lack searchable text; evidence spans different text scales and may require exact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legal terms. Retrieving more passages can also introduce irrelevant pages.</a:t>
            </a:r>
            <a:endParaRPr lang="en-GB" sz="2400"/>
          </a:p>
        </p:txBody>
      </p:sp>
      <p:sp>
        <p:nvSpPr>
          <p:cNvPr id="49" name="How can a legal RAG pipeline improve answer quality&#10;while keeping source-page citations both precise" descr="s48">
            <a:extLst>
              <a:ext uri="{FF2B5EF4-FFF2-40B4-BE49-F238E27FC236}">
                <ns2:creationId id="{9FD52796-6C00-42E1-90FA-4C3416F4BCA0}"/>
              </a:ext>
            </a:extLst>
          </p:cNvPr>
          <p:cNvSpPr>
            <a:spLocks noGrp="1"/>
          </p:cNvSpPr>
          <p:nvPr/>
        </p:nvSpPr>
        <p:spPr>
          <a:xfrm>
            <a:off x="647991" y="3613798"/>
            <a:ext cx="20116502" cy="905321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304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b="1" i="0" spc="0" kern="0" dirty="0" u="none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How can a legal RAG pipeline improve answer quality</a:t>
            </a:r>
            <a:endParaRPr lang="en-GB" sz="2800"/>
          </a:p>
          <a:p>
            <a:pPr algn="l" marL="0" marR="0" indent="0" fontAlgn="base">
              <a:lnSpc>
                <a:spcPts val="3304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800" b="1" i="0" spc="0" kern="0" dirty="0" u="none">
                <a:solidFill>
                  <a:srgbClr val="073d65"/>
                </a:solidFill>
                <a:latin typeface="Noto Sans"/>
                <a:ea typeface="Noto Sans"/>
                <a:cs typeface="Noto Sans"/>
              </a:rPr>
              <a:t>while keeping source-page citations both precise and complete?</a:t>
            </a:r>
            <a:endParaRPr lang="en-GB" sz="2800"/>
          </a:p>
        </p:txBody>
      </p:sp>
      <p:sp>
        <p:nvSpPr>
          <p:cNvPr id="56" name="02" descr="s55">
            <a:extLst>
              <a:ext uri="{FF2B5EF4-FFF2-40B4-BE49-F238E27FC236}">
                <ns2:creationId id="{76C14ECB-BBF5-4A68-B99B-0DEC9C9F7E16}"/>
              </a:ext>
            </a:extLst>
          </p:cNvPr>
          <p:cNvSpPr>
            <a:spLocks noGrp="1"/>
          </p:cNvSpPr>
          <p:nvPr/>
        </p:nvSpPr>
        <p:spPr>
          <a:xfrm>
            <a:off x="647991" y="6687208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i="0" spc="0" kern="0" dirty="0" u="none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02</a:t>
            </a:r>
            <a:endParaRPr lang="en-GB" sz="2600"/>
          </a:p>
        </p:txBody>
      </p:sp>
      <p:sp>
        <p:nvSpPr>
          <p:cNvPr id="57" name="METHODOLOGY" descr="s56">
            <a:extLst>
              <a:ext uri="{FF2B5EF4-FFF2-40B4-BE49-F238E27FC236}">
                <ns2:creationId id="{C25E3E19-3FAB-4E52-A7BA-712C1BEED522}"/>
              </a:ext>
            </a:extLst>
          </p:cNvPr>
          <p:cNvSpPr>
            <a:spLocks noGrp="1"/>
          </p:cNvSpPr>
          <p:nvPr/>
        </p:nvSpPr>
        <p:spPr>
          <a:xfrm>
            <a:off x="1170004" y="6653941"/>
            <a:ext cx="3244453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65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i="0" spc="93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METHODOLOGY</a:t>
            </a:r>
            <a:endParaRPr lang="en-GB" sz="3100"/>
          </a:p>
        </p:txBody>
      </p:sp>
      <p:sp>
        <p:nvSpPr>
          <p:cNvPr id="58" name="Data: 30 DIFC legal PDFs (590 pages), 100 questions: 70 structured-answer and 30 free-text. Referenc" descr="s57">
            <a:extLst>
              <a:ext uri="{FF2B5EF4-FFF2-40B4-BE49-F238E27FC236}">
                <ns2:creationId id="{8870B355-16AD-4AA3-BF7C-75426F43F047}"/>
              </a:ext>
            </a:extLst>
          </p:cNvPr>
          <p:cNvSpPr>
            <a:spLocks noGrp="1"/>
          </p:cNvSpPr>
          <p:nvPr/>
        </p:nvSpPr>
        <p:spPr>
          <a:xfrm>
            <a:off x="647991" y="7225916"/>
            <a:ext cx="20116502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Data: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30 DIFC legal PDFs (590 pages), 100 questions: 70 structured-answer and 30 free-text. Reference source pages are available for 95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questions. In the mixed corpus, 10 PDFs (107 pages) become synthetic scans: page images at 300 DPI with the text layer removed.</a:t>
            </a:r>
            <a:endParaRPr lang="en-GB" sz="2400"/>
          </a:p>
        </p:txBody>
      </p:sp>
      <p:sp>
        <p:nvSpPr>
          <p:cNvPr id="67" name="DOCUMENT PROCESSING" descr="s66">
            <a:extLst>
              <a:ext uri="{FF2B5EF4-FFF2-40B4-BE49-F238E27FC236}">
                <ns2:creationId id="{98E6AA42-FB28-48AF-BFDE-F50615C0A272}"/>
              </a:ext>
            </a:extLst>
          </p:cNvPr>
          <p:cNvSpPr>
            <a:spLocks noGrp="1"/>
          </p:cNvSpPr>
          <p:nvPr/>
        </p:nvSpPr>
        <p:spPr>
          <a:xfrm>
            <a:off x="2039042" y="9512379"/>
            <a:ext cx="379958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3186bd"/>
                </a:solidFill>
                <a:latin typeface="Noto Sans"/>
                <a:ea typeface="Noto Sans"/>
                <a:cs typeface="Noto Sans"/>
              </a:rPr>
              <a:t>DOCUMENT PROCESSING</a:t>
            </a:r>
            <a:endParaRPr lang="en-GB" sz="2400"/>
          </a:p>
        </p:txBody>
      </p:sp>
      <p:sp>
        <p:nvSpPr>
          <p:cNvPr id="68" name="RETRIEVAL" descr="s67">
            <a:extLst>
              <a:ext uri="{FF2B5EF4-FFF2-40B4-BE49-F238E27FC236}">
                <ns2:creationId id="{8E18FB84-853C-4D79-ACB5-1951903B5250}"/>
              </a:ext>
            </a:extLst>
          </p:cNvPr>
          <p:cNvSpPr>
            <a:spLocks noGrp="1"/>
          </p:cNvSpPr>
          <p:nvPr/>
        </p:nvSpPr>
        <p:spPr>
          <a:xfrm>
            <a:off x="9890824" y="9512379"/>
            <a:ext cx="163160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4b8a42"/>
                </a:solidFill>
                <a:latin typeface="Noto Sans"/>
                <a:ea typeface="Noto Sans"/>
                <a:cs typeface="Noto Sans"/>
              </a:rPr>
              <a:t>RETRIEVAL</a:t>
            </a:r>
            <a:endParaRPr lang="en-GB" sz="2400"/>
          </a:p>
        </p:txBody>
      </p:sp>
      <p:sp>
        <p:nvSpPr>
          <p:cNvPr id="69" name="ANSWERING" descr="s68">
            <a:extLst>
              <a:ext uri="{FF2B5EF4-FFF2-40B4-BE49-F238E27FC236}">
                <ns2:creationId id="{E774EDB9-EA45-40C9-ADCA-4F2A523DB04E}"/>
              </a:ext>
            </a:extLst>
          </p:cNvPr>
          <p:cNvSpPr>
            <a:spLocks noGrp="1"/>
          </p:cNvSpPr>
          <p:nvPr/>
        </p:nvSpPr>
        <p:spPr>
          <a:xfrm>
            <a:off x="14828277" y="9512379"/>
            <a:ext cx="1907679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b96734"/>
                </a:solidFill>
                <a:latin typeface="Noto Sans"/>
                <a:ea typeface="Noto Sans"/>
                <a:cs typeface="Noto Sans"/>
              </a:rPr>
              <a:t>ANSWERING</a:t>
            </a:r>
            <a:endParaRPr lang="en-GB" sz="2400"/>
          </a:p>
        </p:txBody>
      </p:sp>
      <p:sp>
        <p:nvSpPr>
          <p:cNvPr id="70" name="CITATIONS" descr="s69">
            <a:extLst>
              <a:ext uri="{FF2B5EF4-FFF2-40B4-BE49-F238E27FC236}">
                <ns2:creationId id="{F616621A-7B0C-45CD-845B-900930E65BDC}"/>
              </a:ext>
            </a:extLst>
          </p:cNvPr>
          <p:cNvSpPr>
            <a:spLocks noGrp="1"/>
          </p:cNvSpPr>
          <p:nvPr/>
        </p:nvSpPr>
        <p:spPr>
          <a:xfrm>
            <a:off x="18346829" y="9512379"/>
            <a:ext cx="16383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7655b5"/>
                </a:solidFill>
                <a:latin typeface="Noto Sans"/>
                <a:ea typeface="Noto Sans"/>
                <a:cs typeface="Noto Sans"/>
              </a:rPr>
              <a:t>CITATIONS</a:t>
            </a:r>
            <a:endParaRPr lang="en-GB" sz="2400"/>
          </a:p>
        </p:txBody>
      </p:sp>
      <p:sp>
        <p:nvSpPr>
          <p:cNvPr id="89" name="Each variant (R1–R6) includes all previous additions." descr="s88">
            <a:extLst>
              <a:ext uri="{FF2B5EF4-FFF2-40B4-BE49-F238E27FC236}">
                <ns2:creationId id="{03B308B5-4478-417F-B616-35176EE08A75}"/>
              </a:ext>
            </a:extLst>
          </p:cNvPr>
          <p:cNvSpPr>
            <a:spLocks noGrp="1"/>
          </p:cNvSpPr>
          <p:nvPr/>
        </p:nvSpPr>
        <p:spPr>
          <a:xfrm>
            <a:off x="6776311" y="14074896"/>
            <a:ext cx="7859911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Each variant (R1–R6) includes all previous additions.</a:t>
            </a:r>
            <a:endParaRPr lang="en-GB" sz="2400"/>
          </a:p>
        </p:txBody>
      </p:sp>
      <p:sp>
        <p:nvSpPr>
          <p:cNvPr id="90" name="Answer generation: A fixed GPT-5.4-mini configuration is used across variants, so changes in perform" descr="s89">
            <a:extLst>
              <a:ext uri="{FF2B5EF4-FFF2-40B4-BE49-F238E27FC236}">
                <ns2:creationId id="{8C5F17FC-0253-43F3-807B-21D530FF31F3}"/>
              </a:ext>
            </a:extLst>
          </p:cNvPr>
          <p:cNvSpPr>
            <a:spLocks noGrp="1"/>
          </p:cNvSpPr>
          <p:nvPr/>
        </p:nvSpPr>
        <p:spPr>
          <a:xfrm>
            <a:off x="647991" y="14693423"/>
            <a:ext cx="20116502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Answer generation:</a:t>
            </a:r>
            <a:r>
              <a:rPr lang="en-GB" sz="2400" b="0" i="0" spc="0" kern="0" dirty="0" u="none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 A fixed GPT-5.4-mini configuration is used across variants, so changes in performance reflect modifications to the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surrounding pipeline rather than a change of the generating LLM.</a:t>
            </a:r>
            <a:endParaRPr lang="en-GB" sz="2400"/>
          </a:p>
        </p:txBody>
      </p:sp>
      <p:sp>
        <p:nvSpPr>
          <p:cNvPr id="91" name="Answer quality" descr="s90">
            <a:extLst>
              <a:ext uri="{FF2B5EF4-FFF2-40B4-BE49-F238E27FC236}">
                <ns2:creationId id="{62384E0B-5D27-48A6-9D0F-D920F11D75B0}"/>
              </a:ext>
            </a:extLst>
          </p:cNvPr>
          <p:cNvSpPr>
            <a:spLocks noGrp="1"/>
          </p:cNvSpPr>
          <p:nvPr/>
        </p:nvSpPr>
        <p:spPr>
          <a:xfrm>
            <a:off x="648359" y="15592384"/>
            <a:ext cx="6532513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Answer quality</a:t>
            </a:r>
            <a:endParaRPr lang="en-GB" sz="2500"/>
          </a:p>
        </p:txBody>
      </p:sp>
      <p:sp>
        <p:nvSpPr>
          <p:cNvPr id="92" name="Is the generated answer correct?" descr="s91">
            <a:extLst>
              <a:ext uri="{FF2B5EF4-FFF2-40B4-BE49-F238E27FC236}">
                <ns2:creationId id="{36925140-17F7-410D-9FFE-25D4A337A0B9}"/>
              </a:ext>
            </a:extLst>
          </p:cNvPr>
          <p:cNvSpPr>
            <a:spLocks noGrp="1"/>
          </p:cNvSpPr>
          <p:nvPr/>
        </p:nvSpPr>
        <p:spPr>
          <a:xfrm>
            <a:off x="648359" y="16017926"/>
            <a:ext cx="653251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1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Is the generated answer correct?</a:t>
            </a:r>
            <a:endParaRPr lang="en-GB" sz="2400"/>
          </a:p>
        </p:txBody>
      </p:sp>
      <p:sp>
        <p:nvSpPr>
          <p:cNvPr id="93" name="Q = 0.7 × structured score&#10;+ 0.3 × free-text score" descr="s92">
            <a:extLst>
              <a:ext uri="{FF2B5EF4-FFF2-40B4-BE49-F238E27FC236}">
                <ns2:creationId id="{B37CAAAD-B29D-4103-B3EE-A13955AA1D98}"/>
              </a:ext>
            </a:extLst>
          </p:cNvPr>
          <p:cNvSpPr>
            <a:spLocks noGrp="1"/>
          </p:cNvSpPr>
          <p:nvPr/>
        </p:nvSpPr>
        <p:spPr>
          <a:xfrm>
            <a:off x="648359" y="16426939"/>
            <a:ext cx="6532513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 = 0.7 × structured score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+ 0.3 × free-text score</a:t>
            </a:r>
            <a:endParaRPr lang="en-GB" sz="2400"/>
          </a:p>
        </p:txBody>
      </p:sp>
      <p:sp>
        <p:nvSpPr>
          <p:cNvPr id="94" name="Citation precision" descr="s93">
            <a:extLst>
              <a:ext uri="{FF2B5EF4-FFF2-40B4-BE49-F238E27FC236}">
                <ns2:creationId id="{777B34D4-7C5A-40E2-BB66-789015C586AD}"/>
              </a:ext>
            </a:extLst>
          </p:cNvPr>
          <p:cNvSpPr>
            <a:spLocks noGrp="1"/>
          </p:cNvSpPr>
          <p:nvPr/>
        </p:nvSpPr>
        <p:spPr>
          <a:xfrm>
            <a:off x="7440430" y="15592384"/>
            <a:ext cx="6532513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Citation precision</a:t>
            </a:r>
            <a:endParaRPr lang="en-GB" sz="2500"/>
          </a:p>
        </p:txBody>
      </p:sp>
      <p:sp>
        <p:nvSpPr>
          <p:cNvPr id="95" name="Are the cited pages actually relevant?" descr="s94">
            <a:extLst>
              <a:ext uri="{FF2B5EF4-FFF2-40B4-BE49-F238E27FC236}">
                <ns2:creationId id="{A0E0B944-4DC0-42DC-A40E-E05DED91CDA8}"/>
              </a:ext>
            </a:extLst>
          </p:cNvPr>
          <p:cNvSpPr>
            <a:spLocks noGrp="1"/>
          </p:cNvSpPr>
          <p:nvPr/>
        </p:nvSpPr>
        <p:spPr>
          <a:xfrm>
            <a:off x="7440430" y="16017926"/>
            <a:ext cx="653251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1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Are the cited pages actually relevant?</a:t>
            </a:r>
            <a:endParaRPr lang="en-GB" sz="2400"/>
          </a:p>
        </p:txBody>
      </p:sp>
      <p:sp>
        <p:nvSpPr>
          <p:cNvPr id="96" name="Share of cited pages that support the answer." descr="s95">
            <a:extLst>
              <a:ext uri="{FF2B5EF4-FFF2-40B4-BE49-F238E27FC236}">
                <ns2:creationId id="{CF311B6C-D83E-4B37-82FD-82D3B8FB8002}"/>
              </a:ext>
            </a:extLst>
          </p:cNvPr>
          <p:cNvSpPr>
            <a:spLocks noGrp="1"/>
          </p:cNvSpPr>
          <p:nvPr/>
        </p:nvSpPr>
        <p:spPr>
          <a:xfrm>
            <a:off x="7440430" y="16427295"/>
            <a:ext cx="653251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Share of cited pages that support the answer.</a:t>
            </a:r>
            <a:endParaRPr lang="en-GB" sz="2400"/>
          </a:p>
        </p:txBody>
      </p:sp>
      <p:sp>
        <p:nvSpPr>
          <p:cNvPr id="97" name="Citation recall" descr="s96">
            <a:extLst>
              <a:ext uri="{FF2B5EF4-FFF2-40B4-BE49-F238E27FC236}">
                <ns2:creationId id="{0381ECC8-8D9B-4770-813B-6506005FF2CD}"/>
              </a:ext>
            </a:extLst>
          </p:cNvPr>
          <p:cNvSpPr>
            <a:spLocks noGrp="1"/>
          </p:cNvSpPr>
          <p:nvPr/>
        </p:nvSpPr>
        <p:spPr>
          <a:xfrm>
            <a:off x="14232157" y="15592384"/>
            <a:ext cx="6532513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Citation recall</a:t>
            </a:r>
            <a:endParaRPr lang="en-GB" sz="2500"/>
          </a:p>
        </p:txBody>
      </p:sp>
      <p:sp>
        <p:nvSpPr>
          <p:cNvPr id="98" name="Did the system cite all required evidence?" descr="s97">
            <a:extLst>
              <a:ext uri="{FF2B5EF4-FFF2-40B4-BE49-F238E27FC236}">
                <ns2:creationId id="{2C373EF1-34C6-4935-9085-939D7629FCB6}"/>
              </a:ext>
            </a:extLst>
          </p:cNvPr>
          <p:cNvSpPr>
            <a:spLocks noGrp="1"/>
          </p:cNvSpPr>
          <p:nvPr/>
        </p:nvSpPr>
        <p:spPr>
          <a:xfrm>
            <a:off x="14232157" y="16017926"/>
            <a:ext cx="653251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1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Did the system cite all required evidence?</a:t>
            </a:r>
            <a:endParaRPr lang="en-GB" sz="2400"/>
          </a:p>
        </p:txBody>
      </p:sp>
      <p:sp>
        <p:nvSpPr>
          <p:cNvPr id="99" name="Share of annotated supporting pages that were cited." descr="s98">
            <a:extLst>
              <a:ext uri="{FF2B5EF4-FFF2-40B4-BE49-F238E27FC236}">
                <ns2:creationId id="{9C8B7D79-502B-43D2-BAC8-271A9DE89754}"/>
              </a:ext>
            </a:extLst>
          </p:cNvPr>
          <p:cNvSpPr>
            <a:spLocks noGrp="1"/>
          </p:cNvSpPr>
          <p:nvPr/>
        </p:nvSpPr>
        <p:spPr>
          <a:xfrm>
            <a:off x="14232157" y="16426939"/>
            <a:ext cx="6532513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Share of annotated supporting pages that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were cited.</a:t>
            </a:r>
            <a:endParaRPr lang="en-GB" sz="2400"/>
          </a:p>
        </p:txBody>
      </p:sp>
      <p:sp>
        <p:nvSpPr>
          <p:cNvPr id="100" name="03" descr="s99">
            <a:extLst>
              <a:ext uri="{FF2B5EF4-FFF2-40B4-BE49-F238E27FC236}">
                <ns2:creationId id="{131A56B9-666A-42D5-B94D-13EC368DFA5C}"/>
              </a:ext>
            </a:extLst>
          </p:cNvPr>
          <p:cNvSpPr>
            <a:spLocks noGrp="1"/>
          </p:cNvSpPr>
          <p:nvPr/>
        </p:nvSpPr>
        <p:spPr>
          <a:xfrm>
            <a:off x="647991" y="17421903"/>
            <a:ext cx="406301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i="0" spc="0" kern="0" dirty="0" u="none">
                <a:solidFill>
                  <a:srgbClr val="0069aa"/>
                </a:solidFill>
                <a:latin typeface="Noto Sans"/>
                <a:ea typeface="Noto Sans"/>
                <a:cs typeface="Noto Sans"/>
              </a:rPr>
              <a:t>03</a:t>
            </a:r>
            <a:endParaRPr lang="en-GB" sz="2600"/>
          </a:p>
        </p:txBody>
      </p:sp>
      <p:sp>
        <p:nvSpPr>
          <p:cNvPr id="101" name="RESULTS" descr="s100">
            <a:extLst>
              <a:ext uri="{FF2B5EF4-FFF2-40B4-BE49-F238E27FC236}">
                <ns2:creationId id="{7B4998E4-C7C7-4FCF-9F8E-6E2BD7B89DFD}"/>
              </a:ext>
            </a:extLst>
          </p:cNvPr>
          <p:cNvSpPr>
            <a:spLocks noGrp="1"/>
          </p:cNvSpPr>
          <p:nvPr/>
        </p:nvSpPr>
        <p:spPr>
          <a:xfrm>
            <a:off x="1169636" y="17388281"/>
            <a:ext cx="1760786" cy="5334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658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3100" b="1" i="0" spc="93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RESULTS</a:t>
            </a:r>
            <a:endParaRPr lang="en-GB" sz="3100"/>
          </a:p>
        </p:txBody>
      </p:sp>
      <p:sp>
        <p:nvSpPr>
          <p:cNvPr id="102" name="R0 to R6 on the mixed corpus" descr="s101">
            <a:extLst>
              <a:ext uri="{FF2B5EF4-FFF2-40B4-BE49-F238E27FC236}">
                <ns2:creationId id="{98F88CE4-7F2D-42CB-8450-9FDEE79147BB}"/>
              </a:ext>
            </a:extLst>
          </p:cNvPr>
          <p:cNvSpPr>
            <a:spLocks noGrp="1"/>
          </p:cNvSpPr>
          <p:nvPr/>
        </p:nvSpPr>
        <p:spPr>
          <a:xfrm>
            <a:off x="16538357" y="17446459"/>
            <a:ext cx="4226123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R0 to R6 on the mixed corpus</a:t>
            </a:r>
            <a:endParaRPr lang="en-GB" sz="2400"/>
          </a:p>
        </p:txBody>
      </p:sp>
      <p:sp>
        <p:nvSpPr>
          <p:cNvPr id="103" name="OCR recovers performance on scanned documents" descr="s102">
            <a:extLst>
              <a:ext uri="{FF2B5EF4-FFF2-40B4-BE49-F238E27FC236}">
                <ns2:creationId id="{F6D8BF4B-FA75-4B9F-AEBE-ECFCE369F64F}"/>
              </a:ext>
            </a:extLst>
          </p:cNvPr>
          <p:cNvSpPr>
            <a:spLocks noGrp="1"/>
          </p:cNvSpPr>
          <p:nvPr/>
        </p:nvSpPr>
        <p:spPr>
          <a:xfrm>
            <a:off x="647991" y="21838291"/>
            <a:ext cx="9928473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1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OCR recovers performance on scanned documents</a:t>
            </a:r>
            <a:endParaRPr lang="en-GB" sz="2600"/>
          </a:p>
        </p:txBody>
      </p:sp>
      <p:sp>
        <p:nvSpPr>
          <p:cNvPr id="104" name="Converting 10 documents into synthetic scans reduces answer quality from 65.4% to 46.2%. OCR restore" descr="s103">
            <a:extLst>
              <a:ext uri="{FF2B5EF4-FFF2-40B4-BE49-F238E27FC236}">
                <ns2:creationId id="{BC0BCF80-F9B5-4C9E-89DD-7756E30936BF}"/>
              </a:ext>
            </a:extLst>
          </p:cNvPr>
          <p:cNvSpPr>
            <a:spLocks noGrp="1"/>
          </p:cNvSpPr>
          <p:nvPr/>
        </p:nvSpPr>
        <p:spPr>
          <a:xfrm>
            <a:off x="647991" y="25209001"/>
            <a:ext cx="9928473" cy="1128713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Converting 10 documents into synthetic scans reduces answer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quality from 65.4% to 46.2%. OCR restores most of this loss, reaching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63.2%.</a:t>
            </a:r>
            <a:endParaRPr lang="en-GB" sz="2400"/>
          </a:p>
        </p:txBody>
      </p:sp>
      <p:sp>
        <p:nvSpPr>
          <p:cNvPr id="105" name="Hypothesis evaluation" descr="s104">
            <a:extLst>
              <a:ext uri="{FF2B5EF4-FFF2-40B4-BE49-F238E27FC236}">
                <ns2:creationId id="{19A45282-B9F1-45FD-9DBA-14662C44E7E4}"/>
              </a:ext>
            </a:extLst>
          </p:cNvPr>
          <p:cNvSpPr>
            <a:spLocks noGrp="1"/>
          </p:cNvSpPr>
          <p:nvPr/>
        </p:nvSpPr>
        <p:spPr>
          <a:xfrm>
            <a:off x="11061348" y="21838291"/>
            <a:ext cx="9703147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3016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6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Hypothesis evaluation</a:t>
            </a:r>
            <a:endParaRPr lang="en-GB" sz="2600"/>
          </a:p>
        </p:txBody>
      </p:sp>
      <p:sp>
        <p:nvSpPr>
          <p:cNvPr id="106" name="H1 · Partially supported. Multiple scales alone reduce Q; lexical retrieval and reranking improve Q " descr="s105">
            <a:extLst>
              <a:ext uri="{FF2B5EF4-FFF2-40B4-BE49-F238E27FC236}">
                <ns2:creationId id="{ED3C92A6-E021-41FA-B790-197FF9F1F300}"/>
              </a:ext>
            </a:extLst>
          </p:cNvPr>
          <p:cNvSpPr>
            <a:spLocks noGrp="1"/>
          </p:cNvSpPr>
          <p:nvPr/>
        </p:nvSpPr>
        <p:spPr>
          <a:xfrm>
            <a:off x="11061348" y="22294540"/>
            <a:ext cx="9703147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H1 · Partially supported.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Multiple scales alone reduce Q; lexical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retrieval and reranking improve Q and recall.</a:t>
            </a:r>
            <a:endParaRPr lang="en-GB" sz="2400"/>
          </a:p>
        </p:txBody>
      </p:sp>
      <p:sp>
        <p:nvSpPr>
          <p:cNvPr id="107" name="H2 · Supported. OCR restores most of the loss caused by removing the text layer." descr="s106">
            <a:extLst>
              <a:ext uri="{FF2B5EF4-FFF2-40B4-BE49-F238E27FC236}">
                <ns2:creationId id="{F4BE8396-8C33-407A-AE7B-B481F2C72836}"/>
              </a:ext>
            </a:extLst>
          </p:cNvPr>
          <p:cNvSpPr>
            <a:spLocks noGrp="1"/>
          </p:cNvSpPr>
          <p:nvPr/>
        </p:nvSpPr>
        <p:spPr>
          <a:xfrm>
            <a:off x="11061348" y="23104271"/>
            <a:ext cx="9703147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H2 · Supported.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OCR restores most of the loss caused by removing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the text layer.</a:t>
            </a:r>
            <a:endParaRPr lang="en-GB" sz="2400"/>
          </a:p>
        </p:txBody>
      </p:sp>
      <p:sp>
        <p:nvSpPr>
          <p:cNvPr id="108" name="H3 · Supported with a trade-off. Precision rises from 27.1% to 61.8%; recall falls from 78.9% to 74." descr="s107">
            <a:extLst>
              <a:ext uri="{FF2B5EF4-FFF2-40B4-BE49-F238E27FC236}">
                <ns2:creationId id="{BF534887-9095-4077-B356-572E3471D1ED}"/>
              </a:ext>
            </a:extLst>
          </p:cNvPr>
          <p:cNvSpPr>
            <a:spLocks noGrp="1"/>
          </p:cNvSpPr>
          <p:nvPr/>
        </p:nvSpPr>
        <p:spPr>
          <a:xfrm>
            <a:off x="11061348" y="23913641"/>
            <a:ext cx="9703147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H3 · Supported with a trade-off.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Precision rises from 27.1% to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61.8%; recall falls from 78.9% to 74.7% (−4.2 pp).</a:t>
            </a:r>
            <a:endParaRPr lang="en-GB" sz="2400"/>
          </a:p>
        </p:txBody>
      </p:sp>
      <p:sp>
        <p:nvSpPr>
          <p:cNvPr id="109" name="Limitations" descr="s108">
            <a:extLst>
              <a:ext uri="{FF2B5EF4-FFF2-40B4-BE49-F238E27FC236}">
                <ns2:creationId id="{4E8BDD37-9FD5-4B70-9DEF-863E95559725}"/>
              </a:ext>
            </a:extLst>
          </p:cNvPr>
          <p:cNvSpPr>
            <a:spLocks noGrp="1"/>
          </p:cNvSpPr>
          <p:nvPr/>
        </p:nvSpPr>
        <p:spPr>
          <a:xfrm>
            <a:off x="11061348" y="24821923"/>
            <a:ext cx="9703147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500" b="1" i="0" spc="0" kern="0" dirty="0" u="none">
                <a:solidFill>
                  <a:srgbClr val="07568a"/>
                </a:solidFill>
                <a:latin typeface="Noto Sans"/>
                <a:ea typeface="Noto Sans"/>
                <a:cs typeface="Noto Sans"/>
              </a:rPr>
              <a:t>Limitations</a:t>
            </a:r>
            <a:endParaRPr lang="en-GB" sz="2500"/>
          </a:p>
        </p:txBody>
      </p:sp>
      <p:sp>
        <p:nvSpPr>
          <p:cNvPr id="110" name="one DIFC corpus and 100 questions; one run per condition with no significance testing; LLM-based eva" descr="s109">
            <a:extLst>
              <a:ext uri="{FF2B5EF4-FFF2-40B4-BE49-F238E27FC236}">
                <ns2:creationId id="{3698254E-8B42-467F-98B0-1008CB7A5F09}"/>
              </a:ext>
            </a:extLst>
          </p:cNvPr>
          <p:cNvSpPr>
            <a:spLocks noGrp="1"/>
          </p:cNvSpPr>
          <p:nvPr/>
        </p:nvSpPr>
        <p:spPr>
          <a:xfrm>
            <a:off x="11061348" y="25237587"/>
            <a:ext cx="9703147" cy="769144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one DIFC corpus and 100 questions; one run per condition with no</a:t>
            </a:r>
            <a:endParaRPr lang="en-GB" sz="2400"/>
          </a:p>
          <a:p>
            <a:pPr algn="l" marL="0" marR="0" indent="0" fontAlgn="base">
              <a:lnSpc>
                <a:spcPts val="2831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0" i="0" spc="0" kern="0" dirty="0" u="none">
                <a:solidFill>
                  <a:srgbClr val="516578"/>
                </a:solidFill>
                <a:latin typeface="Noto Sans"/>
                <a:ea typeface="Noto Sans"/>
                <a:cs typeface="Noto Sans"/>
              </a:rPr>
              <a:t>significance testing; LLM-based evaluation of free-text answers.</a:t>
            </a:r>
            <a:endParaRPr lang="en-GB" sz="2400"/>
          </a:p>
        </p:txBody>
      </p:sp>
      <p:sp>
        <p:nvSpPr>
          <p:cNvPr id="113" name="References: [1] Lewis et al. RAG (2020). [2] Pipitone &amp; Alami. LegalBench-RAG (2024). [3] Gao et al." descr="s112">
            <a:extLst>
              <a:ext uri="{FF2B5EF4-FFF2-40B4-BE49-F238E27FC236}">
                <ns2:creationId id="{D3400D8E-780F-485A-BA88-CFA7E469B458}"/>
              </a:ext>
            </a:extLst>
          </p:cNvPr>
          <p:cNvSpPr>
            <a:spLocks noGrp="1"/>
          </p:cNvSpPr>
          <p:nvPr/>
        </p:nvSpPr>
        <p:spPr>
          <a:xfrm>
            <a:off x="647991" y="28498536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References: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i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0"/>
              </a:rPr>
              <a:t>[1] Lewis et al. RAG (2020).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i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1"/>
              </a:rPr>
              <a:t>[2] Pipitone &amp; Alami. LegalBench-RAG (2024).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i="0" spc="0" kern="0" dirty="0" u="sng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2"/>
              </a:rPr>
              <a:t>[3] Gao et al. ALCE (2023).</a:t>
            </a:r>
            <a:endParaRPr lang="en-GB" sz="2400"/>
          </a:p>
        </p:txBody>
      </p:sp>
      <p:sp>
        <p:nvSpPr>
          <p:cNvPr id="114" name="Code, protocol &amp; results: github.com/SteinVR/Trends-in-NLP-Poster" descr="s113">
            <a:extLst>
              <a:ext uri="{FF2B5EF4-FFF2-40B4-BE49-F238E27FC236}">
                <ns2:creationId id="{59499C5E-43E0-4DF6-94C7-C5D3E57C5215}"/>
              </a:ext>
            </a:extLst>
          </p:cNvPr>
          <p:cNvSpPr>
            <a:spLocks noGrp="1"/>
          </p:cNvSpPr>
          <p:nvPr/>
        </p:nvSpPr>
        <p:spPr>
          <a:xfrm>
            <a:off x="647991" y="28888854"/>
            <a:ext cx="20116502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 anchorCtr="0">
            <a:noAutofit/>
          </a:bodyPr>
          <a:lstStyle/>
          <a:p>
            <a:pPr algn="l" marL="0" marR="0" indent="0" fontAlgn="base">
              <a:lnSpc>
                <a:spcPts val="2832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2400" b="1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Code, protocol &amp; results: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</a:rPr>
              <a:t> </a:t>
            </a:r>
            <a:r>
              <a:rPr lang="en-GB" sz="2400" b="0" i="0" spc="0" kern="0" dirty="0" u="none">
                <a:solidFill>
                  <a:srgbClr val="173248"/>
                </a:solidFill>
                <a:latin typeface="Noto Sans"/>
                <a:ea typeface="Noto Sans"/>
                <a:cs typeface="Noto Sans"/>
                <a:hlinkClick r:id="rId1003"/>
              </a:rPr>
              <a:t>github.com/SteinVR/Trends-in-NLP-Poster</a:t>
            </a:r>
            <a:endParaRPr lang="en-GB" sz="2400"/>
          </a:p>
        </p:txBody>
      </p:sp>
      <p:pic>
        <p:nvPicPr>
          <p:cNvPr id="252" name="Universität Trier" descr="s124"/>
          <p:cNvPicPr>
            <a:picLocks noChangeAspect="1"/>
          </p:cNvPicPr>
          <p:nvPr/>
        </p:nvPicPr>
        <p:blipFill>
          <a:blip r:embed="R3fe4b41149564f9f">
            <a:extLst>
              <a:ext uri="{96DAC541-7B7A-43D3-8B79-37D633B846F1}">
                <ns4:svgBlip r:embed="Rf1236a4fb94f4261"/>
              </a:ext>
            </a:extLst>
          </a:blip>
          <a:stretch/>
        </p:blipFill>
        <p:spPr>
          <a:xfrm>
            <a:off x="18072050" y="654100"/>
            <a:ext cx="2663875" cy="671364"/>
          </a:xfrm>
          <a:prstGeom prst="rect">
            <a:avLst/>
          </a:prstGeom>
        </p:spPr>
      </p:pic>
      <p:pic>
        <p:nvPicPr>
          <p:cNvPr id="253" name="Q for R0 to R6: 46.2, 63.2, 49.8, 74.6, 84.4, 84.4, 84.4%. Precision: 7.6, 11.2, 14.7, 22.2, 27.1, 27.1, 61.8%. Recall: 38.5, 61.6, 52.9, 72.7, 78.9, 78.9, 74.7%." descr="s125"/>
          <p:cNvPicPr>
            <a:picLocks noChangeAspect="1"/>
          </p:cNvPicPr>
          <p:nvPr/>
        </p:nvPicPr>
        <p:blipFill>
          <a:blip r:embed="R9d072343382b4c68">
            <a:extLst>
              <a:ext uri="{96DAC541-7B7A-43D3-8B79-37D633B846F1}">
                <ns4:svgBlip r:embed="R77e10fc2e5dc4027"/>
              </a:ext>
            </a:extLst>
          </a:blip>
          <a:stretch/>
        </p:blipFill>
        <p:spPr>
          <a:xfrm>
            <a:off x="647998" y="17967722"/>
            <a:ext cx="20087927" cy="3730526"/>
          </a:xfrm>
          <a:prstGeom prst="rect">
            <a:avLst/>
          </a:prstGeom>
        </p:spPr>
      </p:pic>
      <p:pic>
        <p:nvPicPr>
          <p:cNvPr id="254" name="Answer quality: original corpus R0 65.4%; mixed corpus R0 46.2%; mixed corpus with OCR R1 63.2%." descr="s126"/>
          <p:cNvPicPr>
            <a:picLocks noChangeAspect="1"/>
          </p:cNvPicPr>
          <p:nvPr/>
        </p:nvPicPr>
        <p:blipFill>
          <a:blip r:embed="Reaa21ec092334e99">
            <a:extLst>
              <a:ext uri="{96DAC541-7B7A-43D3-8B79-37D633B846F1}">
                <ns4:svgBlip r:embed="Ra8cd6ae82be8487d"/>
              </a:ext>
            </a:extLst>
          </a:blip>
          <a:stretch/>
        </p:blipFill>
        <p:spPr>
          <a:xfrm>
            <a:off x="647998" y="22333148"/>
            <a:ext cx="9899898" cy="2811512"/>
          </a:xfrm>
          <a:prstGeom prst="rect">
            <a:avLst/>
          </a:prstGeom>
        </p:spPr>
      </p:pic>
    </p:spTree>
    <p:extLst>
      <p:ext uri="{BB962C8B-B14F-4D97-AF65-F5344CB8AC3E}">
        <ns5:creationId val="1759116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173248"/>
      </a:hlink>
      <a:folHlink>
        <a:srgbClr val="173248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2026-09-23T14:54:02.3090000Z</dcterms:created>
  <dcterms:modified xsi:type="dcterms:W3CDTF">2026-09-23T14:54:02.3090000Z</dcterms:modified>
</coreProperties>
</file>