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1b29ae9c0c4717" /><Relationship Type="http://schemas.openxmlformats.org/officeDocument/2006/relationships/extended-properties" Target="/docProps/app.xml" Id="R655034932b8044af" /><Relationship Type="http://schemas.openxmlformats.org/officeDocument/2006/relationships/officeDocument" Target="/ppt/presentation.xml" Id="R8890364fcddc42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9b3c8c35d649e2"/>
  </p:sldMasterIdLst>
  <p:notesMasterIdLst>
    <p:notesMasterId xmlns:r="http://schemas.openxmlformats.org/officeDocument/2006/relationships" r:id="R0f89b36ff8f24989"/>
  </p:notesMasterIdLst>
  <p:sldIdLst>
    <p:sldId xmlns:r="http://schemas.openxmlformats.org/officeDocument/2006/relationships" id="256" r:id="R21e64c3708b54d1c"/>
  </p:sldIdLst>
  <p:sldSz cx="2138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cb88f5ffcc4132" /><Relationship Type="http://schemas.openxmlformats.org/officeDocument/2006/relationships/slideMaster" Target="/ppt/slideMasters/slideMaster1.xml" Id="Ra29b3c8c35d649e2" /><Relationship Type="http://schemas.openxmlformats.org/officeDocument/2006/relationships/notesMaster" Target="/ppt/notesMasters/notesMaster1.xml" Id="R0f89b36ff8f24989" /><Relationship Type="http://schemas.openxmlformats.org/officeDocument/2006/relationships/presProps" Target="/ppt/presProps.xml" Id="R998d15f39b824779" /><Relationship Type="http://schemas.openxmlformats.org/officeDocument/2006/relationships/tableStyles" Target="/ppt/tableStyles.xml" Id="Rae2fdcee9d9143f7" /><Relationship Type="http://schemas.openxmlformats.org/officeDocument/2006/relationships/slide" Target="/ppt/slides/slide1.xml" Id="R21e64c3708b54d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e1c3080f644a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98708196ea4696" /><Relationship Type="http://schemas.openxmlformats.org/officeDocument/2006/relationships/notesMaster" Target="/ppt/notesMasters/notesMaster1.xml" Id="Rcb7173a9c5e541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Code, experimental protocol and measurements: https://github.com/SteinVR/Trends-in-NLP-Poster/tree/main/output/poster-narrative-3/results</a:t>
            </a:r>
          </a:p>
          <a:p xmlns:a="http://schemas.openxmlformats.org/drawingml/2006/main">
            <a:r>
              <a:t>References: https://arxiv.org/abs/2005.11401 ; https://arxiv.org/abs/2408.10343 ; https://doi.org/10.18653/v1/2023.emnlp-main.398</a:t>
            </a:r>
          </a:p>
          <a:p xmlns:a="http://schemas.openxmlformats.org/drawingml/2006/main">
            <a:r>
              <a:t>University logo: https://www.uni-trier.de/typo3conf/ext/zimktheme_unitrier/Resources/Public/Logos/Logo_Universitaet.svg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76728e4f94f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090953d8fa437e" /><Relationship Type="http://schemas.openxmlformats.org/officeDocument/2006/relationships/slideLayout" Target="/ppt/slideLayouts/slideLayout1.xml" Id="R54f913a1e37a4e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f913a1e37a4e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e7d5817374c44" /><Relationship Type="http://schemas.openxmlformats.org/officeDocument/2006/relationships/image" Target="/ppt/media/image.png" Id="Rbb11d97d58564192" /><Relationship Type="http://schemas.openxmlformats.org/officeDocument/2006/relationships/image" Target="/ppt/media/image.svg" Id="R5a7d9b9b50c84b68" /><Relationship Type="http://schemas.openxmlformats.org/officeDocument/2006/relationships/image" Target="/ppt/media/image2.png" Id="R6aa74a7eb61a447a" /><Relationship Type="http://schemas.openxmlformats.org/officeDocument/2006/relationships/image" Target="/ppt/media/image2.svg" Id="Raaee3c1c8ba44f11" /><Relationship Type="http://schemas.openxmlformats.org/officeDocument/2006/relationships/image" Target="/ppt/media/image3.png" Id="Rce479cdfb61744a1" /><Relationship Type="http://schemas.openxmlformats.org/officeDocument/2006/relationships/image" Target="/ppt/media/image3.svg" Id="R9f094f80e4a84b8e" /><Relationship Type="http://schemas.openxmlformats.org/officeDocument/2006/relationships/image" Target="/ppt/media/image4.png" Id="Raf559dfcb8014dd7" /><Relationship Type="http://schemas.openxmlformats.org/officeDocument/2006/relationships/image" Target="/ppt/media/image4.svg" Id="R275ae1238f774716" /><Relationship Type="http://schemas.openxmlformats.org/officeDocument/2006/relationships/image" Target="/ppt/media/image5.png" Id="R39111eda4bef480b" /><Relationship Type="http://schemas.openxmlformats.org/officeDocument/2006/relationships/image" Target="/ppt/media/image5.svg" Id="R93f102f460974d52" /><Relationship Type="http://schemas.openxmlformats.org/officeDocument/2006/relationships/image" Target="/ppt/media/image6.png" Id="R1e15ddca2a0048c1" /><Relationship Type="http://schemas.openxmlformats.org/officeDocument/2006/relationships/image" Target="/ppt/media/image6.svg" Id="Rbfaa36ac4ff44177" /><Relationship Type="http://schemas.openxmlformats.org/officeDocument/2006/relationships/image" Target="/ppt/media/image7.png" Id="Ra019d1299fc241b1" /><Relationship Type="http://schemas.openxmlformats.org/officeDocument/2006/relationships/image" Target="/ppt/media/image7.svg" Id="R4666c0bf051549a4" /><Relationship Type="http://schemas.openxmlformats.org/officeDocument/2006/relationships/image" Target="/ppt/media/image8.png" Id="Rb5b3450f2acf4b1e" /><Relationship Type="http://schemas.openxmlformats.org/officeDocument/2006/relationships/image" Target="/ppt/media/image8.svg" Id="R4ead615c442440c6" /><Relationship Type="http://schemas.openxmlformats.org/officeDocument/2006/relationships/image" Target="/ppt/media/image9.png" Id="Re80162a23f224867" /><Relationship Type="http://schemas.openxmlformats.org/officeDocument/2006/relationships/image" Target="/ppt/media/image9.svg" Id="R9e9b455e37a94b19" /><Relationship Type="http://schemas.openxmlformats.org/officeDocument/2006/relationships/image" Target="/ppt/media/image10.png" Id="R282fbf5980b84c98" /><Relationship Type="http://schemas.openxmlformats.org/officeDocument/2006/relationships/image" Target="/ppt/media/image10.svg" Id="R3b1a64473ef7483b" /><Relationship Type="http://schemas.openxmlformats.org/officeDocument/2006/relationships/image" Target="/ppt/media/image11.png" Id="R3fe4b41149564f9f" /><Relationship Type="http://schemas.openxmlformats.org/officeDocument/2006/relationships/image" Target="/ppt/media/image11.svg" Id="Rf1236a4fb94f4261" /><Relationship Type="http://schemas.openxmlformats.org/officeDocument/2006/relationships/image" Target="/ppt/media/image12.png" Id="R9d072343382b4c68" /><Relationship Type="http://schemas.openxmlformats.org/officeDocument/2006/relationships/image" Target="/ppt/media/image12.svg" Id="R77e10fc2e5dc4027" /><Relationship Type="http://schemas.openxmlformats.org/officeDocument/2006/relationships/image" Target="/ppt/media/image13.png" Id="Reaa21ec092334e99" /><Relationship Type="http://schemas.openxmlformats.org/officeDocument/2006/relationships/image" Target="/ppt/media/image13.svg" Id="Ra8cd6ae82be8487d" /><Relationship Type="http://schemas.openxmlformats.org/officeDocument/2006/relationships/notesSlide" Target="/ppt/notesSlides/notesSlide1.xml" Id="R67bea0288ad94d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s5">
            <a:extLst xmlns:a="http://schemas.openxmlformats.org/drawingml/2006/main">
              <a:ext uri="{FF2B5EF4-FFF2-40B4-BE49-F238E27FC236}">
                <a16:creationId xmlns:a16="http://schemas.microsoft.com/office/drawing/2014/main" id="{C98D4CA5-6F9C-48AB-856B-143115D7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727746"/>
            <a:ext cx="2008792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AA"/>
          </a:solidFill>
          <a:ln xmlns:a="http://schemas.openxmlformats.org/drawingml/2006/main" w="0">
            <a:noFill/>
          </a:ln>
        </p:spPr>
      </p:sp>
      <p:sp>
        <p:nvSpPr>
          <p:cNvPr id="2" name="s6">
            <a:extLst xmlns:a="http://schemas.openxmlformats.org/drawingml/2006/main">
              <a:ext uri="{FF2B5EF4-FFF2-40B4-BE49-F238E27FC236}">
                <a16:creationId xmlns:a16="http://schemas.microsoft.com/office/drawing/2014/main" id="{B805F7FA-65BC-4738-91DA-0EF01CB1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4606230"/>
            <a:ext cx="20087927" cy="180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A"/>
          </a:solidFill>
          <a:ln xmlns:a="http://schemas.openxmlformats.org/drawingml/2006/main" w="0">
            <a:noFill/>
          </a:ln>
        </p:spPr>
      </p:sp>
      <p:sp>
        <p:nvSpPr>
          <p:cNvPr id="3" name="s7">
            <a:extLst xmlns:a="http://schemas.openxmlformats.org/drawingml/2006/main">
              <a:ext uri="{FF2B5EF4-FFF2-40B4-BE49-F238E27FC236}">
                <a16:creationId xmlns:a16="http://schemas.microsoft.com/office/drawing/2014/main" id="{51FAE926-CCE0-4664-9895-DFFB59D6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6520755"/>
            <a:ext cx="2008792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AA"/>
          </a:solidFill>
          <a:ln xmlns:a="http://schemas.openxmlformats.org/drawingml/2006/main" w="0">
            <a:noFill/>
          </a:ln>
        </p:spPr>
      </p:sp>
      <p:sp>
        <p:nvSpPr>
          <p:cNvPr id="4" name="s8">
            <a:extLst xmlns:a="http://schemas.openxmlformats.org/drawingml/2006/main">
              <a:ext uri="{FF2B5EF4-FFF2-40B4-BE49-F238E27FC236}">
                <a16:creationId xmlns:a16="http://schemas.microsoft.com/office/drawing/2014/main" id="{9CF6C73F-CD42-4D58-B72C-3C0C3D82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8056662"/>
            <a:ext cx="20087927" cy="1322189"/>
          </a:xfrm>
          <a:prstGeom xmlns:a="http://schemas.openxmlformats.org/drawingml/2006/main" prst="roundRect">
            <a:avLst>
              <a:gd name="adj" fmla="val 8168"/>
            </a:avLst>
          </a:prstGeom>
          <a:solidFill xmlns:a="http://schemas.openxmlformats.org/drawingml/2006/main">
            <a:srgbClr val="F0F5F8"/>
          </a:solidFill>
          <a:ln xmlns:a="http://schemas.openxmlformats.org/drawingml/2006/main" w="9525">
            <a:solidFill>
              <a:srgbClr val="C8D8E5"/>
            </a:solidFill>
          </a:ln>
        </p:spPr>
      </p:sp>
      <p:sp>
        <p:nvSpPr>
          <p:cNvPr id="5" name="s9">
            <a:extLst xmlns:a="http://schemas.openxmlformats.org/drawingml/2006/main">
              <a:ext uri="{FF2B5EF4-FFF2-40B4-BE49-F238E27FC236}">
                <a16:creationId xmlns:a16="http://schemas.microsoft.com/office/drawing/2014/main" id="{C6ED16FF-E4F6-43DB-BA2B-222D6FDC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9666684"/>
            <a:ext cx="655200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6BD"/>
          </a:solidFill>
          <a:ln xmlns:a="http://schemas.openxmlformats.org/drawingml/2006/main" w="0">
            <a:noFill/>
          </a:ln>
        </p:spPr>
      </p:sp>
      <p:sp>
        <p:nvSpPr>
          <p:cNvPr id="6" name="s10">
            <a:extLst xmlns:a="http://schemas.openxmlformats.org/drawingml/2006/main">
              <a:ext uri="{FF2B5EF4-FFF2-40B4-BE49-F238E27FC236}">
                <a16:creationId xmlns:a16="http://schemas.microsoft.com/office/drawing/2014/main" id="{EF635B95-AADB-45FF-B8DC-9C8585EF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482" y="9666684"/>
            <a:ext cx="9525" cy="2519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6BD"/>
          </a:solidFill>
          <a:ln xmlns:a="http://schemas.openxmlformats.org/drawingml/2006/main" w="0">
            <a:noFill/>
          </a:ln>
        </p:spPr>
      </p:sp>
      <p:sp>
        <p:nvSpPr>
          <p:cNvPr id="7" name="s11">
            <a:extLst xmlns:a="http://schemas.openxmlformats.org/drawingml/2006/main">
              <a:ext uri="{FF2B5EF4-FFF2-40B4-BE49-F238E27FC236}">
                <a16:creationId xmlns:a16="http://schemas.microsoft.com/office/drawing/2014/main" id="{23BDF1E4-EF0F-47A0-BBFC-BA4E0011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9666684"/>
            <a:ext cx="9525" cy="2519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6BD"/>
          </a:solidFill>
          <a:ln xmlns:a="http://schemas.openxmlformats.org/drawingml/2006/main" w="0">
            <a:noFill/>
          </a:ln>
        </p:spPr>
      </p:sp>
      <p:sp>
        <p:nvSpPr>
          <p:cNvPr id="8" name="s12">
            <a:extLst xmlns:a="http://schemas.openxmlformats.org/drawingml/2006/main">
              <a:ext uri="{FF2B5EF4-FFF2-40B4-BE49-F238E27FC236}">
                <a16:creationId xmlns:a16="http://schemas.microsoft.com/office/drawing/2014/main" id="{603B0A6E-BF20-4DB2-A4F3-DE49B197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98" y="9485709"/>
            <a:ext cx="3986808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s13">
            <a:extLst xmlns:a="http://schemas.openxmlformats.org/drawingml/2006/main">
              <a:ext uri="{FF2B5EF4-FFF2-40B4-BE49-F238E27FC236}">
                <a16:creationId xmlns:a16="http://schemas.microsoft.com/office/drawing/2014/main" id="{8002BAE2-9328-4CE5-9830-8470F0BE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957" y="9666684"/>
            <a:ext cx="655200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A42"/>
          </a:solidFill>
          <a:ln xmlns:a="http://schemas.openxmlformats.org/drawingml/2006/main" w="0">
            <a:noFill/>
          </a:ln>
        </p:spPr>
      </p:sp>
      <p:sp>
        <p:nvSpPr>
          <p:cNvPr id="10" name="s14">
            <a:extLst xmlns:a="http://schemas.openxmlformats.org/drawingml/2006/main">
              <a:ext uri="{FF2B5EF4-FFF2-40B4-BE49-F238E27FC236}">
                <a16:creationId xmlns:a16="http://schemas.microsoft.com/office/drawing/2014/main" id="{7C175AB8-8B47-44D6-897C-2C93D33A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8441" y="9666684"/>
            <a:ext cx="9525" cy="2519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A42"/>
          </a:solidFill>
          <a:ln xmlns:a="http://schemas.openxmlformats.org/drawingml/2006/main" w="0">
            <a:noFill/>
          </a:ln>
        </p:spPr>
      </p:sp>
      <p:sp>
        <p:nvSpPr>
          <p:cNvPr id="11" name="s15">
            <a:extLst xmlns:a="http://schemas.openxmlformats.org/drawingml/2006/main">
              <a:ext uri="{FF2B5EF4-FFF2-40B4-BE49-F238E27FC236}">
                <a16:creationId xmlns:a16="http://schemas.microsoft.com/office/drawing/2014/main" id="{10CD7189-792A-4B93-BBA9-626DE4D4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957" y="9666684"/>
            <a:ext cx="9525" cy="2519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A42"/>
          </a:solidFill>
          <a:ln xmlns:a="http://schemas.openxmlformats.org/drawingml/2006/main" w="0">
            <a:noFill/>
          </a:ln>
        </p:spPr>
      </p:sp>
      <p:sp>
        <p:nvSpPr>
          <p:cNvPr id="12" name="s16">
            <a:extLst xmlns:a="http://schemas.openxmlformats.org/drawingml/2006/main">
              <a:ext uri="{FF2B5EF4-FFF2-40B4-BE49-F238E27FC236}">
                <a16:creationId xmlns:a16="http://schemas.microsoft.com/office/drawing/2014/main" id="{B0606E11-15CA-4ED6-A159-42D46923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473" y="9485709"/>
            <a:ext cx="1818829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s17">
            <a:extLst xmlns:a="http://schemas.openxmlformats.org/drawingml/2006/main">
              <a:ext uri="{FF2B5EF4-FFF2-40B4-BE49-F238E27FC236}">
                <a16:creationId xmlns:a16="http://schemas.microsoft.com/office/drawing/2014/main" id="{06787AD1-165E-44CA-89E0-2E1CE159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3916" y="9666684"/>
            <a:ext cx="316795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4"/>
          </a:solidFill>
          <a:ln xmlns:a="http://schemas.openxmlformats.org/drawingml/2006/main" w="0">
            <a:noFill/>
          </a:ln>
        </p:spPr>
      </p:sp>
      <p:sp>
        <p:nvSpPr>
          <p:cNvPr id="14" name="s18">
            <a:extLst xmlns:a="http://schemas.openxmlformats.org/drawingml/2006/main">
              <a:ext uri="{FF2B5EF4-FFF2-40B4-BE49-F238E27FC236}">
                <a16:creationId xmlns:a16="http://schemas.microsoft.com/office/drawing/2014/main" id="{902506AA-382E-4C3B-9C58-BB1F471C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2346" y="9666684"/>
            <a:ext cx="9525" cy="2519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4"/>
          </a:solidFill>
          <a:ln xmlns:a="http://schemas.openxmlformats.org/drawingml/2006/main" w="0">
            <a:noFill/>
          </a:ln>
        </p:spPr>
      </p:sp>
      <p:sp>
        <p:nvSpPr>
          <p:cNvPr id="15" name="s19">
            <a:extLst xmlns:a="http://schemas.openxmlformats.org/drawingml/2006/main">
              <a:ext uri="{FF2B5EF4-FFF2-40B4-BE49-F238E27FC236}">
                <a16:creationId xmlns:a16="http://schemas.microsoft.com/office/drawing/2014/main" id="{B51BDA1B-4941-4F95-B360-DF097F4C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3916" y="9666684"/>
            <a:ext cx="9525" cy="2519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4"/>
          </a:solidFill>
          <a:ln xmlns:a="http://schemas.openxmlformats.org/drawingml/2006/main" w="0">
            <a:noFill/>
          </a:ln>
        </p:spPr>
      </p:sp>
      <p:sp>
        <p:nvSpPr>
          <p:cNvPr id="16" name="s20">
            <a:extLst xmlns:a="http://schemas.openxmlformats.org/drawingml/2006/main">
              <a:ext uri="{FF2B5EF4-FFF2-40B4-BE49-F238E27FC236}">
                <a16:creationId xmlns:a16="http://schemas.microsoft.com/office/drawing/2014/main" id="{1A272C44-8025-428A-8BC6-13F29468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0441" y="9485709"/>
            <a:ext cx="209490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s21">
            <a:extLst xmlns:a="http://schemas.openxmlformats.org/drawingml/2006/main">
              <a:ext uri="{FF2B5EF4-FFF2-40B4-BE49-F238E27FC236}">
                <a16:creationId xmlns:a16="http://schemas.microsoft.com/office/drawing/2014/main" id="{DD7B4EC9-B9EA-485E-A742-AA82A47F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7821" y="9666684"/>
            <a:ext cx="316810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5B5"/>
          </a:solidFill>
          <a:ln xmlns:a="http://schemas.openxmlformats.org/drawingml/2006/main" w="0">
            <a:noFill/>
          </a:ln>
        </p:spPr>
      </p:sp>
      <p:sp>
        <p:nvSpPr>
          <p:cNvPr id="18" name="s22">
            <a:extLst xmlns:a="http://schemas.openxmlformats.org/drawingml/2006/main">
              <a:ext uri="{FF2B5EF4-FFF2-40B4-BE49-F238E27FC236}">
                <a16:creationId xmlns:a16="http://schemas.microsoft.com/office/drawing/2014/main" id="{09896525-F7DD-490F-8217-5426E603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6400" y="9666684"/>
            <a:ext cx="9525" cy="2519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5B5"/>
          </a:solidFill>
          <a:ln xmlns:a="http://schemas.openxmlformats.org/drawingml/2006/main" w="0">
            <a:noFill/>
          </a:ln>
        </p:spPr>
      </p:sp>
      <p:sp>
        <p:nvSpPr>
          <p:cNvPr id="19" name="s23">
            <a:extLst xmlns:a="http://schemas.openxmlformats.org/drawingml/2006/main">
              <a:ext uri="{FF2B5EF4-FFF2-40B4-BE49-F238E27FC236}">
                <a16:creationId xmlns:a16="http://schemas.microsoft.com/office/drawing/2014/main" id="{7E69776A-18E0-4170-AB7F-7044F170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7821" y="9666684"/>
            <a:ext cx="9525" cy="2519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5B5"/>
          </a:solidFill>
          <a:ln xmlns:a="http://schemas.openxmlformats.org/drawingml/2006/main" w="0">
            <a:noFill/>
          </a:ln>
        </p:spPr>
      </p:sp>
      <p:sp>
        <p:nvSpPr>
          <p:cNvPr id="20" name="s24">
            <a:extLst xmlns:a="http://schemas.openxmlformats.org/drawingml/2006/main">
              <a:ext uri="{FF2B5EF4-FFF2-40B4-BE49-F238E27FC236}">
                <a16:creationId xmlns:a16="http://schemas.microsoft.com/office/drawing/2014/main" id="{0DC3B05F-6097-4292-8A3C-36457CB0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9036" y="9485709"/>
            <a:ext cx="1825526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s25">
            <a:extLst xmlns:a="http://schemas.openxmlformats.org/drawingml/2006/main">
              <a:ext uri="{FF2B5EF4-FFF2-40B4-BE49-F238E27FC236}">
                <a16:creationId xmlns:a16="http://schemas.microsoft.com/office/drawing/2014/main" id="{92D47625-9980-4764-8673-80634991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0026551"/>
            <a:ext cx="3167955" cy="3906292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EEF7FD"/>
          </a:solidFill>
          <a:ln xmlns:a="http://schemas.openxmlformats.org/drawingml/2006/main" w="9525">
            <a:solidFill>
              <a:srgbClr val="3186BD"/>
            </a:solidFill>
          </a:ln>
        </p:spPr>
      </p:sp>
      <p:sp>
        <p:nvSpPr>
          <p:cNvPr id="22" name="s26">
            <a:extLst xmlns:a="http://schemas.openxmlformats.org/drawingml/2006/main">
              <a:ext uri="{FF2B5EF4-FFF2-40B4-BE49-F238E27FC236}">
                <a16:creationId xmlns:a16="http://schemas.microsoft.com/office/drawing/2014/main" id="{795E4ABB-CDD8-41F2-A8F7-FBBAFB0B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23" y="12699355"/>
            <a:ext cx="3148905" cy="1223963"/>
          </a:xfrm>
          <a:prstGeom xmlns:a="http://schemas.openxmlformats.org/drawingml/2006/main" prst="roundRect">
            <a:avLst>
              <a:gd name="adj" fmla="val 7647"/>
            </a:avLst>
          </a:prstGeom>
          <a:solidFill xmlns:a="http://schemas.openxmlformats.org/drawingml/2006/main">
            <a:srgbClr val="DCECF7"/>
          </a:solidFill>
          <a:ln xmlns:a="http://schemas.openxmlformats.org/drawingml/2006/main" w="0">
            <a:noFill/>
          </a:ln>
        </p:spPr>
      </p:sp>
      <p:sp>
        <p:nvSpPr>
          <p:cNvPr id="23" name="s27">
            <a:extLst xmlns:a="http://schemas.openxmlformats.org/drawingml/2006/main">
              <a:ext uri="{FF2B5EF4-FFF2-40B4-BE49-F238E27FC236}">
                <a16:creationId xmlns:a16="http://schemas.microsoft.com/office/drawing/2014/main" id="{98A73375-45FB-4602-9C49-38A933A4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903" y="10026551"/>
            <a:ext cx="3168104" cy="3906292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EEF7FD"/>
          </a:solidFill>
          <a:ln xmlns:a="http://schemas.openxmlformats.org/drawingml/2006/main" w="9525">
            <a:solidFill>
              <a:srgbClr val="3186BD"/>
            </a:solidFill>
          </a:ln>
        </p:spPr>
      </p:sp>
      <p:sp>
        <p:nvSpPr>
          <p:cNvPr id="24" name="s28">
            <a:extLst xmlns:a="http://schemas.openxmlformats.org/drawingml/2006/main">
              <a:ext uri="{FF2B5EF4-FFF2-40B4-BE49-F238E27FC236}">
                <a16:creationId xmlns:a16="http://schemas.microsoft.com/office/drawing/2014/main" id="{345660D1-6401-4970-8170-9F1F76FD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428" y="12699355"/>
            <a:ext cx="3149054" cy="1223963"/>
          </a:xfrm>
          <a:prstGeom xmlns:a="http://schemas.openxmlformats.org/drawingml/2006/main" prst="roundRect">
            <a:avLst>
              <a:gd name="adj" fmla="val 7647"/>
            </a:avLst>
          </a:prstGeom>
          <a:solidFill xmlns:a="http://schemas.openxmlformats.org/drawingml/2006/main">
            <a:srgbClr val="DCECF7"/>
          </a:solidFill>
          <a:ln xmlns:a="http://schemas.openxmlformats.org/drawingml/2006/main" w="0">
            <a:noFill/>
          </a:ln>
        </p:spPr>
      </p:sp>
      <p:sp>
        <p:nvSpPr>
          <p:cNvPr id="25" name="s29">
            <a:extLst xmlns:a="http://schemas.openxmlformats.org/drawingml/2006/main">
              <a:ext uri="{FF2B5EF4-FFF2-40B4-BE49-F238E27FC236}">
                <a16:creationId xmlns:a16="http://schemas.microsoft.com/office/drawing/2014/main" id="{5C6CEE39-C48B-456D-9B11-4E9F96B7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957" y="10026551"/>
            <a:ext cx="3167955" cy="3906292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1F8EF"/>
          </a:solidFill>
          <a:ln xmlns:a="http://schemas.openxmlformats.org/drawingml/2006/main" w="9525">
            <a:solidFill>
              <a:srgbClr val="4B8A42"/>
            </a:solidFill>
          </a:ln>
        </p:spPr>
      </p:sp>
      <p:sp>
        <p:nvSpPr>
          <p:cNvPr id="26" name="s30">
            <a:extLst xmlns:a="http://schemas.openxmlformats.org/drawingml/2006/main">
              <a:ext uri="{FF2B5EF4-FFF2-40B4-BE49-F238E27FC236}">
                <a16:creationId xmlns:a16="http://schemas.microsoft.com/office/drawing/2014/main" id="{F4E509E0-38AF-4AF6-BD2A-6120A1A7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482" y="12699355"/>
            <a:ext cx="3148905" cy="1223963"/>
          </a:xfrm>
          <a:prstGeom xmlns:a="http://schemas.openxmlformats.org/drawingml/2006/main" prst="roundRect">
            <a:avLst>
              <a:gd name="adj" fmla="val 7647"/>
            </a:avLst>
          </a:prstGeom>
          <a:solidFill xmlns:a="http://schemas.openxmlformats.org/drawingml/2006/main">
            <a:srgbClr val="E1EFDC"/>
          </a:solidFill>
          <a:ln xmlns:a="http://schemas.openxmlformats.org/drawingml/2006/main" w="0">
            <a:noFill/>
          </a:ln>
        </p:spPr>
      </p:sp>
      <p:sp>
        <p:nvSpPr>
          <p:cNvPr id="27" name="s31">
            <a:extLst xmlns:a="http://schemas.openxmlformats.org/drawingml/2006/main">
              <a:ext uri="{FF2B5EF4-FFF2-40B4-BE49-F238E27FC236}">
                <a16:creationId xmlns:a16="http://schemas.microsoft.com/office/drawing/2014/main" id="{9ECB668F-39B2-494D-ABE7-BD3C890B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862" y="10026551"/>
            <a:ext cx="3168104" cy="3906292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1F8EF"/>
          </a:solidFill>
          <a:ln xmlns:a="http://schemas.openxmlformats.org/drawingml/2006/main" w="9525">
            <a:solidFill>
              <a:srgbClr val="4B8A42"/>
            </a:solidFill>
          </a:ln>
        </p:spPr>
      </p:sp>
      <p:sp>
        <p:nvSpPr>
          <p:cNvPr id="28" name="s32">
            <a:extLst xmlns:a="http://schemas.openxmlformats.org/drawingml/2006/main">
              <a:ext uri="{FF2B5EF4-FFF2-40B4-BE49-F238E27FC236}">
                <a16:creationId xmlns:a16="http://schemas.microsoft.com/office/drawing/2014/main" id="{3229D76F-00F6-41D7-9F59-107AE76B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9387" y="12699355"/>
            <a:ext cx="3149054" cy="1223963"/>
          </a:xfrm>
          <a:prstGeom xmlns:a="http://schemas.openxmlformats.org/drawingml/2006/main" prst="roundRect">
            <a:avLst>
              <a:gd name="adj" fmla="val 7647"/>
            </a:avLst>
          </a:prstGeom>
          <a:solidFill xmlns:a="http://schemas.openxmlformats.org/drawingml/2006/main">
            <a:srgbClr val="E1EFDC"/>
          </a:solidFill>
          <a:ln xmlns:a="http://schemas.openxmlformats.org/drawingml/2006/main" w="0">
            <a:noFill/>
          </a:ln>
        </p:spPr>
      </p:sp>
      <p:sp>
        <p:nvSpPr>
          <p:cNvPr id="29" name="s33">
            <a:extLst xmlns:a="http://schemas.openxmlformats.org/drawingml/2006/main">
              <a:ext uri="{FF2B5EF4-FFF2-40B4-BE49-F238E27FC236}">
                <a16:creationId xmlns:a16="http://schemas.microsoft.com/office/drawing/2014/main" id="{BF69FED9-921D-4A27-AE4C-6AEC9818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3916" y="10026551"/>
            <a:ext cx="3167955" cy="3906292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B96734"/>
            </a:solidFill>
          </a:ln>
        </p:spPr>
      </p:sp>
      <p:sp>
        <p:nvSpPr>
          <p:cNvPr id="30" name="s34">
            <a:extLst xmlns:a="http://schemas.openxmlformats.org/drawingml/2006/main">
              <a:ext uri="{FF2B5EF4-FFF2-40B4-BE49-F238E27FC236}">
                <a16:creationId xmlns:a16="http://schemas.microsoft.com/office/drawing/2014/main" id="{8AD7659D-361E-438A-ABFA-D29F8B58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3441" y="12699355"/>
            <a:ext cx="3148905" cy="1223963"/>
          </a:xfrm>
          <a:prstGeom xmlns:a="http://schemas.openxmlformats.org/drawingml/2006/main" prst="roundRect">
            <a:avLst>
              <a:gd name="adj" fmla="val 7647"/>
            </a:avLst>
          </a:prstGeom>
          <a:solidFill xmlns:a="http://schemas.openxmlformats.org/drawingml/2006/main">
            <a:srgbClr val="FAE7D6"/>
          </a:solidFill>
          <a:ln xmlns:a="http://schemas.openxmlformats.org/drawingml/2006/main" w="0">
            <a:noFill/>
          </a:ln>
        </p:spPr>
      </p:sp>
      <p:sp>
        <p:nvSpPr>
          <p:cNvPr id="31" name="s35">
            <a:extLst xmlns:a="http://schemas.openxmlformats.org/drawingml/2006/main">
              <a:ext uri="{FF2B5EF4-FFF2-40B4-BE49-F238E27FC236}">
                <a16:creationId xmlns:a16="http://schemas.microsoft.com/office/drawing/2014/main" id="{27285D9C-FBE1-46C3-985A-11AFC180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7821" y="10026551"/>
            <a:ext cx="3168104" cy="3906292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6F1FC"/>
          </a:solidFill>
          <a:ln xmlns:a="http://schemas.openxmlformats.org/drawingml/2006/main" w="9525">
            <a:solidFill>
              <a:srgbClr val="7655B5"/>
            </a:solidFill>
          </a:ln>
        </p:spPr>
      </p:sp>
      <p:sp>
        <p:nvSpPr>
          <p:cNvPr id="32" name="s36">
            <a:extLst xmlns:a="http://schemas.openxmlformats.org/drawingml/2006/main">
              <a:ext uri="{FF2B5EF4-FFF2-40B4-BE49-F238E27FC236}">
                <a16:creationId xmlns:a16="http://schemas.microsoft.com/office/drawing/2014/main" id="{E102AB87-8287-40DB-AC9E-7C33BA32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7346" y="12699355"/>
            <a:ext cx="3149054" cy="1223963"/>
          </a:xfrm>
          <a:prstGeom xmlns:a="http://schemas.openxmlformats.org/drawingml/2006/main" prst="roundRect">
            <a:avLst>
              <a:gd name="adj" fmla="val 7647"/>
            </a:avLst>
          </a:prstGeom>
          <a:solidFill xmlns:a="http://schemas.openxmlformats.org/drawingml/2006/main">
            <a:srgbClr val="E8DDF5"/>
          </a:solidFill>
          <a:ln xmlns:a="http://schemas.openxmlformats.org/drawingml/2006/main" w="0">
            <a:noFill/>
          </a:ln>
        </p:spPr>
      </p:sp>
      <p:sp>
        <p:nvSpPr>
          <p:cNvPr id="33" name="s37">
            <a:extLst xmlns:a="http://schemas.openxmlformats.org/drawingml/2006/main">
              <a:ext uri="{FF2B5EF4-FFF2-40B4-BE49-F238E27FC236}">
                <a16:creationId xmlns:a16="http://schemas.microsoft.com/office/drawing/2014/main" id="{9D90C824-29A1-4A0F-AEFD-8E965B5C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4004727"/>
            <a:ext cx="20087927" cy="503337"/>
          </a:xfrm>
          <a:prstGeom xmlns:a="http://schemas.openxmlformats.org/drawingml/2006/main" prst="roundRect">
            <a:avLst>
              <a:gd name="adj" fmla="val 14305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</a:ln>
        </p:spPr>
      </p:sp>
      <p:sp>
        <p:nvSpPr>
          <p:cNvPr id="34" name="s38">
            <a:extLst xmlns:a="http://schemas.openxmlformats.org/drawingml/2006/main">
              <a:ext uri="{FF2B5EF4-FFF2-40B4-BE49-F238E27FC236}">
                <a16:creationId xmlns:a16="http://schemas.microsoft.com/office/drawing/2014/main" id="{F5A8DEF3-F643-4F54-9338-91FE2C8F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4615964"/>
            <a:ext cx="2008792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EE8"/>
          </a:solidFill>
          <a:ln xmlns:a="http://schemas.openxmlformats.org/drawingml/2006/main" w="0">
            <a:noFill/>
          </a:ln>
        </p:spPr>
      </p:sp>
      <p:sp>
        <p:nvSpPr>
          <p:cNvPr id="35" name="s39">
            <a:extLst xmlns:a="http://schemas.openxmlformats.org/drawingml/2006/main">
              <a:ext uri="{FF2B5EF4-FFF2-40B4-BE49-F238E27FC236}">
                <a16:creationId xmlns:a16="http://schemas.microsoft.com/office/drawing/2014/main" id="{03B4DC0B-08E6-4908-AFEA-5A0BCE42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7258854"/>
            <a:ext cx="2008792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AA"/>
          </a:solidFill>
          <a:ln xmlns:a="http://schemas.openxmlformats.org/drawingml/2006/main" w="0">
            <a:noFill/>
          </a:ln>
        </p:spPr>
      </p:sp>
      <p:sp>
        <p:nvSpPr>
          <p:cNvPr id="36" name="s40">
            <a:extLst xmlns:a="http://schemas.openxmlformats.org/drawingml/2006/main">
              <a:ext uri="{FF2B5EF4-FFF2-40B4-BE49-F238E27FC236}">
                <a16:creationId xmlns:a16="http://schemas.microsoft.com/office/drawing/2014/main" id="{C98B45A3-0CEE-466D-A4DA-268978A2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878" y="21842164"/>
            <a:ext cx="9525" cy="44530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EE8"/>
          </a:solidFill>
          <a:ln xmlns:a="http://schemas.openxmlformats.org/drawingml/2006/main" w="0">
            <a:noFill/>
          </a:ln>
        </p:spPr>
      </p:sp>
      <p:sp>
        <p:nvSpPr>
          <p:cNvPr id="37" name="s41">
            <a:extLst xmlns:a="http://schemas.openxmlformats.org/drawingml/2006/main">
              <a:ext uri="{FF2B5EF4-FFF2-40B4-BE49-F238E27FC236}">
                <a16:creationId xmlns:a16="http://schemas.microsoft.com/office/drawing/2014/main" id="{065E6EA7-2CE0-4E19-BD32-BFFFFB4C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353" y="24742229"/>
            <a:ext cx="967457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EE8"/>
          </a:solidFill>
          <a:ln xmlns:a="http://schemas.openxmlformats.org/drawingml/2006/main" w="0">
            <a:noFill/>
          </a:ln>
        </p:spPr>
      </p:sp>
      <p:sp>
        <p:nvSpPr>
          <p:cNvPr id="38" name="s42">
            <a:extLst xmlns:a="http://schemas.openxmlformats.org/drawingml/2006/main">
              <a:ext uri="{FF2B5EF4-FFF2-40B4-BE49-F238E27FC236}">
                <a16:creationId xmlns:a16="http://schemas.microsoft.com/office/drawing/2014/main" id="{4B05D7B5-2FFC-4520-B3C1-C0BC7302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6439168"/>
            <a:ext cx="20087927" cy="18215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68A"/>
          </a:solidFill>
          <a:ln xmlns:a="http://schemas.openxmlformats.org/drawingml/2006/main" w="0">
            <a:noFill/>
          </a:ln>
        </p:spPr>
      </p:sp>
      <p:sp>
        <p:nvSpPr>
          <p:cNvPr id="39" name="s43">
            <a:extLst xmlns:a="http://schemas.openxmlformats.org/drawingml/2006/main">
              <a:ext uri="{FF2B5EF4-FFF2-40B4-BE49-F238E27FC236}">
                <a16:creationId xmlns:a16="http://schemas.microsoft.com/office/drawing/2014/main" id="{2934D7FC-EB24-4BC9-94FE-1C947423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8368575"/>
            <a:ext cx="2008792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EE8"/>
          </a:solidFill>
          <a:ln xmlns:a="http://schemas.openxmlformats.org/drawingml/2006/main" w="0">
            <a:noFill/>
          </a:ln>
        </p:spPr>
      </p:sp>
      <p:sp>
        <p:nvSpPr>
          <p:cNvPr id="40" name="s0">
            <a:extLst xmlns:a="http://schemas.openxmlformats.org/drawingml/2006/main">
              <a:ext uri="{FF2B5EF4-FFF2-40B4-BE49-F238E27FC236}">
                <a16:creationId xmlns:a16="http://schemas.microsoft.com/office/drawing/2014/main" id="{CAF2D0BE-9482-4C68-9E4F-D1788E9A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003" y="11707416"/>
            <a:ext cx="179784" cy="251817"/>
          </a:xfrm>
          <a:custGeom xmlns:a="http://schemas.openxmlformats.org/drawingml/2006/main">
            <a:pathLst>
              <a:path w="179784" h="251817">
                <a:moveTo>
                  <a:pt x="0" y="75545"/>
                </a:moveTo>
                <a:lnTo>
                  <a:pt x="93488" y="75545"/>
                </a:lnTo>
                <a:lnTo>
                  <a:pt x="93488" y="0"/>
                </a:lnTo>
                <a:lnTo>
                  <a:pt x="179784" y="125909"/>
                </a:lnTo>
                <a:lnTo>
                  <a:pt x="93488" y="251817"/>
                </a:lnTo>
                <a:lnTo>
                  <a:pt x="93488" y="176272"/>
                </a:lnTo>
                <a:lnTo>
                  <a:pt x="0" y="176272"/>
                </a:lnTo>
                <a:close/>
              </a:path>
            </a:pathLst>
          </a:custGeom>
          <a:solidFill xmlns:a="http://schemas.openxmlformats.org/drawingml/2006/main">
            <a:srgbClr val="3186BD"/>
          </a:solidFill>
          <a:ln xmlns:a="http://schemas.openxmlformats.org/drawingml/2006/main" w="0">
            <a:noFill/>
          </a:ln>
        </p:spPr>
      </p:sp>
      <p:sp>
        <p:nvSpPr>
          <p:cNvPr id="41" name="s1">
            <a:extLst xmlns:a="http://schemas.openxmlformats.org/drawingml/2006/main">
              <a:ext uri="{FF2B5EF4-FFF2-40B4-BE49-F238E27FC236}">
                <a16:creationId xmlns:a16="http://schemas.microsoft.com/office/drawing/2014/main" id="{B7611814-06D8-4246-85EB-72429E45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206" y="11707416"/>
            <a:ext cx="179784" cy="251817"/>
          </a:xfrm>
          <a:custGeom xmlns:a="http://schemas.openxmlformats.org/drawingml/2006/main">
            <a:pathLst>
              <a:path w="179784" h="251817">
                <a:moveTo>
                  <a:pt x="0" y="75545"/>
                </a:moveTo>
                <a:lnTo>
                  <a:pt x="93488" y="75545"/>
                </a:lnTo>
                <a:lnTo>
                  <a:pt x="93488" y="0"/>
                </a:lnTo>
                <a:lnTo>
                  <a:pt x="179784" y="125909"/>
                </a:lnTo>
                <a:lnTo>
                  <a:pt x="93488" y="251817"/>
                </a:lnTo>
                <a:lnTo>
                  <a:pt x="93488" y="176272"/>
                </a:lnTo>
                <a:lnTo>
                  <a:pt x="0" y="176272"/>
                </a:lnTo>
                <a:close/>
              </a:path>
            </a:pathLst>
          </a:custGeom>
          <a:solidFill xmlns:a="http://schemas.openxmlformats.org/drawingml/2006/main">
            <a:srgbClr val="3186BD"/>
          </a:solidFill>
          <a:ln xmlns:a="http://schemas.openxmlformats.org/drawingml/2006/main" w="0">
            <a:noFill/>
          </a:ln>
        </p:spPr>
      </p:sp>
      <p:sp>
        <p:nvSpPr>
          <p:cNvPr id="42" name="s2">
            <a:extLst xmlns:a="http://schemas.openxmlformats.org/drawingml/2006/main">
              <a:ext uri="{FF2B5EF4-FFF2-40B4-BE49-F238E27FC236}">
                <a16:creationId xmlns:a16="http://schemas.microsoft.com/office/drawing/2014/main" id="{44DDE2A0-0B4A-485C-92E4-D41966BA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2962" y="11707416"/>
            <a:ext cx="179784" cy="251817"/>
          </a:xfrm>
          <a:custGeom xmlns:a="http://schemas.openxmlformats.org/drawingml/2006/main">
            <a:pathLst>
              <a:path w="179784" h="251817">
                <a:moveTo>
                  <a:pt x="0" y="75545"/>
                </a:moveTo>
                <a:lnTo>
                  <a:pt x="93488" y="75545"/>
                </a:lnTo>
                <a:lnTo>
                  <a:pt x="93488" y="0"/>
                </a:lnTo>
                <a:lnTo>
                  <a:pt x="179784" y="125909"/>
                </a:lnTo>
                <a:lnTo>
                  <a:pt x="93488" y="251817"/>
                </a:lnTo>
                <a:lnTo>
                  <a:pt x="93488" y="176272"/>
                </a:lnTo>
                <a:lnTo>
                  <a:pt x="0" y="176272"/>
                </a:lnTo>
                <a:close/>
              </a:path>
            </a:pathLst>
          </a:custGeom>
          <a:solidFill xmlns:a="http://schemas.openxmlformats.org/drawingml/2006/main">
            <a:srgbClr val="4B8A42"/>
          </a:solidFill>
          <a:ln xmlns:a="http://schemas.openxmlformats.org/drawingml/2006/main" w="0">
            <a:noFill/>
          </a:ln>
        </p:spPr>
      </p:sp>
      <p:sp>
        <p:nvSpPr>
          <p:cNvPr id="43" name="s3">
            <a:extLst xmlns:a="http://schemas.openxmlformats.org/drawingml/2006/main">
              <a:ext uri="{FF2B5EF4-FFF2-40B4-BE49-F238E27FC236}">
                <a16:creationId xmlns:a16="http://schemas.microsoft.com/office/drawing/2014/main" id="{B3BB62B7-F8F1-4380-9FF6-683F58A2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7165" y="11707416"/>
            <a:ext cx="179784" cy="251817"/>
          </a:xfrm>
          <a:custGeom xmlns:a="http://schemas.openxmlformats.org/drawingml/2006/main">
            <a:pathLst>
              <a:path w="179784" h="251817">
                <a:moveTo>
                  <a:pt x="0" y="75545"/>
                </a:moveTo>
                <a:lnTo>
                  <a:pt x="93488" y="75545"/>
                </a:lnTo>
                <a:lnTo>
                  <a:pt x="93488" y="0"/>
                </a:lnTo>
                <a:lnTo>
                  <a:pt x="179784" y="125909"/>
                </a:lnTo>
                <a:lnTo>
                  <a:pt x="93488" y="251817"/>
                </a:lnTo>
                <a:lnTo>
                  <a:pt x="93488" y="176272"/>
                </a:lnTo>
                <a:lnTo>
                  <a:pt x="0" y="176272"/>
                </a:lnTo>
                <a:close/>
              </a:path>
            </a:pathLst>
          </a:custGeom>
          <a:solidFill xmlns:a="http://schemas.openxmlformats.org/drawingml/2006/main">
            <a:srgbClr val="4B8A42"/>
          </a:solidFill>
          <a:ln xmlns:a="http://schemas.openxmlformats.org/drawingml/2006/main" w="0">
            <a:noFill/>
          </a:ln>
        </p:spPr>
      </p:sp>
      <p:sp>
        <p:nvSpPr>
          <p:cNvPr id="44" name="s4">
            <a:extLst xmlns:a="http://schemas.openxmlformats.org/drawingml/2006/main">
              <a:ext uri="{FF2B5EF4-FFF2-40B4-BE49-F238E27FC236}">
                <a16:creationId xmlns:a16="http://schemas.microsoft.com/office/drawing/2014/main" id="{E3D78D77-EF72-4A17-A8E5-A35AB5DC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0921" y="11707416"/>
            <a:ext cx="179784" cy="251817"/>
          </a:xfrm>
          <a:custGeom xmlns:a="http://schemas.openxmlformats.org/drawingml/2006/main">
            <a:pathLst>
              <a:path w="179784" h="251817">
                <a:moveTo>
                  <a:pt x="0" y="75545"/>
                </a:moveTo>
                <a:lnTo>
                  <a:pt x="93488" y="75545"/>
                </a:lnTo>
                <a:lnTo>
                  <a:pt x="93488" y="0"/>
                </a:lnTo>
                <a:lnTo>
                  <a:pt x="179784" y="125909"/>
                </a:lnTo>
                <a:lnTo>
                  <a:pt x="93488" y="251817"/>
                </a:lnTo>
                <a:lnTo>
                  <a:pt x="93488" y="176272"/>
                </a:lnTo>
                <a:lnTo>
                  <a:pt x="0" y="176272"/>
                </a:lnTo>
                <a:close/>
              </a:path>
            </a:pathLst>
          </a:custGeom>
          <a:solidFill xmlns:a="http://schemas.openxmlformats.org/drawingml/2006/main">
            <a:srgbClr val="B96734"/>
          </a:solidFill>
          <a:ln xmlns:a="http://schemas.openxmlformats.org/drawingml/2006/main" w="0">
            <a:noFill/>
          </a:ln>
        </p:spPr>
      </p:sp>
      <p:sp>
        <p:nvSpPr>
          <p:cNvPr id="45" name="s44">
            <a:extLst xmlns:a="http://schemas.openxmlformats.org/drawingml/2006/main">
              <a:ext uri="{FF2B5EF4-FFF2-40B4-BE49-F238E27FC236}">
                <a16:creationId xmlns:a16="http://schemas.microsoft.com/office/drawing/2014/main" id="{ABA7A64B-BB63-4571-9693-5CDB5D88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73844"/>
            <a:ext cx="9628733" cy="1430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700">
                <a:solidFill>
                  <a:srgbClr val="073D65"/>
                </a:solidFill>
                <a:latin typeface="Noto Sans"/>
                <a:ea typeface="Noto Sans"/>
                <a:cs typeface="Noto Sans"/>
              </a:defRPr>
            </a:pPr>
            <a:r>
              <a:rPr sz="4700" b="1" i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Building Legal RAG:</a:t>
            </a:r>
          </a:p>
          <a:p xmlns:a="http://schemas.openxmlformats.org/drawingml/2006/main">
            <a:pPr>
              <a:defRPr sz="4700">
                <a:solidFill>
                  <a:srgbClr val="073D65"/>
                </a:solidFill>
                <a:latin typeface="Noto Sans"/>
                <a:ea typeface="Noto Sans"/>
                <a:cs typeface="Noto Sans"/>
              </a:defRPr>
            </a:pPr>
            <a:r>
              <a:rPr sz="4700" b="1" i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what each component contributes</a:t>
            </a:r>
          </a:p>
        </p:txBody>
      </p:sp>
      <p:sp>
        <p:nvSpPr>
          <p:cNvPr id="46" name="s45">
            <a:extLst xmlns:a="http://schemas.openxmlformats.org/drawingml/2006/main">
              <a:ext uri="{FF2B5EF4-FFF2-40B4-BE49-F238E27FC236}">
                <a16:creationId xmlns:a16="http://schemas.microsoft.com/office/drawing/2014/main" id="{ED2E1588-2705-4812-8F0F-7E313AFD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863477"/>
            <a:ext cx="406301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600" b="1" i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47" name="s46">
            <a:extLst xmlns:a="http://schemas.openxmlformats.org/drawingml/2006/main">
              <a:ext uri="{FF2B5EF4-FFF2-40B4-BE49-F238E27FC236}">
                <a16:creationId xmlns:a16="http://schemas.microsoft.com/office/drawing/2014/main" id="{FAA99B15-B5C5-4B29-8FFF-9BB9E52F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40" y="1826121"/>
            <a:ext cx="5615732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31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CONTEXT AND HYPOTHESIS</a:t>
            </a:r>
          </a:p>
        </p:txBody>
      </p:sp>
      <p:sp>
        <p:nvSpPr>
          <p:cNvPr id="48" name="s47">
            <a:extLst xmlns:a="http://schemas.openxmlformats.org/drawingml/2006/main">
              <a:ext uri="{FF2B5EF4-FFF2-40B4-BE49-F238E27FC236}">
                <a16:creationId xmlns:a16="http://schemas.microsoft.com/office/drawing/2014/main" id="{BE7AD9C6-2012-4906-AAEF-B9C0FF62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408039"/>
            <a:ext cx="20116502" cy="1128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Retrieval-augmented generation (RAG) grounds language-model answers in external documents [1]. Legal QA needs correct answers and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precise, complete source-page citations [2, 3]. PDFs may lack searchable text; evidence spans different text scales and may require exact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legal terms. Retrieving more passages can also introduce irrelevant pages.</a:t>
            </a:r>
          </a:p>
        </p:txBody>
      </p:sp>
      <p:sp>
        <p:nvSpPr>
          <p:cNvPr id="49" name="s48">
            <a:extLst xmlns:a="http://schemas.openxmlformats.org/drawingml/2006/main">
              <a:ext uri="{FF2B5EF4-FFF2-40B4-BE49-F238E27FC236}">
                <a16:creationId xmlns:a16="http://schemas.microsoft.com/office/drawing/2014/main" id="{9FD52796-6C00-42E1-90FA-4C3416F4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3585121"/>
            <a:ext cx="20116502" cy="905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0">
                <a:solidFill>
                  <a:srgbClr val="073D65"/>
                </a:solidFill>
                <a:latin typeface="Noto Sans"/>
                <a:ea typeface="Noto Sans"/>
                <a:cs typeface="Noto Sans"/>
              </a:defRPr>
            </a:pPr>
            <a:r>
              <a:rPr sz="2800" b="1" i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How can a legal RAG pipeline improve answer quality</a:t>
            </a:r>
          </a:p>
          <a:p xmlns:a="http://schemas.openxmlformats.org/drawingml/2006/main">
            <a:pPr>
              <a:defRPr sz="2800">
                <a:solidFill>
                  <a:srgbClr val="073D65"/>
                </a:solidFill>
                <a:latin typeface="Noto Sans"/>
                <a:ea typeface="Noto Sans"/>
                <a:cs typeface="Noto Sans"/>
              </a:defRPr>
            </a:pPr>
            <a:r>
              <a:rPr sz="2800" b="1" i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while keeping source-page citations both precise and complete?</a:t>
            </a:r>
          </a:p>
        </p:txBody>
      </p:sp>
      <p:sp>
        <p:nvSpPr>
          <p:cNvPr id="50" name="s49">
            <a:extLst xmlns:a="http://schemas.openxmlformats.org/drawingml/2006/main">
              <a:ext uri="{FF2B5EF4-FFF2-40B4-BE49-F238E27FC236}">
                <a16:creationId xmlns:a16="http://schemas.microsoft.com/office/drawing/2014/main" id="{5CB865A2-9218-49E2-A227-598E7EE6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31" y="4712047"/>
            <a:ext cx="6412557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 i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H1 · Retrieval</a:t>
            </a:r>
          </a:p>
        </p:txBody>
      </p:sp>
      <p:sp>
        <p:nvSpPr>
          <p:cNvPr id="51" name="s50">
            <a:extLst xmlns:a="http://schemas.openxmlformats.org/drawingml/2006/main">
              <a:ext uri="{FF2B5EF4-FFF2-40B4-BE49-F238E27FC236}">
                <a16:creationId xmlns:a16="http://schemas.microsoft.com/office/drawing/2014/main" id="{FFF0CF4B-0030-4315-994A-3652ECE5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31" y="5161657"/>
            <a:ext cx="6412557" cy="1128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Multiple text scales, hybrid search and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reranking will improve answers and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evidence retrieval over R0.</a:t>
            </a:r>
          </a:p>
        </p:txBody>
      </p:sp>
      <p:sp>
        <p:nvSpPr>
          <p:cNvPr id="52" name="s51">
            <a:extLst xmlns:a="http://schemas.openxmlformats.org/drawingml/2006/main">
              <a:ext uri="{FF2B5EF4-FFF2-40B4-BE49-F238E27FC236}">
                <a16:creationId xmlns:a16="http://schemas.microsoft.com/office/drawing/2014/main" id="{A8B3FB1F-CF30-4458-A986-00509947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896" y="4712047"/>
            <a:ext cx="6412557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 i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H2 · Scan robustness</a:t>
            </a:r>
          </a:p>
        </p:txBody>
      </p:sp>
      <p:sp>
        <p:nvSpPr>
          <p:cNvPr id="53" name="s52">
            <a:extLst xmlns:a="http://schemas.openxmlformats.org/drawingml/2006/main">
              <a:ext uri="{FF2B5EF4-FFF2-40B4-BE49-F238E27FC236}">
                <a16:creationId xmlns:a16="http://schemas.microsoft.com/office/drawing/2014/main" id="{960DC7E0-BBCF-4D2B-8B1F-8E27F1B3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896" y="5161657"/>
            <a:ext cx="6412557" cy="1128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Recovering text from scanned documents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will reduce the performance loss caused by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the missing text layer.</a:t>
            </a:r>
          </a:p>
        </p:txBody>
      </p:sp>
      <p:sp>
        <p:nvSpPr>
          <p:cNvPr id="54" name="s53">
            <a:extLst xmlns:a="http://schemas.openxmlformats.org/drawingml/2006/main">
              <a:ext uri="{FF2B5EF4-FFF2-40B4-BE49-F238E27FC236}">
                <a16:creationId xmlns:a16="http://schemas.microsoft.com/office/drawing/2014/main" id="{51103AAD-7438-4290-AC4F-8F64AF47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1861" y="4712047"/>
            <a:ext cx="6412557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 i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H3 · Citation selection</a:t>
            </a:r>
          </a:p>
        </p:txBody>
      </p:sp>
      <p:sp>
        <p:nvSpPr>
          <p:cNvPr id="55" name="s54">
            <a:extLst xmlns:a="http://schemas.openxmlformats.org/drawingml/2006/main">
              <a:ext uri="{FF2B5EF4-FFF2-40B4-BE49-F238E27FC236}">
                <a16:creationId xmlns:a16="http://schemas.microsoft.com/office/drawing/2014/main" id="{12E2F399-3E29-436A-8EC4-03D66430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1861" y="5161657"/>
            <a:ext cx="6412557" cy="1128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Selecting pages after answer generation will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improve citation precision while retaining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most of the relevant evidence.</a:t>
            </a:r>
          </a:p>
        </p:txBody>
      </p:sp>
      <p:sp>
        <p:nvSpPr>
          <p:cNvPr id="56" name="s55">
            <a:extLst xmlns:a="http://schemas.openxmlformats.org/drawingml/2006/main">
              <a:ext uri="{FF2B5EF4-FFF2-40B4-BE49-F238E27FC236}">
                <a16:creationId xmlns:a16="http://schemas.microsoft.com/office/drawing/2014/main" id="{76C14ECB-BBF5-4A68-B99B-0DEC9C9F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6656487"/>
            <a:ext cx="406301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600" b="1" i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57" name="s56">
            <a:extLst xmlns:a="http://schemas.openxmlformats.org/drawingml/2006/main">
              <a:ext uri="{FF2B5EF4-FFF2-40B4-BE49-F238E27FC236}">
                <a16:creationId xmlns:a16="http://schemas.microsoft.com/office/drawing/2014/main" id="{C25E3E19-3FAB-4E52-A7BA-712C1BEE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40" y="6619131"/>
            <a:ext cx="324445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31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METHODOLOGY</a:t>
            </a:r>
          </a:p>
        </p:txBody>
      </p:sp>
      <p:sp>
        <p:nvSpPr>
          <p:cNvPr id="58" name="s57">
            <a:extLst xmlns:a="http://schemas.openxmlformats.org/drawingml/2006/main">
              <a:ext uri="{FF2B5EF4-FFF2-40B4-BE49-F238E27FC236}">
                <a16:creationId xmlns:a16="http://schemas.microsoft.com/office/drawing/2014/main" id="{8870B355-16AD-4AA3-BF7C-75426F43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7201049"/>
            <a:ext cx="20116502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Data:</a:t>
            </a: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30 DIFC legal PDFs (590 pages), 100 questions: 70 structured-answer and 30 free-text. Reference source pages are available for 95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questions. In the mixed corpus, 10 PDFs (107 pages) become synthetic scans: page images at 300 DPI with the text layer removed.</a:t>
            </a:r>
          </a:p>
        </p:txBody>
      </p:sp>
      <p:sp>
        <p:nvSpPr>
          <p:cNvPr id="59" name="s58">
            <a:extLst xmlns:a="http://schemas.openxmlformats.org/drawingml/2006/main">
              <a:ext uri="{FF2B5EF4-FFF2-40B4-BE49-F238E27FC236}">
                <a16:creationId xmlns:a16="http://schemas.microsoft.com/office/drawing/2014/main" id="{9F92AB29-AE29-4C2E-BF20-DB6CCCF8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39" y="8495556"/>
            <a:ext cx="2225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 i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R0 · Baseline</a:t>
            </a:r>
          </a:p>
        </p:txBody>
      </p:sp>
      <p:sp>
        <p:nvSpPr>
          <p:cNvPr id="60" name="s59">
            <a:extLst xmlns:a="http://schemas.openxmlformats.org/drawingml/2006/main">
              <a:ext uri="{FF2B5EF4-FFF2-40B4-BE49-F238E27FC236}">
                <a16:creationId xmlns:a16="http://schemas.microsoft.com/office/drawing/2014/main" id="{9D649290-A645-4056-B7BB-A15998A0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404" y="8135987"/>
            <a:ext cx="2741116" cy="114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PDF text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300-token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passages</a:t>
            </a:r>
          </a:p>
        </p:txBody>
      </p:sp>
      <p:sp>
        <p:nvSpPr>
          <p:cNvPr id="61" name="s60">
            <a:extLst xmlns:a="http://schemas.openxmlformats.org/drawingml/2006/main">
              <a:ext uri="{FF2B5EF4-FFF2-40B4-BE49-F238E27FC236}">
                <a16:creationId xmlns:a16="http://schemas.microsoft.com/office/drawing/2014/main" id="{193F3FFC-F263-4551-8953-0A75BE66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45" y="8462218"/>
            <a:ext cx="396776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437CAA"/>
                </a:solidFill>
                <a:latin typeface="Noto Sans"/>
                <a:ea typeface="Noto Sans"/>
                <a:cs typeface="Noto Sans"/>
              </a:defRPr>
            </a:pPr>
            <a:r>
              <a:rPr sz="2900" b="0" i="0">
                <a:solidFill>
                  <a:srgbClr val="437CAA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62" name="s61">
            <a:extLst xmlns:a="http://schemas.openxmlformats.org/drawingml/2006/main">
              <a:ext uri="{FF2B5EF4-FFF2-40B4-BE49-F238E27FC236}">
                <a16:creationId xmlns:a16="http://schemas.microsoft.com/office/drawing/2014/main" id="{38E3CC35-03B8-4418-91CB-D5BCF0D0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760" y="8311158"/>
            <a:ext cx="3508921" cy="795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Semantic retrieval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Qwen3-Embedding-0.6B</a:t>
            </a:r>
          </a:p>
        </p:txBody>
      </p:sp>
      <p:sp>
        <p:nvSpPr>
          <p:cNvPr id="63" name="s62">
            <a:extLst xmlns:a="http://schemas.openxmlformats.org/drawingml/2006/main">
              <a:ext uri="{FF2B5EF4-FFF2-40B4-BE49-F238E27FC236}">
                <a16:creationId xmlns:a16="http://schemas.microsoft.com/office/drawing/2014/main" id="{870C6FB1-975E-40E5-9004-8CEAEBAA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882" y="8462218"/>
            <a:ext cx="396776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437CAA"/>
                </a:solidFill>
                <a:latin typeface="Noto Sans"/>
                <a:ea typeface="Noto Sans"/>
                <a:cs typeface="Noto Sans"/>
              </a:defRPr>
            </a:pPr>
            <a:r>
              <a:rPr sz="2900" b="0" i="0">
                <a:solidFill>
                  <a:srgbClr val="437CAA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64" name="s63">
            <a:extLst xmlns:a="http://schemas.openxmlformats.org/drawingml/2006/main">
              <a:ext uri="{FF2B5EF4-FFF2-40B4-BE49-F238E27FC236}">
                <a16:creationId xmlns:a16="http://schemas.microsoft.com/office/drawing/2014/main" id="{4462C7AC-57EE-4737-AC05-2265F2C8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1097" y="8311158"/>
            <a:ext cx="2630388" cy="795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Generate answer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GPT-5.4-mini</a:t>
            </a:r>
          </a:p>
        </p:txBody>
      </p:sp>
      <p:sp>
        <p:nvSpPr>
          <p:cNvPr id="65" name="s64">
            <a:extLst xmlns:a="http://schemas.openxmlformats.org/drawingml/2006/main">
              <a:ext uri="{FF2B5EF4-FFF2-40B4-BE49-F238E27FC236}">
                <a16:creationId xmlns:a16="http://schemas.microsoft.com/office/drawing/2014/main" id="{88270AC9-3F34-4C4C-B0F5-B777EEAC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3008" y="8462218"/>
            <a:ext cx="396776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437CAA"/>
                </a:solidFill>
                <a:latin typeface="Noto Sans"/>
                <a:ea typeface="Noto Sans"/>
                <a:cs typeface="Noto Sans"/>
              </a:defRPr>
            </a:pPr>
            <a:r>
              <a:rPr sz="2900" b="0" i="0">
                <a:solidFill>
                  <a:srgbClr val="437CAA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66" name="s65">
            <a:extLst xmlns:a="http://schemas.openxmlformats.org/drawingml/2006/main">
              <a:ext uri="{FF2B5EF4-FFF2-40B4-BE49-F238E27FC236}">
                <a16:creationId xmlns:a16="http://schemas.microsoft.com/office/drawing/2014/main" id="{DE8B582D-9F34-4A07-872B-AC61780B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5074" y="8135987"/>
            <a:ext cx="4065984" cy="114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Answer + retrieved pages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All context pages as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citations</a:t>
            </a:r>
          </a:p>
        </p:txBody>
      </p:sp>
      <p:sp>
        <p:nvSpPr>
          <p:cNvPr id="67" name="s66">
            <a:extLst xmlns:a="http://schemas.openxmlformats.org/drawingml/2006/main">
              <a:ext uri="{FF2B5EF4-FFF2-40B4-BE49-F238E27FC236}">
                <a16:creationId xmlns:a16="http://schemas.microsoft.com/office/drawing/2014/main" id="{98E6AA42-FB28-48AF-BFDE-F50615C0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499" y="9485709"/>
            <a:ext cx="37995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3186BD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3186BD"/>
                </a:solidFill>
                <a:latin typeface="Noto Sans"/>
                <a:ea typeface="Noto Sans"/>
                <a:cs typeface="Noto Sans"/>
              </a:rPr>
              <a:t>DOCUMENT PROCESSING</a:t>
            </a:r>
          </a:p>
        </p:txBody>
      </p:sp>
      <p:sp>
        <p:nvSpPr>
          <p:cNvPr id="68" name="s67">
            <a:extLst xmlns:a="http://schemas.openxmlformats.org/drawingml/2006/main">
              <a:ext uri="{FF2B5EF4-FFF2-40B4-BE49-F238E27FC236}">
                <a16:creationId xmlns:a16="http://schemas.microsoft.com/office/drawing/2014/main" id="{8E18FB84-853C-4D79-ACB5-1951903B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373" y="9485709"/>
            <a:ext cx="163160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4B8A42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4B8A42"/>
                </a:solidFill>
                <a:latin typeface="Noto Sans"/>
                <a:ea typeface="Noto Sans"/>
                <a:cs typeface="Noto Sans"/>
              </a:rPr>
              <a:t>RETRIEVAL</a:t>
            </a:r>
          </a:p>
        </p:txBody>
      </p:sp>
      <p:sp>
        <p:nvSpPr>
          <p:cNvPr id="69" name="s68">
            <a:extLst xmlns:a="http://schemas.openxmlformats.org/drawingml/2006/main">
              <a:ext uri="{FF2B5EF4-FFF2-40B4-BE49-F238E27FC236}">
                <a16:creationId xmlns:a16="http://schemas.microsoft.com/office/drawing/2014/main" id="{E774EDB9-EA45-40C9-ADCA-4F2A523D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8341" y="9485709"/>
            <a:ext cx="190767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B96734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B96734"/>
                </a:solidFill>
                <a:latin typeface="Noto Sans"/>
                <a:ea typeface="Noto Sans"/>
                <a:cs typeface="Noto Sans"/>
              </a:rPr>
              <a:t>ANSWERING</a:t>
            </a:r>
          </a:p>
        </p:txBody>
      </p:sp>
      <p:sp>
        <p:nvSpPr>
          <p:cNvPr id="70" name="s69">
            <a:extLst xmlns:a="http://schemas.openxmlformats.org/drawingml/2006/main">
              <a:ext uri="{FF2B5EF4-FFF2-40B4-BE49-F238E27FC236}">
                <a16:creationId xmlns:a16="http://schemas.microsoft.com/office/drawing/2014/main" id="{F616621A-7B0C-45CD-845B-900930E6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6936" y="9485709"/>
            <a:ext cx="1638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7655B5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7655B5"/>
                </a:solidFill>
                <a:latin typeface="Noto Sans"/>
                <a:ea typeface="Noto Sans"/>
                <a:cs typeface="Noto Sans"/>
              </a:rPr>
              <a:t>CITATIONS</a:t>
            </a:r>
          </a:p>
        </p:txBody>
      </p:sp>
      <p:sp>
        <p:nvSpPr>
          <p:cNvPr id="71" name="s70">
            <a:extLst xmlns:a="http://schemas.openxmlformats.org/drawingml/2006/main">
              <a:ext uri="{FF2B5EF4-FFF2-40B4-BE49-F238E27FC236}">
                <a16:creationId xmlns:a16="http://schemas.microsoft.com/office/drawing/2014/main" id="{EA4BE2FC-11E0-48BF-B86B-E69D3D3A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23" y="10096351"/>
            <a:ext cx="296168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5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R1 · OCR</a:t>
            </a:r>
          </a:p>
        </p:txBody>
      </p:sp>
      <p:sp>
        <p:nvSpPr>
          <p:cNvPr id="72" name="s71">
            <a:extLst xmlns:a="http://schemas.openxmlformats.org/drawingml/2006/main">
              <a:ext uri="{FF2B5EF4-FFF2-40B4-BE49-F238E27FC236}">
                <a16:creationId xmlns:a16="http://schemas.microsoft.com/office/drawing/2014/main" id="{45282E61-E0AD-49BC-A4FD-73B03F44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23" y="10897642"/>
            <a:ext cx="2961680" cy="756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Recover text from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scanned pages</a:t>
            </a:r>
          </a:p>
        </p:txBody>
      </p:sp>
      <p:sp>
        <p:nvSpPr>
          <p:cNvPr id="73" name="s72">
            <a:extLst xmlns:a="http://schemas.openxmlformats.org/drawingml/2006/main">
              <a:ext uri="{FF2B5EF4-FFF2-40B4-BE49-F238E27FC236}">
                <a16:creationId xmlns:a16="http://schemas.microsoft.com/office/drawing/2014/main" id="{E1C7CF2A-7600-423C-B296-17BDA875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23" y="12751147"/>
            <a:ext cx="29614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PP-OCRv5</a:t>
            </a:r>
          </a:p>
        </p:txBody>
      </p:sp>
      <p:sp>
        <p:nvSpPr>
          <p:cNvPr id="74" name="s73">
            <a:extLst xmlns:a="http://schemas.openxmlformats.org/drawingml/2006/main">
              <a:ext uri="{FF2B5EF4-FFF2-40B4-BE49-F238E27FC236}">
                <a16:creationId xmlns:a16="http://schemas.microsoft.com/office/drawing/2014/main" id="{8EAC6A44-994F-4AF7-B305-27C4433C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328" y="10096351"/>
            <a:ext cx="2961829" cy="79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5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R2 · Multiple</a:t>
            </a:r>
          </a:p>
          <a:p xmlns:a="http://schemas.openxmlformats.org/drawingml/2006/main">
            <a:pPr>
              <a:defRPr sz="25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5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text scales</a:t>
            </a:r>
          </a:p>
        </p:txBody>
      </p:sp>
      <p:sp>
        <p:nvSpPr>
          <p:cNvPr id="75" name="s74">
            <a:extLst xmlns:a="http://schemas.openxmlformats.org/drawingml/2006/main">
              <a:ext uri="{FF2B5EF4-FFF2-40B4-BE49-F238E27FC236}">
                <a16:creationId xmlns:a16="http://schemas.microsoft.com/office/drawing/2014/main" id="{764E7A44-35E1-4148-983D-7DFE612A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328" y="10897642"/>
            <a:ext cx="2961829" cy="756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Represent evidence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at multiple levels</a:t>
            </a:r>
          </a:p>
        </p:txBody>
      </p:sp>
      <p:sp>
        <p:nvSpPr>
          <p:cNvPr id="76" name="s75">
            <a:extLst xmlns:a="http://schemas.openxmlformats.org/drawingml/2006/main">
              <a:ext uri="{FF2B5EF4-FFF2-40B4-BE49-F238E27FC236}">
                <a16:creationId xmlns:a16="http://schemas.microsoft.com/office/drawing/2014/main" id="{44348144-6EAA-4302-94F4-C95A03D8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328" y="12751147"/>
            <a:ext cx="2961629" cy="110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Pages, sections,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clauses,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microchunks, tables</a:t>
            </a:r>
          </a:p>
        </p:txBody>
      </p:sp>
      <p:sp>
        <p:nvSpPr>
          <p:cNvPr id="77" name="s76">
            <a:extLst xmlns:a="http://schemas.openxmlformats.org/drawingml/2006/main">
              <a:ext uri="{FF2B5EF4-FFF2-40B4-BE49-F238E27FC236}">
                <a16:creationId xmlns:a16="http://schemas.microsoft.com/office/drawing/2014/main" id="{651DFDC2-CE06-4E73-BDC5-17A0BED2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3382" y="10096351"/>
            <a:ext cx="2961680" cy="79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5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R3 · Lexical</a:t>
            </a:r>
          </a:p>
          <a:p xmlns:a="http://schemas.openxmlformats.org/drawingml/2006/main">
            <a:pPr>
              <a:defRPr sz="25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5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retrieval</a:t>
            </a:r>
          </a:p>
        </p:txBody>
      </p:sp>
      <p:sp>
        <p:nvSpPr>
          <p:cNvPr id="78" name="s77">
            <a:extLst xmlns:a="http://schemas.openxmlformats.org/drawingml/2006/main">
              <a:ext uri="{FF2B5EF4-FFF2-40B4-BE49-F238E27FC236}">
                <a16:creationId xmlns:a16="http://schemas.microsoft.com/office/drawing/2014/main" id="{90953EA5-81CC-4080-AC51-3BB5C974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3382" y="10897642"/>
            <a:ext cx="2961680" cy="110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Combine semantic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and exact-term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search</a:t>
            </a:r>
          </a:p>
        </p:txBody>
      </p:sp>
      <p:sp>
        <p:nvSpPr>
          <p:cNvPr id="79" name="s78">
            <a:extLst xmlns:a="http://schemas.openxmlformats.org/drawingml/2006/main">
              <a:ext uri="{FF2B5EF4-FFF2-40B4-BE49-F238E27FC236}">
                <a16:creationId xmlns:a16="http://schemas.microsoft.com/office/drawing/2014/main" id="{982234BE-B45E-4575-A8A9-A61AAA19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3382" y="12751147"/>
            <a:ext cx="2961480" cy="110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BM25 + RRF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with semantic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retrieval</a:t>
            </a:r>
          </a:p>
        </p:txBody>
      </p:sp>
      <p:sp>
        <p:nvSpPr>
          <p:cNvPr id="80" name="s79">
            <a:extLst xmlns:a="http://schemas.openxmlformats.org/drawingml/2006/main">
              <a:ext uri="{FF2B5EF4-FFF2-40B4-BE49-F238E27FC236}">
                <a16:creationId xmlns:a16="http://schemas.microsoft.com/office/drawing/2014/main" id="{3F4F2DD6-A27B-4C94-907C-63CB8B4F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287" y="10096351"/>
            <a:ext cx="2961829" cy="79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5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R4 · Neural</a:t>
            </a:r>
          </a:p>
          <a:p xmlns:a="http://schemas.openxmlformats.org/drawingml/2006/main">
            <a:pPr>
              <a:defRPr sz="25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5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reranking</a:t>
            </a:r>
          </a:p>
        </p:txBody>
      </p:sp>
      <p:sp>
        <p:nvSpPr>
          <p:cNvPr id="81" name="s80">
            <a:extLst xmlns:a="http://schemas.openxmlformats.org/drawingml/2006/main">
              <a:ext uri="{FF2B5EF4-FFF2-40B4-BE49-F238E27FC236}">
                <a16:creationId xmlns:a16="http://schemas.microsoft.com/office/drawing/2014/main" id="{83CBB4CB-87CE-4D84-8799-6CDF64D2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287" y="10897642"/>
            <a:ext cx="2961829" cy="756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Prioritize the most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relevant evidence</a:t>
            </a:r>
          </a:p>
        </p:txBody>
      </p:sp>
      <p:sp>
        <p:nvSpPr>
          <p:cNvPr id="82" name="s81">
            <a:extLst xmlns:a="http://schemas.openxmlformats.org/drawingml/2006/main">
              <a:ext uri="{FF2B5EF4-FFF2-40B4-BE49-F238E27FC236}">
                <a16:creationId xmlns:a16="http://schemas.microsoft.com/office/drawing/2014/main" id="{53801BE6-2C68-49C0-A13C-5A2E5DF8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287" y="12751147"/>
            <a:ext cx="2961629" cy="756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Qwen3-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Reranker-0.6B</a:t>
            </a:r>
          </a:p>
        </p:txBody>
      </p:sp>
      <p:sp>
        <p:nvSpPr>
          <p:cNvPr id="83" name="s82">
            <a:extLst xmlns:a="http://schemas.openxmlformats.org/drawingml/2006/main">
              <a:ext uri="{FF2B5EF4-FFF2-40B4-BE49-F238E27FC236}">
                <a16:creationId xmlns:a16="http://schemas.microsoft.com/office/drawing/2014/main" id="{5DCC3D30-7803-4E5E-8A62-EABE3E7F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1341" y="10096351"/>
            <a:ext cx="2961680" cy="79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5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R5 · Answer</a:t>
            </a:r>
          </a:p>
          <a:p xmlns:a="http://schemas.openxmlformats.org/drawingml/2006/main">
            <a:pPr>
              <a:defRPr sz="25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5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type checks</a:t>
            </a:r>
          </a:p>
        </p:txBody>
      </p:sp>
      <p:sp>
        <p:nvSpPr>
          <p:cNvPr id="84" name="s83">
            <a:extLst xmlns:a="http://schemas.openxmlformats.org/drawingml/2006/main">
              <a:ext uri="{FF2B5EF4-FFF2-40B4-BE49-F238E27FC236}">
                <a16:creationId xmlns:a16="http://schemas.microsoft.com/office/drawing/2014/main" id="{953A2B6E-FAB1-4A34-8811-F24D4C35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1341" y="10897642"/>
            <a:ext cx="2961680" cy="110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Normalize and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validate the answer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type</a:t>
            </a:r>
          </a:p>
        </p:txBody>
      </p:sp>
      <p:sp>
        <p:nvSpPr>
          <p:cNvPr id="85" name="s84">
            <a:extLst xmlns:a="http://schemas.openxmlformats.org/drawingml/2006/main">
              <a:ext uri="{FF2B5EF4-FFF2-40B4-BE49-F238E27FC236}">
                <a16:creationId xmlns:a16="http://schemas.microsoft.com/office/drawing/2014/main" id="{0ED724F1-74EE-4BBA-A40E-32856FFE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1341" y="12751147"/>
            <a:ext cx="2961480" cy="110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Normalization,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validation and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confidence checks</a:t>
            </a:r>
          </a:p>
        </p:txBody>
      </p:sp>
      <p:sp>
        <p:nvSpPr>
          <p:cNvPr id="86" name="s85">
            <a:extLst xmlns:a="http://schemas.openxmlformats.org/drawingml/2006/main">
              <a:ext uri="{FF2B5EF4-FFF2-40B4-BE49-F238E27FC236}">
                <a16:creationId xmlns:a16="http://schemas.microsoft.com/office/drawing/2014/main" id="{EC16BAF8-11E4-4CD4-81F4-11C9B70C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5246" y="10096351"/>
            <a:ext cx="2961829" cy="79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5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R6 · Citation</a:t>
            </a:r>
          </a:p>
          <a:p xmlns:a="http://schemas.openxmlformats.org/drawingml/2006/main">
            <a:pPr>
              <a:defRPr sz="25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5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selection</a:t>
            </a:r>
          </a:p>
        </p:txBody>
      </p:sp>
      <p:sp>
        <p:nvSpPr>
          <p:cNvPr id="87" name="s86">
            <a:extLst xmlns:a="http://schemas.openxmlformats.org/drawingml/2006/main">
              <a:ext uri="{FF2B5EF4-FFF2-40B4-BE49-F238E27FC236}">
                <a16:creationId xmlns:a16="http://schemas.microsoft.com/office/drawing/2014/main" id="{F53ACD6B-16F0-41D4-9D28-844C4797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5246" y="10897642"/>
            <a:ext cx="2961829" cy="756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Select pages from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supporting chunks</a:t>
            </a:r>
          </a:p>
        </p:txBody>
      </p:sp>
      <p:sp>
        <p:nvSpPr>
          <p:cNvPr id="88" name="s87">
            <a:extLst xmlns:a="http://schemas.openxmlformats.org/drawingml/2006/main">
              <a:ext uri="{FF2B5EF4-FFF2-40B4-BE49-F238E27FC236}">
                <a16:creationId xmlns:a16="http://schemas.microsoft.com/office/drawing/2014/main" id="{D697114E-C69D-48ED-B984-93AB628D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5246" y="12751147"/>
            <a:ext cx="2961629" cy="110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Supporting-chunk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references + page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validation</a:t>
            </a:r>
          </a:p>
        </p:txBody>
      </p:sp>
      <p:sp>
        <p:nvSpPr>
          <p:cNvPr id="89" name="s88">
            <a:extLst xmlns:a="http://schemas.openxmlformats.org/drawingml/2006/main">
              <a:ext uri="{FF2B5EF4-FFF2-40B4-BE49-F238E27FC236}">
                <a16:creationId xmlns:a16="http://schemas.microsoft.com/office/drawing/2014/main" id="{03B308B5-4478-417F-B616-35176EE0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293" y="14048036"/>
            <a:ext cx="1990050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Each variant (R1–R6) includes all previous additions.</a:t>
            </a:r>
          </a:p>
        </p:txBody>
      </p:sp>
      <p:sp>
        <p:nvSpPr>
          <p:cNvPr id="90" name="s89">
            <a:extLst xmlns:a="http://schemas.openxmlformats.org/drawingml/2006/main">
              <a:ext uri="{FF2B5EF4-FFF2-40B4-BE49-F238E27FC236}">
                <a16:creationId xmlns:a16="http://schemas.microsoft.com/office/drawing/2014/main" id="{8C5F17FC-0253-43F3-807B-21D530FF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4668798"/>
            <a:ext cx="20116502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Answer generation:</a:t>
            </a:r>
            <a:r>
              <a:rPr sz="2400" b="0" i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A fixed GPT-5.4-mini configuration is used across variants, so changes in performance reflect modifications to the</a:t>
            </a:r>
          </a:p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surrounding pipeline rather than a change of the generating LLM.</a:t>
            </a:r>
          </a:p>
        </p:txBody>
      </p:sp>
      <p:sp>
        <p:nvSpPr>
          <p:cNvPr id="91" name="s90">
            <a:extLst xmlns:a="http://schemas.openxmlformats.org/drawingml/2006/main">
              <a:ext uri="{FF2B5EF4-FFF2-40B4-BE49-F238E27FC236}">
                <a16:creationId xmlns:a16="http://schemas.microsoft.com/office/drawing/2014/main" id="{62384E0B-5D27-48A6-9D0F-D920F11D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5558195"/>
            <a:ext cx="6532513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 i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Answer quality</a:t>
            </a:r>
          </a:p>
        </p:txBody>
      </p:sp>
      <p:sp>
        <p:nvSpPr>
          <p:cNvPr id="92" name="s91">
            <a:extLst xmlns:a="http://schemas.openxmlformats.org/drawingml/2006/main">
              <a:ext uri="{FF2B5EF4-FFF2-40B4-BE49-F238E27FC236}">
                <a16:creationId xmlns:a16="http://schemas.microsoft.com/office/drawing/2014/main" id="{36925140-17F7-410D-9FFE-25D4A337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5989796"/>
            <a:ext cx="653251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Is the generated answer correct?</a:t>
            </a:r>
          </a:p>
        </p:txBody>
      </p:sp>
      <p:sp>
        <p:nvSpPr>
          <p:cNvPr id="93" name="s92">
            <a:extLst xmlns:a="http://schemas.openxmlformats.org/drawingml/2006/main">
              <a:ext uri="{FF2B5EF4-FFF2-40B4-BE49-F238E27FC236}">
                <a16:creationId xmlns:a16="http://schemas.microsoft.com/office/drawing/2014/main" id="{B37CAAAD-B29D-4103-B3EE-A13955AA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6403241"/>
            <a:ext cx="6532513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 = 0.7 × structured score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+ 0.3 × free-text score</a:t>
            </a:r>
          </a:p>
        </p:txBody>
      </p:sp>
      <p:sp>
        <p:nvSpPr>
          <p:cNvPr id="94" name="s93">
            <a:extLst xmlns:a="http://schemas.openxmlformats.org/drawingml/2006/main">
              <a:ext uri="{FF2B5EF4-FFF2-40B4-BE49-F238E27FC236}">
                <a16:creationId xmlns:a16="http://schemas.microsoft.com/office/drawing/2014/main" id="{777B34D4-7C5A-40E2-BB66-789015C5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918" y="15558195"/>
            <a:ext cx="6532513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 i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Citation precision</a:t>
            </a:r>
          </a:p>
        </p:txBody>
      </p:sp>
      <p:sp>
        <p:nvSpPr>
          <p:cNvPr id="95" name="s94">
            <a:extLst xmlns:a="http://schemas.openxmlformats.org/drawingml/2006/main">
              <a:ext uri="{FF2B5EF4-FFF2-40B4-BE49-F238E27FC236}">
                <a16:creationId xmlns:a16="http://schemas.microsoft.com/office/drawing/2014/main" id="{A0E0B944-4DC0-42DC-A40E-E05DED91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918" y="15989796"/>
            <a:ext cx="653251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Are the cited pages actually relevant?</a:t>
            </a:r>
          </a:p>
        </p:txBody>
      </p:sp>
      <p:sp>
        <p:nvSpPr>
          <p:cNvPr id="96" name="s95">
            <a:extLst xmlns:a="http://schemas.openxmlformats.org/drawingml/2006/main">
              <a:ext uri="{FF2B5EF4-FFF2-40B4-BE49-F238E27FC236}">
                <a16:creationId xmlns:a16="http://schemas.microsoft.com/office/drawing/2014/main" id="{CF311B6C-D83E-4B37-82FD-82D3B8FB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918" y="16403241"/>
            <a:ext cx="653251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Share of cited pages that support the answer.</a:t>
            </a:r>
          </a:p>
        </p:txBody>
      </p:sp>
      <p:sp>
        <p:nvSpPr>
          <p:cNvPr id="97" name="s96">
            <a:extLst xmlns:a="http://schemas.openxmlformats.org/drawingml/2006/main">
              <a:ext uri="{FF2B5EF4-FFF2-40B4-BE49-F238E27FC236}">
                <a16:creationId xmlns:a16="http://schemas.microsoft.com/office/drawing/2014/main" id="{0381ECC8-8D9B-4770-813B-6506005F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1838" y="15558195"/>
            <a:ext cx="6532513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 i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Citation recall</a:t>
            </a:r>
          </a:p>
        </p:txBody>
      </p:sp>
      <p:sp>
        <p:nvSpPr>
          <p:cNvPr id="98" name="s97">
            <a:extLst xmlns:a="http://schemas.openxmlformats.org/drawingml/2006/main">
              <a:ext uri="{FF2B5EF4-FFF2-40B4-BE49-F238E27FC236}">
                <a16:creationId xmlns:a16="http://schemas.microsoft.com/office/drawing/2014/main" id="{2C373EF1-34C6-4935-9085-939D7629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1838" y="15989796"/>
            <a:ext cx="653251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Did the system cite all required evidence?</a:t>
            </a:r>
          </a:p>
        </p:txBody>
      </p:sp>
      <p:sp>
        <p:nvSpPr>
          <p:cNvPr id="99" name="s98">
            <a:extLst xmlns:a="http://schemas.openxmlformats.org/drawingml/2006/main">
              <a:ext uri="{FF2B5EF4-FFF2-40B4-BE49-F238E27FC236}">
                <a16:creationId xmlns:a16="http://schemas.microsoft.com/office/drawing/2014/main" id="{9C8B7D79-502B-43D2-BAC8-271A9DE8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1838" y="16403241"/>
            <a:ext cx="6532513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Share of annotated supporting pages that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were cited.</a:t>
            </a:r>
          </a:p>
        </p:txBody>
      </p:sp>
      <p:sp>
        <p:nvSpPr>
          <p:cNvPr id="100" name="s99">
            <a:extLst xmlns:a="http://schemas.openxmlformats.org/drawingml/2006/main">
              <a:ext uri="{FF2B5EF4-FFF2-40B4-BE49-F238E27FC236}">
                <a16:creationId xmlns:a16="http://schemas.microsoft.com/office/drawing/2014/main" id="{131A56B9-666A-42D5-B94D-13EC368D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7394585"/>
            <a:ext cx="406301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600" b="1" i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101" name="s100">
            <a:extLst xmlns:a="http://schemas.openxmlformats.org/drawingml/2006/main">
              <a:ext uri="{FF2B5EF4-FFF2-40B4-BE49-F238E27FC236}">
                <a16:creationId xmlns:a16="http://schemas.microsoft.com/office/drawing/2014/main" id="{7B4998E4-C7C7-4FCF-9F8E-6E2BD7B8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40" y="17357229"/>
            <a:ext cx="176078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31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RESULTS</a:t>
            </a:r>
          </a:p>
        </p:txBody>
      </p:sp>
      <p:sp>
        <p:nvSpPr>
          <p:cNvPr id="102" name="s101">
            <a:extLst xmlns:a="http://schemas.openxmlformats.org/drawingml/2006/main">
              <a:ext uri="{FF2B5EF4-FFF2-40B4-BE49-F238E27FC236}">
                <a16:creationId xmlns:a16="http://schemas.microsoft.com/office/drawing/2014/main" id="{98F88CE4-7F2D-42CB-8450-9FDEE791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8377" y="17419141"/>
            <a:ext cx="422612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R0 to R6 on the mixed corpus</a:t>
            </a:r>
          </a:p>
        </p:txBody>
      </p:sp>
      <p:sp>
        <p:nvSpPr>
          <p:cNvPr id="103" name="s102">
            <a:extLst xmlns:a="http://schemas.openxmlformats.org/drawingml/2006/main">
              <a:ext uri="{FF2B5EF4-FFF2-40B4-BE49-F238E27FC236}">
                <a16:creationId xmlns:a16="http://schemas.microsoft.com/office/drawing/2014/main" id="{F6D8BF4B-FA75-4B9F-AEBE-ECFCE369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1804064"/>
            <a:ext cx="9928473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600" b="1" i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OCR recovers performance on scanned documents</a:t>
            </a:r>
          </a:p>
        </p:txBody>
      </p:sp>
      <p:sp>
        <p:nvSpPr>
          <p:cNvPr id="104" name="s103">
            <a:extLst xmlns:a="http://schemas.openxmlformats.org/drawingml/2006/main">
              <a:ext uri="{FF2B5EF4-FFF2-40B4-BE49-F238E27FC236}">
                <a16:creationId xmlns:a16="http://schemas.microsoft.com/office/drawing/2014/main" id="{BC0BCF80-F9B5-4C9E-89DD-7756E309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5187970"/>
            <a:ext cx="9928473" cy="1128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Converting 10 documents into synthetic scans reduces answer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quality from 65.4% to 46.2%. OCR restores most of this loss, reaching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63.2%.</a:t>
            </a:r>
          </a:p>
        </p:txBody>
      </p:sp>
      <p:sp>
        <p:nvSpPr>
          <p:cNvPr id="105" name="s104">
            <a:extLst xmlns:a="http://schemas.openxmlformats.org/drawingml/2006/main">
              <a:ext uri="{FF2B5EF4-FFF2-40B4-BE49-F238E27FC236}">
                <a16:creationId xmlns:a16="http://schemas.microsoft.com/office/drawing/2014/main" id="{19A45282-B9F1-45FD-9DBA-14662C44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353" y="21804064"/>
            <a:ext cx="9703147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600" b="1" i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Hypothesis evaluation</a:t>
            </a:r>
          </a:p>
        </p:txBody>
      </p:sp>
      <p:sp>
        <p:nvSpPr>
          <p:cNvPr id="106" name="s105">
            <a:extLst xmlns:a="http://schemas.openxmlformats.org/drawingml/2006/main">
              <a:ext uri="{FF2B5EF4-FFF2-40B4-BE49-F238E27FC236}">
                <a16:creationId xmlns:a16="http://schemas.microsoft.com/office/drawing/2014/main" id="{ED3C92A6-E021-41FA-B790-197FF9F1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353" y="22268557"/>
            <a:ext cx="9703147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H1 · Partially supported.</a:t>
            </a:r>
            <a:r>
              <a:rPr sz="2400" b="0" i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 Multiple scales alone reduce Q; lexical</a:t>
            </a:r>
          </a:p>
          <a:p xmlns:a="http://schemas.openxmlformats.org/drawingml/2006/main">
            <a:pPr>
              <a:defRPr sz="24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retrieval and reranking improve Q and recall.</a:t>
            </a:r>
          </a:p>
        </p:txBody>
      </p:sp>
      <p:sp>
        <p:nvSpPr>
          <p:cNvPr id="107" name="s106">
            <a:extLst xmlns:a="http://schemas.openxmlformats.org/drawingml/2006/main">
              <a:ext uri="{FF2B5EF4-FFF2-40B4-BE49-F238E27FC236}">
                <a16:creationId xmlns:a16="http://schemas.microsoft.com/office/drawing/2014/main" id="{F4BE8396-8C33-407A-AE7B-B481F2C7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353" y="23077587"/>
            <a:ext cx="9703147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H2 · Supported.</a:t>
            </a:r>
            <a:r>
              <a:rPr sz="2400" b="0" i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 OCR restores most of the loss caused by removing</a:t>
            </a:r>
          </a:p>
          <a:p xmlns:a="http://schemas.openxmlformats.org/drawingml/2006/main">
            <a:pPr>
              <a:defRPr sz="24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the text layer.</a:t>
            </a:r>
          </a:p>
        </p:txBody>
      </p:sp>
      <p:sp>
        <p:nvSpPr>
          <p:cNvPr id="108" name="s107">
            <a:extLst xmlns:a="http://schemas.openxmlformats.org/drawingml/2006/main">
              <a:ext uri="{FF2B5EF4-FFF2-40B4-BE49-F238E27FC236}">
                <a16:creationId xmlns:a16="http://schemas.microsoft.com/office/drawing/2014/main" id="{BF534887-9095-4077-B356-572E3471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353" y="23886616"/>
            <a:ext cx="9703147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H3 · Supported with a trade-off.</a:t>
            </a:r>
            <a:r>
              <a:rPr sz="2400" b="0" i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 Precision rises from 27.1% to</a:t>
            </a:r>
          </a:p>
          <a:p xmlns:a="http://schemas.openxmlformats.org/drawingml/2006/main">
            <a:pPr>
              <a:defRPr sz="24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61.8%; recall falls from 78.9% to 74.7% (−4.2 pp).</a:t>
            </a:r>
          </a:p>
        </p:txBody>
      </p:sp>
      <p:sp>
        <p:nvSpPr>
          <p:cNvPr id="109" name="s108">
            <a:extLst xmlns:a="http://schemas.openxmlformats.org/drawingml/2006/main">
              <a:ext uri="{FF2B5EF4-FFF2-40B4-BE49-F238E27FC236}">
                <a16:creationId xmlns:a16="http://schemas.microsoft.com/office/drawing/2014/main" id="{4E8BDD37-9FD5-4B70-9DEF-863E9555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353" y="24785538"/>
            <a:ext cx="9703147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 i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Limitations</a:t>
            </a:r>
          </a:p>
        </p:txBody>
      </p:sp>
      <p:sp>
        <p:nvSpPr>
          <p:cNvPr id="110" name="s109">
            <a:extLst xmlns:a="http://schemas.openxmlformats.org/drawingml/2006/main">
              <a:ext uri="{FF2B5EF4-FFF2-40B4-BE49-F238E27FC236}">
                <a16:creationId xmlns:a16="http://schemas.microsoft.com/office/drawing/2014/main" id="{3698254E-8B42-467F-98B0-1008CB7A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353" y="25217140"/>
            <a:ext cx="9703147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one DIFC corpus and 100 questions; one run per condition with no</a:t>
            </a:r>
          </a:p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significance testing; LLM-based evaluation of free-text answers.</a:t>
            </a:r>
          </a:p>
        </p:txBody>
      </p:sp>
      <p:sp>
        <p:nvSpPr>
          <p:cNvPr id="111" name="s110">
            <a:extLst xmlns:a="http://schemas.openxmlformats.org/drawingml/2006/main">
              <a:ext uri="{FF2B5EF4-FFF2-40B4-BE49-F238E27FC236}">
                <a16:creationId xmlns:a16="http://schemas.microsoft.com/office/drawing/2014/main" id="{1632A4F0-AC9E-4700-9860-3D20250D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31" y="26544984"/>
            <a:ext cx="1975663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600" b="1" i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Conclusion</a:t>
            </a:r>
          </a:p>
        </p:txBody>
      </p:sp>
      <p:sp>
        <p:nvSpPr>
          <p:cNvPr id="112" name="s111">
            <a:extLst xmlns:a="http://schemas.openxmlformats.org/drawingml/2006/main">
              <a:ext uri="{FF2B5EF4-FFF2-40B4-BE49-F238E27FC236}">
                <a16:creationId xmlns:a16="http://schemas.microsoft.com/office/drawing/2014/main" id="{15F736A5-D3E3-4FBB-A506-3AD79C4C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31" y="27009477"/>
            <a:ext cx="19756636" cy="1128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Legal RAG should be designed as a multi-stage pipeline: OCR improves robustness to unreadable PDFs, hybrid retrieval and reranking</a:t>
            </a:r>
          </a:p>
          <a:p xmlns:a="http://schemas.openxmlformats.org/drawingml/2006/main">
            <a:pPr>
              <a:defRPr sz="240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improve answer quality, and post-answer citation selection improves citation precision. However, citation selection introduces a precision–</a:t>
            </a:r>
          </a:p>
          <a:p xmlns:a="http://schemas.openxmlformats.org/drawingml/2006/main">
            <a:pPr>
              <a:defRPr sz="240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400" b="0" i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recall trade-off, so answer quality and citation quality should be optimized and evaluated separately.</a:t>
            </a:r>
          </a:p>
        </p:txBody>
      </p:sp>
      <p:sp>
        <p:nvSpPr>
          <p:cNvPr id="113" name="s112">
            <a:extLst xmlns:a="http://schemas.openxmlformats.org/drawingml/2006/main">
              <a:ext uri="{FF2B5EF4-FFF2-40B4-BE49-F238E27FC236}">
                <a16:creationId xmlns:a16="http://schemas.microsoft.com/office/drawing/2014/main" id="{D3400D8E-780F-485A-BA88-CFA7E469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8421409"/>
            <a:ext cx="2011650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References:</a:t>
            </a: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[1] Lewis et al. RAG (2020).</a:t>
            </a: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[2] Pipitone &amp; Alami. LegalBench-RAG (2024).</a:t>
            </a: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[3] Gao et al. ALCE (2023).</a:t>
            </a:r>
          </a:p>
        </p:txBody>
      </p:sp>
      <p:sp>
        <p:nvSpPr>
          <p:cNvPr id="114" name="s113">
            <a:extLst xmlns:a="http://schemas.openxmlformats.org/drawingml/2006/main">
              <a:ext uri="{FF2B5EF4-FFF2-40B4-BE49-F238E27FC236}">
                <a16:creationId xmlns:a16="http://schemas.microsoft.com/office/drawing/2014/main" id="{59499C5E-43E0-4DF6-94C7-C5D3E57C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8816846"/>
            <a:ext cx="2011650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Code, protocol &amp; results:</a:t>
            </a: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400" b="0" i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github.com/SteinVR/Trends-in-NLP-Poster</a:t>
            </a:r>
          </a:p>
        </p:txBody>
      </p:sp>
      <p:pic>
        <p:nvPicPr>
          <p:cNvPr id="2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1d97d58564192">
            <a:extLst>
              <a:ext uri="{96DAC541-7B7A-43D3-8B79-37D633B846F1}">
                <asvg:svgBlip xmlns:asvg="http://schemas.microsoft.com/office/drawing/2016/SVG/main" r:embed="R5a7d9b9b50c84b6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50555" y="8447782"/>
            <a:ext cx="539948" cy="539948"/>
          </a:xfrm>
          <a:prstGeom xmlns:a="http://schemas.openxmlformats.org/drawingml/2006/main" prst="rect">
            <a:avLst/>
          </a:prstGeom>
        </p:spPr>
      </p:pic>
      <p:pic>
        <p:nvPicPr>
          <p:cNvPr id="2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74a7eb61a447a">
            <a:extLst>
              <a:ext uri="{96DAC541-7B7A-43D3-8B79-37D633B846F1}">
                <asvg:svgBlip xmlns:asvg="http://schemas.microsoft.com/office/drawing/2016/SVG/main" r:embed="Raaee3c1c8ba44f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62911" y="8447633"/>
            <a:ext cx="539948" cy="539948"/>
          </a:xfrm>
          <a:prstGeom xmlns:a="http://schemas.openxmlformats.org/drawingml/2006/main" prst="rect">
            <a:avLst/>
          </a:prstGeom>
        </p:spPr>
      </p:pic>
      <p:pic>
        <p:nvPicPr>
          <p:cNvPr id="2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79cdfb61744a1">
            <a:extLst>
              <a:ext uri="{96DAC541-7B7A-43D3-8B79-37D633B846F1}">
                <asvg:svgBlip xmlns:asvg="http://schemas.microsoft.com/office/drawing/2016/SVG/main" r:embed="R9f094f80e4a84b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703248" y="8447633"/>
            <a:ext cx="539948" cy="539948"/>
          </a:xfrm>
          <a:prstGeom xmlns:a="http://schemas.openxmlformats.org/drawingml/2006/main" prst="rect">
            <a:avLst/>
          </a:prstGeom>
        </p:spPr>
      </p:pic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59dfcb8014dd7">
            <a:extLst>
              <a:ext uri="{96DAC541-7B7A-43D3-8B79-37D633B846F1}">
                <asvg:svgBlip xmlns:asvg="http://schemas.microsoft.com/office/drawing/2016/SVG/main" r:embed="R275ae1238f7747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897225" y="8447782"/>
            <a:ext cx="539948" cy="539948"/>
          </a:xfrm>
          <a:prstGeom xmlns:a="http://schemas.openxmlformats.org/drawingml/2006/main" prst="rect">
            <a:avLst/>
          </a:prstGeom>
        </p:spPr>
      </p:pic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11eda4bef480b">
            <a:extLst>
              <a:ext uri="{96DAC541-7B7A-43D3-8B79-37D633B846F1}">
                <asvg:svgBlip xmlns:asvg="http://schemas.microsoft.com/office/drawing/2016/SVG/main" r:embed="R93f102f460974d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25985" y="12015490"/>
            <a:ext cx="611981" cy="611981"/>
          </a:xfrm>
          <a:prstGeom xmlns:a="http://schemas.openxmlformats.org/drawingml/2006/main" prst="rect">
            <a:avLst/>
          </a:prstGeom>
        </p:spPr>
      </p:pic>
      <p:pic>
        <p:nvPicPr>
          <p:cNvPr id="2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5ddca2a0048c1">
            <a:extLst>
              <a:ext uri="{96DAC541-7B7A-43D3-8B79-37D633B846F1}">
                <asvg:svgBlip xmlns:asvg="http://schemas.microsoft.com/office/drawing/2016/SVG/main" r:embed="Rbfaa36ac4ff441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09890" y="12015490"/>
            <a:ext cx="611981" cy="611981"/>
          </a:xfrm>
          <a:prstGeom xmlns:a="http://schemas.openxmlformats.org/drawingml/2006/main" prst="rect">
            <a:avLst/>
          </a:prstGeom>
        </p:spPr>
      </p:pic>
      <p:pic>
        <p:nvPicPr>
          <p:cNvPr id="2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9d1299fc241b1">
            <a:extLst>
              <a:ext uri="{96DAC541-7B7A-43D3-8B79-37D633B846F1}">
                <asvg:svgBlip xmlns:asvg="http://schemas.microsoft.com/office/drawing/2016/SVG/main" r:embed="R4666c0bf051549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93944" y="12015490"/>
            <a:ext cx="611981" cy="611981"/>
          </a:xfrm>
          <a:prstGeom xmlns:a="http://schemas.openxmlformats.org/drawingml/2006/main" prst="rect">
            <a:avLst/>
          </a:prstGeom>
        </p:spPr>
      </p:pic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3450f2acf4b1e">
            <a:extLst>
              <a:ext uri="{96DAC541-7B7A-43D3-8B79-37D633B846F1}">
                <asvg:svgBlip xmlns:asvg="http://schemas.microsoft.com/office/drawing/2016/SVG/main" r:embed="R4ead615c442440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77849" y="12015490"/>
            <a:ext cx="611981" cy="611981"/>
          </a:xfrm>
          <a:prstGeom xmlns:a="http://schemas.openxmlformats.org/drawingml/2006/main" prst="rect">
            <a:avLst/>
          </a:prstGeom>
        </p:spPr>
      </p:pic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162a23f224867">
            <a:extLst>
              <a:ext uri="{96DAC541-7B7A-43D3-8B79-37D633B846F1}">
                <asvg:svgBlip xmlns:asvg="http://schemas.microsoft.com/office/drawing/2016/SVG/main" r:embed="R9e9b455e37a94b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461903" y="12015490"/>
            <a:ext cx="611981" cy="611981"/>
          </a:xfrm>
          <a:prstGeom xmlns:a="http://schemas.openxmlformats.org/drawingml/2006/main" prst="rect">
            <a:avLst/>
          </a:prstGeom>
        </p:spPr>
      </p:pic>
      <p:pic>
        <p:nvPicPr>
          <p:cNvPr id="2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fbf5980b84c98">
            <a:extLst>
              <a:ext uri="{96DAC541-7B7A-43D3-8B79-37D633B846F1}">
                <asvg:svgBlip xmlns:asvg="http://schemas.microsoft.com/office/drawing/2016/SVG/main" r:embed="R3b1a64473ef748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845808" y="12015490"/>
            <a:ext cx="611981" cy="611981"/>
          </a:xfrm>
          <a:prstGeom xmlns:a="http://schemas.openxmlformats.org/drawingml/2006/main" prst="rect">
            <a:avLst/>
          </a:prstGeom>
        </p:spPr>
      </p:pic>
      <p:pic>
        <p:nvPicPr>
          <p:cNvPr id="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4b41149564f9f">
            <a:extLst>
              <a:ext uri="{96DAC541-7B7A-43D3-8B79-37D633B846F1}">
                <asvg:svgBlip xmlns:asvg="http://schemas.microsoft.com/office/drawing/2016/SVG/main" r:embed="Rf1236a4fb94f42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072050" y="654100"/>
            <a:ext cx="2663875" cy="671364"/>
          </a:xfrm>
          <a:prstGeom xmlns:a="http://schemas.openxmlformats.org/drawingml/2006/main" prst="rect">
            <a:avLst/>
          </a:prstGeom>
        </p:spPr>
      </p:pic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72343382b4c68">
            <a:extLst>
              <a:ext uri="{96DAC541-7B7A-43D3-8B79-37D633B846F1}">
                <asvg:svgBlip xmlns:asvg="http://schemas.microsoft.com/office/drawing/2016/SVG/main" r:embed="R77e10fc2e5dc40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998" y="17967722"/>
            <a:ext cx="20087927" cy="3730526"/>
          </a:xfrm>
          <a:prstGeom xmlns:a="http://schemas.openxmlformats.org/drawingml/2006/main" prst="rect">
            <a:avLst/>
          </a:prstGeom>
        </p:spPr>
      </p:pic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21ec092334e99">
            <a:extLst>
              <a:ext uri="{96DAC541-7B7A-43D3-8B79-37D633B846F1}">
                <asvg:svgBlip xmlns:asvg="http://schemas.microsoft.com/office/drawing/2016/SVG/main" r:embed="Ra8cd6ae82be848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998" y="22333148"/>
            <a:ext cx="9899898" cy="28115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16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2026-09-23T14:54:02.3090000Z</dcterms:created>
  <dcterms:modified xsi:type="dcterms:W3CDTF">2026-09-23T14:54:02.3090000Z</dcterms:modified>
</coreProperties>
</file>